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handoutMasters/handoutMaster1.xml" ContentType="application/vnd.openxmlformats-officedocument.presentationml.handoutMaster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media/image10.svg" ContentType="image/svg+xml"/>
  <Override PartName="/ppt/media/image11.svg" ContentType="image/svg+xml"/>
  <Override PartName="/ppt/media/image1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6"/>
  </p:notesMasterIdLst>
  <p:handoutMasterIdLst>
    <p:handoutMasterId r:id="rId37"/>
  </p:handoutMasterIdLst>
  <p:sldIdLst>
    <p:sldId id="777" r:id="rId5"/>
    <p:sldId id="829" r:id="rId6"/>
    <p:sldId id="834" r:id="rId7"/>
    <p:sldId id="858" r:id="rId8"/>
    <p:sldId id="862" r:id="rId9"/>
    <p:sldId id="868" r:id="rId10"/>
    <p:sldId id="771" r:id="rId11"/>
    <p:sldId id="855" r:id="rId12"/>
    <p:sldId id="861" r:id="rId13"/>
    <p:sldId id="785" r:id="rId14"/>
    <p:sldId id="835" r:id="rId15"/>
    <p:sldId id="863" r:id="rId16"/>
    <p:sldId id="2147483643" r:id="rId17"/>
    <p:sldId id="2147483642" r:id="rId18"/>
    <p:sldId id="866" r:id="rId19"/>
    <p:sldId id="2147483635" r:id="rId20"/>
    <p:sldId id="2147483638" r:id="rId21"/>
    <p:sldId id="2147483636" r:id="rId22"/>
    <p:sldId id="850" r:id="rId23"/>
    <p:sldId id="256" r:id="rId24"/>
    <p:sldId id="2147483641" r:id="rId25"/>
    <p:sldId id="2147483640" r:id="rId26"/>
    <p:sldId id="865" r:id="rId27"/>
    <p:sldId id="846" r:id="rId28"/>
    <p:sldId id="831" r:id="rId29"/>
    <p:sldId id="842" r:id="rId30"/>
    <p:sldId id="843" r:id="rId31"/>
    <p:sldId id="852" r:id="rId32"/>
    <p:sldId id="844" r:id="rId33"/>
    <p:sldId id="848" r:id="rId34"/>
    <p:sldId id="845" r:id="rId35"/>
  </p:sldIdLst>
  <p:sldSz cx="12192000" cy="6858000"/>
  <p:notesSz cx="6858000" cy="9144000"/>
  <p:custDataLst>
    <p:tags r:id="rId38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13" userDrawn="1">
          <p15:clr>
            <a:srgbClr val="A4A3A4"/>
          </p15:clr>
        </p15:guide>
        <p15:guide id="2" orient="horz" pos="1344" userDrawn="1">
          <p15:clr>
            <a:srgbClr val="A4A3A4"/>
          </p15:clr>
        </p15:guide>
        <p15:guide id="3" orient="horz" pos="4224" userDrawn="1">
          <p15:clr>
            <a:srgbClr val="A4A3A4"/>
          </p15:clr>
        </p15:guide>
        <p15:guide id="4" orient="horz" pos="663" userDrawn="1">
          <p15:clr>
            <a:srgbClr val="A4A3A4"/>
          </p15:clr>
        </p15:guide>
        <p15:guide id="5" orient="horz" pos="1049" userDrawn="1">
          <p15:clr>
            <a:srgbClr val="A4A3A4"/>
          </p15:clr>
        </p15:guide>
        <p15:guide id="6" orient="horz" pos="799" userDrawn="1">
          <p15:clr>
            <a:srgbClr val="A4A3A4"/>
          </p15:clr>
        </p15:guide>
        <p15:guide id="7" orient="horz" pos="3884" userDrawn="1">
          <p15:clr>
            <a:srgbClr val="A4A3A4"/>
          </p15:clr>
        </p15:guide>
        <p15:guide id="8" pos="6289" userDrawn="1">
          <p15:clr>
            <a:srgbClr val="A4A3A4"/>
          </p15:clr>
        </p15:guide>
        <p15:guide id="9" pos="1300" userDrawn="1">
          <p15:clr>
            <a:srgbClr val="A4A3A4"/>
          </p15:clr>
        </p15:guide>
        <p15:guide id="10" pos="7514" userDrawn="1">
          <p15:clr>
            <a:srgbClr val="A4A3A4"/>
          </p15:clr>
        </p15:guide>
        <p15:guide id="11" pos="166" userDrawn="1">
          <p15:clr>
            <a:srgbClr val="A4A3A4"/>
          </p15:clr>
        </p15:guide>
        <p15:guide id="12" pos="3795" userDrawn="1">
          <p15:clr>
            <a:srgbClr val="A4A3A4"/>
          </p15:clr>
        </p15:guide>
        <p15:guide id="13" pos="139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0842013-AD14-2322-23AE-33A9ECD03EE1}" name="Bharadwaj Tadikonda" initials="BT" userId="S::bharadwaj.tadikonda@tredence.com::dfcd298b-bac7-4b6d-b944-2099b3d05b9d" providerId="AD"/>
  <p188:author id="{55A6B023-86D9-FDC7-C075-6EED4434F087}" name="Jankrut Desai" initials="JD" userId="S::30091157@adani.com::10ab6e57-098c-43c7-b302-e26a58e896d6" providerId="AD"/>
  <p188:author id="{BF2AFA39-961E-E442-8C4E-625EAE46D161}" name="Sumanta Basak" initials="" userId="S::sumanta.basak@tredence.com::fd8b4c3e-d20c-4a6f-8f03-7e541f4c2464" providerId="AD"/>
  <p188:author id="{05DFE253-756D-78EF-8B7E-3026FD25E9BC}" name="Dipanjan Karanjai" initials="DK" userId="S::dipanjan.karanjai@tredence.com::e19dbde3-5bb5-4202-9bfd-de764a695055" providerId="AD"/>
  <p188:author id="{CE8EA7AF-5AAA-5849-0C0E-0763123D9530}" name="Gourab Chowdhury" initials="GC" userId="S::gourab.chowdhury@tredence.com::d4a4bef0-4ba6-40d3-8887-d6406293a77d" providerId="AD"/>
  <p188:author id="{59877DF4-6B74-0159-B9F1-87EB1184B316}" name="Rajdev Singh" initials="RS" userId="S::rajdev.singh@tredence.com::14ba65ee-ae2e-4eec-b3dc-6d2b69bf36d7" providerId="AD"/>
  <p188:author id="{1FA1A7F7-5624-F109-2998-9642990BC40A}" name="Akshaykumar Torangatti" initials="AT" userId="S::akshaykumar.t@tredence.com::53f88594-75c6-4a7c-b70a-34cc29030a5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6620"/>
    <a:srgbClr val="FF9900"/>
    <a:srgbClr val="0079D6"/>
    <a:srgbClr val="CCECFF"/>
    <a:srgbClr val="FFFFFF"/>
    <a:srgbClr val="6688BB"/>
    <a:srgbClr val="FF0000"/>
    <a:srgbClr val="E4E7E7"/>
    <a:srgbClr val="88DD00"/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33E0D2-F35E-408A-A35F-20C3A0BFC849}" v="3" dt="2026-07-01T19:53:57.3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ittlere Formatvorlage 3 - Akz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913"/>
        <p:guide orient="horz" pos="1344"/>
        <p:guide orient="horz" pos="4224"/>
        <p:guide orient="horz" pos="663"/>
        <p:guide orient="horz" pos="1049"/>
        <p:guide orient="horz" pos="799"/>
        <p:guide orient="horz" pos="3884"/>
        <p:guide pos="6289"/>
        <p:guide pos="1300"/>
        <p:guide pos="7514"/>
        <p:guide pos="166"/>
        <p:guide pos="3795"/>
        <p:guide pos="1391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notesMaster" Target="notesMasters/notesMaster1.xml"/><Relationship Id="rId37" Type="http://schemas.openxmlformats.org/officeDocument/2006/relationships/handoutMaster" Target="handoutMasters/handoutMaster1.xml"/><Relationship Id="rId38" Type="http://schemas.openxmlformats.org/officeDocument/2006/relationships/tags" Target="tags/tag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Relationship Id="rId43" Type="http://schemas.microsoft.com/office/2015/10/relationships/revisionInfo" Target="revisionInfo.xml"/><Relationship Id="rId44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9731B9-D2D4-4D43-8CBF-D0184DDEB7D7}" type="datetimeFigureOut">
              <a:rPr lang="en-AU" smtClean="0"/>
              <a:t>1/07/2026</a:t>
            </a:fld>
            <a:endParaRPr lang="en-AU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2A0147-0BBB-4754-93D4-F4A2B787A1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51956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2-07T18:17:06.1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4463 12769 16383 0 0,'6'0'0'0'0,"10"0"0"0"0,9 0 0 0 0,6 0 0 0 0,12 0 0 0 0,12-14 0 0 0,11-4 0 0 0,0 1 0 0 0,-4-4 0 0 0,-5 3 0 0 0,-7 3 0 0 0,-4 5 0 0 0,-3 3 0 0 0,-3 4 0 0 0,0 2 0 0 0,-2 1 0 0 0,1 1 0 0 0,0 0 0 0 0,0 0 0 0 0,1-1 0 0 0,-7 8 0 0 0,4 1 0 0 0,4 0 0 0 0,0-2 0 0 0,1-2 0 0 0,0 4 0 0 0,-7 9 0 0 0,-17 7 0 0 0,-24 0 0 0 0,-19 1 0 0 0,-18 5 0 0 0,-9-4 0 0 0,-9-7 0 0 0,0-6 0 0 0,9-12 0 0 0,14-14 0 0 0,13-11 0 0 0,11-9 0 0 0,8-6 0 0 0,5-2 0 0 0,-11 4 0 0 0,-10-4 0 0 0,-15 4 0 0 0,-8 8 0 0 0,-3 3 0 0 0,-1 5 0 0 0,2-1 0 0 0,16-4 0 0 0,19 3 0 0 0,19 5 0 0 0,15 5 0 0 0,11 5 0 0 0,13 4 0 0 0,-2-5 0 0 0,0-1 0 0 0,-2 1 0 0 0,-1 3 0 0 0,-1 1 0 0 0,0 1 0 0 0,-27 2 0 0 0,-30 1 0 0 0,-25 0 0 0 0,-13 0 0 0 0,-10 1 0 0 0,-1-1 0 0 0,-10 0 0 0 0,-12 0 0 0 0,-4 1 0 0 0,-1-1 0 0 0,9 0 0 0 0,5 0 0 0 0,2 0 0 0 0,8 0 0 0 0,9 0 0 0 0,7 0 0 0 0,7 0 0 0 0,3 0 0 0 0,3 0 0 0 0,2 0 0 0 0,0 0 0 0 0,-1 0 0 0 0,7 6 0 0 0,9 10 0 0 0,8 9 0 0 0,7 6 0 0 0,11-2 0 0 0,12-5 0 0 0,11-7 0 0 0,7-7 0 0 0,5-5 0 0 0,3-3 0 0 0,1-2 0 0 0,0-1 0 0 0,0 0 0 0 0,0-7 0 0 0,-1-2 0 0 0,-1 0 0 0 0,1 3 0 0 0,5 2 0 0 0,3-5 0 0 0,-21-1 0 0 0,-22 2 0 0 0,-32 2 0 0 0,-32 2 0 0 0,-20 3 0 0 0,-11 1 0 0 0,-2 7 0 0 0,6 3 0 0 0,18 7 0 0 0,27 1 0 0 0,34-3 0 0 0,32-4 0 0 0,24-3 0 0 0,18-4 0 0 0,4-1 0 0 0,-3-1 0 0 0,-7-2 0 0 0,0 1 0 0 0,-5-1 0 0 0,-4 0 0 0 0,-4 1 0 0 0,-5-1 0 0 0,-2 1 0 0 0,-9 21 0 0 0,-16 6 0 0 0,-25-2 0 0 0,-18-4 0 0 0,-18-6 0 0 0,-15 1 0 0 0,-11-2 0 0 0,-1-3 0 0 0,6-4 0 0 0,6-3 0 0 0,7-2 0 0 0,5 5 0 0 0,4 2 0 0 0,3-1 0 0 0,-6-2 0 0 0,-2-2 0 0 0,15-1 0 0 0,25-2 0 0 0,29 0 0 0 0,24-1 0 0 0,11-1 0 0 0,2 1 0 0 0,6 0 0 0 0,5-1 0 0 0,-2 1 0 0 0,-6 0 0 0 0,-6 0 0 0 0,-7 0 0 0 0,-3 0 0 0 0,-4 0 0 0 0,-1 0 0 0 0,-1 0 0 0 0,0 0 0 0 0,0 0 0 0 0,6 0 0 0 0,4 0 0 0 0,6 0 0 0 0,0 0 0 0 0,6 7 0 0 0,-9 9 0 0 0,-13 8 0 0 0,-19 7 0 0 0,-21 6 0 0 0,-16-5 0 0 0,-6-7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2-07T18:17:06.12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5134 12730 16383 0 0,'7'0'0'0'0,"9"0"0"0"0,8 0 0 0 0,8 0 0 0 0,4 0 0 0 0,-3-7 0 0 0,-1-2 0 0 0,1 0 0 0 0,1 2 0 0 0,3 2 0 0 0,1 2 0 0 0,-13-12 0 0 0,-17-10 0 0 0,-16-2 0 0 0,-15-2 0 0 0,-9 4 0 0 0,-14 5 0 0 0,-5 7 0 0 0,0-1 0 0 0,-6-5 0 0 0,0 0 0 0 0,3 4 0 0 0,4-3 0 0 0,4 3 0 0 0,2 2 0 0 0,3 5 0 0 0,1 3 0 0 0,1 2 0 0 0,-1 3 0 0 0,1 0 0 0 0,-7 7 0 0 0,-2 3 0 0 0,-1-1 0 0 0,3 6 0 0 0,1-1 0 0 0,2 5 0 0 0,8 5 0 0 0,-3-1 0 0 0,-3-4 0 0 0,0 1 0 0 0,-1-3 0 0 0,1-4 0 0 0,0-4 0 0 0,0-4 0 0 0,1-3 0 0 0,-1-1 0 0 0,1-2 0 0 0,0 1 0 0 0,1-1 0 0 0,19 0 0 0 0,28 0 0 0 0,18 1 0 0 0,26 7 0 0 0,18 1 0 0 0,3 1 0 0 0,-4-2 0 0 0,0-2 0 0 0,-4-2 0 0 0,-1-1 0 0 0,-4-2 0 0 0,-5 0 0 0 0,-6 0 0 0 0,-3 0 0 0 0,-4-1 0 0 0,-2 1 0 0 0,0 0 0 0 0,-2 0 0 0 0,1 0 0 0 0,0 0 0 0 0,1 0 0 0 0,-1 0 0 0 0,1 0 0 0 0,0 0 0 0 0,0 0 0 0 0,0 0 0 0 0,0 0 0 0 0,0 0 0 0 0,-1 0 0 0 0,8 0 0 0 0,2 13 0 0 0,-7 12 0 0 0,-11 8 0 0 0,-4-1 0 0 0,-6 0 0 0 0,-7 2 0 0 0,-6 2 0 0 0,-4 1 0 0 0,-10-5 0 0 0,-10-9 0 0 0,-10-7 0 0 0,-7-7 0 0 0,-4-5 0 0 0,-3-3 0 0 0,-2-2 0 0 0,0-1 0 0 0,0 1 0 0 0,1-1 0 0 0,0 1 0 0 0,0 1 0 0 0,1-1 0 0 0,0 1 0 0 0,0 0 0 0 0,0-7 0 0 0,0-2 0 0 0,0 1 0 0 0,0 1 0 0 0,1-5 0 0 0,-1 0 0 0 0,0 2 0 0 0,0-5 0 0 0,0 1 0 0 0,0 3 0 0 0,0 3 0 0 0,0 3 0 0 0,0 2 0 0 0,0-5 0 0 0,0-1 0 0 0,0 1 0 0 0,-6 1 0 0 0,-3 3 0 0 0,-7 1 0 0 0,0 2 0 0 0,-4 1 0 0 0,8 0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2-07T18:17:06.12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5134 12730 16383 0 0,'7'0'0'0'0,"9"0"0"0"0,8 0 0 0 0,8 0 0 0 0,4 0 0 0 0,-3-7 0 0 0,-1-2 0 0 0,1 0 0 0 0,1 2 0 0 0,3 2 0 0 0,1 2 0 0 0,-13-12 0 0 0,-17-10 0 0 0,-16-2 0 0 0,-15-2 0 0 0,-9 4 0 0 0,-14 5 0 0 0,-5 7 0 0 0,0-1 0 0 0,-6-5 0 0 0,0 0 0 0 0,3 4 0 0 0,4-3 0 0 0,4 3 0 0 0,2 2 0 0 0,3 5 0 0 0,1 3 0 0 0,1 2 0 0 0,-1 3 0 0 0,1 0 0 0 0,-7 7 0 0 0,-2 3 0 0 0,-1-1 0 0 0,3 6 0 0 0,1-1 0 0 0,2 5 0 0 0,8 5 0 0 0,-3-1 0 0 0,-3-4 0 0 0,0 1 0 0 0,-1-3 0 0 0,1-4 0 0 0,0-4 0 0 0,0-4 0 0 0,1-3 0 0 0,-1-1 0 0 0,1-2 0 0 0,0 1 0 0 0,1-1 0 0 0,19 0 0 0 0,28 0 0 0 0,18 1 0 0 0,26 7 0 0 0,18 1 0 0 0,3 1 0 0 0,-4-2 0 0 0,0-2 0 0 0,-4-2 0 0 0,-1-1 0 0 0,-4-2 0 0 0,-5 0 0 0 0,-6 0 0 0 0,-3 0 0 0 0,-4-1 0 0 0,-2 1 0 0 0,0 0 0 0 0,-2 0 0 0 0,1 0 0 0 0,0 0 0 0 0,1 0 0 0 0,-1 0 0 0 0,1 0 0 0 0,0 0 0 0 0,0 0 0 0 0,0 0 0 0 0,0 0 0 0 0,0 0 0 0 0,-1 0 0 0 0,8 0 0 0 0,2 13 0 0 0,-7 12 0 0 0,-11 8 0 0 0,-4-1 0 0 0,-6 0 0 0 0,-7 2 0 0 0,-6 2 0 0 0,-4 1 0 0 0,-10-5 0 0 0,-10-9 0 0 0,-10-7 0 0 0,-7-7 0 0 0,-4-5 0 0 0,-3-3 0 0 0,-2-2 0 0 0,0-1 0 0 0,0 1 0 0 0,1-1 0 0 0,0 1 0 0 0,0 1 0 0 0,1-1 0 0 0,0 1 0 0 0,0 0 0 0 0,0-7 0 0 0,0-2 0 0 0,0 1 0 0 0,0 1 0 0 0,1-5 0 0 0,-1 0 0 0 0,0 2 0 0 0,0-5 0 0 0,0 1 0 0 0,0 3 0 0 0,0 3 0 0 0,0 3 0 0 0,0 2 0 0 0,0-5 0 0 0,0-1 0 0 0,0 1 0 0 0,-6 1 0 0 0,-3 3 0 0 0,-7 1 0 0 0,0 2 0 0 0,-4 1 0 0 0,8 0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2-07T18:17:06.14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4768 12598 16383 0 0,'6'0'0'0'0,"10"0"0"0"0,9 0 0 0 0,6 7 0 0 0,5 9 0 0 0,4 1 0 0 0,1-1 0 0 0,-6 3 0 0 0,-3-2 0 0 0,1-4 0 0 0,1-4 0 0 0,2-3 0 0 0,1-3 0 0 0,-5-9 0 0 0,-2-3 0 0 0,1-1 0 0 0,2-4 0 0 0,-4-8 0 0 0,-8-13 0 0 0,0-7 0 0 0,-4-4 0 0 0,-11 7 0 0 0,-14 9 0 0 0,-12 10 0 0 0,-10 8 0 0 0,-6 7 0 0 0,-4 3 0 0 0,-2 3 0 0 0,0 1 0 0 0,-1 0 0 0 0,1 7 0 0 0,1 8 0 0 0,0 1 0 0 0,21 5 0 0 0,21-2 0 0 0,23-4 0 0 0,15 1 0 0 0,14-1 0 0 0,-2 2 0 0 0,-3-2 0 0 0,-2-4 0 0 0,-3-3 0 0 0,-2 2 0 0 0,-7 7 0 0 0,-10 6 0 0 0,-9 6 0 0 0,-7 5 0 0 0,-12-5 0 0 0,-5 8 0 0 0,-8-5 0 0 0,-7 0 0 0 0,-7-6 0 0 0,-12-8 0 0 0,-5-8 0 0 0,-1-5 0 0 0,0-4 0 0 0,3-9 0 0 0,1-4 0 0 0,3 0 0 0 0,1-6 0 0 0,0 1 0 0 0,1 3 0 0 0,8-4 0 0 0,1 1 0 0 0,7-4 0 0 0,0 2 0 0 0,-2-4 0 0 0,-4-4 0 0 0,-3-6 0 0 0,3-3 0 0 0,1 3 0 0 0,-9 8 0 0 0,-4 7 0 0 0,-9 6 0 0 0,-3-1 0 0 0,-5 1 0 0 0,0 1 0 0 0,-3 4 0 0 0,2 1 0 0 0,5 3 0 0 0,4 0 0 0 0,4 8 0 0 0,11 9 0 0 0,11 9 0 0 0,10 7 0 0 0,14-2 0 0 0,14-6 0 0 0,11-8 0 0 0,10-5 0 0 0,4-6 0 0 0,4-3 0 0 0,0-9 0 0 0,1-3 0 0 0,-1 0 0 0 0,0 2 0 0 0,-1 2 0 0 0,0 2 0 0 0,-1 2 0 0 0,0 1 0 0 0,0 1 0 0 0,0 0 0 0 0,0 1 0 0 0,-1 6 0 0 0,-6 2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2-07T18:17:06.14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5312 12663 16383 0 0,'-7'0'0'0'0,"-2"-7"0"0"0,0-9 0 0 0,9-2 0 0 0,-3 3 0 0 0,-7 3 0 0 0,-9 4 0 0 0,-8 3 0 0 0,-7 3 0 0 0,-3 1 0 0 0,-3 2 0 0 0,-1-1 0 0 0,-1 8 0 0 0,1 2 0 0 0,-7-1 0 0 0,-9 12 0 0 0,-1 2 0 0 0,2-3 0 0 0,-3-4 0 0 0,9 1 0 0 0,6-2 0 0 0,3-3 0 0 0,3-4 0 0 0,0-4 0 0 0,0-2 0 0 0,0-1 0 0 0,0-1 0 0 0,-2-1 0 0 0,1 0 0 0 0,-1 1 0 0 0,0-1 0 0 0,0 1 0 0 0,0 0 0 0 0,-7-1 0 0 0,5-5 0 0 0,3-10 0 0 0,-6-9 0 0 0,4-6 0 0 0,24 2 0 0 0,21-2 0 0 0,23 6 0 0 0,14 6 0 0 0,14 6 0 0 0,4 7 0 0 0,6 2 0 0 0,-2 4 0 0 0,-4 1 0 0 0,-6 0 0 0 0,-5 0 0 0 0,-4 0 0 0 0,-2 0 0 0 0,-2 0 0 0 0,-1-1 0 0 0,0 0 0 0 0,0 0 0 0 0,0 0 0 0 0,0 0 0 0 0,1 0 0 0 0,0 0 0 0 0,-1 0 0 0 0,1 0 0 0 0,0 0 0 0 0,0 0 0 0 0,-7-7 0 0 0,-2-9 0 0 0,1-1 0 0 0,1 1 0 0 0,2 4 0 0 0,2 4 0 0 0,1 4 0 0 0,1 1 0 0 0,1 3 0 0 0,0 0 0 0 0,1 1 0 0 0,-8 6 0 0 0,-2 3 0 0 0,1 6 0 0 0,-6 7 0 0 0,-6 6 0 0 0,-8 6 0 0 0,-5 3 0 0 0,-4 9 0 0 0,-3 3 0 0 0,0 0 0 0 0,-8-9 0 0 0,-10-11 0 0 0,-7-10 0 0 0,-7-10 0 0 0,-5-5 0 0 0,-3-5 0 0 0,-1-1 0 0 0,-1-1 0 0 0,0 0 0 0 0,1 0 0 0 0,0 1 0 0 0,-6 0 0 0 0,-2 0 0 0 0,0 1 0 0 0,2 0 0 0 0,9-7 0 0 0,4-2 0 0 0,1 1 0 0 0,0-6 0 0 0,-2 0 0 0 0,5 3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2-07T18:17:06.39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3995 12636 16383 0 0,'7'0'0'0'0,"9"0"0"0"0,8 0 0 0 0,8 0 0 0 0,4 0 0 0 0,3 0 0 0 0,2 0 0 0 0,1 0 0 0 0,6 0 0 0 0,3 0 0 0 0,5 0 0 0 0,1 0 0 0 0,4 0 0 0 0,-2 0 0 0 0,-4 0 0 0 0,-5 0 0 0 0,-3 0 0 0 0,-4 0 0 0 0,-2 0 0 0 0,-1 0 0 0 0,-1 0 0 0 0,0 0 0 0 0,1 0 0 0 0,-1 0 0 0 0,0 0 0 0 0,1 0 0 0 0,0 0 0 0 0,0 0 0 0 0,0 0 0 0 0,-1 0 0 0 0,1 0 0 0 0,0 0 0 0 0,0 0 0 0 0,0 7 0 0 0,-13-5 0 0 0,-19-9 0 0 0,-17-4 0 0 0,-14-6 0 0 0,-3-8 0 0 0,-3 1 0 0 0,-5 5 0 0 0,-9 5 0 0 0,-5 5 0 0 0,-7 4 0 0 0,-1 3 0 0 0,2 2 0 0 0,3 0 0 0 0,4 1 0 0 0,3 0 0 0 0,-5 7 0 0 0,-1 9 0 0 0,9 7 0 0 0,4 8 0 0 0,8 4 0 0 0,9 11 0 0 0,15-4 0 0 0,16-9 0 0 0,11-10 0 0 0,10-9 0 0 0,6-7 0 0 0,3-5 0 0 0,2-3 0 0 0,0-2 0 0 0,-1 0 0 0 0,0 0 0 0 0,-1 1 0 0 0,0 7 0 0 0,-1 2 0 0 0,0 0 0 0 0,0-1 0 0 0,0 5 0 0 0,0 0 0 0 0,-7-2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2-07T18:17:06.39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4101 12621 16383 0 0,'0'0'0'0'0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2-07T18:17:06.39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4128 12726 16383 0 0,'0'0'0'0'0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2-07T18:17:06.42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4022 12700 16383 0 0,'0'0'0'0'0</inkml:trace>
</inkml:ink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685800" y="0"/>
            <a:ext cx="22860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287587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-239713" y="336550"/>
            <a:ext cx="7337426" cy="4127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572000"/>
            <a:ext cx="5486400" cy="38862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685800" y="8685213"/>
            <a:ext cx="22860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2004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9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BA44FAA9-51FA-4F6B-AC6F-9EF5239E7D33}" type="slidenum">
              <a:rPr lang="de-DE" smtClean="0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15053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A44FAA9-51FA-4F6B-AC6F-9EF5239E7D33}" type="slidenum">
              <a:rPr lang="de-DE" smtClean="0"/>
              <a:pPr>
                <a:defRPr/>
              </a:pPr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14526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A44FAA9-51FA-4F6B-AC6F-9EF5239E7D33}" type="slidenum">
              <a:rPr lang="de-DE" smtClean="0"/>
              <a:pPr>
                <a:defRPr/>
              </a:pPr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04476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A44FAA9-51FA-4F6B-AC6F-9EF5239E7D33}" type="slidenum">
              <a:rPr lang="de-DE" smtClean="0"/>
              <a:pPr>
                <a:defRPr/>
              </a:pPr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0936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A44FAA9-51FA-4F6B-AC6F-9EF5239E7D33}" type="slidenum">
              <a:rPr lang="de-DE" smtClean="0"/>
              <a:pPr>
                <a:defRPr/>
              </a:pPr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41088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9C114-CBC9-1918-5768-5D10A02A2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91BA82-ED67-10B7-00A0-54BAA79916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317080-C43C-F8A9-95A4-A9F31F69D6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Serverless SQL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2CD133-D549-90F1-59CD-27AB4F9627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BDF8F5-6180-4C6F-A45E-A3BC81E64A4D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32747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14ABD-051F-2FA8-EAD2-D9DC16402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636E79-5F0C-53D5-5372-5521A6E2EC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FA7823-1C49-AC3A-DFB2-8165AB234F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Serverless SQL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0DF82F-4AAF-2193-6D9A-B89BA6DAA8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BDF8F5-6180-4C6F-A45E-A3BC81E64A4D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10879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A44FAA9-51FA-4F6B-AC6F-9EF5239E7D33}" type="slidenum">
              <a:rPr lang="de-DE" smtClean="0"/>
              <a:pPr>
                <a:defRPr/>
              </a:pPr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11595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6E25B-F2AD-D9F9-7E7E-A10BAC698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43C264-54DD-B455-0921-8B826BDA79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D36DA4-8972-8ACF-D202-BEAA3B2F6E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E8E43-F88C-159C-008C-8202645371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44FAA9-51FA-4F6B-AC6F-9EF5239E7D33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de-DE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38080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BC1CC-B4B6-D4A4-404E-5F5C35597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ACCD4D-FF8E-08FA-0E3B-C082191879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DC4DBA-39D3-E1DC-DBB7-2CE5A25DEB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As in where applicable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D610A-1A28-89FC-B043-1AC1FB9870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A44FAA9-51FA-4F6B-AC6F-9EF5239E7D33}" type="slidenum">
              <a:rPr lang="de-DE" smtClean="0"/>
              <a:pPr>
                <a:defRPr/>
              </a:pPr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81087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A44FAA9-51FA-4F6B-AC6F-9EF5239E7D33}" type="slidenum">
              <a:rPr lang="de-DE" smtClean="0"/>
              <a:pPr>
                <a:defRPr/>
              </a:pPr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85988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A44FAA9-51FA-4F6B-AC6F-9EF5239E7D33}" type="slidenum">
              <a:rPr lang="de-DE" smtClean="0"/>
              <a:pPr>
                <a:defRPr/>
              </a:pPr>
              <a:t>30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42340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A44FAA9-51FA-4F6B-AC6F-9EF5239E7D33}" type="slidenum">
              <a:rPr lang="de-DE" smtClean="0"/>
              <a:pPr>
                <a:defRPr/>
              </a:pPr>
              <a:t>31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845893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2.png"/><Relationship Id="rId5" Type="http://schemas.openxmlformats.org/officeDocument/2006/relationships/image" Target="../media/image3.jpeg"/><Relationship Id="rId6" Type="http://schemas.openxmlformats.org/officeDocument/2006/relationships/image" Target="../media/image4.jpeg"/><Relationship Id="rId7" Type="http://schemas.openxmlformats.org/officeDocument/2006/relationships/image" Target="../media/image5.jpeg"/><Relationship Id="rId8" Type="http://schemas.openxmlformats.org/officeDocument/2006/relationships/image" Target="../media/image6.jpeg"/><Relationship Id="rId9" Type="http://schemas.openxmlformats.org/officeDocument/2006/relationships/image" Target="../media/image7.jpeg"/><Relationship Id="rId10" Type="http://schemas.openxmlformats.org/officeDocument/2006/relationships/image" Target="../media/image8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svg"/><Relationship Id="rId3" Type="http://schemas.openxmlformats.org/officeDocument/2006/relationships/image" Target="../media/image11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_Black_Top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" name="Objekt 43" hidden="1"/>
          <p:cNvGraphicFramePr>
            <a:graphicFrameLocks/>
          </p:cNvGraphicFramePr>
          <p:nvPr userDrawn="1">
            <p:custDataLst>
              <p:tags r:id="rId1"/>
            </p:custDataLst>
          </p:nvPr>
        </p:nvGraphicFramePr>
        <p:xfrm>
          <a:off x="1" y="0"/>
          <a:ext cx="211667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0" imgH="0" progId="">
                  <p:embed/>
                </p:oleObj>
              </mc:Choice>
              <mc:Fallback>
                <p:oleObj name="think-cell Slide" r:id="rId3" imgW="0" imgH="0" progId="">
                  <p:embed/>
                  <p:pic>
                    <p:nvPicPr>
                      <p:cNvPr id="44" name="Objekt 43" hidden="1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211667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Placeholder 32"/>
          <p:cNvSpPr>
            <a:spLocks noGrp="1"/>
          </p:cNvSpPr>
          <p:nvPr>
            <p:ph type="body" sz="quarter" idx="10" hasCustomPrompt="1"/>
          </p:nvPr>
        </p:nvSpPr>
        <p:spPr>
          <a:xfrm>
            <a:off x="356118" y="3808441"/>
            <a:ext cx="5774484" cy="467562"/>
          </a:xfrm>
          <a:prstGeom prst="rect">
            <a:avLst/>
          </a:prstGeom>
        </p:spPr>
        <p:txBody>
          <a:bodyPr anchor="t" anchorCtr="0"/>
          <a:lstStyle>
            <a:lvl1pPr marL="0" indent="0"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Arial" charset="0"/>
              <a:buNone/>
              <a:defRPr lang="en-US" sz="2000" b="0" kern="1200" spc="0" baseline="0" dirty="0" smtClean="0">
                <a:solidFill>
                  <a:schemeClr val="bg1"/>
                </a:solidFill>
                <a:latin typeface="Adani Regular" panose="02000503000000020004" pitchFamily="2" charset="0"/>
                <a:ea typeface="Adani Regular" panose="02000503000000020004" pitchFamily="2" charset="0"/>
                <a:cs typeface="Arial" pitchFamily="34" charset="0"/>
              </a:defRPr>
            </a:lvl1pPr>
            <a:lvl2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defRPr lang="en-US" sz="2000" b="0" kern="1200" spc="0" baseline="0" dirty="0" smtClean="0">
                <a:solidFill>
                  <a:schemeClr val="accent1"/>
                </a:solidFill>
                <a:latin typeface="Arial" pitchFamily="34" charset="0"/>
                <a:ea typeface="Arial" pitchFamily="-105" charset="-52"/>
                <a:cs typeface="Arial" pitchFamily="34" charset="0"/>
              </a:defRPr>
            </a:lvl2pPr>
            <a:lvl3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defRPr lang="en-US" sz="2000" b="0" kern="1200" spc="0" baseline="0" dirty="0" smtClean="0">
                <a:solidFill>
                  <a:schemeClr val="accent1"/>
                </a:solidFill>
                <a:latin typeface="Arial" pitchFamily="34" charset="0"/>
                <a:ea typeface="Arial" pitchFamily="-105" charset="-52"/>
                <a:cs typeface="Arial" pitchFamily="34" charset="0"/>
              </a:defRPr>
            </a:lvl3pPr>
            <a:lvl4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defRPr lang="en-US" sz="2000" b="0" kern="1200" spc="0" baseline="0" dirty="0" smtClean="0">
                <a:solidFill>
                  <a:schemeClr val="accent1"/>
                </a:solidFill>
                <a:latin typeface="Arial" pitchFamily="34" charset="0"/>
                <a:ea typeface="Arial" pitchFamily="-105" charset="-52"/>
                <a:cs typeface="Arial" pitchFamily="34" charset="0"/>
              </a:defRPr>
            </a:lvl4pPr>
            <a:lvl5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defRPr lang="en-AU" sz="2000" b="0" kern="1200" spc="0" baseline="0" dirty="0">
                <a:solidFill>
                  <a:schemeClr val="accent1"/>
                </a:solidFill>
                <a:latin typeface="Arial" pitchFamily="34" charset="0"/>
                <a:ea typeface="Arial" pitchFamily="-105" charset="-52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144451" y="2649065"/>
            <a:ext cx="8039781" cy="996950"/>
          </a:xfrm>
          <a:prstGeom prst="rect">
            <a:avLst/>
          </a:prstGeom>
        </p:spPr>
        <p:txBody>
          <a:bodyPr lIns="0" tIns="0" anchor="b" anchorCtr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3600" b="1" spc="0" baseline="0">
                <a:solidFill>
                  <a:schemeClr val="bg1"/>
                </a:solidFill>
                <a:latin typeface="Adani Regular" panose="02000503000000020004" pitchFamily="2" charset="0"/>
                <a:cs typeface="Arial" pitchFamily="34" charset="0"/>
              </a:defRPr>
            </a:lvl1pPr>
          </a:lstStyle>
          <a:p>
            <a:r>
              <a:rPr lang="en-US"/>
              <a:t>Click to edit presentation title</a:t>
            </a:r>
            <a:endParaRPr lang="en-GB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445151" y="3778278"/>
            <a:ext cx="1559496" cy="339719"/>
          </a:xfrm>
          <a:prstGeom prst="rect">
            <a:avLst/>
          </a:prstGeom>
        </p:spPr>
      </p:pic>
      <p:pic>
        <p:nvPicPr>
          <p:cNvPr id="17854" name="Picture 1470" descr="C:\Users\30019061\Pictures\Banner+4.jp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15726"/>
            <a:ext cx="4495436" cy="218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55" name="Picture 1471" descr="C:\Users\30019061\Pictures\Enhancing_Efficiency_1400x560.jp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8288" y="30358"/>
            <a:ext cx="3503711" cy="2174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56" name="Picture 1472" descr="C:\Users\30019061\Pictures\oleo.jpg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437" y="15726"/>
            <a:ext cx="4192851" cy="2189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58" name="Picture 1474" descr="C:\Users\30019061\Pictures\solar_banner.jpg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4970933"/>
            <a:ext cx="4495437" cy="1887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59" name="Picture 1475" descr="C:\Users\30019061\Pictures\Home_Banner2[1400x560].jpg"/>
          <p:cNvPicPr>
            <a:picLocks noChangeAspect="1" noChangeArrowheads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7399" y="4970934"/>
            <a:ext cx="4200890" cy="1887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61" name="Picture 1477" descr="C:\Users\30019061\Pictures\Banner+5.jpg"/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8288" y="4970936"/>
            <a:ext cx="3503711" cy="1887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 userDrawn="1"/>
        </p:nvSpPr>
        <p:spPr bwMode="gray">
          <a:xfrm>
            <a:off x="0" y="2204865"/>
            <a:ext cx="12191999" cy="114088"/>
          </a:xfrm>
          <a:prstGeom prst="rect">
            <a:avLst/>
          </a:prstGeom>
          <a:solidFill>
            <a:srgbClr val="778888">
              <a:lumMod val="20000"/>
              <a:lumOff val="80000"/>
            </a:srgbClr>
          </a:solidFill>
          <a:ln w="6350">
            <a:noFill/>
            <a:miter lim="800000"/>
            <a:headEnd/>
            <a:tailEnd/>
          </a:ln>
          <a:effectLst/>
        </p:spPr>
        <p:txBody>
          <a:bodyPr vert="horz" wrap="square" lIns="72000" tIns="72000" rIns="72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kern="0" cap="none" spc="0" normalizeH="0" baseline="0" noProof="0" err="1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Rectangle 17"/>
          <p:cNvSpPr/>
          <p:nvPr userDrawn="1"/>
        </p:nvSpPr>
        <p:spPr bwMode="gray">
          <a:xfrm>
            <a:off x="0" y="4899087"/>
            <a:ext cx="12193633" cy="114089"/>
          </a:xfrm>
          <a:prstGeom prst="rect">
            <a:avLst/>
          </a:prstGeom>
          <a:solidFill>
            <a:schemeClr val="accent1">
              <a:lumMod val="50000"/>
            </a:schemeClr>
          </a:solidFill>
          <a:ln w="6350">
            <a:noFill/>
            <a:miter lim="800000"/>
            <a:headEnd/>
            <a:tailEnd/>
          </a:ln>
          <a:effectLst/>
        </p:spPr>
        <p:txBody>
          <a:bodyPr vert="horz" wrap="square" lIns="72000" tIns="72000" rIns="72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kern="0" cap="none" spc="0" normalizeH="0" baseline="0" noProof="0" err="1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3854971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_Black_Top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" name="Objekt 43" hidden="1"/>
          <p:cNvGraphicFramePr>
            <a:graphicFrameLocks/>
          </p:cNvGraphicFramePr>
          <p:nvPr userDrawn="1">
            <p:custDataLst>
              <p:tags r:id="rId1"/>
            </p:custDataLst>
          </p:nvPr>
        </p:nvGraphicFramePr>
        <p:xfrm>
          <a:off x="1" y="0"/>
          <a:ext cx="211667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0" imgH="0" progId="">
                  <p:embed/>
                </p:oleObj>
              </mc:Choice>
              <mc:Fallback>
                <p:oleObj name="think-cell Slide" r:id="rId3" imgW="0" imgH="0" progId="">
                  <p:embed/>
                  <p:pic>
                    <p:nvPicPr>
                      <p:cNvPr id="44" name="Objekt 43" hidden="1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211667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 userDrawn="1"/>
        </p:nvSpPr>
        <p:spPr bwMode="gray">
          <a:xfrm>
            <a:off x="0" y="0"/>
            <a:ext cx="12191999" cy="6858000"/>
          </a:xfrm>
          <a:prstGeom prst="rect">
            <a:avLst/>
          </a:prstGeom>
          <a:solidFill>
            <a:srgbClr val="778888">
              <a:lumMod val="20000"/>
              <a:lumOff val="80000"/>
            </a:srgbClr>
          </a:solidFill>
          <a:ln w="6350">
            <a:noFill/>
            <a:miter lim="800000"/>
            <a:headEnd/>
            <a:tailEnd/>
          </a:ln>
          <a:effectLst/>
        </p:spPr>
        <p:txBody>
          <a:bodyPr vert="horz" wrap="square" lIns="72000" tIns="72000" rIns="72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kern="0" cap="none" spc="0" normalizeH="0" baseline="0" noProof="0" err="1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668" y="6492103"/>
            <a:ext cx="660366" cy="365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2544" y="6507869"/>
            <a:ext cx="706040" cy="284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79044949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Title and Two Columns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211667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0" imgH="0" progId="">
                  <p:embed/>
                </p:oleObj>
              </mc:Choice>
              <mc:Fallback>
                <p:oleObj name="think-cell Slide" r:id="rId3" imgW="0" imgH="0" progId="">
                  <p:embed/>
                  <p:pic>
                    <p:nvPicPr>
                      <p:cNvPr id="10" name="Objekt 9" hidden="1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211667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4"/>
          <p:cNvSpPr>
            <a:spLocks noGrp="1"/>
          </p:cNvSpPr>
          <p:nvPr>
            <p:ph type="title"/>
          </p:nvPr>
        </p:nvSpPr>
        <p:spPr>
          <a:xfrm>
            <a:off x="348653" y="111301"/>
            <a:ext cx="10967687" cy="786122"/>
          </a:xfrm>
          <a:prstGeom prst="rect">
            <a:avLst/>
          </a:prstGeom>
        </p:spPr>
        <p:txBody>
          <a:bodyPr anchor="ctr"/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3"/>
          </p:nvPr>
        </p:nvSpPr>
        <p:spPr>
          <a:xfrm>
            <a:off x="335360" y="1168400"/>
            <a:ext cx="5177367" cy="4918056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Text Placeholder 10"/>
          <p:cNvSpPr>
            <a:spLocks noGrp="1"/>
          </p:cNvSpPr>
          <p:nvPr>
            <p:ph type="body" idx="14"/>
          </p:nvPr>
        </p:nvSpPr>
        <p:spPr>
          <a:xfrm>
            <a:off x="6405035" y="1168400"/>
            <a:ext cx="5177367" cy="4918056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88032" y="908720"/>
            <a:ext cx="1147259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>
            <a:off x="312035" y="6453336"/>
            <a:ext cx="1147259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5937948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48655" y="111301"/>
            <a:ext cx="10967687" cy="786122"/>
          </a:xfrm>
          <a:prstGeom prst="rect">
            <a:avLst/>
          </a:prstGeom>
        </p:spPr>
        <p:txBody>
          <a:bodyPr anchor="ctr"/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Text Placeholder 10"/>
          <p:cNvSpPr>
            <a:spLocks noGrp="1"/>
          </p:cNvSpPr>
          <p:nvPr>
            <p:ph type="body" idx="12"/>
          </p:nvPr>
        </p:nvSpPr>
        <p:spPr>
          <a:xfrm>
            <a:off x="335360" y="1052736"/>
            <a:ext cx="10972800" cy="49180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88032" y="908720"/>
            <a:ext cx="1147259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>
            <a:off x="312035" y="6453336"/>
            <a:ext cx="1147259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2209640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Option 1_Red">
    <p:bg bwMode="auto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kt 13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211667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0" imgH="0" progId="">
                  <p:embed/>
                </p:oleObj>
              </mc:Choice>
              <mc:Fallback>
                <p:oleObj name="think-cell Slide" r:id="rId3" imgW="0" imgH="0" progId="">
                  <p:embed/>
                  <p:pic>
                    <p:nvPicPr>
                      <p:cNvPr id="14" name="Objekt 13" hidden="1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211667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 userDrawn="1"/>
        </p:nvSpPr>
        <p:spPr>
          <a:xfrm>
            <a:off x="10554349" y="6517428"/>
            <a:ext cx="1041344" cy="1692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/>
            <a:fld id="{989496C2-B50A-F244-A0A1-E3849033C8B1}" type="slidenum">
              <a:rPr lang="en-GB" sz="900" smtClean="0">
                <a:solidFill>
                  <a:schemeClr val="bg1"/>
                </a:solidFill>
              </a:rPr>
              <a:pPr algn="r"/>
              <a:t>‹#›</a:t>
            </a:fld>
            <a:endParaRPr lang="en-GB" sz="1100">
              <a:solidFill>
                <a:schemeClr val="bg1"/>
              </a:solidFill>
            </a:endParaRPr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622084" y="3438971"/>
            <a:ext cx="10977033" cy="1162800"/>
          </a:xfrm>
          <a:prstGeom prst="rect">
            <a:avLst/>
          </a:prstGeom>
        </p:spPr>
        <p:txBody>
          <a:bodyPr lIns="0" tIns="0" anchor="b" anchorCtr="0">
            <a:noAutofit/>
          </a:bodyPr>
          <a:lstStyle>
            <a:lvl1pPr algn="l">
              <a:lnSpc>
                <a:spcPct val="100000"/>
              </a:lnSpc>
              <a:defRPr sz="3600" b="0" spc="0" baseline="0">
                <a:solidFill>
                  <a:schemeClr val="bg1"/>
                </a:solidFill>
                <a:latin typeface="Adani Regular" panose="02000503000000020004" pitchFamily="2" charset="0"/>
                <a:cs typeface="Arial" pitchFamily="34" charset="0"/>
              </a:defRPr>
            </a:lvl1pPr>
          </a:lstStyle>
          <a:p>
            <a:r>
              <a:rPr lang="en-US"/>
              <a:t>Master Divider Slide Headline</a:t>
            </a:r>
            <a:endParaRPr lang="en-GB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Option 2_Black"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kt 13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" y="0"/>
          <a:ext cx="211667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0" imgH="0" progId="">
                  <p:embed/>
                </p:oleObj>
              </mc:Choice>
              <mc:Fallback>
                <p:oleObj name="think-cell Slide" r:id="rId3" imgW="0" imgH="0" progId="">
                  <p:embed/>
                  <p:pic>
                    <p:nvPicPr>
                      <p:cNvPr id="14" name="Objekt 13" hidden="1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211667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 userDrawn="1"/>
        </p:nvSpPr>
        <p:spPr>
          <a:xfrm>
            <a:off x="10554349" y="6517428"/>
            <a:ext cx="1041344" cy="1692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/>
            <a:fld id="{989496C2-B50A-F244-A0A1-E3849033C8B1}" type="slidenum">
              <a:rPr lang="en-GB" sz="900" smtClean="0">
                <a:solidFill>
                  <a:schemeClr val="bg1"/>
                </a:solidFill>
              </a:rPr>
              <a:pPr algn="r"/>
              <a:t>‹#›</a:t>
            </a:fld>
            <a:endParaRPr lang="en-GB" sz="1100">
              <a:solidFill>
                <a:schemeClr val="bg1"/>
              </a:solidFill>
            </a:endParaRPr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622084" y="3438971"/>
            <a:ext cx="10977033" cy="1162800"/>
          </a:xfrm>
          <a:prstGeom prst="rect">
            <a:avLst/>
          </a:prstGeom>
        </p:spPr>
        <p:txBody>
          <a:bodyPr lIns="0" tIns="0" anchor="b" anchorCtr="0">
            <a:noAutofit/>
          </a:bodyPr>
          <a:lstStyle>
            <a:lvl1pPr algn="l">
              <a:lnSpc>
                <a:spcPct val="100000"/>
              </a:lnSpc>
              <a:defRPr sz="3600" b="0" spc="0" baseline="0">
                <a:solidFill>
                  <a:srgbClr val="FF0000"/>
                </a:solidFill>
                <a:latin typeface="Adani Regular" panose="02000503000000020004" pitchFamily="2" charset="0"/>
                <a:cs typeface="Arial" pitchFamily="34" charset="0"/>
              </a:defRPr>
            </a:lvl1pPr>
          </a:lstStyle>
          <a:p>
            <a:r>
              <a:rPr lang="en-US"/>
              <a:t>Master Divider Slide Headline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08269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Bod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EA77E4D2-B742-42FB-B709-EE648C8FCA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423952" y="0"/>
            <a:ext cx="12192000" cy="5500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046B851-BD79-4D4B-AD11-B421969D2684}"/>
              </a:ext>
            </a:extLst>
          </p:cNvPr>
          <p:cNvSpPr/>
          <p:nvPr userDrawn="1"/>
        </p:nvSpPr>
        <p:spPr>
          <a:xfrm>
            <a:off x="11518084" y="125835"/>
            <a:ext cx="140536" cy="140536"/>
          </a:xfrm>
          <a:prstGeom prst="rect">
            <a:avLst/>
          </a:prstGeom>
          <a:solidFill>
            <a:srgbClr val="FE5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03238E-6963-4E4D-BBD1-21BBB875F9CD}"/>
              </a:ext>
            </a:extLst>
          </p:cNvPr>
          <p:cNvSpPr/>
          <p:nvPr userDrawn="1"/>
        </p:nvSpPr>
        <p:spPr>
          <a:xfrm>
            <a:off x="11734492" y="125835"/>
            <a:ext cx="140536" cy="140536"/>
          </a:xfrm>
          <a:prstGeom prst="rect">
            <a:avLst/>
          </a:prstGeom>
          <a:solidFill>
            <a:srgbClr val="6DC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E227E7-5C0D-4056-AB17-0C3268D89C1D}"/>
              </a:ext>
            </a:extLst>
          </p:cNvPr>
          <p:cNvSpPr/>
          <p:nvPr userDrawn="1"/>
        </p:nvSpPr>
        <p:spPr>
          <a:xfrm>
            <a:off x="11950900" y="125835"/>
            <a:ext cx="140536" cy="140536"/>
          </a:xfrm>
          <a:prstGeom prst="rect">
            <a:avLst/>
          </a:prstGeom>
          <a:solidFill>
            <a:srgbClr val="004E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528C0C-32CD-4B60-8712-7C5FC9584248}"/>
              </a:ext>
            </a:extLst>
          </p:cNvPr>
          <p:cNvSpPr txBox="1"/>
          <p:nvPr userDrawn="1"/>
        </p:nvSpPr>
        <p:spPr>
          <a:xfrm>
            <a:off x="0" y="6575289"/>
            <a:ext cx="31101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© COPYRIGHT 2025, TREDENCE. ALL RIGHTS RESERVED</a:t>
            </a:r>
            <a:endParaRPr lang="en-IN" sz="900">
              <a:solidFill>
                <a:schemeClr val="tx1">
                  <a:lumMod val="50000"/>
                  <a:lumOff val="50000"/>
                </a:schemeClr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8214D7B-D29D-4378-9E7D-B63740ED85C9}"/>
              </a:ext>
            </a:extLst>
          </p:cNvPr>
          <p:cNvGrpSpPr/>
          <p:nvPr userDrawn="1"/>
        </p:nvGrpSpPr>
        <p:grpSpPr>
          <a:xfrm>
            <a:off x="5902296" y="6657690"/>
            <a:ext cx="387409" cy="0"/>
            <a:chOff x="5905144" y="6657690"/>
            <a:chExt cx="387409" cy="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53AA31C-1EA9-44F8-B0B9-7CF32138F1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05144" y="6657690"/>
              <a:ext cx="71215" cy="0"/>
            </a:xfrm>
            <a:prstGeom prst="line">
              <a:avLst/>
            </a:prstGeom>
            <a:ln w="28575">
              <a:solidFill>
                <a:srgbClr val="FE5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AB8FBDF-7E0E-4D7E-862D-428314E932F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221338" y="6657690"/>
              <a:ext cx="71215" cy="0"/>
            </a:xfrm>
            <a:prstGeom prst="line">
              <a:avLst/>
            </a:prstGeom>
            <a:ln w="28575">
              <a:solidFill>
                <a:srgbClr val="FE5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Graphic 10">
            <a:extLst>
              <a:ext uri="{FF2B5EF4-FFF2-40B4-BE49-F238E27FC236}">
                <a16:creationId xmlns:a16="http://schemas.microsoft.com/office/drawing/2014/main" id="{6316D5ED-ED5A-4DEA-A26A-D216A8E5F18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34492" y="6583835"/>
            <a:ext cx="180984" cy="192001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59A14B3-7083-444C-AE90-1951DA124D3E}"/>
              </a:ext>
            </a:extLst>
          </p:cNvPr>
          <p:cNvCxnSpPr>
            <a:cxnSpLocks/>
          </p:cNvCxnSpPr>
          <p:nvPr userDrawn="1"/>
        </p:nvCxnSpPr>
        <p:spPr>
          <a:xfrm>
            <a:off x="0" y="6496048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796BD318-BFA6-4162-A9E6-3340BD6277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05500" y="6499675"/>
            <a:ext cx="380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fld id="{FAF63893-4B0C-4F88-9650-53ECAF8C5052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0" name="Title 18">
            <a:extLst>
              <a:ext uri="{FF2B5EF4-FFF2-40B4-BE49-F238E27FC236}">
                <a16:creationId xmlns:a16="http://schemas.microsoft.com/office/drawing/2014/main" id="{7725916F-093B-4C56-85A1-46E7828AF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392" y="266371"/>
            <a:ext cx="10972800" cy="584775"/>
          </a:xfrm>
          <a:prstGeom prst="rect">
            <a:avLst/>
          </a:prstGeom>
        </p:spPr>
        <p:txBody>
          <a:bodyPr/>
          <a:lstStyle>
            <a:lvl1pPr>
              <a:defRPr lang="en-US" sz="2800" b="1" kern="1200" smtClean="0">
                <a:solidFill>
                  <a:schemeClr val="tx1"/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5" name="Content Placeholder 21">
            <a:extLst>
              <a:ext uri="{FF2B5EF4-FFF2-40B4-BE49-F238E27FC236}">
                <a16:creationId xmlns:a16="http://schemas.microsoft.com/office/drawing/2014/main" id="{442361EB-3A00-488E-A73E-65766E41F9E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16392" y="1238496"/>
            <a:ext cx="115586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dirty="0" smtClean="0">
                <a:latin typeface="+mn-lt"/>
                <a:cs typeface="Poppins Light" panose="00000400000000000000" pitchFamily="50" charset="0"/>
              </a:defRPr>
            </a:lvl1pPr>
            <a:lvl2pPr marL="228600" indent="0">
              <a:buNone/>
              <a:defRPr lang="en-US" sz="1600" kern="1200" dirty="0" smtClean="0">
                <a:solidFill>
                  <a:schemeClr val="tx1"/>
                </a:solidFill>
                <a:latin typeface="Poppins Light" panose="00000400000000000000" pitchFamily="50" charset="0"/>
                <a:ea typeface="+mn-ea"/>
                <a:cs typeface="Poppins Light" panose="00000400000000000000" pitchFamily="50" charset="0"/>
              </a:defRPr>
            </a:lvl2pPr>
            <a:lvl3pPr marL="685800" indent="0">
              <a:buNone/>
              <a:defRPr lang="en-US" sz="1600" kern="1200" dirty="0" smtClean="0">
                <a:solidFill>
                  <a:schemeClr val="tx1"/>
                </a:solidFill>
                <a:latin typeface="Poppins Light" panose="00000400000000000000" pitchFamily="50" charset="0"/>
                <a:ea typeface="+mn-ea"/>
                <a:cs typeface="Poppins Light" panose="00000400000000000000" pitchFamily="50" charset="0"/>
              </a:defRPr>
            </a:lvl3pPr>
            <a:lvl4pPr marL="1143000" indent="0">
              <a:buNone/>
              <a:defRPr lang="en-US" sz="1600" kern="1200" dirty="0" smtClean="0">
                <a:solidFill>
                  <a:schemeClr val="tx1"/>
                </a:solidFill>
                <a:latin typeface="Poppins Light" panose="00000400000000000000" pitchFamily="50" charset="0"/>
                <a:ea typeface="+mn-ea"/>
                <a:cs typeface="Poppins Light" panose="00000400000000000000" pitchFamily="50" charset="0"/>
              </a:defRPr>
            </a:lvl4pPr>
            <a:lvl5pPr marL="1600200" indent="0">
              <a:buNone/>
              <a:defRPr lang="en-IN" sz="1600" kern="1200" dirty="0" smtClean="0">
                <a:solidFill>
                  <a:schemeClr val="tx1"/>
                </a:solidFill>
                <a:latin typeface="Poppins Light" panose="00000400000000000000" pitchFamily="50" charset="0"/>
                <a:ea typeface="+mn-ea"/>
                <a:cs typeface="Poppins Light" panose="00000400000000000000" pitchFamily="50" charset="0"/>
              </a:defRPr>
            </a:lvl5pPr>
          </a:lstStyle>
          <a:p>
            <a:pPr marL="0"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7941845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622895" y="111301"/>
            <a:ext cx="10967687" cy="78612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Master Title Slide Headline</a:t>
            </a:r>
            <a:endParaRPr lang="en-CA"/>
          </a:p>
        </p:txBody>
      </p:sp>
      <p:sp>
        <p:nvSpPr>
          <p:cNvPr id="6" name="Text Placeholder 19"/>
          <p:cNvSpPr>
            <a:spLocks noGrp="1"/>
          </p:cNvSpPr>
          <p:nvPr>
            <p:ph type="body" idx="1"/>
          </p:nvPr>
        </p:nvSpPr>
        <p:spPr>
          <a:xfrm>
            <a:off x="622893" y="1082678"/>
            <a:ext cx="10972800" cy="45259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10554349" y="6517428"/>
            <a:ext cx="1041344" cy="1692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/>
            <a:fld id="{989496C2-B50A-F244-A0A1-E3849033C8B1}" type="slidenum">
              <a:rPr lang="en-GB" sz="900" smtClean="0">
                <a:solidFill>
                  <a:schemeClr val="bg1">
                    <a:lumMod val="50000"/>
                  </a:schemeClr>
                </a:solidFill>
                <a:latin typeface="Adani Regular" panose="02000503000000020004" pitchFamily="2" charset="0"/>
              </a:rPr>
              <a:pPr algn="r"/>
              <a:t>‹#›</a:t>
            </a:fld>
            <a:endParaRPr lang="en-GB" sz="1100">
              <a:solidFill>
                <a:schemeClr val="bg1">
                  <a:lumMod val="50000"/>
                </a:schemeClr>
              </a:solidFill>
              <a:latin typeface="Adani Regular" panose="02000503000000020004" pitchFamily="2" charset="0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1084468" y="6557757"/>
            <a:ext cx="854969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l"/>
            <a:r>
              <a:rPr lang="en-US" sz="1000">
                <a:latin typeface="Adani Regular" panose="02000503000000020004" pitchFamily="2" charset="0"/>
              </a:rPr>
              <a:t>RESTRICTED</a:t>
            </a:r>
          </a:p>
        </p:txBody>
      </p:sp>
      <p:pic>
        <p:nvPicPr>
          <p:cNvPr id="16" name="Picture 2"/>
          <p:cNvPicPr>
            <a:picLocks noChangeAspect="1" noChangeArrowheads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8552" y="6507869"/>
            <a:ext cx="706040" cy="284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3" r:id="rId2"/>
    <p:sldLayoutId id="2147483712" r:id="rId3"/>
    <p:sldLayoutId id="2147483710" r:id="rId4"/>
    <p:sldLayoutId id="2147483701" r:id="rId5"/>
    <p:sldLayoutId id="2147483708" r:id="rId6"/>
    <p:sldLayoutId id="2147483714" r:id="rId7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lang="de-DE" sz="2400" b="1" kern="1200" dirty="0">
          <a:solidFill>
            <a:schemeClr val="tx1"/>
          </a:solidFill>
          <a:latin typeface="Adani Regular" panose="02000503000000020004" pitchFamily="2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Arial" charset="0"/>
        </a:defRPr>
      </a:lvl9pPr>
    </p:titleStyle>
    <p:bodyStyle>
      <a:lvl1pPr marL="0" indent="0" algn="l" rtl="0" eaLnBrk="1" fontAlgn="base" hangingPunct="1">
        <a:spcBef>
          <a:spcPts val="300"/>
        </a:spcBef>
        <a:spcAft>
          <a:spcPts val="300"/>
        </a:spcAft>
        <a:buFont typeface="Arial" charset="0"/>
        <a:buNone/>
        <a:defRPr sz="2600" kern="1200">
          <a:solidFill>
            <a:schemeClr val="tx1"/>
          </a:solidFill>
          <a:latin typeface="Adani Regular" panose="02000503000000020004" pitchFamily="2" charset="0"/>
          <a:ea typeface="+mn-ea"/>
          <a:cs typeface="+mn-cs"/>
        </a:defRPr>
      </a:lvl1pPr>
      <a:lvl2pPr marL="363538" indent="-188913" algn="l" rtl="0" eaLnBrk="1" fontAlgn="base" hangingPunct="1">
        <a:spcBef>
          <a:spcPts val="300"/>
        </a:spcBef>
        <a:spcAft>
          <a:spcPts val="300"/>
        </a:spcAft>
        <a:buFont typeface="Arial" charset="0"/>
        <a:buChar char="–"/>
        <a:defRPr sz="2400" kern="1200">
          <a:solidFill>
            <a:schemeClr val="tx1"/>
          </a:solidFill>
          <a:latin typeface="Adani Regular" panose="02000503000000020004" pitchFamily="2" charset="0"/>
          <a:ea typeface="+mn-ea"/>
          <a:cs typeface="+mn-cs"/>
        </a:defRPr>
      </a:lvl2pPr>
      <a:lvl3pPr marL="538163" indent="-174625" algn="l" rtl="0" eaLnBrk="1" fontAlgn="base" hangingPunct="1">
        <a:spcBef>
          <a:spcPts val="300"/>
        </a:spcBef>
        <a:spcAft>
          <a:spcPts val="300"/>
        </a:spcAft>
        <a:buFont typeface="Arial" charset="0"/>
        <a:buChar char="•"/>
        <a:defRPr sz="2000" kern="1200">
          <a:solidFill>
            <a:schemeClr val="tx1"/>
          </a:solidFill>
          <a:latin typeface="Adani Regular" panose="02000503000000020004" pitchFamily="2" charset="0"/>
          <a:ea typeface="+mn-ea"/>
          <a:cs typeface="+mn-cs"/>
        </a:defRPr>
      </a:lvl3pPr>
      <a:lvl4pPr marL="712788" indent="-174625" algn="l" rtl="0" eaLnBrk="1" fontAlgn="base" hangingPunct="1">
        <a:spcBef>
          <a:spcPts val="300"/>
        </a:spcBef>
        <a:spcAft>
          <a:spcPts val="300"/>
        </a:spcAft>
        <a:buFont typeface="Arial" charset="0"/>
        <a:buChar char="–"/>
        <a:defRPr sz="1800" kern="1200">
          <a:solidFill>
            <a:schemeClr val="tx1"/>
          </a:solidFill>
          <a:latin typeface="Adani Regular" panose="02000503000000020004" pitchFamily="2" charset="0"/>
          <a:ea typeface="+mn-ea"/>
          <a:cs typeface="+mn-cs"/>
        </a:defRPr>
      </a:lvl4pPr>
      <a:lvl5pPr marL="901700" indent="-188913" algn="l" rtl="0" eaLnBrk="1" fontAlgn="base" hangingPunct="1">
        <a:spcBef>
          <a:spcPts val="300"/>
        </a:spcBef>
        <a:spcAft>
          <a:spcPts val="300"/>
        </a:spcAft>
        <a:buFont typeface="Arial" charset="0"/>
        <a:buChar char="•"/>
        <a:defRPr sz="1800" kern="1200">
          <a:solidFill>
            <a:schemeClr val="tx1"/>
          </a:solidFill>
          <a:latin typeface="Adani Regular" panose="0200050300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microsoft.com/office/2007/relationships/hdphoto" Target="../media/hdphoto1.wdp"/><Relationship Id="rId4" Type="http://schemas.openxmlformats.org/officeDocument/2006/relationships/image" Target="../media/image1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ustomXml" Target="../ink/ink1.xml"/><Relationship Id="rId3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ustomXml" Target="../ink/ink2.xml"/><Relationship Id="rId3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ustomXml" Target="../ink/ink3.xml"/><Relationship Id="rId3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customXml" Target="../ink/ink4.xml"/><Relationship Id="rId4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ustomXml" Target="../ink/ink5.xml"/><Relationship Id="rId3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customXml" Target="../ink/ink6.xml"/><Relationship Id="rId4" Type="http://schemas.openxmlformats.org/officeDocument/2006/relationships/image" Target="../media/image18.png"/><Relationship Id="rId5" Type="http://schemas.openxmlformats.org/officeDocument/2006/relationships/customXml" Target="../ink/ink7.xml"/><Relationship Id="rId6" Type="http://schemas.openxmlformats.org/officeDocument/2006/relationships/image" Target="../media/image19.png"/><Relationship Id="rId7" Type="http://schemas.openxmlformats.org/officeDocument/2006/relationships/customXml" Target="../ink/ink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ustomXml" Target="../ink/ink9.xml"/><Relationship Id="rId3" Type="http://schemas.openxmlformats.org/officeDocument/2006/relationships/image" Target="../media/image1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/>
          <p:cNvSpPr txBox="1"/>
          <p:nvPr/>
        </p:nvSpPr>
        <p:spPr>
          <a:xfrm>
            <a:off x="205858" y="2668562"/>
            <a:ext cx="10452630" cy="380480"/>
          </a:xfrm>
          <a:prstGeom prst="rect">
            <a:avLst/>
          </a:prstGeom>
          <a:noFill/>
        </p:spPr>
        <p:txBody>
          <a:bodyPr wrap="square" lIns="36000" tIns="36000" rIns="36000" bIns="36000" rtlCol="0" anchor="t">
            <a:spAutoFit/>
          </a:bodyPr>
          <a:lstStyle/>
          <a:p>
            <a:r>
              <a:rPr lang="en-US" sz="2000">
                <a:latin typeface="Adani Regular"/>
                <a:cs typeface="Arial"/>
              </a:rPr>
              <a:t>Title:  Akasha Intelligence Cross Platform</a:t>
            </a:r>
            <a:endParaRPr lang="en-US" sz="2000">
              <a:latin typeface="Adani Regular" panose="02000503000000020004" pitchFamily="2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05858" y="3339107"/>
            <a:ext cx="10419951" cy="380480"/>
          </a:xfrm>
          <a:prstGeom prst="rect">
            <a:avLst/>
          </a:prstGeom>
          <a:noFill/>
        </p:spPr>
        <p:txBody>
          <a:bodyPr wrap="square" lIns="36000" tIns="36000" rIns="36000" bIns="36000" rtlCol="0" anchor="t">
            <a:spAutoFit/>
          </a:bodyPr>
          <a:lstStyle/>
          <a:p>
            <a:r>
              <a:rPr lang="en-US" sz="2000">
                <a:latin typeface="Adani Regular"/>
                <a:cs typeface="Arial"/>
              </a:rPr>
              <a:t>BU/ Function:  </a:t>
            </a:r>
            <a:r>
              <a:rPr lang="en-US" sz="2000" b="1">
                <a:latin typeface="Adani Regular"/>
                <a:cs typeface="Arial"/>
              </a:rPr>
              <a:t>Adani Green Energy Ltd.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858" y="4680197"/>
            <a:ext cx="10419951" cy="380480"/>
          </a:xfrm>
          <a:prstGeom prst="rect">
            <a:avLst/>
          </a:prstGeom>
          <a:noFill/>
        </p:spPr>
        <p:txBody>
          <a:bodyPr wrap="square" lIns="36000" tIns="36000" rIns="36000" bIns="36000" rtlCol="0" anchor="t">
            <a:spAutoFit/>
          </a:bodyPr>
          <a:lstStyle/>
          <a:p>
            <a:r>
              <a:rPr lang="en-US" sz="2000">
                <a:latin typeface="Adani Regular"/>
                <a:cs typeface="Arial"/>
              </a:rPr>
              <a:t>Project Lead/ IT Owner: </a:t>
            </a:r>
            <a:r>
              <a:rPr lang="en-US" sz="2000" b="1">
                <a:latin typeface="Adani Regular"/>
                <a:cs typeface="Arial"/>
              </a:rPr>
              <a:t>Adithya Kumar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858" y="4009652"/>
            <a:ext cx="10419951" cy="380480"/>
          </a:xfrm>
          <a:prstGeom prst="rect">
            <a:avLst/>
          </a:prstGeom>
          <a:noFill/>
        </p:spPr>
        <p:txBody>
          <a:bodyPr wrap="square" lIns="36000" tIns="36000" rIns="36000" bIns="36000" rtlCol="0" anchor="t">
            <a:spAutoFit/>
          </a:bodyPr>
          <a:lstStyle/>
          <a:p>
            <a:r>
              <a:rPr lang="en-US" sz="2000">
                <a:latin typeface="Adani Regular"/>
                <a:cs typeface="Arial"/>
              </a:rPr>
              <a:t>CIO/ CDO:  </a:t>
            </a:r>
            <a:r>
              <a:rPr lang="en-US" sz="2000" b="1">
                <a:latin typeface="Adani Regular"/>
                <a:cs typeface="Arial"/>
              </a:rPr>
              <a:t>Kiran KR</a:t>
            </a:r>
            <a:endParaRPr lang="en-US" sz="2000" b="1">
              <a:latin typeface="Adani Regular" panose="02000503000000020004" pitchFamily="2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05858" y="5350742"/>
            <a:ext cx="10419951" cy="380480"/>
          </a:xfrm>
          <a:prstGeom prst="rect">
            <a:avLst/>
          </a:prstGeom>
          <a:noFill/>
        </p:spPr>
        <p:txBody>
          <a:bodyPr wrap="square" lIns="36000" tIns="36000" rIns="36000" bIns="36000" rtlCol="0" anchor="t">
            <a:spAutoFit/>
          </a:bodyPr>
          <a:lstStyle/>
          <a:p>
            <a:r>
              <a:rPr lang="en-US" sz="2000">
                <a:latin typeface="Adani Regular"/>
                <a:cs typeface="Arial"/>
              </a:rPr>
              <a:t>Business Sponsor/ Functional Owner:</a:t>
            </a:r>
            <a:endParaRPr lang="en-US" sz="2000" b="1">
              <a:latin typeface="Adani Regular" panose="02000503000000020004" pitchFamily="2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91344" y="255654"/>
            <a:ext cx="6787234" cy="442035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l"/>
            <a:r>
              <a:rPr lang="en-US" sz="2400" b="1">
                <a:latin typeface="Adani Regular" panose="02000503000000020004" pitchFamily="2" charset="0"/>
              </a:rPr>
              <a:t>Submission to the Architecture Review 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858" y="1074688"/>
            <a:ext cx="7978373" cy="1303809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algn="l"/>
            <a:endParaRPr lang="en-US" sz="2000">
              <a:latin typeface="Adani Regular" panose="02000503000000020004" pitchFamily="2" charset="0"/>
            </a:endParaRPr>
          </a:p>
          <a:p>
            <a:r>
              <a:rPr lang="en-US" sz="2000">
                <a:latin typeface="Adani Regular"/>
                <a:cs typeface="Arial"/>
              </a:rPr>
              <a:t>ARB Request ID: </a:t>
            </a:r>
            <a:r>
              <a:rPr lang="en-US" sz="2000" i="1">
                <a:latin typeface="Adani Regular"/>
                <a:cs typeface="Arial"/>
              </a:rPr>
              <a:t> </a:t>
            </a:r>
            <a:r>
              <a:rPr lang="en-US" sz="2000">
                <a:latin typeface="Adani Regular"/>
                <a:cs typeface="Arial"/>
              </a:rPr>
              <a:t>(to be filled by ARB SPOC)</a:t>
            </a:r>
          </a:p>
          <a:p>
            <a:pPr algn="l"/>
            <a:endParaRPr lang="en-US" sz="2000">
              <a:latin typeface="Adani Regular" panose="02000503000000020004" pitchFamily="2" charset="0"/>
            </a:endParaRPr>
          </a:p>
          <a:p>
            <a:r>
              <a:rPr lang="en-US" sz="2000">
                <a:latin typeface="Adani Regular"/>
                <a:cs typeface="Arial"/>
              </a:rPr>
              <a:t>Date of Submission: </a:t>
            </a:r>
            <a:r>
              <a:rPr lang="en-US" sz="2000" b="1">
                <a:latin typeface="Adani Regular"/>
                <a:cs typeface="Arial"/>
              </a:rPr>
              <a:t>2026</a:t>
            </a:r>
            <a:r>
              <a:rPr lang="en-US" sz="2000">
                <a:latin typeface="Adani Regular"/>
                <a:cs typeface="Arial"/>
              </a:rPr>
              <a:t>                       </a:t>
            </a:r>
          </a:p>
        </p:txBody>
      </p:sp>
      <p:pic>
        <p:nvPicPr>
          <p:cNvPr id="19" name="Picture 4" descr="Image result for board meeting animated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750" b="92292" l="2188" r="97344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2088" y="-88"/>
            <a:ext cx="3860944" cy="2895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10288017" y="5579103"/>
            <a:ext cx="1737360" cy="667832"/>
            <a:chOff x="8535200" y="4911271"/>
            <a:chExt cx="1737360" cy="667832"/>
          </a:xfrm>
        </p:grpSpPr>
        <p:cxnSp>
          <p:nvCxnSpPr>
            <p:cNvPr id="12" name="Straight Connector 11"/>
            <p:cNvCxnSpPr/>
            <p:nvPr/>
          </p:nvCxnSpPr>
          <p:spPr>
            <a:xfrm>
              <a:off x="8535200" y="4911271"/>
              <a:ext cx="1737360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8535200" y="4983279"/>
              <a:ext cx="1737360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8535200" y="5507095"/>
              <a:ext cx="1737360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8535200" y="5579103"/>
              <a:ext cx="1737360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8535200" y="5027590"/>
              <a:ext cx="1737360" cy="442035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en-US" sz="1200" b="1">
                  <a:solidFill>
                    <a:srgbClr val="FF0000"/>
                  </a:solidFill>
                </a:rPr>
                <a:t>For Internal Circulation Only</a:t>
              </a:r>
            </a:p>
          </p:txBody>
        </p:sp>
      </p:grpSp>
      <p:pic>
        <p:nvPicPr>
          <p:cNvPr id="4" name="Picture 4">
            <a:extLst>
              <a:ext uri="{FF2B5EF4-FFF2-40B4-BE49-F238E27FC236}">
                <a16:creationId xmlns:a16="http://schemas.microsoft.com/office/drawing/2014/main" id="{A0B14D74-DE42-4DCF-BFD4-CFF098D73A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767" y="6415357"/>
            <a:ext cx="810163" cy="43958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457200" y="36576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/>
            </a:pPr>
            <a:r>
              <a:t>Project: Akasha Intelligence Cross Platform</a:t>
            </a:r>
            <a:br/>
            <a:r>
              <a:t>BU: Adani Green Energy Ltd.</a:t>
            </a:r>
            <a:br/>
            <a:r>
              <a:t>IT Owner: Adithya Kumar</a:t>
            </a:r>
            <a:br/>
            <a:r>
              <a:t>CIO: Kiran KR</a:t>
            </a:r>
          </a:p>
        </p:txBody>
      </p:sp>
    </p:spTree>
    <p:extLst>
      <p:ext uri="{BB962C8B-B14F-4D97-AF65-F5344CB8AC3E}">
        <p14:creationId xmlns:p14="http://schemas.microsoft.com/office/powerpoint/2010/main" val="765801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8655" y="111301"/>
            <a:ext cx="11579993" cy="786122"/>
          </a:xfrm>
        </p:spPr>
        <p:txBody>
          <a:bodyPr/>
          <a:lstStyle/>
          <a:p>
            <a:r>
              <a:rPr lang="en-US">
                <a:latin typeface="Adani Regular" panose="02000503000000020004" pitchFamily="2" charset="0"/>
              </a:rPr>
              <a:t>Pre-Submission Checklist/ Pre-Requisites (1/2) </a:t>
            </a:r>
            <a:br>
              <a:rPr lang="en-US">
                <a:latin typeface="Adani Regular" panose="02000503000000020004" pitchFamily="2" charset="0"/>
              </a:rPr>
            </a:br>
            <a:r>
              <a:rPr lang="en-US" sz="1600" b="0" i="1">
                <a:latin typeface="Adani Regular" panose="02000503000000020004" pitchFamily="2" charset="0"/>
              </a:rPr>
              <a:t>(to be checked by BU before submitting – for all solutions being evaluated)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0861654"/>
              </p:ext>
            </p:extLst>
          </p:nvPr>
        </p:nvGraphicFramePr>
        <p:xfrm>
          <a:off x="315254" y="1015560"/>
          <a:ext cx="11469378" cy="54290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8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552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1015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/>
                        </a:rPr>
                        <a:t>#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/>
                        </a:rPr>
                        <a:t>Question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/>
                        </a:rPr>
                        <a:t>BU Response </a:t>
                      </a:r>
                      <a:endParaRPr lang="en-US" sz="1400" b="1">
                        <a:solidFill>
                          <a:srgbClr val="FFFFFF"/>
                        </a:solidFill>
                        <a:latin typeface="Adani Regular" panose="02000503000000020004" pitchFamily="2" charset="0"/>
                      </a:endParaRPr>
                    </a:p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/>
                        </a:rPr>
                        <a:t>(Yes/ No/ Not Applicable)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786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tx1"/>
                          </a:solidFill>
                          <a:latin typeface="Adani Regular"/>
                        </a:rPr>
                        <a:t>1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latin typeface="Adani Regular"/>
                        </a:rPr>
                        <a:t>Checked in APM that no existing solution can be leveraged?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latin typeface="Adani Regular"/>
                        </a:rPr>
                        <a:t>Yes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376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tx1"/>
                          </a:solidFill>
                          <a:latin typeface="Adani Regular"/>
                        </a:rPr>
                        <a:t>2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latin typeface="Adani Regular"/>
                        </a:rPr>
                        <a:t>BRD available</a:t>
                      </a:r>
                      <a:r>
                        <a:rPr lang="en-US" sz="1400" b="0" baseline="0">
                          <a:solidFill>
                            <a:schemeClr val="tx1"/>
                          </a:solidFill>
                          <a:latin typeface="Adani Regular"/>
                        </a:rPr>
                        <a:t> and </a:t>
                      </a:r>
                      <a:r>
                        <a:rPr lang="en-US" sz="1400" b="0">
                          <a:solidFill>
                            <a:schemeClr val="tx1"/>
                          </a:solidFill>
                          <a:latin typeface="Adani Regular"/>
                        </a:rPr>
                        <a:t>signed off by BU stakeholders/ owners</a:t>
                      </a:r>
                      <a:r>
                        <a:rPr lang="en-US" sz="1400" b="0" baseline="0">
                          <a:solidFill>
                            <a:schemeClr val="tx1"/>
                          </a:solidFill>
                          <a:latin typeface="Adani Regular"/>
                        </a:rPr>
                        <a:t> </a:t>
                      </a:r>
                      <a:r>
                        <a:rPr lang="en-US" sz="1400" b="0">
                          <a:solidFill>
                            <a:schemeClr val="tx1"/>
                          </a:solidFill>
                          <a:latin typeface="Adani Regular"/>
                        </a:rPr>
                        <a:t>?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dani Regular"/>
                        </a:rPr>
                        <a:t>Yes</a:t>
                      </a:r>
                      <a:endParaRPr lang="en-US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376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tx1"/>
                          </a:solidFill>
                          <a:latin typeface="Adani Regular"/>
                        </a:rPr>
                        <a:t>3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latin typeface="Adani Regular"/>
                        </a:rPr>
                        <a:t>Business needs/</a:t>
                      </a:r>
                      <a:r>
                        <a:rPr lang="en-US" sz="1400" baseline="0">
                          <a:solidFill>
                            <a:schemeClr val="tx1"/>
                          </a:solidFill>
                          <a:latin typeface="Adani Regular"/>
                        </a:rPr>
                        <a:t> requirements (as per BRD) categorized into “must have” and “good to have”?</a:t>
                      </a:r>
                      <a:endParaRPr lang="en-US" sz="140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tx1"/>
                          </a:solidFill>
                          <a:latin typeface="Adani Regular"/>
                        </a:rPr>
                        <a:t>Must Have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540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tx1"/>
                          </a:solidFill>
                          <a:latin typeface="Adani Regular"/>
                        </a:rPr>
                        <a:t>4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latin typeface="Adani Regular"/>
                        </a:rPr>
                        <a:t>Functional evaluation</a:t>
                      </a:r>
                      <a:r>
                        <a:rPr lang="en-US" sz="1400" baseline="0">
                          <a:solidFill>
                            <a:schemeClr val="tx1"/>
                          </a:solidFill>
                          <a:latin typeface="Adani Regular"/>
                        </a:rPr>
                        <a:t> completed against BRD requirements and functional rankings established?</a:t>
                      </a:r>
                      <a:endParaRPr lang="en-US" sz="140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dani Regular"/>
                        </a:rPr>
                        <a:t>Yes</a:t>
                      </a:r>
                      <a:endParaRPr lang="en-US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37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latin typeface="Adani Regular"/>
                        </a:rPr>
                        <a:t>5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Adani Regular"/>
                        </a:rPr>
                        <a:t>Partner responses to the Technology questionnaire</a:t>
                      </a:r>
                      <a:r>
                        <a:rPr lang="en-US" sz="1400" baseline="0">
                          <a:solidFill>
                            <a:schemeClr val="tx1"/>
                          </a:solidFill>
                          <a:latin typeface="Adani Regular"/>
                        </a:rPr>
                        <a:t> attached?</a:t>
                      </a:r>
                      <a:endParaRPr lang="en-US" sz="140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dani Regular"/>
                        </a:rPr>
                        <a:t>Yes</a:t>
                      </a:r>
                      <a:endParaRPr lang="en-US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37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latin typeface="Adani Regular"/>
                        </a:rPr>
                        <a:t>6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aseline="0">
                          <a:solidFill>
                            <a:schemeClr val="tx1"/>
                          </a:solidFill>
                          <a:latin typeface="Adani Regular"/>
                        </a:rPr>
                        <a:t>Confidentiality – Integrity – Availability (CIA) –</a:t>
                      </a:r>
                      <a:r>
                        <a:rPr lang="en-US" sz="1400" kern="1200" baseline="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aseline="0">
                          <a:solidFill>
                            <a:schemeClr val="tx1"/>
                          </a:solidFill>
                          <a:latin typeface="Adani Regular"/>
                        </a:rPr>
                        <a:t>aspects of the solution captured ?</a:t>
                      </a:r>
                      <a:endParaRPr lang="en-US" sz="140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dani Regular"/>
                        </a:rPr>
                        <a:t>Yes</a:t>
                      </a:r>
                      <a:endParaRPr lang="en-US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937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latin typeface="Adani Regular"/>
                        </a:rPr>
                        <a:t>7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chemeClr val="tx1"/>
                          </a:solidFill>
                          <a:latin typeface="Adani Regular"/>
                        </a:rPr>
                        <a:t>As-is architecture</a:t>
                      </a:r>
                      <a:r>
                        <a:rPr lang="en-US" sz="1400" b="0" baseline="0">
                          <a:solidFill>
                            <a:schemeClr val="tx1"/>
                          </a:solidFill>
                          <a:latin typeface="Adani Regular"/>
                        </a:rPr>
                        <a:t> provided?</a:t>
                      </a:r>
                      <a:endParaRPr lang="en-US" sz="14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dani Regular"/>
                        </a:rPr>
                        <a:t>Yes</a:t>
                      </a:r>
                      <a:endParaRPr lang="en-US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4101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latin typeface="Adani Regular"/>
                        </a:rPr>
                        <a:t>8</a:t>
                      </a:r>
                      <a:endParaRPr lang="en-US" sz="140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latin typeface="Adani Regular"/>
                        </a:rPr>
                        <a:t>BU landscape diagram </a:t>
                      </a:r>
                      <a:r>
                        <a:rPr lang="en-US" sz="1400" b="0" baseline="0">
                          <a:solidFill>
                            <a:schemeClr val="tx1"/>
                          </a:solidFill>
                          <a:latin typeface="Adani Regular"/>
                        </a:rPr>
                        <a:t>provided (showing how the solution fits into existing system landscape of the concerned BU/ Function)?</a:t>
                      </a:r>
                      <a:endParaRPr lang="en-US" sz="14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dani Regular"/>
                        </a:rPr>
                        <a:t>Yes</a:t>
                      </a:r>
                      <a:endParaRPr lang="en-US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77348"/>
                  </a:ext>
                </a:extLst>
              </a:tr>
              <a:tr h="64101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/>
                        <a:t>9</a:t>
                      </a:r>
                      <a:endParaRPr lang="en-US" sz="14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kern="1200" baseline="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Logical architecture provided (showing various layers like presentation, business logic, data access, etc.)?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dani Regular"/>
                        </a:rPr>
                        <a:t>Yes</a:t>
                      </a:r>
                      <a:endParaRPr lang="en-US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937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latin typeface="Adani Regular"/>
                        </a:rPr>
                        <a:t>10</a:t>
                      </a:r>
                      <a:endParaRPr lang="en-US" sz="1400">
                        <a:latin typeface="Adani Regular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kern="1200" baseline="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End-to-end integration architecture provided (showing all interfaces and integration details)?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dani Regular"/>
                        </a:rPr>
                        <a:t>Yes</a:t>
                      </a:r>
                      <a:endParaRPr lang="en-US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937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latin typeface="Adani Regular"/>
                        </a:rPr>
                        <a:t>11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kern="1200" baseline="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Is Cyber Security Architecture available?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dani Regular"/>
                        </a:rPr>
                        <a:t>Yes</a:t>
                      </a:r>
                      <a:endParaRPr lang="en-US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400C01E-006F-45DC-ADA2-93F129C605F3}"/>
                  </a:ext>
                </a:extLst>
              </p14:cNvPr>
              <p14:cNvContentPartPr/>
              <p14:nvPr/>
            </p14:nvContentPartPr>
            <p14:xfrm>
              <a:off x="271874" y="6584209"/>
              <a:ext cx="590550" cy="1905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400C01E-006F-45DC-ADA2-93F129C605F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9391" y="6521779"/>
                <a:ext cx="715158" cy="31500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49123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8655" y="111301"/>
            <a:ext cx="11579993" cy="786122"/>
          </a:xfrm>
        </p:spPr>
        <p:txBody>
          <a:bodyPr/>
          <a:lstStyle/>
          <a:p>
            <a:r>
              <a:rPr lang="en-US">
                <a:latin typeface="Adani Regular" panose="02000503000000020004" pitchFamily="2" charset="0"/>
              </a:rPr>
              <a:t>Pre-Submission Checklist/ Pre-Requisites </a:t>
            </a:r>
            <a:r>
              <a:rPr lang="en-US"/>
              <a:t>(2/2)</a:t>
            </a:r>
            <a:br>
              <a:rPr lang="en-US">
                <a:latin typeface="Adani Regular" panose="02000503000000020004" pitchFamily="2" charset="0"/>
              </a:rPr>
            </a:br>
            <a:r>
              <a:rPr lang="en-US" sz="1600" b="0" i="1">
                <a:latin typeface="Adani Regular" panose="02000503000000020004" pitchFamily="2" charset="0"/>
              </a:rPr>
              <a:t>(to be checked by BU before </a:t>
            </a:r>
            <a:r>
              <a:rPr lang="en-US" sz="1600" b="0" i="1"/>
              <a:t>submitting – for all solutions being evaluated)</a:t>
            </a:r>
            <a:endParaRPr lang="en-US" sz="1600" b="0" i="1">
              <a:latin typeface="Adani Regular" panose="02000503000000020004" pitchFamily="2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1456135"/>
              </p:ext>
            </p:extLst>
          </p:nvPr>
        </p:nvGraphicFramePr>
        <p:xfrm>
          <a:off x="301924" y="1020792"/>
          <a:ext cx="11475044" cy="41709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92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4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7216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/>
                        </a:rPr>
                        <a:t>#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/>
                        </a:rPr>
                        <a:t>Question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/>
                        </a:rPr>
                        <a:t>BU Response (Y/N/NA)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93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dani Regular"/>
                        </a:rPr>
                        <a:t>12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baseline="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Is Data Flow Architecture provided?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dani Regular"/>
                        </a:rPr>
                        <a:t>Yes</a:t>
                      </a:r>
                      <a:endParaRPr lang="en-US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5279778"/>
                  </a:ext>
                </a:extLst>
              </a:tr>
              <a:tr h="24793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latin typeface="Adani Regular"/>
                        </a:rPr>
                        <a:t>13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baseline="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Is Privacy Impact Assessment available?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dani Regular"/>
                        </a:rPr>
                        <a:t>Yes</a:t>
                      </a:r>
                      <a:endParaRPr lang="en-US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185595"/>
                  </a:ext>
                </a:extLst>
              </a:tr>
              <a:tr h="24793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latin typeface="Adani Regular"/>
                        </a:rPr>
                        <a:t>14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baseline="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Deployment architecture provided (showing deployment of all solution components including Adani’s internal and external environments and clear depiction of network zoning/ segmentation)?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dani Regular"/>
                        </a:rPr>
                        <a:t>Yes</a:t>
                      </a:r>
                      <a:endParaRPr lang="en-US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46098"/>
                  </a:ext>
                </a:extLst>
              </a:tr>
              <a:tr h="24793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latin typeface="Adani Regular"/>
                        </a:rPr>
                        <a:t>15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baseline="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Are Data Security (including encryption, tokenization, masking etc..) controls in place?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dani Regular"/>
                        </a:rPr>
                        <a:t>Yes</a:t>
                      </a:r>
                      <a:endParaRPr lang="en-US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5183228"/>
                  </a:ext>
                </a:extLst>
              </a:tr>
              <a:tr h="24793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latin typeface="Adani Regular"/>
                        </a:rPr>
                        <a:t>16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baseline="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Are Legal and Regulatory compliance controls in place?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dani Regular"/>
                        </a:rPr>
                        <a:t>Yes</a:t>
                      </a:r>
                      <a:endParaRPr lang="en-US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161742"/>
                  </a:ext>
                </a:extLst>
              </a:tr>
              <a:tr h="24793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latin typeface="Adani Regular"/>
                        </a:rPr>
                        <a:t>17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baseline="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Details related to application profile (e.g. User base, Deployment model, Integration/ Interfaces type etc.) added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dani Regular"/>
                        </a:rPr>
                        <a:t>Yes</a:t>
                      </a:r>
                      <a:endParaRPr lang="en-US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717532"/>
                  </a:ext>
                </a:extLst>
              </a:tr>
              <a:tr h="24793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latin typeface="Adani Regular"/>
                        </a:rPr>
                        <a:t>18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baseline="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Are Integration details(including inter-connects/communication medium) provided?(e.g. API, etc.)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dani Regular"/>
                        </a:rPr>
                        <a:t>Yes</a:t>
                      </a:r>
                      <a:endParaRPr lang="en-US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1782313"/>
                  </a:ext>
                </a:extLst>
              </a:tr>
              <a:tr h="24793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latin typeface="Adani Regular"/>
                        </a:rPr>
                        <a:t>19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baseline="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Non-Functional requirements (e.g. Uptime, Response-time, RPO-RTO, Scalability requirements, network capacity requirements, any Security or Regulatory compliance etc.) captured?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dani Regular"/>
                        </a:rPr>
                        <a:t>Yes</a:t>
                      </a:r>
                      <a:endParaRPr lang="en-US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714019"/>
                  </a:ext>
                </a:extLst>
              </a:tr>
              <a:tr h="24793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latin typeface="Adani Regular"/>
                        </a:rPr>
                        <a:t>20</a:t>
                      </a:r>
                      <a:endParaRPr lang="en-US" sz="14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kern="1200" baseline="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High-level TCO for at least 3 years provided and within budget?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dani Regular"/>
                        </a:rPr>
                        <a:t>Yes</a:t>
                      </a:r>
                      <a:endParaRPr lang="en-US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874101"/>
                  </a:ext>
                </a:extLst>
              </a:tr>
              <a:tr h="60384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latin typeface="Adani Regular"/>
                        </a:rPr>
                        <a:t>21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baseline="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Technical evaluation completed against non-functional requirements and technical rankings established?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dani Regular"/>
                        </a:rPr>
                        <a:t>Yes</a:t>
                      </a:r>
                      <a:endParaRPr lang="en-US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655D6C7-416E-4F9A-8758-03217E75D61B}"/>
                  </a:ext>
                </a:extLst>
              </p14:cNvPr>
              <p14:cNvContentPartPr/>
              <p14:nvPr/>
            </p14:nvContentPartPr>
            <p14:xfrm>
              <a:off x="279594" y="6583602"/>
              <a:ext cx="552450" cy="20955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655D6C7-416E-4F9A-8758-03217E75D61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7059" y="6519379"/>
                <a:ext cx="677162" cy="33762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8357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8655" y="111301"/>
            <a:ext cx="11579993" cy="786122"/>
          </a:xfrm>
        </p:spPr>
        <p:txBody>
          <a:bodyPr/>
          <a:lstStyle/>
          <a:p>
            <a:r>
              <a:rPr lang="en-US">
                <a:latin typeface="Adani Regular" panose="02000503000000020004" pitchFamily="2" charset="0"/>
              </a:rPr>
              <a:t>Pre-Submission Checklist for Partner Selection</a:t>
            </a:r>
            <a:br>
              <a:rPr lang="en-US">
                <a:latin typeface="Adani Regular" panose="02000503000000020004" pitchFamily="2" charset="0"/>
              </a:rPr>
            </a:br>
            <a:r>
              <a:rPr lang="en-US" sz="1600" b="0" i="1">
                <a:latin typeface="Adani Regular" panose="02000503000000020004" pitchFamily="2" charset="0"/>
              </a:rPr>
              <a:t>(to be checked by BU/Project team before </a:t>
            </a:r>
            <a:r>
              <a:rPr lang="en-US" sz="1600" b="0" i="1"/>
              <a:t>submitting – for all solutions being evaluated)</a:t>
            </a:r>
            <a:endParaRPr lang="en-US" sz="1600" b="0" i="1">
              <a:latin typeface="Adani Regular" panose="02000503000000020004" pitchFamily="2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5459568"/>
              </p:ext>
            </p:extLst>
          </p:nvPr>
        </p:nvGraphicFramePr>
        <p:xfrm>
          <a:off x="315254" y="1015560"/>
          <a:ext cx="11469378" cy="5113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8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92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5737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/>
                        </a:rPr>
                        <a:t>#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/>
                        </a:rPr>
                        <a:t>Question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/>
                        </a:rPr>
                        <a:t>BU Response (Y/N/NA)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dani Regular" panose="02000503000000020004" pitchFamily="2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Is the shortlisted OEM/Service Provider’s turnover at least Rs 200 Cr on average over the last three financials years? </a:t>
                      </a:r>
                      <a:endParaRPr lang="en-US" sz="1400" b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5279778"/>
                  </a:ext>
                </a:extLst>
              </a:tr>
              <a:tr h="35826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dani Regular" panose="02000503000000020004" pitchFamily="2" charset="0"/>
                        </a:rPr>
                        <a:t>2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Does the Bidder have a minimum rostered manpower of 200 personnel on fulltime payroll?</a:t>
                      </a:r>
                      <a:endParaRPr lang="en-US" sz="1400" b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185595"/>
                  </a:ext>
                </a:extLst>
              </a:tr>
              <a:tr h="35826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dani Regular" panose="02000503000000020004" pitchFamily="2" charset="0"/>
                        </a:rPr>
                        <a:t>3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Security Assurance and Certificates available? (e.g., HIPPA, GDPR, ISO27001, SOC2 Type2 etc.)</a:t>
                      </a:r>
                      <a:endParaRPr lang="en-US" sz="1400" b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46098"/>
                  </a:ext>
                </a:extLst>
              </a:tr>
              <a:tr h="35826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dani Regular" panose="02000503000000020004" pitchFamily="2" charset="0"/>
                        </a:rPr>
                        <a:t>4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VA &amp; PT reports available for complete solution stack to be submitted to ARB as part of evaluation </a:t>
                      </a:r>
                      <a:endParaRPr lang="en-US" sz="1400" b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5183228"/>
                  </a:ext>
                </a:extLst>
              </a:tr>
              <a:tr h="6090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dani Regular" panose="02000503000000020004" pitchFamily="2" charset="0"/>
                        </a:rPr>
                        <a:t>5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Credentials of solution/Product has been checked ? It should have been deployed for minimum 1 year for an organization with 10+ sites / 15k users </a:t>
                      </a:r>
                      <a:endParaRPr lang="en-US" sz="1400" b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161742"/>
                  </a:ext>
                </a:extLst>
              </a:tr>
              <a:tr h="35826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dani Regular" panose="02000503000000020004" pitchFamily="2" charset="0"/>
                        </a:rPr>
                        <a:t>6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Partner has to share stated Cyber Security Policy </a:t>
                      </a:r>
                      <a:endParaRPr lang="en-US" sz="1400" b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717532"/>
                  </a:ext>
                </a:extLst>
              </a:tr>
              <a:tr h="35826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dani Regular" panose="02000503000000020004" pitchFamily="2" charset="0"/>
                        </a:rPr>
                        <a:t>7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Partner to share ISO20k certification and ITSM processes </a:t>
                      </a:r>
                      <a:endParaRPr lang="en-US" sz="1400" b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1782313"/>
                  </a:ext>
                </a:extLst>
              </a:tr>
              <a:tr h="35826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dani Regular" panose="02000503000000020004" pitchFamily="2" charset="0"/>
                        </a:rPr>
                        <a:t>8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All third-party or open-source software dependence to be documented by the Partner.</a:t>
                      </a:r>
                      <a:endParaRPr lang="en-US" sz="1400" b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714019"/>
                  </a:ext>
                </a:extLst>
              </a:tr>
              <a:tr h="609040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9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Partner will concur to penalty clauses in the event of security breaches ( e.g., data loss etc.) as part of Project proposal</a:t>
                      </a:r>
                      <a:endParaRPr lang="en-US" sz="1400" b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874101"/>
                  </a:ext>
                </a:extLst>
              </a:tr>
              <a:tr h="716519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10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Partner will state disclosure process in place for security breaches along with escalation matrix.</a:t>
                      </a:r>
                      <a:endParaRPr lang="en-US" sz="1400" b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655D6C7-416E-4F9A-8758-03217E75D61B}"/>
                  </a:ext>
                </a:extLst>
              </p14:cNvPr>
              <p14:cNvContentPartPr/>
              <p14:nvPr/>
            </p14:nvContentPartPr>
            <p14:xfrm>
              <a:off x="279594" y="6583602"/>
              <a:ext cx="552450" cy="20955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655D6C7-416E-4F9A-8758-03217E75D61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7059" y="6519379"/>
                <a:ext cx="677162" cy="33762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79429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dani Regular" panose="02000503000000020004" pitchFamily="2" charset="0"/>
              </a:rPr>
              <a:t>Evaluation of General Vendor Credentials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66178"/>
              </p:ext>
            </p:extLst>
          </p:nvPr>
        </p:nvGraphicFramePr>
        <p:xfrm>
          <a:off x="315254" y="1055915"/>
          <a:ext cx="11413343" cy="49856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91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97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7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052">
                <a:tc>
                  <a:txBody>
                    <a:bodyPr/>
                    <a:lstStyle/>
                    <a:p>
                      <a:pPr algn="l"/>
                      <a:r>
                        <a:rPr lang="en-US" sz="1800" b="1">
                          <a:solidFill>
                            <a:srgbClr val="FFFFFF"/>
                          </a:solidFill>
                          <a:latin typeface="Adani Regular"/>
                        </a:rPr>
                        <a:t>#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/>
                        </a:rPr>
                        <a:t>Evaluation Criteria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/>
                        </a:rPr>
                        <a:t>&lt;&lt;Option 1&gt;&gt;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270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1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Company</a:t>
                      </a:r>
                      <a:r>
                        <a:rPr lang="en-US" sz="1200" b="0" baseline="0">
                          <a:solidFill>
                            <a:schemeClr val="tx1"/>
                          </a:solidFill>
                          <a:latin typeface="Adani Regular"/>
                        </a:rPr>
                        <a:t> size (revenue, headcount, etc.)</a:t>
                      </a:r>
                      <a:endParaRPr lang="en-US" sz="12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8102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2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Office</a:t>
                      </a:r>
                      <a:r>
                        <a:rPr lang="en-US" sz="1200" b="0" baseline="0">
                          <a:solidFill>
                            <a:schemeClr val="tx1"/>
                          </a:solidFill>
                          <a:latin typeface="Adani Regular"/>
                        </a:rPr>
                        <a:t> details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 (headquarters, development</a:t>
                      </a:r>
                      <a:r>
                        <a:rPr lang="en-US" sz="1200" b="0" baseline="0">
                          <a:solidFill>
                            <a:schemeClr val="tx1"/>
                          </a:solidFill>
                          <a:latin typeface="Adani Regular"/>
                        </a:rPr>
                        <a:t> &amp; support centers in India, etc.)</a:t>
                      </a:r>
                      <a:endParaRPr lang="en-US" sz="12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100" b="0" i="0" u="none" strike="noStrike" noProof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98449"/>
                  </a:ext>
                </a:extLst>
              </a:tr>
              <a:tr h="403524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3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Size of Global Customer Base along with names of top customers (at present)</a:t>
                      </a:r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524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4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Size of Indian Customer Base along with names of top customers (</a:t>
                      </a:r>
                      <a:r>
                        <a:rPr lang="en-US" sz="1200" b="0" i="0" u="none" strike="noStrike" noProof="0">
                          <a:solidFill>
                            <a:schemeClr val="tx1"/>
                          </a:solidFill>
                          <a:latin typeface="Adani Regular"/>
                        </a:rPr>
                        <a:t>at present)</a:t>
                      </a:r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270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5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Product strategy &amp; roadmap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27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6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Partner ecosystem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27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7</a:t>
                      </a:r>
                      <a:endParaRPr lang="en-US" sz="120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Presence in Adani Group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27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8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Customer names with whom reference check was done (attach detailed feedback separately in the deck)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952203"/>
                  </a:ext>
                </a:extLst>
              </a:tr>
              <a:tr h="33627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9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Turnover of the company in the last financial year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7190491"/>
                  </a:ext>
                </a:extLst>
              </a:tr>
              <a:tr h="59183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10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Previous deployments of equal or larger scale (please mention the size of the user base)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298327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0" y="0"/>
          <a:ext cx="12192000" cy="22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Executive Summary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Business Needs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Functional Evaluation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Architecture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Technical</a:t>
                      </a:r>
                      <a:r>
                        <a:rPr lang="en-US" sz="900" b="0" baseline="0">
                          <a:latin typeface="Adani Regular" panose="02000503000000020004" pitchFamily="2" charset="0"/>
                        </a:rPr>
                        <a:t> Evaluation</a:t>
                      </a:r>
                      <a:endParaRPr lang="en-US" sz="900" b="0">
                        <a:latin typeface="Adani Regular" panose="02000503000000020004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ARB Feedback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125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F357B-1A94-426C-77B9-FEB582C56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Context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6FD982-955E-6F9E-F4B0-122BD0224C5D}"/>
              </a:ext>
            </a:extLst>
          </p:cNvPr>
          <p:cNvSpPr txBox="1"/>
          <p:nvPr/>
        </p:nvSpPr>
        <p:spPr>
          <a:xfrm>
            <a:off x="363993" y="1243554"/>
            <a:ext cx="11449272" cy="385835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285750" indent="-285750" algn="l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b="1">
                <a:latin typeface="Adani Regular" panose="02000503000000020004" pitchFamily="2" charset="0"/>
              </a:rPr>
              <a:t>Executive Summary and Business Need</a:t>
            </a:r>
          </a:p>
          <a:p>
            <a:pPr marL="285750" indent="-285750" algn="l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b="1">
                <a:latin typeface="Adani Regular" panose="02000503000000020004" pitchFamily="2" charset="0"/>
              </a:rPr>
              <a:t>As-Is Architecture</a:t>
            </a:r>
          </a:p>
          <a:p>
            <a:pPr marL="285750" indent="-285750" algn="l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b="1">
                <a:latin typeface="Adani Regular" panose="02000503000000020004" pitchFamily="2" charset="0"/>
              </a:rPr>
              <a:t>Proposed Architecture</a:t>
            </a:r>
          </a:p>
          <a:p>
            <a:pPr marL="285750" indent="-285750" algn="l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b="1">
                <a:latin typeface="Adani Regular" panose="02000503000000020004" pitchFamily="2" charset="0"/>
              </a:rPr>
              <a:t>Security Architecture and Data Flow Diagram</a:t>
            </a:r>
          </a:p>
          <a:p>
            <a:pPr marL="285750" indent="-285750" algn="l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b="1">
                <a:latin typeface="Adani Regular" panose="02000503000000020004" pitchFamily="2" charset="0"/>
              </a:rPr>
              <a:t>Technical Evaluation Summary</a:t>
            </a:r>
          </a:p>
          <a:p>
            <a:pPr marL="285750" indent="-285750" algn="l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b="1">
                <a:latin typeface="Adani Regular" panose="02000503000000020004" pitchFamily="2" charset="0"/>
              </a:rPr>
              <a:t>ARB Feedback</a:t>
            </a:r>
          </a:p>
          <a:p>
            <a:pPr marL="285750" indent="-285750" algn="l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b="1">
                <a:latin typeface="Adani Regular" panose="02000503000000020004" pitchFamily="2" charset="0"/>
              </a:rPr>
              <a:t>Signatures</a:t>
            </a:r>
          </a:p>
        </p:txBody>
      </p:sp>
    </p:spTree>
    <p:extLst>
      <p:ext uri="{BB962C8B-B14F-4D97-AF65-F5344CB8AC3E}">
        <p14:creationId xmlns:p14="http://schemas.microsoft.com/office/powerpoint/2010/main" val="2486087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687" y="137795"/>
            <a:ext cx="10967687" cy="786122"/>
          </a:xfrm>
        </p:spPr>
        <p:txBody>
          <a:bodyPr/>
          <a:lstStyle/>
          <a:p>
            <a:r>
              <a:rPr lang="en-US">
                <a:latin typeface="Adani Regular" panose="02000503000000020004" pitchFamily="2" charset="0"/>
              </a:rPr>
              <a:t>At a Glance – Proposal to ARB</a:t>
            </a:r>
            <a:br>
              <a:rPr lang="en-US">
                <a:latin typeface="Adani Regular" panose="02000503000000020004" pitchFamily="2" charset="0"/>
              </a:rPr>
            </a:br>
            <a:r>
              <a:rPr lang="en-US" sz="1200" b="0">
                <a:solidFill>
                  <a:srgbClr val="FF0000"/>
                </a:solidFill>
              </a:rPr>
              <a:t>(</a:t>
            </a:r>
            <a:r>
              <a:rPr lang="en-US" sz="1400" b="0">
                <a:solidFill>
                  <a:srgbClr val="FF0000"/>
                </a:solidFill>
              </a:rPr>
              <a:t>At least 2 solutions should be considered</a:t>
            </a:r>
            <a:r>
              <a:rPr lang="en-US" sz="1200" b="0">
                <a:solidFill>
                  <a:srgbClr val="FF0000"/>
                </a:solidFill>
              </a:rPr>
              <a:t>)</a:t>
            </a:r>
            <a:endParaRPr lang="en-US">
              <a:solidFill>
                <a:srgbClr val="FF0000"/>
              </a:solidFill>
              <a:latin typeface="Adani Regular" panose="02000503000000020004" pitchFamily="2" charset="0"/>
            </a:endParaRPr>
          </a:p>
        </p:txBody>
      </p:sp>
      <p:sp>
        <p:nvSpPr>
          <p:cNvPr id="7" name="Rectangle 6"/>
          <p:cNvSpPr/>
          <p:nvPr/>
        </p:nvSpPr>
        <p:spPr bwMode="gray">
          <a:xfrm>
            <a:off x="263352" y="1513250"/>
            <a:ext cx="11521280" cy="1554480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72000" tIns="72000" rIns="72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 7"/>
          <p:cNvSpPr/>
          <p:nvPr/>
        </p:nvSpPr>
        <p:spPr bwMode="gray">
          <a:xfrm>
            <a:off x="263352" y="1027584"/>
            <a:ext cx="1152128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6350">
            <a:solidFill>
              <a:schemeClr val="bg1">
                <a:lumMod val="95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72000" tIns="72000" rIns="72000" bIns="72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Overall Business Need</a:t>
            </a:r>
          </a:p>
        </p:txBody>
      </p:sp>
      <p:sp>
        <p:nvSpPr>
          <p:cNvPr id="9" name="Rectangle 8"/>
          <p:cNvSpPr/>
          <p:nvPr/>
        </p:nvSpPr>
        <p:spPr bwMode="gray">
          <a:xfrm>
            <a:off x="263352" y="3631740"/>
            <a:ext cx="11521280" cy="1554480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72000" tIns="72000" rIns="72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 bwMode="gray">
          <a:xfrm>
            <a:off x="263352" y="3146074"/>
            <a:ext cx="1152128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6350">
            <a:solidFill>
              <a:schemeClr val="bg1">
                <a:lumMod val="95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72000" tIns="72000" rIns="72000" bIns="72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r>
              <a:rPr lang="en-US" sz="1400" b="1" kern="0" noProof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Recommended Solution Approach</a:t>
            </a:r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tangle 11"/>
          <p:cNvSpPr/>
          <p:nvPr/>
        </p:nvSpPr>
        <p:spPr bwMode="gray">
          <a:xfrm>
            <a:off x="263352" y="5273304"/>
            <a:ext cx="3744416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6350">
            <a:solidFill>
              <a:srgbClr val="778888">
                <a:lumMod val="20000"/>
                <a:lumOff val="80000"/>
              </a:srgbClr>
            </a:solidFill>
            <a:miter lim="800000"/>
            <a:headEnd/>
            <a:tailEnd/>
          </a:ln>
          <a:effectLst/>
        </p:spPr>
        <p:txBody>
          <a:bodyPr vert="horz" wrap="square" lIns="72000" tIns="72000" rIns="72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Solution Option</a:t>
            </a:r>
            <a:r>
              <a:rPr kumimoji="0" lang="en-US" sz="1400" b="1" i="0" u="none" strike="noStrike" kern="0" cap="none" spc="0" normalizeH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1</a:t>
            </a:r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 bwMode="gray">
          <a:xfrm>
            <a:off x="4151784" y="5273304"/>
            <a:ext cx="3744416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6350">
            <a:solidFill>
              <a:srgbClr val="778888">
                <a:lumMod val="20000"/>
                <a:lumOff val="80000"/>
              </a:srgbClr>
            </a:solidFill>
            <a:miter lim="800000"/>
            <a:headEnd/>
            <a:tailEnd/>
          </a:ln>
          <a:effectLst/>
        </p:spPr>
        <p:txBody>
          <a:bodyPr vert="horz" wrap="square" lIns="72000" tIns="72000" rIns="72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Solution Option</a:t>
            </a:r>
            <a:r>
              <a:rPr kumimoji="0" lang="en-US" sz="1400" b="1" i="0" u="none" strike="noStrike" kern="0" cap="none" spc="0" normalizeH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2</a:t>
            </a:r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gray">
          <a:xfrm>
            <a:off x="8040216" y="5273304"/>
            <a:ext cx="3744416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6350">
            <a:solidFill>
              <a:srgbClr val="778888">
                <a:lumMod val="20000"/>
                <a:lumOff val="80000"/>
              </a:srgbClr>
            </a:solidFill>
            <a:miter lim="800000"/>
            <a:headEnd/>
            <a:tailEnd/>
          </a:ln>
          <a:effectLst/>
        </p:spPr>
        <p:txBody>
          <a:bodyPr vert="horz" wrap="square" lIns="72000" tIns="72000" rIns="72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Solution Option</a:t>
            </a:r>
            <a:r>
              <a:rPr kumimoji="0" lang="en-US" sz="1400" b="1" i="0" u="none" strike="noStrike" kern="0" cap="none" spc="0" normalizeH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3</a:t>
            </a:r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gray">
          <a:xfrm>
            <a:off x="263352" y="5766792"/>
            <a:ext cx="3744416" cy="614536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72000" tIns="72000" rIns="72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dani Regular" panose="02000503000000020004" pitchFamily="2" charset="0"/>
              <a:cs typeface="Arial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gray">
          <a:xfrm>
            <a:off x="4151784" y="5766792"/>
            <a:ext cx="3744416" cy="614536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72000" tIns="72000" rIns="72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r>
              <a:rPr lang="en-US" sz="1200" b="1" kern="0">
                <a:solidFill>
                  <a:sysClr val="windowText" lastClr="000000"/>
                </a:solidFill>
                <a:latin typeface="Adani Regular" panose="02000503000000020004" pitchFamily="2" charset="0"/>
                <a:cs typeface="Arial" pitchFamily="34" charset="0"/>
              </a:rPr>
              <a:t>NA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dani Regular" panose="02000503000000020004" pitchFamily="2" charset="0"/>
              <a:cs typeface="Arial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gray">
          <a:xfrm>
            <a:off x="8040216" y="5766792"/>
            <a:ext cx="3744416" cy="614536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72000" tIns="72000" rIns="72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r>
              <a:rPr lang="en-US" sz="1200" b="1" kern="0">
                <a:solidFill>
                  <a:sysClr val="windowText" lastClr="000000"/>
                </a:solidFill>
                <a:latin typeface="Adani Regular" panose="02000503000000020004" pitchFamily="2" charset="0"/>
                <a:cs typeface="Arial" pitchFamily="34" charset="0"/>
              </a:rPr>
              <a:t>NA</a:t>
            </a:r>
            <a:endParaRPr lang="en-US" sz="1200" kern="0">
              <a:solidFill>
                <a:sysClr val="windowText" lastClr="000000"/>
              </a:solidFill>
              <a:latin typeface="Adani Regular" panose="02000503000000020004" pitchFamily="2" charset="0"/>
              <a:cs typeface="Arial" pitchFamily="34" charset="0"/>
            </a:endParaRP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0" y="0"/>
          <a:ext cx="12192000" cy="22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Executive Summary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Business Needs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Functional Evaluation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Architecture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Technical</a:t>
                      </a:r>
                      <a:r>
                        <a:rPr lang="en-US" sz="900" b="0" baseline="0">
                          <a:latin typeface="Adani Regular" panose="02000503000000020004" pitchFamily="2" charset="0"/>
                        </a:rPr>
                        <a:t> Evaluation</a:t>
                      </a:r>
                      <a:endParaRPr lang="en-US" sz="900" b="0">
                        <a:latin typeface="Adani Regular" panose="02000503000000020004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ARB Feedback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41C49D8-70A5-41B4-A3F6-2F4B3F6478FD}"/>
                  </a:ext>
                </a:extLst>
              </p14:cNvPr>
              <p14:cNvContentPartPr/>
              <p14:nvPr/>
            </p14:nvContentPartPr>
            <p14:xfrm>
              <a:off x="287427" y="6595957"/>
              <a:ext cx="523875" cy="1905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41C49D8-70A5-41B4-A3F6-2F4B3F6478F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3938" y="6533760"/>
                <a:ext cx="650490" cy="314538"/>
              </a:xfrm>
              <a:prstGeom prst="rect">
                <a:avLst/>
              </a:prstGeom>
            </p:spPr>
          </p:pic>
        </mc:Fallback>
      </mc:AlternateContent>
      <p:sp>
        <p:nvSpPr>
          <p:cNvPr id="27" name="TextBox 26"/>
          <p:cNvSpPr txBox="1"/>
          <p:nvPr/>
        </p:nvSpPr>
        <p:spPr>
          <a:xfrm>
            <a:off x="457200" y="27432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/>
            </a:pPr>
            <a:r>
              <a:t>Overall Business Need: Eliminate fragmented data across P6, SAP, DPR.</a:t>
            </a:r>
            <a:br/>
            <a:r>
              <a:t>Solution Option 1: Akasha (OneView) - Unified cross-platform intelligence.</a:t>
            </a:r>
          </a:p>
        </p:txBody>
      </p:sp>
    </p:spTree>
    <p:extLst>
      <p:ext uri="{BB962C8B-B14F-4D97-AF65-F5344CB8AC3E}">
        <p14:creationId xmlns:p14="http://schemas.microsoft.com/office/powerpoint/2010/main" val="1636448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655" y="194606"/>
            <a:ext cx="9707785" cy="786122"/>
          </a:xfrm>
        </p:spPr>
        <p:txBody>
          <a:bodyPr/>
          <a:lstStyle/>
          <a:p>
            <a:r>
              <a:rPr lang="en-US" sz="1800"/>
              <a:t>Impact to the Business Capabilities</a:t>
            </a:r>
            <a:br>
              <a:rPr lang="en-US" sz="1800"/>
            </a:br>
            <a:r>
              <a:rPr lang="en-US" sz="1400" b="0"/>
              <a:t>(replace the capabilities with your BU-specific capabilities and highlight the ones impacted)</a:t>
            </a:r>
            <a:endParaRPr lang="en-US" sz="1800" b="0">
              <a:solidFill>
                <a:srgbClr val="FF0000"/>
              </a:solidFill>
            </a:endParaRPr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00BE6B70-93E9-48AF-BE27-35C249BA0C20}"/>
              </a:ext>
            </a:extLst>
          </p:cNvPr>
          <p:cNvSpPr txBox="1">
            <a:spLocks/>
          </p:cNvSpPr>
          <p:nvPr/>
        </p:nvSpPr>
        <p:spPr>
          <a:xfrm>
            <a:off x="2639616" y="6474552"/>
            <a:ext cx="7778743" cy="29212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lang="de-DE" sz="2000" b="1" kern="1200">
                <a:solidFill>
                  <a:schemeClr val="tx1"/>
                </a:solidFill>
                <a:latin typeface="Adani Regular" panose="02000503000000020004" pitchFamily="2" charset="0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sz="1200" b="0">
              <a:solidFill>
                <a:srgbClr val="C00000"/>
              </a:solidFill>
            </a:endParaRP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B1155C23-C004-41CA-86D0-B69080AE3AC2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22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Executive Summary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kern="1200">
                          <a:solidFill>
                            <a:schemeClr val="lt1"/>
                          </a:solidFill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Business Needs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Functional Evaluation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Architecture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Technical</a:t>
                      </a:r>
                      <a:r>
                        <a:rPr lang="en-US" sz="900" b="0" baseline="0">
                          <a:latin typeface="Adani Regular" panose="02000503000000020004" pitchFamily="2" charset="0"/>
                        </a:rPr>
                        <a:t> Evaluation</a:t>
                      </a:r>
                      <a:endParaRPr lang="en-US" sz="900" b="0">
                        <a:latin typeface="Adani Regular" panose="02000503000000020004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ARB Feedback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/>
            </a:pPr>
            <a:r>
              <a:t>- Centralized project monitoring</a:t>
            </a:r>
            <a:br/>
            <a:r>
              <a:t>- Cross-functional intelligence</a:t>
            </a:r>
            <a:br/>
            <a:r>
              <a:t>- Logistics intelligence</a:t>
            </a:r>
            <a:br/>
            <a:r>
              <a:t>- Automated workflows</a:t>
            </a:r>
            <a:br/>
            <a:r>
              <a:t>- Human-in-the-loop controls</a:t>
            </a:r>
          </a:p>
        </p:txBody>
      </p:sp>
    </p:spTree>
    <p:extLst>
      <p:ext uri="{BB962C8B-B14F-4D97-AF65-F5344CB8AC3E}">
        <p14:creationId xmlns:p14="http://schemas.microsoft.com/office/powerpoint/2010/main" val="3814109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dani Regular" panose="02000503000000020004" pitchFamily="2" charset="0"/>
              </a:rPr>
              <a:t>Business Needs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/>
          </p:nvPr>
        </p:nvSpPr>
        <p:spPr>
          <a:xfrm>
            <a:off x="371364" y="645395"/>
            <a:ext cx="11449272" cy="504056"/>
          </a:xfrm>
        </p:spPr>
        <p:txBody>
          <a:bodyPr/>
          <a:lstStyle/>
          <a:p>
            <a:r>
              <a:rPr lang="en-US">
                <a:latin typeface="Adani Regular" panose="02000503000000020004" pitchFamily="2" charset="0"/>
              </a:rPr>
              <a:t>List the high-level business requirements the proposed solution will fulfill. Also assign priorities to them. 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406791"/>
              </p:ext>
            </p:extLst>
          </p:nvPr>
        </p:nvGraphicFramePr>
        <p:xfrm>
          <a:off x="200596" y="1008724"/>
          <a:ext cx="11620040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4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1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">
                <a:tc>
                  <a:txBody>
                    <a:bodyPr/>
                    <a:lstStyle/>
                    <a:p>
                      <a:pPr algn="l"/>
                      <a:r>
                        <a:rPr lang="en-US" sz="1800" b="1">
                          <a:solidFill>
                            <a:srgbClr val="FFFFFF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#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High</a:t>
                      </a:r>
                      <a:r>
                        <a:rPr lang="en-US" sz="1400" b="1" baseline="0">
                          <a:solidFill>
                            <a:srgbClr val="FFFFFF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Level Business Requirement *</a:t>
                      </a:r>
                      <a:endParaRPr lang="en-US" sz="1400" b="1">
                        <a:solidFill>
                          <a:srgbClr val="FFFFFF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Must-Have vs. Nice-to-have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0">
                        <a:solidFill>
                          <a:prstClr val="black"/>
                        </a:solidFill>
                        <a:latin typeface="Poppins" panose="00000500000000000000" pitchFamily="2" charset="0"/>
                        <a:ea typeface="+mn-lt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Must-Have</a:t>
                      </a: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0">
                        <a:solidFill>
                          <a:prstClr val="black"/>
                        </a:solidFill>
                        <a:latin typeface="Poppins" panose="00000500000000000000" pitchFamily="2" charset="0"/>
                        <a:ea typeface="+mn-lt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1132303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0">
                        <a:solidFill>
                          <a:prstClr val="black"/>
                        </a:solidFill>
                        <a:latin typeface="Poppins" panose="00000500000000000000" pitchFamily="2" charset="0"/>
                        <a:ea typeface="+mn-lt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684624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0">
                        <a:solidFill>
                          <a:prstClr val="black"/>
                        </a:solidFill>
                        <a:latin typeface="Poppins" panose="00000500000000000000" pitchFamily="2" charset="0"/>
                        <a:ea typeface="+mn-lt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69559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0">
                        <a:solidFill>
                          <a:prstClr val="black"/>
                        </a:solidFill>
                        <a:latin typeface="Poppins" panose="00000500000000000000" pitchFamily="2" charset="0"/>
                        <a:ea typeface="+mn-lt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794039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0">
                        <a:solidFill>
                          <a:prstClr val="black"/>
                        </a:solidFill>
                        <a:latin typeface="Poppins" panose="00000500000000000000" pitchFamily="2" charset="0"/>
                        <a:ea typeface="+mn-lt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Must-Have</a:t>
                      </a:r>
                    </a:p>
                    <a:p>
                      <a:endParaRPr lang="en-US" sz="12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0">
                        <a:solidFill>
                          <a:prstClr val="black"/>
                        </a:solidFill>
                        <a:latin typeface="Poppins" panose="00000500000000000000" pitchFamily="2" charset="0"/>
                        <a:ea typeface="+mn-lt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637219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0">
                        <a:solidFill>
                          <a:prstClr val="black"/>
                        </a:solidFill>
                        <a:latin typeface="Poppins" panose="00000500000000000000" pitchFamily="2" charset="0"/>
                        <a:ea typeface="+mn-lt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83580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0">
                        <a:solidFill>
                          <a:prstClr val="black"/>
                        </a:solidFill>
                        <a:latin typeface="Poppins" panose="00000500000000000000" pitchFamily="2" charset="0"/>
                        <a:ea typeface="+mn-lt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743294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0">
                        <a:solidFill>
                          <a:prstClr val="black"/>
                        </a:solidFill>
                        <a:latin typeface="Poppins" panose="00000500000000000000" pitchFamily="2" charset="0"/>
                        <a:ea typeface="+mn-lt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235352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0" y="0"/>
          <a:ext cx="12192000" cy="22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Executive Summary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kern="1200">
                          <a:solidFill>
                            <a:schemeClr val="lt1"/>
                          </a:solidFill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Business Needs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Functional Evaluation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Architecture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Technical</a:t>
                      </a:r>
                      <a:r>
                        <a:rPr lang="en-US" sz="900" b="0" baseline="0">
                          <a:latin typeface="Adani Regular" panose="02000503000000020004" pitchFamily="2" charset="0"/>
                        </a:rPr>
                        <a:t> Evaluation</a:t>
                      </a:r>
                      <a:endParaRPr lang="en-US" sz="900" b="0">
                        <a:latin typeface="Adani Regular" panose="02000503000000020004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ARB Feedback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6966B6C-3D76-4EDF-B7B8-22E0FAF7624F}"/>
                  </a:ext>
                </a:extLst>
              </p14:cNvPr>
              <p14:cNvContentPartPr/>
              <p14:nvPr/>
            </p14:nvContentPartPr>
            <p14:xfrm>
              <a:off x="261062" y="6612341"/>
              <a:ext cx="571500" cy="152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6966B6C-3D76-4EDF-B7B8-22E0FAF7624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8476" y="6547765"/>
                <a:ext cx="696314" cy="281184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/>
            </a:pPr>
            <a:r>
              <a:t>1. [High] Integrate P6, site progress, connectivity, and SAP.</a:t>
            </a:r>
            <a:br/>
            <a:r>
              <a:t>2. [High] AI-powered conversational layer (LLM).</a:t>
            </a:r>
            <a:br/>
            <a:r>
              <a:t>3. [Medium] Digital DPR with strict 7-day locks.</a:t>
            </a:r>
            <a:br/>
            <a:r>
              <a:t>4. [Medium] Track grid connectivity.</a:t>
            </a:r>
          </a:p>
        </p:txBody>
      </p:sp>
    </p:spTree>
    <p:extLst>
      <p:ext uri="{BB962C8B-B14F-4D97-AF65-F5344CB8AC3E}">
        <p14:creationId xmlns:p14="http://schemas.microsoft.com/office/powerpoint/2010/main" val="2319224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655" y="111301"/>
            <a:ext cx="11435977" cy="786122"/>
          </a:xfrm>
        </p:spPr>
        <p:txBody>
          <a:bodyPr/>
          <a:lstStyle/>
          <a:p>
            <a:r>
              <a:rPr lang="en-US" sz="1800">
                <a:latin typeface="Adani Regular"/>
              </a:rPr>
              <a:t>Application Profile</a:t>
            </a:r>
            <a:br>
              <a:rPr lang="en-US" sz="1800"/>
            </a:br>
            <a:endParaRPr lang="en-US" sz="1400" b="0">
              <a:solidFill>
                <a:srgbClr val="FF0000"/>
              </a:solidFill>
              <a:latin typeface="Adani Regular"/>
            </a:endParaRP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0" y="0"/>
          <a:ext cx="12192000" cy="22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Executive Summary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Business Needs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Functional Evaluation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Architecture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Technical</a:t>
                      </a:r>
                      <a:r>
                        <a:rPr lang="en-US" sz="900" b="0" baseline="0">
                          <a:latin typeface="Adani Regular" panose="02000503000000020004" pitchFamily="2" charset="0"/>
                        </a:rPr>
                        <a:t> Evaluation</a:t>
                      </a:r>
                      <a:endParaRPr lang="en-US" sz="900" b="0">
                        <a:latin typeface="Adani Regular" panose="02000503000000020004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ARB Feedback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416778" y="1340768"/>
          <a:ext cx="7367854" cy="1843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16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40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40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4057">
                  <a:extLst>
                    <a:ext uri="{9D8B030D-6E8A-4147-A177-3AD203B41FA5}">
                      <a16:colId xmlns:a16="http://schemas.microsoft.com/office/drawing/2014/main" val="3261536503"/>
                    </a:ext>
                  </a:extLst>
                </a:gridCol>
                <a:gridCol w="14440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5995">
                <a:tc>
                  <a:txBody>
                    <a:bodyPr/>
                    <a:lstStyle/>
                    <a:p>
                      <a:pPr algn="ctr"/>
                      <a:endParaRPr lang="en-US" sz="1400" b="1">
                        <a:solidFill>
                          <a:srgbClr val="FFFFFF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SaaS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PaaS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IaaS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On Premise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1683">
                <a:tc>
                  <a:txBody>
                    <a:bodyPr/>
                    <a:lstStyle/>
                    <a:p>
                      <a:r>
                        <a:rPr lang="en-US" sz="1400" b="1"/>
                        <a:t>Custom Developed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r>
                        <a:rPr lang="en-US" sz="1400" b="1"/>
                        <a:t>COTS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48655" y="1340768"/>
          <a:ext cx="3189475" cy="2995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0986">
                  <a:extLst>
                    <a:ext uri="{9D8B030D-6E8A-4147-A177-3AD203B41FA5}">
                      <a16:colId xmlns:a16="http://schemas.microsoft.com/office/drawing/2014/main" val="1970407900"/>
                    </a:ext>
                  </a:extLst>
                </a:gridCol>
                <a:gridCol w="1038489">
                  <a:extLst>
                    <a:ext uri="{9D8B030D-6E8A-4147-A177-3AD203B41FA5}">
                      <a16:colId xmlns:a16="http://schemas.microsoft.com/office/drawing/2014/main" val="319174045"/>
                    </a:ext>
                  </a:extLst>
                </a:gridCol>
              </a:tblGrid>
              <a:tr h="605995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 panose="02000503000000020004" pitchFamily="2" charset="0"/>
                        </a:rPr>
                        <a:t>Category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Select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223999"/>
                  </a:ext>
                </a:extLst>
              </a:tr>
              <a:tr h="661683">
                <a:tc>
                  <a:txBody>
                    <a:bodyPr/>
                    <a:lstStyle/>
                    <a:p>
                      <a:r>
                        <a:rPr lang="en-US" sz="1400" b="1"/>
                        <a:t>Web</a:t>
                      </a:r>
                      <a:r>
                        <a:rPr lang="en-US" sz="1400" b="1" baseline="0"/>
                        <a:t> Application</a:t>
                      </a:r>
                      <a:endParaRPr lang="en-US" sz="1400" b="1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954649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r>
                        <a:rPr lang="en-US" sz="1400" b="1"/>
                        <a:t>Thick</a:t>
                      </a:r>
                      <a:r>
                        <a:rPr lang="en-US" sz="1400" b="1" baseline="0"/>
                        <a:t> C</a:t>
                      </a:r>
                      <a:r>
                        <a:rPr lang="en-US" sz="1400" b="1"/>
                        <a:t>lient (desktop)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161515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r>
                        <a:rPr lang="en-US" sz="1400" b="1"/>
                        <a:t>Mobile Application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29594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r>
                        <a:rPr lang="en-US" sz="1400" b="1"/>
                        <a:t>Analytics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40734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416778" y="996117"/>
            <a:ext cx="3656569" cy="288147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sz="1400" b="1">
                <a:latin typeface="+mn-lt"/>
              </a:rPr>
              <a:t>Deployment vs. Development Type Matrix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655" y="980728"/>
            <a:ext cx="1893779" cy="288147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sz="1400" b="1">
                <a:latin typeface="+mn-lt"/>
              </a:rPr>
              <a:t>Application Category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451083" y="3933056"/>
          <a:ext cx="3189475" cy="2419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0986">
                  <a:extLst>
                    <a:ext uri="{9D8B030D-6E8A-4147-A177-3AD203B41FA5}">
                      <a16:colId xmlns:a16="http://schemas.microsoft.com/office/drawing/2014/main" val="1970407900"/>
                    </a:ext>
                  </a:extLst>
                </a:gridCol>
                <a:gridCol w="1038489">
                  <a:extLst>
                    <a:ext uri="{9D8B030D-6E8A-4147-A177-3AD203B41FA5}">
                      <a16:colId xmlns:a16="http://schemas.microsoft.com/office/drawing/2014/main" val="319174045"/>
                    </a:ext>
                  </a:extLst>
                </a:gridCol>
              </a:tblGrid>
              <a:tr h="605995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 panose="02000503000000020004" pitchFamily="2" charset="0"/>
                        </a:rPr>
                        <a:t>Category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Select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223999"/>
                  </a:ext>
                </a:extLst>
              </a:tr>
              <a:tr h="661683">
                <a:tc>
                  <a:txBody>
                    <a:bodyPr/>
                    <a:lstStyle/>
                    <a:p>
                      <a:r>
                        <a:rPr lang="en-US" sz="1400" b="1"/>
                        <a:t>External</a:t>
                      </a:r>
                      <a:r>
                        <a:rPr lang="en-US" sz="1400" b="1" baseline="0"/>
                        <a:t> Users</a:t>
                      </a:r>
                      <a:endParaRPr lang="en-US" sz="1400" b="1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954649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r>
                        <a:rPr lang="en-US" sz="1400" b="1"/>
                        <a:t>Internal Users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29594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r>
                        <a:rPr lang="en-US" sz="1400" b="1"/>
                        <a:t>Available Over Internet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407348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451083" y="3572901"/>
            <a:ext cx="1311889" cy="288147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sz="1400" b="1">
                <a:latin typeface="+mn-lt"/>
              </a:rPr>
              <a:t>User Category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9300492"/>
              </p:ext>
            </p:extLst>
          </p:nvPr>
        </p:nvGraphicFramePr>
        <p:xfrm>
          <a:off x="8500338" y="3767539"/>
          <a:ext cx="2767988" cy="26141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6735">
                  <a:extLst>
                    <a:ext uri="{9D8B030D-6E8A-4147-A177-3AD203B41FA5}">
                      <a16:colId xmlns:a16="http://schemas.microsoft.com/office/drawing/2014/main" val="1970407900"/>
                    </a:ext>
                  </a:extLst>
                </a:gridCol>
                <a:gridCol w="901253">
                  <a:extLst>
                    <a:ext uri="{9D8B030D-6E8A-4147-A177-3AD203B41FA5}">
                      <a16:colId xmlns:a16="http://schemas.microsoft.com/office/drawing/2014/main" val="319174045"/>
                    </a:ext>
                  </a:extLst>
                </a:gridCol>
              </a:tblGrid>
              <a:tr h="518602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 panose="02000503000000020004" pitchFamily="2" charset="0"/>
                        </a:rPr>
                        <a:t>Category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Select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223999"/>
                  </a:ext>
                </a:extLst>
              </a:tr>
              <a:tr h="566258">
                <a:tc>
                  <a:txBody>
                    <a:bodyPr/>
                    <a:lstStyle/>
                    <a:p>
                      <a:r>
                        <a:rPr lang="en-US" sz="1400" b="1"/>
                        <a:t>Integration with</a:t>
                      </a:r>
                      <a:r>
                        <a:rPr lang="en-US" sz="1400" b="1" baseline="0"/>
                        <a:t> SAP</a:t>
                      </a:r>
                      <a:endParaRPr lang="en-US" sz="1400" b="1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954649"/>
                  </a:ext>
                </a:extLst>
              </a:tr>
              <a:tr h="492987">
                <a:tc>
                  <a:txBody>
                    <a:bodyPr/>
                    <a:lstStyle/>
                    <a:p>
                      <a:r>
                        <a:rPr lang="en-US" sz="1400" b="1"/>
                        <a:t>Integration with non</a:t>
                      </a:r>
                      <a:r>
                        <a:rPr lang="en-US" sz="1400" b="1" baseline="0"/>
                        <a:t>-</a:t>
                      </a:r>
                      <a:r>
                        <a:rPr lang="en-US" sz="1400" b="1"/>
                        <a:t>SAP Systems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29594"/>
                  </a:ext>
                </a:extLst>
              </a:tr>
              <a:tr h="492987">
                <a:tc>
                  <a:txBody>
                    <a:bodyPr/>
                    <a:lstStyle/>
                    <a:p>
                      <a:r>
                        <a:rPr lang="en-US" sz="1400" b="1"/>
                        <a:t>OT Integration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407348"/>
                  </a:ext>
                </a:extLst>
              </a:tr>
              <a:tr h="347489">
                <a:tc>
                  <a:txBody>
                    <a:bodyPr/>
                    <a:lstStyle/>
                    <a:p>
                      <a:r>
                        <a:rPr lang="en-US" sz="1400" b="1"/>
                        <a:t>ADFS/IDM/IAM/PIM/PAM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8066548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8482825" y="3385344"/>
            <a:ext cx="1871144" cy="288147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sz="1400" b="1">
                <a:latin typeface="+mn-lt"/>
              </a:rPr>
              <a:t>Integration Category</a:t>
            </a:r>
          </a:p>
        </p:txBody>
      </p:sp>
      <p:sp>
        <p:nvSpPr>
          <p:cNvPr id="25" name="Rectangle 11">
            <a:extLst>
              <a:ext uri="{FF2B5EF4-FFF2-40B4-BE49-F238E27FC236}">
                <a16:creationId xmlns:a16="http://schemas.microsoft.com/office/drawing/2014/main" id="{2FA7E078-8790-429C-91DA-15684FF01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9141" y="3861048"/>
            <a:ext cx="387373" cy="47834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71957" tIns="35998" rIns="71957" bIns="71957">
            <a:spAutoFit/>
          </a:bodyPr>
          <a:lstStyle/>
          <a:p>
            <a:pPr algn="l">
              <a:spcBef>
                <a:spcPct val="0"/>
              </a:spcBef>
              <a:buSzTx/>
              <a:buFontTx/>
              <a:buNone/>
            </a:pPr>
            <a:r>
              <a:rPr lang="en-GB" sz="2400">
                <a:latin typeface="Wingdings" pitchFamily="2" charset="2"/>
              </a:rPr>
              <a:t>ü</a:t>
            </a:r>
          </a:p>
        </p:txBody>
      </p:sp>
      <p:sp>
        <p:nvSpPr>
          <p:cNvPr id="27" name="Rectangle 11">
            <a:extLst>
              <a:ext uri="{FF2B5EF4-FFF2-40B4-BE49-F238E27FC236}">
                <a16:creationId xmlns:a16="http://schemas.microsoft.com/office/drawing/2014/main" id="{2FA7E078-8790-429C-91DA-15684FF01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78868" y="5903365"/>
            <a:ext cx="387373" cy="47834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71957" tIns="35998" rIns="71957" bIns="71957">
            <a:spAutoFit/>
          </a:bodyPr>
          <a:lstStyle/>
          <a:p>
            <a:pPr algn="l">
              <a:spcBef>
                <a:spcPct val="0"/>
              </a:spcBef>
              <a:buSzTx/>
              <a:buFontTx/>
              <a:buNone/>
            </a:pPr>
            <a:r>
              <a:rPr lang="en-GB" sz="2400">
                <a:latin typeface="Wingdings" pitchFamily="2" charset="2"/>
              </a:rPr>
              <a:t>ü</a:t>
            </a:r>
          </a:p>
        </p:txBody>
      </p:sp>
      <p:sp>
        <p:nvSpPr>
          <p:cNvPr id="28" name="Rectangle 11">
            <a:extLst>
              <a:ext uri="{FF2B5EF4-FFF2-40B4-BE49-F238E27FC236}">
                <a16:creationId xmlns:a16="http://schemas.microsoft.com/office/drawing/2014/main" id="{2FA7E078-8790-429C-91DA-15684FF01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8088" y="5301207"/>
            <a:ext cx="387373" cy="47834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71957" tIns="35998" rIns="71957" bIns="71957">
            <a:spAutoFit/>
          </a:bodyPr>
          <a:lstStyle/>
          <a:p>
            <a:pPr algn="l">
              <a:spcBef>
                <a:spcPct val="0"/>
              </a:spcBef>
              <a:buSzTx/>
              <a:buFontTx/>
              <a:buNone/>
            </a:pPr>
            <a:r>
              <a:rPr lang="en-GB" sz="2400">
                <a:latin typeface="Wingdings" pitchFamily="2" charset="2"/>
              </a:rPr>
              <a:t>ü</a:t>
            </a:r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99C32E07-D1A0-44E5-A308-6633A60DFF71}"/>
              </a:ext>
            </a:extLst>
          </p:cNvPr>
          <p:cNvGraphicFramePr>
            <a:graphicFrameLocks noGrp="1"/>
          </p:cNvGraphicFramePr>
          <p:nvPr/>
        </p:nvGraphicFramePr>
        <p:xfrm>
          <a:off x="348655" y="4712337"/>
          <a:ext cx="334392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4937">
                  <a:extLst>
                    <a:ext uri="{9D8B030D-6E8A-4147-A177-3AD203B41FA5}">
                      <a16:colId xmlns:a16="http://schemas.microsoft.com/office/drawing/2014/main" val="3324303633"/>
                    </a:ext>
                  </a:extLst>
                </a:gridCol>
                <a:gridCol w="1268983">
                  <a:extLst>
                    <a:ext uri="{9D8B030D-6E8A-4147-A177-3AD203B41FA5}">
                      <a16:colId xmlns:a16="http://schemas.microsoft.com/office/drawing/2014/main" val="25732892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>
                          <a:solidFill>
                            <a:srgbClr val="FFFFFF"/>
                          </a:solidFill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>
                          <a:solidFill>
                            <a:srgbClr val="FFFFFF"/>
                          </a:solidFill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Select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068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Monolithic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5907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Micro-Services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467497"/>
                  </a:ext>
                </a:extLst>
              </a:tr>
            </a:tbl>
          </a:graphicData>
        </a:graphic>
      </p:graphicFrame>
      <p:sp>
        <p:nvSpPr>
          <p:cNvPr id="18" name="Rectangle 11">
            <a:extLst>
              <a:ext uri="{FF2B5EF4-FFF2-40B4-BE49-F238E27FC236}">
                <a16:creationId xmlns:a16="http://schemas.microsoft.com/office/drawing/2014/main" id="{DECF4B50-27A8-4948-A3D8-3C59C8F48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9141" y="5392806"/>
            <a:ext cx="387373" cy="47834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71957" tIns="35998" rIns="71957" bIns="71957">
            <a:spAutoFit/>
          </a:bodyPr>
          <a:lstStyle/>
          <a:p>
            <a:pPr algn="l">
              <a:spcBef>
                <a:spcPct val="0"/>
              </a:spcBef>
              <a:buSzTx/>
              <a:buFontTx/>
              <a:buNone/>
            </a:pPr>
            <a:r>
              <a:rPr lang="en-GB" sz="2400">
                <a:latin typeface="Wingdings" pitchFamily="2" charset="2"/>
              </a:rPr>
              <a:t>ü</a:t>
            </a: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F43527C8-0DD6-3508-03D7-F28FD108D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0504" y="2087368"/>
            <a:ext cx="387373" cy="47834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71957" tIns="35998" rIns="71957" bIns="71957">
            <a:spAutoFit/>
          </a:bodyPr>
          <a:lstStyle/>
          <a:p>
            <a:pPr algn="l">
              <a:spcBef>
                <a:spcPct val="0"/>
              </a:spcBef>
              <a:buSzTx/>
              <a:buFontTx/>
              <a:buNone/>
            </a:pPr>
            <a:r>
              <a:rPr lang="en-GB" sz="2400">
                <a:latin typeface="Wingdings" pitchFamily="2" charset="2"/>
              </a:rPr>
              <a:t>ü</a:t>
            </a: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B7ECEC5A-B67E-BF59-FF40-A350ECF697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78868" y="4914465"/>
            <a:ext cx="387373" cy="47834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71957" tIns="35998" rIns="71957" bIns="71957">
            <a:spAutoFit/>
          </a:bodyPr>
          <a:lstStyle/>
          <a:p>
            <a:pPr algn="l">
              <a:spcBef>
                <a:spcPct val="0"/>
              </a:spcBef>
              <a:buSzTx/>
              <a:buFontTx/>
              <a:buNone/>
            </a:pPr>
            <a:r>
              <a:rPr lang="en-GB" sz="2400">
                <a:latin typeface="Wingdings" pitchFamily="2" charset="2"/>
              </a:rPr>
              <a:t>ü</a:t>
            </a: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702010EC-002F-BC3C-F2CA-59F6C3ED2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9141" y="2122567"/>
            <a:ext cx="387373" cy="47834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71957" tIns="35998" rIns="71957" bIns="71957">
            <a:spAutoFit/>
          </a:bodyPr>
          <a:lstStyle/>
          <a:p>
            <a:pPr algn="l">
              <a:spcBef>
                <a:spcPct val="0"/>
              </a:spcBef>
              <a:buSzTx/>
              <a:buFontTx/>
              <a:buNone/>
            </a:pPr>
            <a:r>
              <a:rPr lang="en-GB" sz="2400">
                <a:latin typeface="Wingdings" pitchFamily="2" charset="2"/>
              </a:rPr>
              <a:t>ü</a:t>
            </a:r>
          </a:p>
        </p:txBody>
      </p:sp>
    </p:spTree>
    <p:extLst>
      <p:ext uri="{BB962C8B-B14F-4D97-AF65-F5344CB8AC3E}">
        <p14:creationId xmlns:p14="http://schemas.microsoft.com/office/powerpoint/2010/main" val="304565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655" y="111301"/>
            <a:ext cx="11435977" cy="786122"/>
          </a:xfrm>
        </p:spPr>
        <p:txBody>
          <a:bodyPr/>
          <a:lstStyle/>
          <a:p>
            <a:r>
              <a:rPr lang="en-US" sz="1800"/>
              <a:t>Integration(</a:t>
            </a:r>
            <a:r>
              <a:rPr lang="en-US" sz="1800">
                <a:solidFill>
                  <a:srgbClr val="FF0000"/>
                </a:solidFill>
              </a:rPr>
              <a:t>Inter-connects</a:t>
            </a:r>
            <a:r>
              <a:rPr lang="en-US" sz="1800"/>
              <a:t>) Details</a:t>
            </a:r>
            <a:endParaRPr lang="en-US" sz="1600" b="0">
              <a:latin typeface="Adani Regular" panose="02000503000000020004" pitchFamily="2" charset="0"/>
            </a:endParaRP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0" y="0"/>
          <a:ext cx="12192000" cy="22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Executive Summary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Business Needs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Functional Evaluation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Architecture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Technical</a:t>
                      </a:r>
                      <a:r>
                        <a:rPr lang="en-US" sz="900" b="0" baseline="0">
                          <a:latin typeface="Adani Regular" panose="02000503000000020004" pitchFamily="2" charset="0"/>
                        </a:rPr>
                        <a:t> Evaluation</a:t>
                      </a:r>
                      <a:endParaRPr lang="en-US" sz="900" b="0">
                        <a:latin typeface="Adani Regular" panose="02000503000000020004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ARB Feedback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B5EC1E7-4F0A-7AC7-4744-9EE5F839C4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0254298"/>
              </p:ext>
            </p:extLst>
          </p:nvPr>
        </p:nvGraphicFramePr>
        <p:xfrm>
          <a:off x="348653" y="1124744"/>
          <a:ext cx="11437577" cy="3675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055">
                  <a:extLst>
                    <a:ext uri="{9D8B030D-6E8A-4147-A177-3AD203B41FA5}">
                      <a16:colId xmlns:a16="http://schemas.microsoft.com/office/drawing/2014/main" val="4287422146"/>
                    </a:ext>
                  </a:extLst>
                </a:gridCol>
                <a:gridCol w="1258532">
                  <a:extLst>
                    <a:ext uri="{9D8B030D-6E8A-4147-A177-3AD203B41FA5}">
                      <a16:colId xmlns:a16="http://schemas.microsoft.com/office/drawing/2014/main" val="1970407900"/>
                    </a:ext>
                  </a:extLst>
                </a:gridCol>
                <a:gridCol w="1164626">
                  <a:extLst>
                    <a:ext uri="{9D8B030D-6E8A-4147-A177-3AD203B41FA5}">
                      <a16:colId xmlns:a16="http://schemas.microsoft.com/office/drawing/2014/main" val="2517259110"/>
                    </a:ext>
                  </a:extLst>
                </a:gridCol>
                <a:gridCol w="1212814">
                  <a:extLst>
                    <a:ext uri="{9D8B030D-6E8A-4147-A177-3AD203B41FA5}">
                      <a16:colId xmlns:a16="http://schemas.microsoft.com/office/drawing/2014/main" val="319174045"/>
                    </a:ext>
                  </a:extLst>
                </a:gridCol>
                <a:gridCol w="814104">
                  <a:extLst>
                    <a:ext uri="{9D8B030D-6E8A-4147-A177-3AD203B41FA5}">
                      <a16:colId xmlns:a16="http://schemas.microsoft.com/office/drawing/2014/main" val="83649394"/>
                    </a:ext>
                  </a:extLst>
                </a:gridCol>
                <a:gridCol w="788793">
                  <a:extLst>
                    <a:ext uri="{9D8B030D-6E8A-4147-A177-3AD203B41FA5}">
                      <a16:colId xmlns:a16="http://schemas.microsoft.com/office/drawing/2014/main" val="2567815106"/>
                    </a:ext>
                  </a:extLst>
                </a:gridCol>
                <a:gridCol w="1034840">
                  <a:extLst>
                    <a:ext uri="{9D8B030D-6E8A-4147-A177-3AD203B41FA5}">
                      <a16:colId xmlns:a16="http://schemas.microsoft.com/office/drawing/2014/main" val="1345702044"/>
                    </a:ext>
                  </a:extLst>
                </a:gridCol>
                <a:gridCol w="1164195">
                  <a:extLst>
                    <a:ext uri="{9D8B030D-6E8A-4147-A177-3AD203B41FA5}">
                      <a16:colId xmlns:a16="http://schemas.microsoft.com/office/drawing/2014/main" val="1726211137"/>
                    </a:ext>
                  </a:extLst>
                </a:gridCol>
                <a:gridCol w="1293550">
                  <a:extLst>
                    <a:ext uri="{9D8B030D-6E8A-4147-A177-3AD203B41FA5}">
                      <a16:colId xmlns:a16="http://schemas.microsoft.com/office/drawing/2014/main" val="1639974715"/>
                    </a:ext>
                  </a:extLst>
                </a:gridCol>
                <a:gridCol w="1293550">
                  <a:extLst>
                    <a:ext uri="{9D8B030D-6E8A-4147-A177-3AD203B41FA5}">
                      <a16:colId xmlns:a16="http://schemas.microsoft.com/office/drawing/2014/main" val="3178162405"/>
                    </a:ext>
                  </a:extLst>
                </a:gridCol>
                <a:gridCol w="1099518">
                  <a:extLst>
                    <a:ext uri="{9D8B030D-6E8A-4147-A177-3AD203B41FA5}">
                      <a16:colId xmlns:a16="http://schemas.microsoft.com/office/drawing/2014/main" val="3183533085"/>
                    </a:ext>
                  </a:extLst>
                </a:gridCol>
              </a:tblGrid>
              <a:tr h="605995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FFFFFF"/>
                          </a:solidFill>
                          <a:latin typeface="Adani Regular"/>
                        </a:rPr>
                        <a:t>#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FFFFFF"/>
                          </a:solidFill>
                          <a:latin typeface="Adani Regular" panose="02000503000000020004" pitchFamily="2" charset="0"/>
                        </a:rPr>
                        <a:t>Interfacing Application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rgbClr val="FFFFFF"/>
                          </a:solidFill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Authentication, Authorization,  Accounting(Radius+ , ADFS, Security Audit log etc.)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Type Of Data Being Exchanged </a:t>
                      </a:r>
                      <a:r>
                        <a:rPr lang="en-US" sz="1200" b="0"/>
                        <a:t>(mention data objects)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Direction</a:t>
                      </a:r>
                      <a:r>
                        <a:rPr lang="en-US" sz="1100" b="0"/>
                        <a:t> (Inbound/ Outbound/</a:t>
                      </a:r>
                      <a:r>
                        <a:rPr lang="en-US" sz="1100" b="0" baseline="0"/>
                        <a:t> Bi-directional)</a:t>
                      </a:r>
                      <a:endParaRPr lang="en-US" sz="1100" b="0"/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Mode</a:t>
                      </a:r>
                      <a:r>
                        <a:rPr lang="en-US" sz="1100"/>
                        <a:t> </a:t>
                      </a:r>
                    </a:p>
                    <a:p>
                      <a:pPr algn="ctr"/>
                      <a:r>
                        <a:rPr lang="en-US" sz="1050" b="0"/>
                        <a:t>(Real-time, Batch, On-Demand)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Interface</a:t>
                      </a:r>
                      <a:r>
                        <a:rPr lang="en-US" sz="1200" baseline="0"/>
                        <a:t> Method </a:t>
                      </a:r>
                      <a:r>
                        <a:rPr lang="en-US" sz="1050" baseline="0"/>
                        <a:t>(API/ Web-services, DB-based, Others)</a:t>
                      </a:r>
                      <a:endParaRPr lang="en-US" sz="1050"/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Type </a:t>
                      </a:r>
                    </a:p>
                    <a:p>
                      <a:pPr algn="ctr"/>
                      <a:r>
                        <a:rPr lang="en-US" sz="1050"/>
                        <a:t>(On Prem to On Prem, On Prem to Cloud, Cloud to Cloud)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Integration Middleware </a:t>
                      </a:r>
                      <a:r>
                        <a:rPr lang="en-US" sz="1050"/>
                        <a:t>(Point to Point, SAP PI/ PO, IBM ESB, Oracle Service Bus)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Hand-shaking</a:t>
                      </a:r>
                      <a:r>
                        <a:rPr lang="en-US" sz="1200" b="1" baseline="0"/>
                        <a:t> Mechanism </a:t>
                      </a:r>
                      <a:r>
                        <a:rPr lang="en-US" sz="1050" baseline="0"/>
                        <a:t>(Credential-based, Token, Certificate, etc.)</a:t>
                      </a:r>
                      <a:endParaRPr lang="en-US" sz="1050"/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Interface Monitoring</a:t>
                      </a:r>
                      <a:r>
                        <a:rPr lang="en-US" sz="1200" baseline="0"/>
                        <a:t> and Error Handling? </a:t>
                      </a:r>
                      <a:r>
                        <a:rPr lang="en-US" sz="1050" baseline="0"/>
                        <a:t>(Yes/ No)</a:t>
                      </a:r>
                      <a:endParaRPr lang="en-US" sz="1050"/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223999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r>
                        <a:rPr lang="en-US" sz="1400" b="1"/>
                        <a:t>1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29594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r>
                        <a:rPr lang="en-US" sz="1400" b="1"/>
                        <a:t>2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407348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r>
                        <a:rPr lang="en-US" sz="1400" b="1"/>
                        <a:t>3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1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6172198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r>
                        <a:rPr lang="en-US" sz="1400" b="1"/>
                        <a:t>4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1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731508"/>
                  </a:ext>
                </a:extLst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/>
            </a:pPr>
            <a:r>
              <a:t>- Primavera P6 (Push/Pull)</a:t>
            </a:r>
            <a:br/>
            <a:r>
              <a:t>- SAP (Pull)</a:t>
            </a:r>
            <a:br/>
            <a:r>
              <a:t>- Digital DPR (Push)</a:t>
            </a:r>
            <a:br/>
            <a:r>
              <a:t>- Transmission Connectivity</a:t>
            </a:r>
            <a:br/>
            <a:r>
              <a:t>- Module Tracker</a:t>
            </a:r>
            <a:br/>
            <a:r>
              <a:t>- DataBricks (Analytics)</a:t>
            </a:r>
          </a:p>
        </p:txBody>
      </p:sp>
    </p:spTree>
    <p:extLst>
      <p:ext uri="{BB962C8B-B14F-4D97-AF65-F5344CB8AC3E}">
        <p14:creationId xmlns:p14="http://schemas.microsoft.com/office/powerpoint/2010/main" val="490028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655" y="111301"/>
            <a:ext cx="11435977" cy="786122"/>
          </a:xfrm>
        </p:spPr>
        <p:txBody>
          <a:bodyPr/>
          <a:lstStyle/>
          <a:p>
            <a:r>
              <a:rPr lang="en-US" sz="1800"/>
              <a:t>Technology Stack</a:t>
            </a:r>
            <a:endParaRPr lang="en-US" sz="1600" b="0">
              <a:latin typeface="Adani Regular" panose="02000503000000020004" pitchFamily="2" charset="0"/>
            </a:endParaRP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0" y="0"/>
          <a:ext cx="12192000" cy="22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Executive Summary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Business Needs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Functional Evaluation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Architecture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Technical</a:t>
                      </a:r>
                      <a:r>
                        <a:rPr lang="en-US" sz="900" b="0" baseline="0">
                          <a:latin typeface="Adani Regular" panose="02000503000000020004" pitchFamily="2" charset="0"/>
                        </a:rPr>
                        <a:t> Evaluation</a:t>
                      </a:r>
                      <a:endParaRPr lang="en-US" sz="900" b="0">
                        <a:latin typeface="Adani Regular" panose="02000503000000020004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ARB Feedback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6743904"/>
              </p:ext>
            </p:extLst>
          </p:nvPr>
        </p:nvGraphicFramePr>
        <p:xfrm>
          <a:off x="301924" y="956672"/>
          <a:ext cx="11482708" cy="53704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334">
                  <a:extLst>
                    <a:ext uri="{9D8B030D-6E8A-4147-A177-3AD203B41FA5}">
                      <a16:colId xmlns:a16="http://schemas.microsoft.com/office/drawing/2014/main" val="4287422146"/>
                    </a:ext>
                  </a:extLst>
                </a:gridCol>
                <a:gridCol w="3976258">
                  <a:extLst>
                    <a:ext uri="{9D8B030D-6E8A-4147-A177-3AD203B41FA5}">
                      <a16:colId xmlns:a16="http://schemas.microsoft.com/office/drawing/2014/main" val="1970407900"/>
                    </a:ext>
                  </a:extLst>
                </a:gridCol>
                <a:gridCol w="6635116">
                  <a:extLst>
                    <a:ext uri="{9D8B030D-6E8A-4147-A177-3AD203B41FA5}">
                      <a16:colId xmlns:a16="http://schemas.microsoft.com/office/drawing/2014/main" val="319174045"/>
                    </a:ext>
                  </a:extLst>
                </a:gridCol>
              </a:tblGrid>
              <a:tr h="301922"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 panose="02000503000000020004" pitchFamily="2" charset="0"/>
                        </a:rPr>
                        <a:t>#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 panose="02000503000000020004" pitchFamily="2" charset="0"/>
                        </a:rPr>
                        <a:t>Component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Name &amp; Version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223999"/>
                  </a:ext>
                </a:extLst>
              </a:tr>
              <a:tr h="301922">
                <a:tc vMerge="1">
                  <a:txBody>
                    <a:bodyPr/>
                    <a:lstStyle/>
                    <a:p>
                      <a:pPr algn="ctr"/>
                      <a:endParaRPr lang="en-US" sz="1400" b="1">
                        <a:solidFill>
                          <a:srgbClr val="FFFFFF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 b="1">
                        <a:solidFill>
                          <a:srgbClr val="FFFFFF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&lt;&lt; Option 1 &gt;&gt;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2369301"/>
                  </a:ext>
                </a:extLst>
              </a:tr>
              <a:tr h="518236">
                <a:tc>
                  <a:txBody>
                    <a:bodyPr/>
                    <a:lstStyle/>
                    <a:p>
                      <a:r>
                        <a:rPr lang="en-US" sz="1400" b="1"/>
                        <a:t>1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Web Server &amp; Underlying OS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954649"/>
                  </a:ext>
                </a:extLst>
              </a:tr>
              <a:tr h="375634">
                <a:tc>
                  <a:txBody>
                    <a:bodyPr/>
                    <a:lstStyle/>
                    <a:p>
                      <a:r>
                        <a:rPr lang="en-US" sz="1400" b="1"/>
                        <a:t>2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Application Server &amp; Underlying OS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>
                        <a:buNone/>
                      </a:pPr>
                      <a:endParaRPr 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161515"/>
                  </a:ext>
                </a:extLst>
              </a:tr>
              <a:tr h="375634">
                <a:tc>
                  <a:txBody>
                    <a:bodyPr/>
                    <a:lstStyle/>
                    <a:p>
                      <a:r>
                        <a:rPr lang="en-US" sz="1400" b="1"/>
                        <a:t>3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Container Registry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>
                        <a:buNone/>
                      </a:pPr>
                      <a:endParaRPr lang="en-US" sz="12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8664982"/>
                  </a:ext>
                </a:extLst>
              </a:tr>
              <a:tr h="530847">
                <a:tc>
                  <a:txBody>
                    <a:bodyPr/>
                    <a:lstStyle/>
                    <a:p>
                      <a:r>
                        <a:rPr lang="en-US" sz="1400" b="1"/>
                        <a:t>4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Database Platform &amp; Underlying OS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/>
                      <a:endParaRPr lang="en-US" sz="1200" b="0" i="1" u="none" strike="noStrike">
                        <a:effectLst/>
                        <a:latin typeface="Adani Regular" panose="02000503000000020004" pitchFamily="2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29594"/>
                  </a:ext>
                </a:extLst>
              </a:tr>
              <a:tr h="642934">
                <a:tc>
                  <a:txBody>
                    <a:bodyPr/>
                    <a:lstStyle/>
                    <a:p>
                      <a:r>
                        <a:rPr lang="en-US" sz="1400" b="1"/>
                        <a:t>5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Development Technology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407348"/>
                  </a:ext>
                </a:extLst>
              </a:tr>
              <a:tr h="453941">
                <a:tc>
                  <a:txBody>
                    <a:bodyPr/>
                    <a:lstStyle/>
                    <a:p>
                      <a:r>
                        <a:rPr lang="en-US" sz="1400" b="1"/>
                        <a:t>6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List of Compatible Browsers (including aNet)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6172198"/>
                  </a:ext>
                </a:extLst>
              </a:tr>
              <a:tr h="451178">
                <a:tc>
                  <a:txBody>
                    <a:bodyPr/>
                    <a:lstStyle/>
                    <a:p>
                      <a:r>
                        <a:rPr lang="en-US" sz="1400" b="1"/>
                        <a:t>7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OS Compatibility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2025204"/>
                  </a:ext>
                </a:extLst>
              </a:tr>
              <a:tr h="451178">
                <a:tc>
                  <a:txBody>
                    <a:bodyPr/>
                    <a:lstStyle/>
                    <a:p>
                      <a:r>
                        <a:rPr lang="en-US" sz="1400" b="1"/>
                        <a:t>8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Security Components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243370"/>
                  </a:ext>
                </a:extLst>
              </a:tr>
              <a:tr h="961287">
                <a:tc>
                  <a:txBody>
                    <a:bodyPr/>
                    <a:lstStyle/>
                    <a:p>
                      <a:r>
                        <a:rPr lang="en-US" sz="1400" b="1"/>
                        <a:t>9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Others (if not captured above)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0111461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4AACEE4-1EB1-4E96-B148-C525703F9F56}"/>
                  </a:ext>
                </a:extLst>
              </p14:cNvPr>
              <p14:cNvContentPartPr/>
              <p14:nvPr/>
            </p14:nvContentPartPr>
            <p14:xfrm>
              <a:off x="301924" y="6640600"/>
              <a:ext cx="514350" cy="123825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4AACEE4-1EB1-4E96-B148-C525703F9F5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9242" y="6578687"/>
                <a:ext cx="639356" cy="2472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B5A46A5-EF0F-4EAA-A73A-CCC3763ED0C5}"/>
                  </a:ext>
                </a:extLst>
              </p14:cNvPr>
              <p14:cNvContentPartPr/>
              <p14:nvPr/>
            </p14:nvContentPartPr>
            <p14:xfrm>
              <a:off x="359433" y="6699849"/>
              <a:ext cx="19050" cy="1905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B5A46A5-EF0F-4EAA-A73A-CCC3763ED0C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2974317" y="3366099"/>
                <a:ext cx="6667500" cy="6667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CC790CC-4329-4373-8804-FBC2476CB5F4}"/>
                  </a:ext>
                </a:extLst>
              </p14:cNvPr>
              <p14:cNvContentPartPr/>
              <p14:nvPr/>
            </p14:nvContentPartPr>
            <p14:xfrm>
              <a:off x="373811" y="6757358"/>
              <a:ext cx="19050" cy="1905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CC790CC-4329-4373-8804-FBC2476CB5F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2959939" y="3423608"/>
                <a:ext cx="6667500" cy="66675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687381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D00B6-04D2-9006-6A1F-B92D7CC8B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96CE0A3-4C3D-5209-F06A-51772E8E4B12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22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Executive Summary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Business Needs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Functional Evaluation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Architecture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Technical</a:t>
                      </a:r>
                      <a:r>
                        <a:rPr lang="en-US" sz="900" b="0" baseline="0">
                          <a:latin typeface="Adani Regular" panose="02000503000000020004" pitchFamily="2" charset="0"/>
                        </a:rPr>
                        <a:t> Evaluation</a:t>
                      </a:r>
                      <a:endParaRPr lang="en-US" sz="900" b="0">
                        <a:latin typeface="Adani Regular" panose="02000503000000020004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ARB Feedback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2" name="Slide Number Placeholder 2">
            <a:extLst>
              <a:ext uri="{FF2B5EF4-FFF2-40B4-BE49-F238E27FC236}">
                <a16:creationId xmlns:a16="http://schemas.microsoft.com/office/drawing/2014/main" id="{BF45635B-D431-2BF8-FF07-0368CB6FE354}"/>
              </a:ext>
            </a:extLst>
          </p:cNvPr>
          <p:cNvSpPr txBox="1">
            <a:spLocks/>
          </p:cNvSpPr>
          <p:nvPr/>
        </p:nvSpPr>
        <p:spPr>
          <a:xfrm>
            <a:off x="5905500" y="6772671"/>
            <a:ext cx="380999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FAF63893-4B0C-4F88-9650-53ECAF8C5052}" type="slidenum">
              <a:rPr lang="en-IN" sz="1000" smtClean="0">
                <a:solidFill>
                  <a:prstClr val="black">
                    <a:tint val="75000"/>
                  </a:prst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13</a:t>
            </a:fld>
            <a:endParaRPr lang="en-IN" sz="1000">
              <a:solidFill>
                <a:prstClr val="black">
                  <a:tint val="75000"/>
                </a:prstClr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FF7B2B3C-5526-4972-BAD0-DC10E4A58FE1}"/>
              </a:ext>
            </a:extLst>
          </p:cNvPr>
          <p:cNvSpPr txBox="1"/>
          <p:nvPr/>
        </p:nvSpPr>
        <p:spPr>
          <a:xfrm>
            <a:off x="1111370" y="1540161"/>
            <a:ext cx="1114184" cy="2225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Inputs</a:t>
            </a:r>
          </a:p>
        </p:txBody>
      </p: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6B3421EA-A6F8-F477-8864-54FEBB973491}"/>
              </a:ext>
            </a:extLst>
          </p:cNvPr>
          <p:cNvGrpSpPr/>
          <p:nvPr/>
        </p:nvGrpSpPr>
        <p:grpSpPr>
          <a:xfrm>
            <a:off x="2493782" y="3721710"/>
            <a:ext cx="190619" cy="239760"/>
            <a:chOff x="1607749" y="3416181"/>
            <a:chExt cx="398211" cy="366617"/>
          </a:xfrm>
          <a:solidFill>
            <a:srgbClr val="004E42"/>
          </a:solidFill>
        </p:grpSpPr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9893F3F3-7AD3-0A63-5B87-AF5B5E3394CC}"/>
                </a:ext>
              </a:extLst>
            </p:cNvPr>
            <p:cNvSpPr/>
            <p:nvPr/>
          </p:nvSpPr>
          <p:spPr>
            <a:xfrm>
              <a:off x="1607749" y="3416181"/>
              <a:ext cx="398211" cy="366617"/>
            </a:xfrm>
            <a:custGeom>
              <a:avLst/>
              <a:gdLst>
                <a:gd name="connsiteX0" fmla="*/ 99404 w 398211"/>
                <a:gd name="connsiteY0" fmla="*/ 182317 h 366617"/>
                <a:gd name="connsiteX1" fmla="*/ 2585 w 398211"/>
                <a:gd name="connsiteY1" fmla="*/ 366618 h 366617"/>
                <a:gd name="connsiteX2" fmla="*/ 398212 w 398211"/>
                <a:gd name="connsiteY2" fmla="*/ 180174 h 366617"/>
                <a:gd name="connsiteX3" fmla="*/ 0 w 398211"/>
                <a:gd name="connsiteY3" fmla="*/ 0 h 366617"/>
                <a:gd name="connsiteX4" fmla="*/ 99404 w 398211"/>
                <a:gd name="connsiteY4" fmla="*/ 182317 h 36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8211" h="366617">
                  <a:moveTo>
                    <a:pt x="99404" y="182317"/>
                  </a:moveTo>
                  <a:lnTo>
                    <a:pt x="2585" y="366618"/>
                  </a:lnTo>
                  <a:lnTo>
                    <a:pt x="398212" y="180174"/>
                  </a:lnTo>
                  <a:lnTo>
                    <a:pt x="0" y="0"/>
                  </a:lnTo>
                  <a:lnTo>
                    <a:pt x="99404" y="182317"/>
                  </a:lnTo>
                  <a:close/>
                </a:path>
              </a:pathLst>
            </a:custGeom>
            <a:grpFill/>
            <a:ln w="45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Meiryo UI"/>
                <a:cs typeface="+mn-cs"/>
              </a:endParaRPr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BFCF7FF1-3039-27F5-902A-75FE3A46D79C}"/>
                </a:ext>
              </a:extLst>
            </p:cNvPr>
            <p:cNvSpPr/>
            <p:nvPr/>
          </p:nvSpPr>
          <p:spPr>
            <a:xfrm>
              <a:off x="1607749" y="3416181"/>
              <a:ext cx="398211" cy="182316"/>
            </a:xfrm>
            <a:custGeom>
              <a:avLst/>
              <a:gdLst>
                <a:gd name="connsiteX0" fmla="*/ 99404 w 398211"/>
                <a:gd name="connsiteY0" fmla="*/ 182317 h 182316"/>
                <a:gd name="connsiteX1" fmla="*/ 398212 w 398211"/>
                <a:gd name="connsiteY1" fmla="*/ 180174 h 182316"/>
                <a:gd name="connsiteX2" fmla="*/ 0 w 398211"/>
                <a:gd name="connsiteY2" fmla="*/ 0 h 182316"/>
                <a:gd name="connsiteX3" fmla="*/ 99404 w 398211"/>
                <a:gd name="connsiteY3" fmla="*/ 182317 h 182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8211" h="182316">
                  <a:moveTo>
                    <a:pt x="99404" y="182317"/>
                  </a:moveTo>
                  <a:lnTo>
                    <a:pt x="398212" y="180174"/>
                  </a:lnTo>
                  <a:lnTo>
                    <a:pt x="0" y="0"/>
                  </a:lnTo>
                  <a:lnTo>
                    <a:pt x="99404" y="182317"/>
                  </a:lnTo>
                  <a:close/>
                </a:path>
              </a:pathLst>
            </a:custGeom>
            <a:grpFill/>
            <a:ln w="45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Meiryo UI"/>
                <a:cs typeface="+mn-cs"/>
              </a:endParaRPr>
            </a:p>
          </p:txBody>
        </p:sp>
      </p:grpSp>
      <p:sp>
        <p:nvSpPr>
          <p:cNvPr id="210" name="TextBox 209">
            <a:extLst>
              <a:ext uri="{FF2B5EF4-FFF2-40B4-BE49-F238E27FC236}">
                <a16:creationId xmlns:a16="http://schemas.microsoft.com/office/drawing/2014/main" id="{3815F10F-390B-D618-33FC-A59438F6EAF8}"/>
              </a:ext>
            </a:extLst>
          </p:cNvPr>
          <p:cNvSpPr txBox="1"/>
          <p:nvPr/>
        </p:nvSpPr>
        <p:spPr>
          <a:xfrm>
            <a:off x="403591" y="3407472"/>
            <a:ext cx="15084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100"/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100" b="1">
              <a:solidFill>
                <a:schemeClr val="accent1"/>
              </a:solidFill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E7833583-2E86-0934-4086-C4CFD42F439F}"/>
              </a:ext>
            </a:extLst>
          </p:cNvPr>
          <p:cNvSpPr txBox="1"/>
          <p:nvPr/>
        </p:nvSpPr>
        <p:spPr>
          <a:xfrm>
            <a:off x="3055386" y="3242415"/>
            <a:ext cx="20217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200">
              <a:solidFill>
                <a:srgbClr val="42424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US" sz="1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D89C7E84-3C7E-F084-1A36-A212A761C42F}"/>
              </a:ext>
            </a:extLst>
          </p:cNvPr>
          <p:cNvGrpSpPr/>
          <p:nvPr/>
        </p:nvGrpSpPr>
        <p:grpSpPr>
          <a:xfrm>
            <a:off x="10396729" y="3693366"/>
            <a:ext cx="309435" cy="349479"/>
            <a:chOff x="1607749" y="3416181"/>
            <a:chExt cx="398211" cy="366617"/>
          </a:xfrm>
          <a:solidFill>
            <a:schemeClr val="accent1"/>
          </a:solidFill>
        </p:grpSpPr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A72226C4-E0B4-6E93-9E57-8FA81E94EA83}"/>
                </a:ext>
              </a:extLst>
            </p:cNvPr>
            <p:cNvSpPr/>
            <p:nvPr/>
          </p:nvSpPr>
          <p:spPr>
            <a:xfrm>
              <a:off x="1607749" y="3416181"/>
              <a:ext cx="398211" cy="366617"/>
            </a:xfrm>
            <a:custGeom>
              <a:avLst/>
              <a:gdLst>
                <a:gd name="connsiteX0" fmla="*/ 99404 w 398211"/>
                <a:gd name="connsiteY0" fmla="*/ 182317 h 366617"/>
                <a:gd name="connsiteX1" fmla="*/ 2585 w 398211"/>
                <a:gd name="connsiteY1" fmla="*/ 366618 h 366617"/>
                <a:gd name="connsiteX2" fmla="*/ 398212 w 398211"/>
                <a:gd name="connsiteY2" fmla="*/ 180174 h 366617"/>
                <a:gd name="connsiteX3" fmla="*/ 0 w 398211"/>
                <a:gd name="connsiteY3" fmla="*/ 0 h 366617"/>
                <a:gd name="connsiteX4" fmla="*/ 99404 w 398211"/>
                <a:gd name="connsiteY4" fmla="*/ 182317 h 36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8211" h="366617">
                  <a:moveTo>
                    <a:pt x="99404" y="182317"/>
                  </a:moveTo>
                  <a:lnTo>
                    <a:pt x="2585" y="366618"/>
                  </a:lnTo>
                  <a:lnTo>
                    <a:pt x="398212" y="180174"/>
                  </a:lnTo>
                  <a:lnTo>
                    <a:pt x="0" y="0"/>
                  </a:lnTo>
                  <a:lnTo>
                    <a:pt x="99404" y="182317"/>
                  </a:lnTo>
                  <a:close/>
                </a:path>
              </a:pathLst>
            </a:custGeom>
            <a:grpFill/>
            <a:ln w="45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Meiryo UI"/>
                <a:cs typeface="+mn-cs"/>
              </a:endParaRPr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555D8527-0439-230B-D2AB-DB1A3E9815EE}"/>
                </a:ext>
              </a:extLst>
            </p:cNvPr>
            <p:cNvSpPr/>
            <p:nvPr/>
          </p:nvSpPr>
          <p:spPr>
            <a:xfrm>
              <a:off x="1607749" y="3416181"/>
              <a:ext cx="398211" cy="182316"/>
            </a:xfrm>
            <a:custGeom>
              <a:avLst/>
              <a:gdLst>
                <a:gd name="connsiteX0" fmla="*/ 99404 w 398211"/>
                <a:gd name="connsiteY0" fmla="*/ 182317 h 182316"/>
                <a:gd name="connsiteX1" fmla="*/ 398212 w 398211"/>
                <a:gd name="connsiteY1" fmla="*/ 180174 h 182316"/>
                <a:gd name="connsiteX2" fmla="*/ 0 w 398211"/>
                <a:gd name="connsiteY2" fmla="*/ 0 h 182316"/>
                <a:gd name="connsiteX3" fmla="*/ 99404 w 398211"/>
                <a:gd name="connsiteY3" fmla="*/ 182317 h 182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8211" h="182316">
                  <a:moveTo>
                    <a:pt x="99404" y="182317"/>
                  </a:moveTo>
                  <a:lnTo>
                    <a:pt x="398212" y="180174"/>
                  </a:lnTo>
                  <a:lnTo>
                    <a:pt x="0" y="0"/>
                  </a:lnTo>
                  <a:lnTo>
                    <a:pt x="99404" y="182317"/>
                  </a:lnTo>
                  <a:close/>
                </a:path>
              </a:pathLst>
            </a:custGeom>
            <a:grpFill/>
            <a:ln w="45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Meiryo UI"/>
                <a:cs typeface="+mn-cs"/>
              </a:endParaRPr>
            </a:p>
          </p:txBody>
        </p:sp>
      </p:grpSp>
      <p:sp>
        <p:nvSpPr>
          <p:cNvPr id="232" name="Rectangle: Rounded Corners 231">
            <a:extLst>
              <a:ext uri="{FF2B5EF4-FFF2-40B4-BE49-F238E27FC236}">
                <a16:creationId xmlns:a16="http://schemas.microsoft.com/office/drawing/2014/main" id="{0B07624E-982E-0EBD-BBA9-EA1F290C17FD}"/>
              </a:ext>
            </a:extLst>
          </p:cNvPr>
          <p:cNvSpPr/>
          <p:nvPr/>
        </p:nvSpPr>
        <p:spPr bwMode="auto">
          <a:xfrm>
            <a:off x="8359546" y="2912357"/>
            <a:ext cx="1831498" cy="1680509"/>
          </a:xfrm>
          <a:prstGeom prst="roundRect">
            <a:avLst/>
          </a:prstGeom>
          <a:solidFill>
            <a:srgbClr val="6DCDB8"/>
          </a:solidFill>
          <a:ln w="19050">
            <a:noFill/>
            <a:prstDash val="sysDash"/>
            <a:round/>
            <a:headEnd/>
            <a:tailEnd/>
          </a:ln>
        </p:spPr>
        <p:txBody>
          <a:bodyPr vert="horz" wrap="square" lIns="121920" tIns="9144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ra Sans Light"/>
            </a:endParaRPr>
          </a:p>
        </p:txBody>
      </p:sp>
      <p:grpSp>
        <p:nvGrpSpPr>
          <p:cNvPr id="233" name="Group 306">
            <a:extLst>
              <a:ext uri="{FF2B5EF4-FFF2-40B4-BE49-F238E27FC236}">
                <a16:creationId xmlns:a16="http://schemas.microsoft.com/office/drawing/2014/main" id="{21CB7C48-64B5-5D09-5CBE-609EB07BED9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027740" y="3095110"/>
            <a:ext cx="476613" cy="479282"/>
            <a:chOff x="4136" y="1973"/>
            <a:chExt cx="714" cy="718"/>
          </a:xfrm>
          <a:solidFill>
            <a:srgbClr val="FFFFFF"/>
          </a:solidFill>
        </p:grpSpPr>
        <p:sp>
          <p:nvSpPr>
            <p:cNvPr id="234" name="Freeform 308">
              <a:extLst>
                <a:ext uri="{FF2B5EF4-FFF2-40B4-BE49-F238E27FC236}">
                  <a16:creationId xmlns:a16="http://schemas.microsoft.com/office/drawing/2014/main" id="{F72EF707-93D8-BAC1-9770-965E9D259D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1" y="2656"/>
              <a:ext cx="123" cy="35"/>
            </a:xfrm>
            <a:custGeom>
              <a:avLst/>
              <a:gdLst>
                <a:gd name="T0" fmla="*/ 614 w 614"/>
                <a:gd name="T1" fmla="*/ 0 h 173"/>
                <a:gd name="T2" fmla="*/ 604 w 614"/>
                <a:gd name="T3" fmla="*/ 28 h 173"/>
                <a:gd name="T4" fmla="*/ 589 w 614"/>
                <a:gd name="T5" fmla="*/ 53 h 173"/>
                <a:gd name="T6" fmla="*/ 570 w 614"/>
                <a:gd name="T7" fmla="*/ 77 h 173"/>
                <a:gd name="T8" fmla="*/ 544 w 614"/>
                <a:gd name="T9" fmla="*/ 98 h 173"/>
                <a:gd name="T10" fmla="*/ 514 w 614"/>
                <a:gd name="T11" fmla="*/ 118 h 173"/>
                <a:gd name="T12" fmla="*/ 481 w 614"/>
                <a:gd name="T13" fmla="*/ 135 h 173"/>
                <a:gd name="T14" fmla="*/ 445 w 614"/>
                <a:gd name="T15" fmla="*/ 149 h 173"/>
                <a:gd name="T16" fmla="*/ 404 w 614"/>
                <a:gd name="T17" fmla="*/ 160 h 173"/>
                <a:gd name="T18" fmla="*/ 362 w 614"/>
                <a:gd name="T19" fmla="*/ 168 h 173"/>
                <a:gd name="T20" fmla="*/ 316 w 614"/>
                <a:gd name="T21" fmla="*/ 172 h 173"/>
                <a:gd name="T22" fmla="*/ 271 w 614"/>
                <a:gd name="T23" fmla="*/ 173 h 173"/>
                <a:gd name="T24" fmla="*/ 227 w 614"/>
                <a:gd name="T25" fmla="*/ 170 h 173"/>
                <a:gd name="T26" fmla="*/ 185 w 614"/>
                <a:gd name="T27" fmla="*/ 162 h 173"/>
                <a:gd name="T28" fmla="*/ 147 w 614"/>
                <a:gd name="T29" fmla="*/ 152 h 173"/>
                <a:gd name="T30" fmla="*/ 112 w 614"/>
                <a:gd name="T31" fmla="*/ 139 h 173"/>
                <a:gd name="T32" fmla="*/ 79 w 614"/>
                <a:gd name="T33" fmla="*/ 122 h 173"/>
                <a:gd name="T34" fmla="*/ 53 w 614"/>
                <a:gd name="T35" fmla="*/ 103 h 173"/>
                <a:gd name="T36" fmla="*/ 30 w 614"/>
                <a:gd name="T37" fmla="*/ 82 h 173"/>
                <a:gd name="T38" fmla="*/ 12 w 614"/>
                <a:gd name="T39" fmla="*/ 59 h 173"/>
                <a:gd name="T40" fmla="*/ 0 w 614"/>
                <a:gd name="T41" fmla="*/ 32 h 173"/>
                <a:gd name="T42" fmla="*/ 614 w 614"/>
                <a:gd name="T43" fmla="*/ 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14" h="173">
                  <a:moveTo>
                    <a:pt x="614" y="0"/>
                  </a:moveTo>
                  <a:lnTo>
                    <a:pt x="604" y="28"/>
                  </a:lnTo>
                  <a:lnTo>
                    <a:pt x="589" y="53"/>
                  </a:lnTo>
                  <a:lnTo>
                    <a:pt x="570" y="77"/>
                  </a:lnTo>
                  <a:lnTo>
                    <a:pt x="544" y="98"/>
                  </a:lnTo>
                  <a:lnTo>
                    <a:pt x="514" y="118"/>
                  </a:lnTo>
                  <a:lnTo>
                    <a:pt x="481" y="135"/>
                  </a:lnTo>
                  <a:lnTo>
                    <a:pt x="445" y="149"/>
                  </a:lnTo>
                  <a:lnTo>
                    <a:pt x="404" y="160"/>
                  </a:lnTo>
                  <a:lnTo>
                    <a:pt x="362" y="168"/>
                  </a:lnTo>
                  <a:lnTo>
                    <a:pt x="316" y="172"/>
                  </a:lnTo>
                  <a:lnTo>
                    <a:pt x="271" y="173"/>
                  </a:lnTo>
                  <a:lnTo>
                    <a:pt x="227" y="170"/>
                  </a:lnTo>
                  <a:lnTo>
                    <a:pt x="185" y="162"/>
                  </a:lnTo>
                  <a:lnTo>
                    <a:pt x="147" y="152"/>
                  </a:lnTo>
                  <a:lnTo>
                    <a:pt x="112" y="139"/>
                  </a:lnTo>
                  <a:lnTo>
                    <a:pt x="79" y="122"/>
                  </a:lnTo>
                  <a:lnTo>
                    <a:pt x="53" y="103"/>
                  </a:lnTo>
                  <a:lnTo>
                    <a:pt x="30" y="82"/>
                  </a:lnTo>
                  <a:lnTo>
                    <a:pt x="12" y="59"/>
                  </a:lnTo>
                  <a:lnTo>
                    <a:pt x="0" y="32"/>
                  </a:lnTo>
                  <a:lnTo>
                    <a:pt x="614" y="0"/>
                  </a:lnTo>
                  <a:close/>
                </a:path>
              </a:pathLst>
            </a:custGeom>
            <a:grpFill/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Light"/>
              </a:endParaRPr>
            </a:p>
          </p:txBody>
        </p:sp>
        <p:sp>
          <p:nvSpPr>
            <p:cNvPr id="235" name="Freeform 309">
              <a:extLst>
                <a:ext uri="{FF2B5EF4-FFF2-40B4-BE49-F238E27FC236}">
                  <a16:creationId xmlns:a16="http://schemas.microsoft.com/office/drawing/2014/main" id="{09C1A719-D38E-CBD2-FA25-433680585A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0" y="2552"/>
              <a:ext cx="226" cy="36"/>
            </a:xfrm>
            <a:custGeom>
              <a:avLst/>
              <a:gdLst>
                <a:gd name="T0" fmla="*/ 1063 w 1131"/>
                <a:gd name="T1" fmla="*/ 0 h 180"/>
                <a:gd name="T2" fmla="*/ 1081 w 1131"/>
                <a:gd name="T3" fmla="*/ 1 h 180"/>
                <a:gd name="T4" fmla="*/ 1096 w 1131"/>
                <a:gd name="T5" fmla="*/ 6 h 180"/>
                <a:gd name="T6" fmla="*/ 1111 w 1131"/>
                <a:gd name="T7" fmla="*/ 15 h 180"/>
                <a:gd name="T8" fmla="*/ 1122 w 1131"/>
                <a:gd name="T9" fmla="*/ 27 h 180"/>
                <a:gd name="T10" fmla="*/ 1129 w 1131"/>
                <a:gd name="T11" fmla="*/ 43 h 180"/>
                <a:gd name="T12" fmla="*/ 1131 w 1131"/>
                <a:gd name="T13" fmla="*/ 60 h 180"/>
                <a:gd name="T14" fmla="*/ 1131 w 1131"/>
                <a:gd name="T15" fmla="*/ 78 h 180"/>
                <a:gd name="T16" fmla="*/ 1125 w 1131"/>
                <a:gd name="T17" fmla="*/ 93 h 180"/>
                <a:gd name="T18" fmla="*/ 1116 w 1131"/>
                <a:gd name="T19" fmla="*/ 108 h 180"/>
                <a:gd name="T20" fmla="*/ 1103 w 1131"/>
                <a:gd name="T21" fmla="*/ 119 h 180"/>
                <a:gd name="T22" fmla="*/ 1089 w 1131"/>
                <a:gd name="T23" fmla="*/ 125 h 180"/>
                <a:gd name="T24" fmla="*/ 1071 w 1131"/>
                <a:gd name="T25" fmla="*/ 127 h 180"/>
                <a:gd name="T26" fmla="*/ 68 w 1131"/>
                <a:gd name="T27" fmla="*/ 180 h 180"/>
                <a:gd name="T28" fmla="*/ 64 w 1131"/>
                <a:gd name="T29" fmla="*/ 180 h 180"/>
                <a:gd name="T30" fmla="*/ 48 w 1131"/>
                <a:gd name="T31" fmla="*/ 178 h 180"/>
                <a:gd name="T32" fmla="*/ 33 w 1131"/>
                <a:gd name="T33" fmla="*/ 173 h 180"/>
                <a:gd name="T34" fmla="*/ 20 w 1131"/>
                <a:gd name="T35" fmla="*/ 164 h 180"/>
                <a:gd name="T36" fmla="*/ 9 w 1131"/>
                <a:gd name="T37" fmla="*/ 152 h 180"/>
                <a:gd name="T38" fmla="*/ 2 w 1131"/>
                <a:gd name="T39" fmla="*/ 137 h 180"/>
                <a:gd name="T40" fmla="*/ 0 w 1131"/>
                <a:gd name="T41" fmla="*/ 120 h 180"/>
                <a:gd name="T42" fmla="*/ 0 w 1131"/>
                <a:gd name="T43" fmla="*/ 102 h 180"/>
                <a:gd name="T44" fmla="*/ 6 w 1131"/>
                <a:gd name="T45" fmla="*/ 87 h 180"/>
                <a:gd name="T46" fmla="*/ 15 w 1131"/>
                <a:gd name="T47" fmla="*/ 72 h 180"/>
                <a:gd name="T48" fmla="*/ 28 w 1131"/>
                <a:gd name="T49" fmla="*/ 61 h 180"/>
                <a:gd name="T50" fmla="*/ 42 w 1131"/>
                <a:gd name="T51" fmla="*/ 55 h 180"/>
                <a:gd name="T52" fmla="*/ 60 w 1131"/>
                <a:gd name="T53" fmla="*/ 53 h 180"/>
                <a:gd name="T54" fmla="*/ 1063 w 1131"/>
                <a:gd name="T55" fmla="*/ 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131" h="180">
                  <a:moveTo>
                    <a:pt x="1063" y="0"/>
                  </a:moveTo>
                  <a:lnTo>
                    <a:pt x="1081" y="1"/>
                  </a:lnTo>
                  <a:lnTo>
                    <a:pt x="1096" y="6"/>
                  </a:lnTo>
                  <a:lnTo>
                    <a:pt x="1111" y="15"/>
                  </a:lnTo>
                  <a:lnTo>
                    <a:pt x="1122" y="27"/>
                  </a:lnTo>
                  <a:lnTo>
                    <a:pt x="1129" y="43"/>
                  </a:lnTo>
                  <a:lnTo>
                    <a:pt x="1131" y="60"/>
                  </a:lnTo>
                  <a:lnTo>
                    <a:pt x="1131" y="78"/>
                  </a:lnTo>
                  <a:lnTo>
                    <a:pt x="1125" y="93"/>
                  </a:lnTo>
                  <a:lnTo>
                    <a:pt x="1116" y="108"/>
                  </a:lnTo>
                  <a:lnTo>
                    <a:pt x="1103" y="119"/>
                  </a:lnTo>
                  <a:lnTo>
                    <a:pt x="1089" y="125"/>
                  </a:lnTo>
                  <a:lnTo>
                    <a:pt x="1071" y="127"/>
                  </a:lnTo>
                  <a:lnTo>
                    <a:pt x="68" y="180"/>
                  </a:lnTo>
                  <a:lnTo>
                    <a:pt x="64" y="180"/>
                  </a:lnTo>
                  <a:lnTo>
                    <a:pt x="48" y="178"/>
                  </a:lnTo>
                  <a:lnTo>
                    <a:pt x="33" y="173"/>
                  </a:lnTo>
                  <a:lnTo>
                    <a:pt x="20" y="164"/>
                  </a:lnTo>
                  <a:lnTo>
                    <a:pt x="9" y="152"/>
                  </a:lnTo>
                  <a:lnTo>
                    <a:pt x="2" y="137"/>
                  </a:lnTo>
                  <a:lnTo>
                    <a:pt x="0" y="120"/>
                  </a:lnTo>
                  <a:lnTo>
                    <a:pt x="0" y="102"/>
                  </a:lnTo>
                  <a:lnTo>
                    <a:pt x="6" y="87"/>
                  </a:lnTo>
                  <a:lnTo>
                    <a:pt x="15" y="72"/>
                  </a:lnTo>
                  <a:lnTo>
                    <a:pt x="28" y="61"/>
                  </a:lnTo>
                  <a:lnTo>
                    <a:pt x="42" y="55"/>
                  </a:lnTo>
                  <a:lnTo>
                    <a:pt x="60" y="53"/>
                  </a:lnTo>
                  <a:lnTo>
                    <a:pt x="1063" y="0"/>
                  </a:lnTo>
                  <a:close/>
                </a:path>
              </a:pathLst>
            </a:custGeom>
            <a:grpFill/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Light"/>
              </a:endParaRPr>
            </a:p>
          </p:txBody>
        </p:sp>
        <p:sp>
          <p:nvSpPr>
            <p:cNvPr id="236" name="Freeform 310">
              <a:extLst>
                <a:ext uri="{FF2B5EF4-FFF2-40B4-BE49-F238E27FC236}">
                  <a16:creationId xmlns:a16="http://schemas.microsoft.com/office/drawing/2014/main" id="{BDBD4064-A1CE-BE6C-51CF-B8D8A9C0C8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0" y="2583"/>
              <a:ext cx="226" cy="36"/>
            </a:xfrm>
            <a:custGeom>
              <a:avLst/>
              <a:gdLst>
                <a:gd name="T0" fmla="*/ 1063 w 1131"/>
                <a:gd name="T1" fmla="*/ 0 h 179"/>
                <a:gd name="T2" fmla="*/ 1081 w 1131"/>
                <a:gd name="T3" fmla="*/ 0 h 179"/>
                <a:gd name="T4" fmla="*/ 1096 w 1131"/>
                <a:gd name="T5" fmla="*/ 6 h 179"/>
                <a:gd name="T6" fmla="*/ 1111 w 1131"/>
                <a:gd name="T7" fmla="*/ 14 h 179"/>
                <a:gd name="T8" fmla="*/ 1122 w 1131"/>
                <a:gd name="T9" fmla="*/ 28 h 179"/>
                <a:gd name="T10" fmla="*/ 1129 w 1131"/>
                <a:gd name="T11" fmla="*/ 43 h 179"/>
                <a:gd name="T12" fmla="*/ 1131 w 1131"/>
                <a:gd name="T13" fmla="*/ 59 h 179"/>
                <a:gd name="T14" fmla="*/ 1131 w 1131"/>
                <a:gd name="T15" fmla="*/ 77 h 179"/>
                <a:gd name="T16" fmla="*/ 1125 w 1131"/>
                <a:gd name="T17" fmla="*/ 94 h 179"/>
                <a:gd name="T18" fmla="*/ 1116 w 1131"/>
                <a:gd name="T19" fmla="*/ 107 h 179"/>
                <a:gd name="T20" fmla="*/ 1103 w 1131"/>
                <a:gd name="T21" fmla="*/ 118 h 179"/>
                <a:gd name="T22" fmla="*/ 1089 w 1131"/>
                <a:gd name="T23" fmla="*/ 125 h 179"/>
                <a:gd name="T24" fmla="*/ 1071 w 1131"/>
                <a:gd name="T25" fmla="*/ 128 h 179"/>
                <a:gd name="T26" fmla="*/ 68 w 1131"/>
                <a:gd name="T27" fmla="*/ 179 h 179"/>
                <a:gd name="T28" fmla="*/ 64 w 1131"/>
                <a:gd name="T29" fmla="*/ 179 h 179"/>
                <a:gd name="T30" fmla="*/ 48 w 1131"/>
                <a:gd name="T31" fmla="*/ 177 h 179"/>
                <a:gd name="T32" fmla="*/ 33 w 1131"/>
                <a:gd name="T33" fmla="*/ 172 h 179"/>
                <a:gd name="T34" fmla="*/ 20 w 1131"/>
                <a:gd name="T35" fmla="*/ 163 h 179"/>
                <a:gd name="T36" fmla="*/ 9 w 1131"/>
                <a:gd name="T37" fmla="*/ 151 h 179"/>
                <a:gd name="T38" fmla="*/ 2 w 1131"/>
                <a:gd name="T39" fmla="*/ 136 h 179"/>
                <a:gd name="T40" fmla="*/ 0 w 1131"/>
                <a:gd name="T41" fmla="*/ 120 h 179"/>
                <a:gd name="T42" fmla="*/ 0 w 1131"/>
                <a:gd name="T43" fmla="*/ 102 h 179"/>
                <a:gd name="T44" fmla="*/ 6 w 1131"/>
                <a:gd name="T45" fmla="*/ 86 h 179"/>
                <a:gd name="T46" fmla="*/ 15 w 1131"/>
                <a:gd name="T47" fmla="*/ 73 h 179"/>
                <a:gd name="T48" fmla="*/ 28 w 1131"/>
                <a:gd name="T49" fmla="*/ 62 h 179"/>
                <a:gd name="T50" fmla="*/ 42 w 1131"/>
                <a:gd name="T51" fmla="*/ 54 h 179"/>
                <a:gd name="T52" fmla="*/ 60 w 1131"/>
                <a:gd name="T53" fmla="*/ 52 h 179"/>
                <a:gd name="T54" fmla="*/ 1063 w 1131"/>
                <a:gd name="T55" fmla="*/ 0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131" h="179">
                  <a:moveTo>
                    <a:pt x="1063" y="0"/>
                  </a:moveTo>
                  <a:lnTo>
                    <a:pt x="1081" y="0"/>
                  </a:lnTo>
                  <a:lnTo>
                    <a:pt x="1096" y="6"/>
                  </a:lnTo>
                  <a:lnTo>
                    <a:pt x="1111" y="14"/>
                  </a:lnTo>
                  <a:lnTo>
                    <a:pt x="1122" y="28"/>
                  </a:lnTo>
                  <a:lnTo>
                    <a:pt x="1129" y="43"/>
                  </a:lnTo>
                  <a:lnTo>
                    <a:pt x="1131" y="59"/>
                  </a:lnTo>
                  <a:lnTo>
                    <a:pt x="1131" y="77"/>
                  </a:lnTo>
                  <a:lnTo>
                    <a:pt x="1125" y="94"/>
                  </a:lnTo>
                  <a:lnTo>
                    <a:pt x="1116" y="107"/>
                  </a:lnTo>
                  <a:lnTo>
                    <a:pt x="1103" y="118"/>
                  </a:lnTo>
                  <a:lnTo>
                    <a:pt x="1089" y="125"/>
                  </a:lnTo>
                  <a:lnTo>
                    <a:pt x="1071" y="128"/>
                  </a:lnTo>
                  <a:lnTo>
                    <a:pt x="68" y="179"/>
                  </a:lnTo>
                  <a:lnTo>
                    <a:pt x="64" y="179"/>
                  </a:lnTo>
                  <a:lnTo>
                    <a:pt x="48" y="177"/>
                  </a:lnTo>
                  <a:lnTo>
                    <a:pt x="33" y="172"/>
                  </a:lnTo>
                  <a:lnTo>
                    <a:pt x="20" y="163"/>
                  </a:lnTo>
                  <a:lnTo>
                    <a:pt x="9" y="151"/>
                  </a:lnTo>
                  <a:lnTo>
                    <a:pt x="2" y="136"/>
                  </a:lnTo>
                  <a:lnTo>
                    <a:pt x="0" y="120"/>
                  </a:lnTo>
                  <a:lnTo>
                    <a:pt x="0" y="102"/>
                  </a:lnTo>
                  <a:lnTo>
                    <a:pt x="6" y="86"/>
                  </a:lnTo>
                  <a:lnTo>
                    <a:pt x="15" y="73"/>
                  </a:lnTo>
                  <a:lnTo>
                    <a:pt x="28" y="62"/>
                  </a:lnTo>
                  <a:lnTo>
                    <a:pt x="42" y="54"/>
                  </a:lnTo>
                  <a:lnTo>
                    <a:pt x="60" y="52"/>
                  </a:lnTo>
                  <a:lnTo>
                    <a:pt x="1063" y="0"/>
                  </a:lnTo>
                  <a:close/>
                </a:path>
              </a:pathLst>
            </a:custGeom>
            <a:grpFill/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Light"/>
              </a:endParaRPr>
            </a:p>
          </p:txBody>
        </p:sp>
        <p:sp>
          <p:nvSpPr>
            <p:cNvPr id="237" name="Freeform 311">
              <a:extLst>
                <a:ext uri="{FF2B5EF4-FFF2-40B4-BE49-F238E27FC236}">
                  <a16:creationId xmlns:a16="http://schemas.microsoft.com/office/drawing/2014/main" id="{031DA298-F5DC-74C9-2C8D-05E5E9E54F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0" y="2614"/>
              <a:ext cx="226" cy="36"/>
            </a:xfrm>
            <a:custGeom>
              <a:avLst/>
              <a:gdLst>
                <a:gd name="T0" fmla="*/ 1063 w 1131"/>
                <a:gd name="T1" fmla="*/ 0 h 179"/>
                <a:gd name="T2" fmla="*/ 1084 w 1131"/>
                <a:gd name="T3" fmla="*/ 3 h 179"/>
                <a:gd name="T4" fmla="*/ 1102 w 1131"/>
                <a:gd name="T5" fmla="*/ 12 h 179"/>
                <a:gd name="T6" fmla="*/ 1117 w 1131"/>
                <a:gd name="T7" fmla="*/ 25 h 179"/>
                <a:gd name="T8" fmla="*/ 1127 w 1131"/>
                <a:gd name="T9" fmla="*/ 42 h 179"/>
                <a:gd name="T10" fmla="*/ 1131 w 1131"/>
                <a:gd name="T11" fmla="*/ 61 h 179"/>
                <a:gd name="T12" fmla="*/ 1131 w 1131"/>
                <a:gd name="T13" fmla="*/ 78 h 179"/>
                <a:gd name="T14" fmla="*/ 1125 w 1131"/>
                <a:gd name="T15" fmla="*/ 94 h 179"/>
                <a:gd name="T16" fmla="*/ 1116 w 1131"/>
                <a:gd name="T17" fmla="*/ 108 h 179"/>
                <a:gd name="T18" fmla="*/ 1103 w 1131"/>
                <a:gd name="T19" fmla="*/ 119 h 179"/>
                <a:gd name="T20" fmla="*/ 1089 w 1131"/>
                <a:gd name="T21" fmla="*/ 126 h 179"/>
                <a:gd name="T22" fmla="*/ 1071 w 1131"/>
                <a:gd name="T23" fmla="*/ 128 h 179"/>
                <a:gd name="T24" fmla="*/ 68 w 1131"/>
                <a:gd name="T25" fmla="*/ 179 h 179"/>
                <a:gd name="T26" fmla="*/ 64 w 1131"/>
                <a:gd name="T27" fmla="*/ 179 h 179"/>
                <a:gd name="T28" fmla="*/ 48 w 1131"/>
                <a:gd name="T29" fmla="*/ 178 h 179"/>
                <a:gd name="T30" fmla="*/ 33 w 1131"/>
                <a:gd name="T31" fmla="*/ 173 h 179"/>
                <a:gd name="T32" fmla="*/ 20 w 1131"/>
                <a:gd name="T33" fmla="*/ 163 h 179"/>
                <a:gd name="T34" fmla="*/ 9 w 1131"/>
                <a:gd name="T35" fmla="*/ 152 h 179"/>
                <a:gd name="T36" fmla="*/ 2 w 1131"/>
                <a:gd name="T37" fmla="*/ 137 h 179"/>
                <a:gd name="T38" fmla="*/ 0 w 1131"/>
                <a:gd name="T39" fmla="*/ 120 h 179"/>
                <a:gd name="T40" fmla="*/ 0 w 1131"/>
                <a:gd name="T41" fmla="*/ 102 h 179"/>
                <a:gd name="T42" fmla="*/ 6 w 1131"/>
                <a:gd name="T43" fmla="*/ 87 h 179"/>
                <a:gd name="T44" fmla="*/ 15 w 1131"/>
                <a:gd name="T45" fmla="*/ 73 h 179"/>
                <a:gd name="T46" fmla="*/ 28 w 1131"/>
                <a:gd name="T47" fmla="*/ 62 h 179"/>
                <a:gd name="T48" fmla="*/ 42 w 1131"/>
                <a:gd name="T49" fmla="*/ 55 h 179"/>
                <a:gd name="T50" fmla="*/ 60 w 1131"/>
                <a:gd name="T51" fmla="*/ 52 h 179"/>
                <a:gd name="T52" fmla="*/ 1063 w 1131"/>
                <a:gd name="T53" fmla="*/ 0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31" h="179">
                  <a:moveTo>
                    <a:pt x="1063" y="0"/>
                  </a:moveTo>
                  <a:lnTo>
                    <a:pt x="1084" y="3"/>
                  </a:lnTo>
                  <a:lnTo>
                    <a:pt x="1102" y="12"/>
                  </a:lnTo>
                  <a:lnTo>
                    <a:pt x="1117" y="25"/>
                  </a:lnTo>
                  <a:lnTo>
                    <a:pt x="1127" y="42"/>
                  </a:lnTo>
                  <a:lnTo>
                    <a:pt x="1131" y="61"/>
                  </a:lnTo>
                  <a:lnTo>
                    <a:pt x="1131" y="78"/>
                  </a:lnTo>
                  <a:lnTo>
                    <a:pt x="1125" y="94"/>
                  </a:lnTo>
                  <a:lnTo>
                    <a:pt x="1116" y="108"/>
                  </a:lnTo>
                  <a:lnTo>
                    <a:pt x="1103" y="119"/>
                  </a:lnTo>
                  <a:lnTo>
                    <a:pt x="1089" y="126"/>
                  </a:lnTo>
                  <a:lnTo>
                    <a:pt x="1071" y="128"/>
                  </a:lnTo>
                  <a:lnTo>
                    <a:pt x="68" y="179"/>
                  </a:lnTo>
                  <a:lnTo>
                    <a:pt x="64" y="179"/>
                  </a:lnTo>
                  <a:lnTo>
                    <a:pt x="48" y="178"/>
                  </a:lnTo>
                  <a:lnTo>
                    <a:pt x="33" y="173"/>
                  </a:lnTo>
                  <a:lnTo>
                    <a:pt x="20" y="163"/>
                  </a:lnTo>
                  <a:lnTo>
                    <a:pt x="9" y="152"/>
                  </a:lnTo>
                  <a:lnTo>
                    <a:pt x="2" y="137"/>
                  </a:lnTo>
                  <a:lnTo>
                    <a:pt x="0" y="120"/>
                  </a:lnTo>
                  <a:lnTo>
                    <a:pt x="0" y="102"/>
                  </a:lnTo>
                  <a:lnTo>
                    <a:pt x="6" y="87"/>
                  </a:lnTo>
                  <a:lnTo>
                    <a:pt x="15" y="73"/>
                  </a:lnTo>
                  <a:lnTo>
                    <a:pt x="28" y="62"/>
                  </a:lnTo>
                  <a:lnTo>
                    <a:pt x="42" y="55"/>
                  </a:lnTo>
                  <a:lnTo>
                    <a:pt x="60" y="52"/>
                  </a:lnTo>
                  <a:lnTo>
                    <a:pt x="1063" y="0"/>
                  </a:lnTo>
                  <a:close/>
                </a:path>
              </a:pathLst>
            </a:custGeom>
            <a:grpFill/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Light"/>
              </a:endParaRPr>
            </a:p>
          </p:txBody>
        </p:sp>
        <p:sp>
          <p:nvSpPr>
            <p:cNvPr id="238" name="Freeform 312">
              <a:extLst>
                <a:ext uri="{FF2B5EF4-FFF2-40B4-BE49-F238E27FC236}">
                  <a16:creationId xmlns:a16="http://schemas.microsoft.com/office/drawing/2014/main" id="{81F2EC9E-1B06-5664-CA73-CE85D319CC4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01" y="2113"/>
              <a:ext cx="384" cy="430"/>
            </a:xfrm>
            <a:custGeom>
              <a:avLst/>
              <a:gdLst>
                <a:gd name="T0" fmla="*/ 733 w 1919"/>
                <a:gd name="T1" fmla="*/ 44 h 2150"/>
                <a:gd name="T2" fmla="*/ 463 w 1919"/>
                <a:gd name="T3" fmla="*/ 161 h 2150"/>
                <a:gd name="T4" fmla="*/ 244 w 1919"/>
                <a:gd name="T5" fmla="*/ 352 h 2150"/>
                <a:gd name="T6" fmla="*/ 92 w 1919"/>
                <a:gd name="T7" fmla="*/ 605 h 2150"/>
                <a:gd name="T8" fmla="*/ 24 w 1919"/>
                <a:gd name="T9" fmla="*/ 902 h 2150"/>
                <a:gd name="T10" fmla="*/ 46 w 1919"/>
                <a:gd name="T11" fmla="*/ 1206 h 2150"/>
                <a:gd name="T12" fmla="*/ 155 w 1919"/>
                <a:gd name="T13" fmla="*/ 1479 h 2150"/>
                <a:gd name="T14" fmla="*/ 311 w 1919"/>
                <a:gd name="T15" fmla="*/ 1682 h 2150"/>
                <a:gd name="T16" fmla="*/ 361 w 1919"/>
                <a:gd name="T17" fmla="*/ 1807 h 2150"/>
                <a:gd name="T18" fmla="*/ 381 w 1919"/>
                <a:gd name="T19" fmla="*/ 1934 h 2150"/>
                <a:gd name="T20" fmla="*/ 400 w 1919"/>
                <a:gd name="T21" fmla="*/ 2033 h 2150"/>
                <a:gd name="T22" fmla="*/ 447 w 1919"/>
                <a:gd name="T23" fmla="*/ 2105 h 2150"/>
                <a:gd name="T24" fmla="*/ 514 w 1919"/>
                <a:gd name="T25" fmla="*/ 2083 h 2150"/>
                <a:gd name="T26" fmla="*/ 847 w 1919"/>
                <a:gd name="T27" fmla="*/ 1433 h 2150"/>
                <a:gd name="T28" fmla="*/ 1132 w 1919"/>
                <a:gd name="T29" fmla="*/ 2083 h 2150"/>
                <a:gd name="T30" fmla="*/ 1455 w 1919"/>
                <a:gd name="T31" fmla="*/ 2112 h 2150"/>
                <a:gd name="T32" fmla="*/ 1514 w 1919"/>
                <a:gd name="T33" fmla="*/ 2051 h 2150"/>
                <a:gd name="T34" fmla="*/ 1539 w 1919"/>
                <a:gd name="T35" fmla="*/ 1957 h 2150"/>
                <a:gd name="T36" fmla="*/ 1555 w 1919"/>
                <a:gd name="T37" fmla="*/ 1837 h 2150"/>
                <a:gd name="T38" fmla="*/ 1594 w 1919"/>
                <a:gd name="T39" fmla="*/ 1708 h 2150"/>
                <a:gd name="T40" fmla="*/ 1727 w 1919"/>
                <a:gd name="T41" fmla="*/ 1537 h 2150"/>
                <a:gd name="T42" fmla="*/ 1858 w 1919"/>
                <a:gd name="T43" fmla="*/ 1274 h 2150"/>
                <a:gd name="T44" fmla="*/ 1902 w 1919"/>
                <a:gd name="T45" fmla="*/ 982 h 2150"/>
                <a:gd name="T46" fmla="*/ 1854 w 1919"/>
                <a:gd name="T47" fmla="*/ 676 h 2150"/>
                <a:gd name="T48" fmla="*/ 1721 w 1919"/>
                <a:gd name="T49" fmla="*/ 411 h 2150"/>
                <a:gd name="T50" fmla="*/ 1517 w 1919"/>
                <a:gd name="T51" fmla="*/ 202 h 2150"/>
                <a:gd name="T52" fmla="*/ 1258 w 1919"/>
                <a:gd name="T53" fmla="*/ 65 h 2150"/>
                <a:gd name="T54" fmla="*/ 959 w 1919"/>
                <a:gd name="T55" fmla="*/ 16 h 2150"/>
                <a:gd name="T56" fmla="*/ 1190 w 1919"/>
                <a:gd name="T57" fmla="*/ 29 h 2150"/>
                <a:gd name="T58" fmla="*/ 1465 w 1919"/>
                <a:gd name="T59" fmla="*/ 147 h 2150"/>
                <a:gd name="T60" fmla="*/ 1687 w 1919"/>
                <a:gd name="T61" fmla="*/ 343 h 2150"/>
                <a:gd name="T62" fmla="*/ 1843 w 1919"/>
                <a:gd name="T63" fmla="*/ 599 h 2150"/>
                <a:gd name="T64" fmla="*/ 1915 w 1919"/>
                <a:gd name="T65" fmla="*/ 901 h 2150"/>
                <a:gd name="T66" fmla="*/ 1893 w 1919"/>
                <a:gd name="T67" fmla="*/ 1209 h 2150"/>
                <a:gd name="T68" fmla="*/ 1783 w 1919"/>
                <a:gd name="T69" fmla="*/ 1488 h 2150"/>
                <a:gd name="T70" fmla="*/ 1624 w 1919"/>
                <a:gd name="T71" fmla="*/ 1693 h 2150"/>
                <a:gd name="T72" fmla="*/ 1577 w 1919"/>
                <a:gd name="T73" fmla="*/ 1812 h 2150"/>
                <a:gd name="T74" fmla="*/ 1558 w 1919"/>
                <a:gd name="T75" fmla="*/ 1940 h 2150"/>
                <a:gd name="T76" fmla="*/ 1536 w 1919"/>
                <a:gd name="T77" fmla="*/ 2045 h 2150"/>
                <a:gd name="T78" fmla="*/ 1482 w 1919"/>
                <a:gd name="T79" fmla="*/ 2122 h 2150"/>
                <a:gd name="T80" fmla="*/ 510 w 1919"/>
                <a:gd name="T81" fmla="*/ 2150 h 2150"/>
                <a:gd name="T82" fmla="*/ 418 w 1919"/>
                <a:gd name="T83" fmla="*/ 2105 h 2150"/>
                <a:gd name="T84" fmla="*/ 375 w 1919"/>
                <a:gd name="T85" fmla="*/ 2018 h 2150"/>
                <a:gd name="T86" fmla="*/ 358 w 1919"/>
                <a:gd name="T87" fmla="*/ 1911 h 2150"/>
                <a:gd name="T88" fmla="*/ 333 w 1919"/>
                <a:gd name="T89" fmla="*/ 1780 h 2150"/>
                <a:gd name="T90" fmla="*/ 274 w 1919"/>
                <a:gd name="T91" fmla="*/ 1668 h 2150"/>
                <a:gd name="T92" fmla="*/ 101 w 1919"/>
                <a:gd name="T93" fmla="*/ 1419 h 2150"/>
                <a:gd name="T94" fmla="*/ 12 w 1919"/>
                <a:gd name="T95" fmla="*/ 1135 h 2150"/>
                <a:gd name="T96" fmla="*/ 14 w 1919"/>
                <a:gd name="T97" fmla="*/ 822 h 2150"/>
                <a:gd name="T98" fmla="*/ 108 w 1919"/>
                <a:gd name="T99" fmla="*/ 531 h 2150"/>
                <a:gd name="T100" fmla="*/ 281 w 1919"/>
                <a:gd name="T101" fmla="*/ 288 h 2150"/>
                <a:gd name="T102" fmla="*/ 519 w 1919"/>
                <a:gd name="T103" fmla="*/ 109 h 2150"/>
                <a:gd name="T104" fmla="*/ 803 w 1919"/>
                <a:gd name="T105" fmla="*/ 14 h 2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919" h="2150">
                  <a:moveTo>
                    <a:pt x="959" y="16"/>
                  </a:moveTo>
                  <a:lnTo>
                    <a:pt x="882" y="19"/>
                  </a:lnTo>
                  <a:lnTo>
                    <a:pt x="807" y="29"/>
                  </a:lnTo>
                  <a:lnTo>
                    <a:pt x="733" y="44"/>
                  </a:lnTo>
                  <a:lnTo>
                    <a:pt x="661" y="65"/>
                  </a:lnTo>
                  <a:lnTo>
                    <a:pt x="592" y="92"/>
                  </a:lnTo>
                  <a:lnTo>
                    <a:pt x="526" y="124"/>
                  </a:lnTo>
                  <a:lnTo>
                    <a:pt x="463" y="161"/>
                  </a:lnTo>
                  <a:lnTo>
                    <a:pt x="403" y="202"/>
                  </a:lnTo>
                  <a:lnTo>
                    <a:pt x="345" y="248"/>
                  </a:lnTo>
                  <a:lnTo>
                    <a:pt x="293" y="299"/>
                  </a:lnTo>
                  <a:lnTo>
                    <a:pt x="244" y="352"/>
                  </a:lnTo>
                  <a:lnTo>
                    <a:pt x="199" y="411"/>
                  </a:lnTo>
                  <a:lnTo>
                    <a:pt x="158" y="472"/>
                  </a:lnTo>
                  <a:lnTo>
                    <a:pt x="123" y="537"/>
                  </a:lnTo>
                  <a:lnTo>
                    <a:pt x="92" y="605"/>
                  </a:lnTo>
                  <a:lnTo>
                    <a:pt x="67" y="676"/>
                  </a:lnTo>
                  <a:lnTo>
                    <a:pt x="47" y="750"/>
                  </a:lnTo>
                  <a:lnTo>
                    <a:pt x="32" y="824"/>
                  </a:lnTo>
                  <a:lnTo>
                    <a:pt x="24" y="902"/>
                  </a:lnTo>
                  <a:lnTo>
                    <a:pt x="20" y="982"/>
                  </a:lnTo>
                  <a:lnTo>
                    <a:pt x="24" y="1058"/>
                  </a:lnTo>
                  <a:lnTo>
                    <a:pt x="32" y="1132"/>
                  </a:lnTo>
                  <a:lnTo>
                    <a:pt x="46" y="1206"/>
                  </a:lnTo>
                  <a:lnTo>
                    <a:pt x="66" y="1278"/>
                  </a:lnTo>
                  <a:lnTo>
                    <a:pt x="90" y="1347"/>
                  </a:lnTo>
                  <a:lnTo>
                    <a:pt x="121" y="1414"/>
                  </a:lnTo>
                  <a:lnTo>
                    <a:pt x="155" y="1479"/>
                  </a:lnTo>
                  <a:lnTo>
                    <a:pt x="195" y="1542"/>
                  </a:lnTo>
                  <a:lnTo>
                    <a:pt x="240" y="1600"/>
                  </a:lnTo>
                  <a:lnTo>
                    <a:pt x="289" y="1656"/>
                  </a:lnTo>
                  <a:lnTo>
                    <a:pt x="311" y="1682"/>
                  </a:lnTo>
                  <a:lnTo>
                    <a:pt x="329" y="1711"/>
                  </a:lnTo>
                  <a:lnTo>
                    <a:pt x="342" y="1742"/>
                  </a:lnTo>
                  <a:lnTo>
                    <a:pt x="353" y="1774"/>
                  </a:lnTo>
                  <a:lnTo>
                    <a:pt x="361" y="1807"/>
                  </a:lnTo>
                  <a:lnTo>
                    <a:pt x="368" y="1841"/>
                  </a:lnTo>
                  <a:lnTo>
                    <a:pt x="373" y="1874"/>
                  </a:lnTo>
                  <a:lnTo>
                    <a:pt x="378" y="1907"/>
                  </a:lnTo>
                  <a:lnTo>
                    <a:pt x="381" y="1934"/>
                  </a:lnTo>
                  <a:lnTo>
                    <a:pt x="384" y="1962"/>
                  </a:lnTo>
                  <a:lnTo>
                    <a:pt x="389" y="1987"/>
                  </a:lnTo>
                  <a:lnTo>
                    <a:pt x="393" y="2011"/>
                  </a:lnTo>
                  <a:lnTo>
                    <a:pt x="400" y="2033"/>
                  </a:lnTo>
                  <a:lnTo>
                    <a:pt x="409" y="2054"/>
                  </a:lnTo>
                  <a:lnTo>
                    <a:pt x="418" y="2074"/>
                  </a:lnTo>
                  <a:lnTo>
                    <a:pt x="432" y="2090"/>
                  </a:lnTo>
                  <a:lnTo>
                    <a:pt x="447" y="2105"/>
                  </a:lnTo>
                  <a:lnTo>
                    <a:pt x="466" y="2116"/>
                  </a:lnTo>
                  <a:lnTo>
                    <a:pt x="488" y="2125"/>
                  </a:lnTo>
                  <a:lnTo>
                    <a:pt x="514" y="2130"/>
                  </a:lnTo>
                  <a:lnTo>
                    <a:pt x="514" y="2083"/>
                  </a:lnTo>
                  <a:lnTo>
                    <a:pt x="787" y="2083"/>
                  </a:lnTo>
                  <a:lnTo>
                    <a:pt x="811" y="1671"/>
                  </a:lnTo>
                  <a:lnTo>
                    <a:pt x="847" y="1671"/>
                  </a:lnTo>
                  <a:lnTo>
                    <a:pt x="847" y="1433"/>
                  </a:lnTo>
                  <a:lnTo>
                    <a:pt x="1072" y="1433"/>
                  </a:lnTo>
                  <a:lnTo>
                    <a:pt x="1072" y="1671"/>
                  </a:lnTo>
                  <a:lnTo>
                    <a:pt x="1108" y="1671"/>
                  </a:lnTo>
                  <a:lnTo>
                    <a:pt x="1132" y="2083"/>
                  </a:lnTo>
                  <a:lnTo>
                    <a:pt x="1405" y="2083"/>
                  </a:lnTo>
                  <a:lnTo>
                    <a:pt x="1405" y="2127"/>
                  </a:lnTo>
                  <a:lnTo>
                    <a:pt x="1432" y="2121"/>
                  </a:lnTo>
                  <a:lnTo>
                    <a:pt x="1455" y="2112"/>
                  </a:lnTo>
                  <a:lnTo>
                    <a:pt x="1474" y="2100"/>
                  </a:lnTo>
                  <a:lnTo>
                    <a:pt x="1490" y="2086"/>
                  </a:lnTo>
                  <a:lnTo>
                    <a:pt x="1504" y="2070"/>
                  </a:lnTo>
                  <a:lnTo>
                    <a:pt x="1514" y="2051"/>
                  </a:lnTo>
                  <a:lnTo>
                    <a:pt x="1523" y="2030"/>
                  </a:lnTo>
                  <a:lnTo>
                    <a:pt x="1529" y="2007"/>
                  </a:lnTo>
                  <a:lnTo>
                    <a:pt x="1535" y="1983"/>
                  </a:lnTo>
                  <a:lnTo>
                    <a:pt x="1539" y="1957"/>
                  </a:lnTo>
                  <a:lnTo>
                    <a:pt x="1542" y="1931"/>
                  </a:lnTo>
                  <a:lnTo>
                    <a:pt x="1545" y="1903"/>
                  </a:lnTo>
                  <a:lnTo>
                    <a:pt x="1550" y="1870"/>
                  </a:lnTo>
                  <a:lnTo>
                    <a:pt x="1555" y="1837"/>
                  </a:lnTo>
                  <a:lnTo>
                    <a:pt x="1561" y="1804"/>
                  </a:lnTo>
                  <a:lnTo>
                    <a:pt x="1570" y="1771"/>
                  </a:lnTo>
                  <a:lnTo>
                    <a:pt x="1580" y="1738"/>
                  </a:lnTo>
                  <a:lnTo>
                    <a:pt x="1594" y="1708"/>
                  </a:lnTo>
                  <a:lnTo>
                    <a:pt x="1612" y="1679"/>
                  </a:lnTo>
                  <a:lnTo>
                    <a:pt x="1633" y="1652"/>
                  </a:lnTo>
                  <a:lnTo>
                    <a:pt x="1683" y="1597"/>
                  </a:lnTo>
                  <a:lnTo>
                    <a:pt x="1727" y="1537"/>
                  </a:lnTo>
                  <a:lnTo>
                    <a:pt x="1767" y="1476"/>
                  </a:lnTo>
                  <a:lnTo>
                    <a:pt x="1802" y="1411"/>
                  </a:lnTo>
                  <a:lnTo>
                    <a:pt x="1832" y="1344"/>
                  </a:lnTo>
                  <a:lnTo>
                    <a:pt x="1858" y="1274"/>
                  </a:lnTo>
                  <a:lnTo>
                    <a:pt x="1877" y="1203"/>
                  </a:lnTo>
                  <a:lnTo>
                    <a:pt x="1891" y="1130"/>
                  </a:lnTo>
                  <a:lnTo>
                    <a:pt x="1900" y="1056"/>
                  </a:lnTo>
                  <a:lnTo>
                    <a:pt x="1902" y="982"/>
                  </a:lnTo>
                  <a:lnTo>
                    <a:pt x="1899" y="902"/>
                  </a:lnTo>
                  <a:lnTo>
                    <a:pt x="1890" y="824"/>
                  </a:lnTo>
                  <a:lnTo>
                    <a:pt x="1874" y="750"/>
                  </a:lnTo>
                  <a:lnTo>
                    <a:pt x="1854" y="676"/>
                  </a:lnTo>
                  <a:lnTo>
                    <a:pt x="1828" y="605"/>
                  </a:lnTo>
                  <a:lnTo>
                    <a:pt x="1797" y="537"/>
                  </a:lnTo>
                  <a:lnTo>
                    <a:pt x="1762" y="472"/>
                  </a:lnTo>
                  <a:lnTo>
                    <a:pt x="1721" y="411"/>
                  </a:lnTo>
                  <a:lnTo>
                    <a:pt x="1675" y="352"/>
                  </a:lnTo>
                  <a:lnTo>
                    <a:pt x="1627" y="299"/>
                  </a:lnTo>
                  <a:lnTo>
                    <a:pt x="1573" y="248"/>
                  </a:lnTo>
                  <a:lnTo>
                    <a:pt x="1517" y="202"/>
                  </a:lnTo>
                  <a:lnTo>
                    <a:pt x="1456" y="161"/>
                  </a:lnTo>
                  <a:lnTo>
                    <a:pt x="1393" y="124"/>
                  </a:lnTo>
                  <a:lnTo>
                    <a:pt x="1327" y="92"/>
                  </a:lnTo>
                  <a:lnTo>
                    <a:pt x="1258" y="65"/>
                  </a:lnTo>
                  <a:lnTo>
                    <a:pt x="1186" y="44"/>
                  </a:lnTo>
                  <a:lnTo>
                    <a:pt x="1112" y="29"/>
                  </a:lnTo>
                  <a:lnTo>
                    <a:pt x="1037" y="19"/>
                  </a:lnTo>
                  <a:lnTo>
                    <a:pt x="959" y="16"/>
                  </a:lnTo>
                  <a:close/>
                  <a:moveTo>
                    <a:pt x="959" y="0"/>
                  </a:moveTo>
                  <a:lnTo>
                    <a:pt x="1038" y="4"/>
                  </a:lnTo>
                  <a:lnTo>
                    <a:pt x="1115" y="14"/>
                  </a:lnTo>
                  <a:lnTo>
                    <a:pt x="1190" y="29"/>
                  </a:lnTo>
                  <a:lnTo>
                    <a:pt x="1263" y="50"/>
                  </a:lnTo>
                  <a:lnTo>
                    <a:pt x="1332" y="77"/>
                  </a:lnTo>
                  <a:lnTo>
                    <a:pt x="1400" y="109"/>
                  </a:lnTo>
                  <a:lnTo>
                    <a:pt x="1465" y="147"/>
                  </a:lnTo>
                  <a:lnTo>
                    <a:pt x="1526" y="190"/>
                  </a:lnTo>
                  <a:lnTo>
                    <a:pt x="1583" y="236"/>
                  </a:lnTo>
                  <a:lnTo>
                    <a:pt x="1638" y="288"/>
                  </a:lnTo>
                  <a:lnTo>
                    <a:pt x="1687" y="343"/>
                  </a:lnTo>
                  <a:lnTo>
                    <a:pt x="1733" y="402"/>
                  </a:lnTo>
                  <a:lnTo>
                    <a:pt x="1775" y="465"/>
                  </a:lnTo>
                  <a:lnTo>
                    <a:pt x="1811" y="531"/>
                  </a:lnTo>
                  <a:lnTo>
                    <a:pt x="1843" y="599"/>
                  </a:lnTo>
                  <a:lnTo>
                    <a:pt x="1870" y="671"/>
                  </a:lnTo>
                  <a:lnTo>
                    <a:pt x="1891" y="745"/>
                  </a:lnTo>
                  <a:lnTo>
                    <a:pt x="1905" y="822"/>
                  </a:lnTo>
                  <a:lnTo>
                    <a:pt x="1915" y="901"/>
                  </a:lnTo>
                  <a:lnTo>
                    <a:pt x="1919" y="982"/>
                  </a:lnTo>
                  <a:lnTo>
                    <a:pt x="1915" y="1059"/>
                  </a:lnTo>
                  <a:lnTo>
                    <a:pt x="1906" y="1135"/>
                  </a:lnTo>
                  <a:lnTo>
                    <a:pt x="1893" y="1209"/>
                  </a:lnTo>
                  <a:lnTo>
                    <a:pt x="1873" y="1282"/>
                  </a:lnTo>
                  <a:lnTo>
                    <a:pt x="1848" y="1353"/>
                  </a:lnTo>
                  <a:lnTo>
                    <a:pt x="1818" y="1422"/>
                  </a:lnTo>
                  <a:lnTo>
                    <a:pt x="1783" y="1488"/>
                  </a:lnTo>
                  <a:lnTo>
                    <a:pt x="1742" y="1550"/>
                  </a:lnTo>
                  <a:lnTo>
                    <a:pt x="1696" y="1611"/>
                  </a:lnTo>
                  <a:lnTo>
                    <a:pt x="1645" y="1668"/>
                  </a:lnTo>
                  <a:lnTo>
                    <a:pt x="1624" y="1693"/>
                  </a:lnTo>
                  <a:lnTo>
                    <a:pt x="1607" y="1721"/>
                  </a:lnTo>
                  <a:lnTo>
                    <a:pt x="1593" y="1749"/>
                  </a:lnTo>
                  <a:lnTo>
                    <a:pt x="1583" y="1780"/>
                  </a:lnTo>
                  <a:lnTo>
                    <a:pt x="1577" y="1812"/>
                  </a:lnTo>
                  <a:lnTo>
                    <a:pt x="1570" y="1845"/>
                  </a:lnTo>
                  <a:lnTo>
                    <a:pt x="1566" y="1878"/>
                  </a:lnTo>
                  <a:lnTo>
                    <a:pt x="1561" y="1911"/>
                  </a:lnTo>
                  <a:lnTo>
                    <a:pt x="1558" y="1940"/>
                  </a:lnTo>
                  <a:lnTo>
                    <a:pt x="1555" y="1968"/>
                  </a:lnTo>
                  <a:lnTo>
                    <a:pt x="1550" y="1995"/>
                  </a:lnTo>
                  <a:lnTo>
                    <a:pt x="1544" y="2021"/>
                  </a:lnTo>
                  <a:lnTo>
                    <a:pt x="1536" y="2045"/>
                  </a:lnTo>
                  <a:lnTo>
                    <a:pt x="1527" y="2068"/>
                  </a:lnTo>
                  <a:lnTo>
                    <a:pt x="1515" y="2088"/>
                  </a:lnTo>
                  <a:lnTo>
                    <a:pt x="1499" y="2107"/>
                  </a:lnTo>
                  <a:lnTo>
                    <a:pt x="1482" y="2122"/>
                  </a:lnTo>
                  <a:lnTo>
                    <a:pt x="1461" y="2136"/>
                  </a:lnTo>
                  <a:lnTo>
                    <a:pt x="1434" y="2144"/>
                  </a:lnTo>
                  <a:lnTo>
                    <a:pt x="1405" y="2150"/>
                  </a:lnTo>
                  <a:lnTo>
                    <a:pt x="510" y="2150"/>
                  </a:lnTo>
                  <a:lnTo>
                    <a:pt x="482" y="2143"/>
                  </a:lnTo>
                  <a:lnTo>
                    <a:pt x="456" y="2133"/>
                  </a:lnTo>
                  <a:lnTo>
                    <a:pt x="435" y="2120"/>
                  </a:lnTo>
                  <a:lnTo>
                    <a:pt x="418" y="2105"/>
                  </a:lnTo>
                  <a:lnTo>
                    <a:pt x="403" y="2086"/>
                  </a:lnTo>
                  <a:lnTo>
                    <a:pt x="392" y="2065"/>
                  </a:lnTo>
                  <a:lnTo>
                    <a:pt x="382" y="2042"/>
                  </a:lnTo>
                  <a:lnTo>
                    <a:pt x="375" y="2018"/>
                  </a:lnTo>
                  <a:lnTo>
                    <a:pt x="369" y="1993"/>
                  </a:lnTo>
                  <a:lnTo>
                    <a:pt x="364" y="1966"/>
                  </a:lnTo>
                  <a:lnTo>
                    <a:pt x="361" y="1939"/>
                  </a:lnTo>
                  <a:lnTo>
                    <a:pt x="358" y="1911"/>
                  </a:lnTo>
                  <a:lnTo>
                    <a:pt x="353" y="1878"/>
                  </a:lnTo>
                  <a:lnTo>
                    <a:pt x="348" y="1845"/>
                  </a:lnTo>
                  <a:lnTo>
                    <a:pt x="342" y="1812"/>
                  </a:lnTo>
                  <a:lnTo>
                    <a:pt x="333" y="1780"/>
                  </a:lnTo>
                  <a:lnTo>
                    <a:pt x="323" y="1749"/>
                  </a:lnTo>
                  <a:lnTo>
                    <a:pt x="310" y="1721"/>
                  </a:lnTo>
                  <a:lnTo>
                    <a:pt x="293" y="1693"/>
                  </a:lnTo>
                  <a:lnTo>
                    <a:pt x="274" y="1668"/>
                  </a:lnTo>
                  <a:lnTo>
                    <a:pt x="223" y="1610"/>
                  </a:lnTo>
                  <a:lnTo>
                    <a:pt x="177" y="1549"/>
                  </a:lnTo>
                  <a:lnTo>
                    <a:pt x="136" y="1485"/>
                  </a:lnTo>
                  <a:lnTo>
                    <a:pt x="101" y="1419"/>
                  </a:lnTo>
                  <a:lnTo>
                    <a:pt x="71" y="1351"/>
                  </a:lnTo>
                  <a:lnTo>
                    <a:pt x="46" y="1281"/>
                  </a:lnTo>
                  <a:lnTo>
                    <a:pt x="26" y="1208"/>
                  </a:lnTo>
                  <a:lnTo>
                    <a:pt x="12" y="1135"/>
                  </a:lnTo>
                  <a:lnTo>
                    <a:pt x="4" y="1059"/>
                  </a:lnTo>
                  <a:lnTo>
                    <a:pt x="0" y="982"/>
                  </a:lnTo>
                  <a:lnTo>
                    <a:pt x="4" y="901"/>
                  </a:lnTo>
                  <a:lnTo>
                    <a:pt x="14" y="822"/>
                  </a:lnTo>
                  <a:lnTo>
                    <a:pt x="28" y="745"/>
                  </a:lnTo>
                  <a:lnTo>
                    <a:pt x="49" y="671"/>
                  </a:lnTo>
                  <a:lnTo>
                    <a:pt x="76" y="599"/>
                  </a:lnTo>
                  <a:lnTo>
                    <a:pt x="108" y="531"/>
                  </a:lnTo>
                  <a:lnTo>
                    <a:pt x="144" y="465"/>
                  </a:lnTo>
                  <a:lnTo>
                    <a:pt x="186" y="402"/>
                  </a:lnTo>
                  <a:lnTo>
                    <a:pt x="232" y="343"/>
                  </a:lnTo>
                  <a:lnTo>
                    <a:pt x="281" y="288"/>
                  </a:lnTo>
                  <a:lnTo>
                    <a:pt x="335" y="236"/>
                  </a:lnTo>
                  <a:lnTo>
                    <a:pt x="393" y="190"/>
                  </a:lnTo>
                  <a:lnTo>
                    <a:pt x="454" y="147"/>
                  </a:lnTo>
                  <a:lnTo>
                    <a:pt x="519" y="109"/>
                  </a:lnTo>
                  <a:lnTo>
                    <a:pt x="587" y="77"/>
                  </a:lnTo>
                  <a:lnTo>
                    <a:pt x="656" y="50"/>
                  </a:lnTo>
                  <a:lnTo>
                    <a:pt x="729" y="29"/>
                  </a:lnTo>
                  <a:lnTo>
                    <a:pt x="803" y="14"/>
                  </a:lnTo>
                  <a:lnTo>
                    <a:pt x="881" y="4"/>
                  </a:lnTo>
                  <a:lnTo>
                    <a:pt x="959" y="0"/>
                  </a:lnTo>
                  <a:close/>
                </a:path>
              </a:pathLst>
            </a:custGeom>
            <a:grpFill/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Light"/>
              </a:endParaRPr>
            </a:p>
          </p:txBody>
        </p:sp>
        <p:sp>
          <p:nvSpPr>
            <p:cNvPr id="239" name="Freeform 313">
              <a:extLst>
                <a:ext uri="{FF2B5EF4-FFF2-40B4-BE49-F238E27FC236}">
                  <a16:creationId xmlns:a16="http://schemas.microsoft.com/office/drawing/2014/main" id="{78850C6E-74C3-0F8A-B460-AF0C75E80A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4" y="2179"/>
              <a:ext cx="296" cy="209"/>
            </a:xfrm>
            <a:custGeom>
              <a:avLst/>
              <a:gdLst>
                <a:gd name="T0" fmla="*/ 672 w 1477"/>
                <a:gd name="T1" fmla="*/ 35 h 1045"/>
                <a:gd name="T2" fmla="*/ 560 w 1477"/>
                <a:gd name="T3" fmla="*/ 128 h 1045"/>
                <a:gd name="T4" fmla="*/ 505 w 1477"/>
                <a:gd name="T5" fmla="*/ 161 h 1045"/>
                <a:gd name="T6" fmla="*/ 369 w 1477"/>
                <a:gd name="T7" fmla="*/ 168 h 1045"/>
                <a:gd name="T8" fmla="*/ 239 w 1477"/>
                <a:gd name="T9" fmla="*/ 258 h 1045"/>
                <a:gd name="T10" fmla="*/ 189 w 1477"/>
                <a:gd name="T11" fmla="*/ 403 h 1045"/>
                <a:gd name="T12" fmla="*/ 205 w 1477"/>
                <a:gd name="T13" fmla="*/ 487 h 1045"/>
                <a:gd name="T14" fmla="*/ 95 w 1477"/>
                <a:gd name="T15" fmla="*/ 555 h 1045"/>
                <a:gd name="T16" fmla="*/ 23 w 1477"/>
                <a:gd name="T17" fmla="*/ 691 h 1045"/>
                <a:gd name="T18" fmla="*/ 45 w 1477"/>
                <a:gd name="T19" fmla="*/ 839 h 1045"/>
                <a:gd name="T20" fmla="*/ 144 w 1477"/>
                <a:gd name="T21" fmla="*/ 948 h 1045"/>
                <a:gd name="T22" fmla="*/ 293 w 1477"/>
                <a:gd name="T23" fmla="*/ 990 h 1045"/>
                <a:gd name="T24" fmla="*/ 432 w 1477"/>
                <a:gd name="T25" fmla="*/ 954 h 1045"/>
                <a:gd name="T26" fmla="*/ 506 w 1477"/>
                <a:gd name="T27" fmla="*/ 959 h 1045"/>
                <a:gd name="T28" fmla="*/ 687 w 1477"/>
                <a:gd name="T29" fmla="*/ 1019 h 1045"/>
                <a:gd name="T30" fmla="*/ 872 w 1477"/>
                <a:gd name="T31" fmla="*/ 1002 h 1045"/>
                <a:gd name="T32" fmla="*/ 1016 w 1477"/>
                <a:gd name="T33" fmla="*/ 926 h 1045"/>
                <a:gd name="T34" fmla="*/ 1094 w 1477"/>
                <a:gd name="T35" fmla="*/ 966 h 1045"/>
                <a:gd name="T36" fmla="*/ 1246 w 1477"/>
                <a:gd name="T37" fmla="*/ 987 h 1045"/>
                <a:gd name="T38" fmla="*/ 1389 w 1477"/>
                <a:gd name="T39" fmla="*/ 918 h 1045"/>
                <a:gd name="T40" fmla="*/ 1464 w 1477"/>
                <a:gd name="T41" fmla="*/ 786 h 1045"/>
                <a:gd name="T42" fmla="*/ 1444 w 1477"/>
                <a:gd name="T43" fmla="*/ 638 h 1045"/>
                <a:gd name="T44" fmla="*/ 1340 w 1477"/>
                <a:gd name="T45" fmla="*/ 531 h 1045"/>
                <a:gd name="T46" fmla="*/ 1351 w 1477"/>
                <a:gd name="T47" fmla="*/ 468 h 1045"/>
                <a:gd name="T48" fmla="*/ 1322 w 1477"/>
                <a:gd name="T49" fmla="*/ 330 h 1045"/>
                <a:gd name="T50" fmla="*/ 1208 w 1477"/>
                <a:gd name="T51" fmla="*/ 223 h 1045"/>
                <a:gd name="T52" fmla="*/ 1075 w 1477"/>
                <a:gd name="T53" fmla="*/ 196 h 1045"/>
                <a:gd name="T54" fmla="*/ 1036 w 1477"/>
                <a:gd name="T55" fmla="*/ 192 h 1045"/>
                <a:gd name="T56" fmla="*/ 955 w 1477"/>
                <a:gd name="T57" fmla="*/ 73 h 1045"/>
                <a:gd name="T58" fmla="*/ 821 w 1477"/>
                <a:gd name="T59" fmla="*/ 14 h 1045"/>
                <a:gd name="T60" fmla="*/ 856 w 1477"/>
                <a:gd name="T61" fmla="*/ 11 h 1045"/>
                <a:gd name="T62" fmla="*/ 986 w 1477"/>
                <a:gd name="T63" fmla="*/ 88 h 1045"/>
                <a:gd name="T64" fmla="*/ 1061 w 1477"/>
                <a:gd name="T65" fmla="*/ 181 h 1045"/>
                <a:gd name="T66" fmla="*/ 1198 w 1477"/>
                <a:gd name="T67" fmla="*/ 204 h 1045"/>
                <a:gd name="T68" fmla="*/ 1316 w 1477"/>
                <a:gd name="T69" fmla="*/ 299 h 1045"/>
                <a:gd name="T70" fmla="*/ 1360 w 1477"/>
                <a:gd name="T71" fmla="*/ 443 h 1045"/>
                <a:gd name="T72" fmla="*/ 1404 w 1477"/>
                <a:gd name="T73" fmla="*/ 558 h 1045"/>
                <a:gd name="T74" fmla="*/ 1470 w 1477"/>
                <a:gd name="T75" fmla="*/ 678 h 1045"/>
                <a:gd name="T76" fmla="*/ 1465 w 1477"/>
                <a:gd name="T77" fmla="*/ 826 h 1045"/>
                <a:gd name="T78" fmla="*/ 1379 w 1477"/>
                <a:gd name="T79" fmla="*/ 948 h 1045"/>
                <a:gd name="T80" fmla="*/ 1237 w 1477"/>
                <a:gd name="T81" fmla="*/ 1011 h 1045"/>
                <a:gd name="T82" fmla="*/ 1082 w 1477"/>
                <a:gd name="T83" fmla="*/ 989 h 1045"/>
                <a:gd name="T84" fmla="*/ 948 w 1477"/>
                <a:gd name="T85" fmla="*/ 995 h 1045"/>
                <a:gd name="T86" fmla="*/ 780 w 1477"/>
                <a:gd name="T87" fmla="*/ 1043 h 1045"/>
                <a:gd name="T88" fmla="*/ 586 w 1477"/>
                <a:gd name="T89" fmla="*/ 1022 h 1045"/>
                <a:gd name="T90" fmla="*/ 432 w 1477"/>
                <a:gd name="T91" fmla="*/ 977 h 1045"/>
                <a:gd name="T92" fmla="*/ 289 w 1477"/>
                <a:gd name="T93" fmla="*/ 1013 h 1045"/>
                <a:gd name="T94" fmla="*/ 132 w 1477"/>
                <a:gd name="T95" fmla="*/ 969 h 1045"/>
                <a:gd name="T96" fmla="*/ 27 w 1477"/>
                <a:gd name="T97" fmla="*/ 854 h 1045"/>
                <a:gd name="T98" fmla="*/ 2 w 1477"/>
                <a:gd name="T99" fmla="*/ 702 h 1045"/>
                <a:gd name="T100" fmla="*/ 61 w 1477"/>
                <a:gd name="T101" fmla="*/ 569 h 1045"/>
                <a:gd name="T102" fmla="*/ 180 w 1477"/>
                <a:gd name="T103" fmla="*/ 483 h 1045"/>
                <a:gd name="T104" fmla="*/ 172 w 1477"/>
                <a:gd name="T105" fmla="*/ 369 h 1045"/>
                <a:gd name="T106" fmla="*/ 239 w 1477"/>
                <a:gd name="T107" fmla="*/ 236 h 1045"/>
                <a:gd name="T108" fmla="*/ 370 w 1477"/>
                <a:gd name="T109" fmla="*/ 155 h 1045"/>
                <a:gd name="T110" fmla="*/ 501 w 1477"/>
                <a:gd name="T111" fmla="*/ 146 h 1045"/>
                <a:gd name="T112" fmla="*/ 596 w 1477"/>
                <a:gd name="T113" fmla="*/ 64 h 1045"/>
                <a:gd name="T114" fmla="*/ 738 w 1477"/>
                <a:gd name="T115" fmla="*/ 3 h 1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477" h="1045">
                  <a:moveTo>
                    <a:pt x="782" y="12"/>
                  </a:moveTo>
                  <a:lnTo>
                    <a:pt x="744" y="14"/>
                  </a:lnTo>
                  <a:lnTo>
                    <a:pt x="707" y="22"/>
                  </a:lnTo>
                  <a:lnTo>
                    <a:pt x="672" y="35"/>
                  </a:lnTo>
                  <a:lnTo>
                    <a:pt x="638" y="52"/>
                  </a:lnTo>
                  <a:lnTo>
                    <a:pt x="609" y="73"/>
                  </a:lnTo>
                  <a:lnTo>
                    <a:pt x="582" y="98"/>
                  </a:lnTo>
                  <a:lnTo>
                    <a:pt x="560" y="128"/>
                  </a:lnTo>
                  <a:lnTo>
                    <a:pt x="542" y="160"/>
                  </a:lnTo>
                  <a:lnTo>
                    <a:pt x="538" y="168"/>
                  </a:lnTo>
                  <a:lnTo>
                    <a:pt x="530" y="168"/>
                  </a:lnTo>
                  <a:lnTo>
                    <a:pt x="505" y="161"/>
                  </a:lnTo>
                  <a:lnTo>
                    <a:pt x="479" y="157"/>
                  </a:lnTo>
                  <a:lnTo>
                    <a:pt x="454" y="156"/>
                  </a:lnTo>
                  <a:lnTo>
                    <a:pt x="411" y="160"/>
                  </a:lnTo>
                  <a:lnTo>
                    <a:pt x="369" y="168"/>
                  </a:lnTo>
                  <a:lnTo>
                    <a:pt x="331" y="184"/>
                  </a:lnTo>
                  <a:lnTo>
                    <a:pt x="297" y="204"/>
                  </a:lnTo>
                  <a:lnTo>
                    <a:pt x="266" y="229"/>
                  </a:lnTo>
                  <a:lnTo>
                    <a:pt x="239" y="258"/>
                  </a:lnTo>
                  <a:lnTo>
                    <a:pt x="218" y="291"/>
                  </a:lnTo>
                  <a:lnTo>
                    <a:pt x="203" y="326"/>
                  </a:lnTo>
                  <a:lnTo>
                    <a:pt x="193" y="363"/>
                  </a:lnTo>
                  <a:lnTo>
                    <a:pt x="189" y="403"/>
                  </a:lnTo>
                  <a:lnTo>
                    <a:pt x="190" y="428"/>
                  </a:lnTo>
                  <a:lnTo>
                    <a:pt x="194" y="454"/>
                  </a:lnTo>
                  <a:lnTo>
                    <a:pt x="200" y="479"/>
                  </a:lnTo>
                  <a:lnTo>
                    <a:pt x="205" y="487"/>
                  </a:lnTo>
                  <a:lnTo>
                    <a:pt x="197" y="491"/>
                  </a:lnTo>
                  <a:lnTo>
                    <a:pt x="159" y="507"/>
                  </a:lnTo>
                  <a:lnTo>
                    <a:pt x="125" y="528"/>
                  </a:lnTo>
                  <a:lnTo>
                    <a:pt x="95" y="555"/>
                  </a:lnTo>
                  <a:lnTo>
                    <a:pt x="70" y="584"/>
                  </a:lnTo>
                  <a:lnTo>
                    <a:pt x="49" y="617"/>
                  </a:lnTo>
                  <a:lnTo>
                    <a:pt x="33" y="652"/>
                  </a:lnTo>
                  <a:lnTo>
                    <a:pt x="23" y="691"/>
                  </a:lnTo>
                  <a:lnTo>
                    <a:pt x="20" y="731"/>
                  </a:lnTo>
                  <a:lnTo>
                    <a:pt x="23" y="769"/>
                  </a:lnTo>
                  <a:lnTo>
                    <a:pt x="32" y="805"/>
                  </a:lnTo>
                  <a:lnTo>
                    <a:pt x="45" y="839"/>
                  </a:lnTo>
                  <a:lnTo>
                    <a:pt x="64" y="871"/>
                  </a:lnTo>
                  <a:lnTo>
                    <a:pt x="86" y="901"/>
                  </a:lnTo>
                  <a:lnTo>
                    <a:pt x="113" y="926"/>
                  </a:lnTo>
                  <a:lnTo>
                    <a:pt x="144" y="948"/>
                  </a:lnTo>
                  <a:lnTo>
                    <a:pt x="177" y="966"/>
                  </a:lnTo>
                  <a:lnTo>
                    <a:pt x="214" y="979"/>
                  </a:lnTo>
                  <a:lnTo>
                    <a:pt x="252" y="987"/>
                  </a:lnTo>
                  <a:lnTo>
                    <a:pt x="293" y="990"/>
                  </a:lnTo>
                  <a:lnTo>
                    <a:pt x="329" y="987"/>
                  </a:lnTo>
                  <a:lnTo>
                    <a:pt x="364" y="980"/>
                  </a:lnTo>
                  <a:lnTo>
                    <a:pt x="398" y="969"/>
                  </a:lnTo>
                  <a:lnTo>
                    <a:pt x="432" y="954"/>
                  </a:lnTo>
                  <a:lnTo>
                    <a:pt x="461" y="934"/>
                  </a:lnTo>
                  <a:lnTo>
                    <a:pt x="466" y="930"/>
                  </a:lnTo>
                  <a:lnTo>
                    <a:pt x="469" y="934"/>
                  </a:lnTo>
                  <a:lnTo>
                    <a:pt x="506" y="959"/>
                  </a:lnTo>
                  <a:lnTo>
                    <a:pt x="547" y="981"/>
                  </a:lnTo>
                  <a:lnTo>
                    <a:pt x="591" y="999"/>
                  </a:lnTo>
                  <a:lnTo>
                    <a:pt x="637" y="1011"/>
                  </a:lnTo>
                  <a:lnTo>
                    <a:pt x="687" y="1019"/>
                  </a:lnTo>
                  <a:lnTo>
                    <a:pt x="738" y="1022"/>
                  </a:lnTo>
                  <a:lnTo>
                    <a:pt x="784" y="1020"/>
                  </a:lnTo>
                  <a:lnTo>
                    <a:pt x="829" y="1013"/>
                  </a:lnTo>
                  <a:lnTo>
                    <a:pt x="872" y="1002"/>
                  </a:lnTo>
                  <a:lnTo>
                    <a:pt x="912" y="989"/>
                  </a:lnTo>
                  <a:lnTo>
                    <a:pt x="949" y="971"/>
                  </a:lnTo>
                  <a:lnTo>
                    <a:pt x="984" y="949"/>
                  </a:lnTo>
                  <a:lnTo>
                    <a:pt x="1016" y="926"/>
                  </a:lnTo>
                  <a:lnTo>
                    <a:pt x="1023" y="922"/>
                  </a:lnTo>
                  <a:lnTo>
                    <a:pt x="1031" y="926"/>
                  </a:lnTo>
                  <a:lnTo>
                    <a:pt x="1061" y="947"/>
                  </a:lnTo>
                  <a:lnTo>
                    <a:pt x="1094" y="966"/>
                  </a:lnTo>
                  <a:lnTo>
                    <a:pt x="1130" y="979"/>
                  </a:lnTo>
                  <a:lnTo>
                    <a:pt x="1166" y="987"/>
                  </a:lnTo>
                  <a:lnTo>
                    <a:pt x="1204" y="990"/>
                  </a:lnTo>
                  <a:lnTo>
                    <a:pt x="1246" y="987"/>
                  </a:lnTo>
                  <a:lnTo>
                    <a:pt x="1287" y="977"/>
                  </a:lnTo>
                  <a:lnTo>
                    <a:pt x="1324" y="962"/>
                  </a:lnTo>
                  <a:lnTo>
                    <a:pt x="1359" y="942"/>
                  </a:lnTo>
                  <a:lnTo>
                    <a:pt x="1389" y="918"/>
                  </a:lnTo>
                  <a:lnTo>
                    <a:pt x="1415" y="889"/>
                  </a:lnTo>
                  <a:lnTo>
                    <a:pt x="1437" y="857"/>
                  </a:lnTo>
                  <a:lnTo>
                    <a:pt x="1454" y="822"/>
                  </a:lnTo>
                  <a:lnTo>
                    <a:pt x="1464" y="786"/>
                  </a:lnTo>
                  <a:lnTo>
                    <a:pt x="1468" y="746"/>
                  </a:lnTo>
                  <a:lnTo>
                    <a:pt x="1466" y="709"/>
                  </a:lnTo>
                  <a:lnTo>
                    <a:pt x="1457" y="673"/>
                  </a:lnTo>
                  <a:lnTo>
                    <a:pt x="1444" y="638"/>
                  </a:lnTo>
                  <a:lnTo>
                    <a:pt x="1424" y="606"/>
                  </a:lnTo>
                  <a:lnTo>
                    <a:pt x="1401" y="578"/>
                  </a:lnTo>
                  <a:lnTo>
                    <a:pt x="1373" y="552"/>
                  </a:lnTo>
                  <a:lnTo>
                    <a:pt x="1340" y="531"/>
                  </a:lnTo>
                  <a:lnTo>
                    <a:pt x="1337" y="527"/>
                  </a:lnTo>
                  <a:lnTo>
                    <a:pt x="1340" y="519"/>
                  </a:lnTo>
                  <a:lnTo>
                    <a:pt x="1346" y="494"/>
                  </a:lnTo>
                  <a:lnTo>
                    <a:pt x="1351" y="468"/>
                  </a:lnTo>
                  <a:lnTo>
                    <a:pt x="1352" y="443"/>
                  </a:lnTo>
                  <a:lnTo>
                    <a:pt x="1349" y="403"/>
                  </a:lnTo>
                  <a:lnTo>
                    <a:pt x="1339" y="365"/>
                  </a:lnTo>
                  <a:lnTo>
                    <a:pt x="1322" y="330"/>
                  </a:lnTo>
                  <a:lnTo>
                    <a:pt x="1301" y="297"/>
                  </a:lnTo>
                  <a:lnTo>
                    <a:pt x="1273" y="269"/>
                  </a:lnTo>
                  <a:lnTo>
                    <a:pt x="1244" y="244"/>
                  </a:lnTo>
                  <a:lnTo>
                    <a:pt x="1208" y="223"/>
                  </a:lnTo>
                  <a:lnTo>
                    <a:pt x="1171" y="208"/>
                  </a:lnTo>
                  <a:lnTo>
                    <a:pt x="1130" y="199"/>
                  </a:lnTo>
                  <a:lnTo>
                    <a:pt x="1088" y="196"/>
                  </a:lnTo>
                  <a:lnTo>
                    <a:pt x="1075" y="196"/>
                  </a:lnTo>
                  <a:lnTo>
                    <a:pt x="1062" y="197"/>
                  </a:lnTo>
                  <a:lnTo>
                    <a:pt x="1048" y="200"/>
                  </a:lnTo>
                  <a:lnTo>
                    <a:pt x="1039" y="200"/>
                  </a:lnTo>
                  <a:lnTo>
                    <a:pt x="1036" y="192"/>
                  </a:lnTo>
                  <a:lnTo>
                    <a:pt x="1022" y="157"/>
                  </a:lnTo>
                  <a:lnTo>
                    <a:pt x="1004" y="126"/>
                  </a:lnTo>
                  <a:lnTo>
                    <a:pt x="981" y="97"/>
                  </a:lnTo>
                  <a:lnTo>
                    <a:pt x="955" y="73"/>
                  </a:lnTo>
                  <a:lnTo>
                    <a:pt x="925" y="52"/>
                  </a:lnTo>
                  <a:lnTo>
                    <a:pt x="893" y="35"/>
                  </a:lnTo>
                  <a:lnTo>
                    <a:pt x="858" y="22"/>
                  </a:lnTo>
                  <a:lnTo>
                    <a:pt x="821" y="14"/>
                  </a:lnTo>
                  <a:lnTo>
                    <a:pt x="782" y="12"/>
                  </a:lnTo>
                  <a:close/>
                  <a:moveTo>
                    <a:pt x="779" y="0"/>
                  </a:moveTo>
                  <a:lnTo>
                    <a:pt x="818" y="3"/>
                  </a:lnTo>
                  <a:lnTo>
                    <a:pt x="856" y="11"/>
                  </a:lnTo>
                  <a:lnTo>
                    <a:pt x="893" y="24"/>
                  </a:lnTo>
                  <a:lnTo>
                    <a:pt x="926" y="42"/>
                  </a:lnTo>
                  <a:lnTo>
                    <a:pt x="958" y="63"/>
                  </a:lnTo>
                  <a:lnTo>
                    <a:pt x="986" y="88"/>
                  </a:lnTo>
                  <a:lnTo>
                    <a:pt x="1009" y="117"/>
                  </a:lnTo>
                  <a:lnTo>
                    <a:pt x="1029" y="150"/>
                  </a:lnTo>
                  <a:lnTo>
                    <a:pt x="1043" y="184"/>
                  </a:lnTo>
                  <a:lnTo>
                    <a:pt x="1061" y="181"/>
                  </a:lnTo>
                  <a:lnTo>
                    <a:pt x="1080" y="179"/>
                  </a:lnTo>
                  <a:lnTo>
                    <a:pt x="1121" y="183"/>
                  </a:lnTo>
                  <a:lnTo>
                    <a:pt x="1161" y="190"/>
                  </a:lnTo>
                  <a:lnTo>
                    <a:pt x="1198" y="204"/>
                  </a:lnTo>
                  <a:lnTo>
                    <a:pt x="1233" y="221"/>
                  </a:lnTo>
                  <a:lnTo>
                    <a:pt x="1265" y="243"/>
                  </a:lnTo>
                  <a:lnTo>
                    <a:pt x="1292" y="270"/>
                  </a:lnTo>
                  <a:lnTo>
                    <a:pt x="1316" y="299"/>
                  </a:lnTo>
                  <a:lnTo>
                    <a:pt x="1334" y="331"/>
                  </a:lnTo>
                  <a:lnTo>
                    <a:pt x="1349" y="366"/>
                  </a:lnTo>
                  <a:lnTo>
                    <a:pt x="1358" y="404"/>
                  </a:lnTo>
                  <a:lnTo>
                    <a:pt x="1360" y="443"/>
                  </a:lnTo>
                  <a:lnTo>
                    <a:pt x="1358" y="479"/>
                  </a:lnTo>
                  <a:lnTo>
                    <a:pt x="1349" y="515"/>
                  </a:lnTo>
                  <a:lnTo>
                    <a:pt x="1379" y="535"/>
                  </a:lnTo>
                  <a:lnTo>
                    <a:pt x="1404" y="558"/>
                  </a:lnTo>
                  <a:lnTo>
                    <a:pt x="1427" y="584"/>
                  </a:lnTo>
                  <a:lnTo>
                    <a:pt x="1446" y="613"/>
                  </a:lnTo>
                  <a:lnTo>
                    <a:pt x="1460" y="645"/>
                  </a:lnTo>
                  <a:lnTo>
                    <a:pt x="1470" y="678"/>
                  </a:lnTo>
                  <a:lnTo>
                    <a:pt x="1476" y="714"/>
                  </a:lnTo>
                  <a:lnTo>
                    <a:pt x="1477" y="750"/>
                  </a:lnTo>
                  <a:lnTo>
                    <a:pt x="1474" y="789"/>
                  </a:lnTo>
                  <a:lnTo>
                    <a:pt x="1465" y="826"/>
                  </a:lnTo>
                  <a:lnTo>
                    <a:pt x="1450" y="860"/>
                  </a:lnTo>
                  <a:lnTo>
                    <a:pt x="1431" y="893"/>
                  </a:lnTo>
                  <a:lnTo>
                    <a:pt x="1407" y="922"/>
                  </a:lnTo>
                  <a:lnTo>
                    <a:pt x="1379" y="948"/>
                  </a:lnTo>
                  <a:lnTo>
                    <a:pt x="1348" y="970"/>
                  </a:lnTo>
                  <a:lnTo>
                    <a:pt x="1313" y="989"/>
                  </a:lnTo>
                  <a:lnTo>
                    <a:pt x="1276" y="1002"/>
                  </a:lnTo>
                  <a:lnTo>
                    <a:pt x="1237" y="1011"/>
                  </a:lnTo>
                  <a:lnTo>
                    <a:pt x="1196" y="1013"/>
                  </a:lnTo>
                  <a:lnTo>
                    <a:pt x="1156" y="1011"/>
                  </a:lnTo>
                  <a:lnTo>
                    <a:pt x="1117" y="1002"/>
                  </a:lnTo>
                  <a:lnTo>
                    <a:pt x="1082" y="989"/>
                  </a:lnTo>
                  <a:lnTo>
                    <a:pt x="1048" y="971"/>
                  </a:lnTo>
                  <a:lnTo>
                    <a:pt x="1016" y="949"/>
                  </a:lnTo>
                  <a:lnTo>
                    <a:pt x="984" y="974"/>
                  </a:lnTo>
                  <a:lnTo>
                    <a:pt x="948" y="995"/>
                  </a:lnTo>
                  <a:lnTo>
                    <a:pt x="911" y="1012"/>
                  </a:lnTo>
                  <a:lnTo>
                    <a:pt x="869" y="1026"/>
                  </a:lnTo>
                  <a:lnTo>
                    <a:pt x="825" y="1037"/>
                  </a:lnTo>
                  <a:lnTo>
                    <a:pt x="780" y="1043"/>
                  </a:lnTo>
                  <a:lnTo>
                    <a:pt x="735" y="1045"/>
                  </a:lnTo>
                  <a:lnTo>
                    <a:pt x="683" y="1043"/>
                  </a:lnTo>
                  <a:lnTo>
                    <a:pt x="633" y="1035"/>
                  </a:lnTo>
                  <a:lnTo>
                    <a:pt x="586" y="1022"/>
                  </a:lnTo>
                  <a:lnTo>
                    <a:pt x="541" y="1006"/>
                  </a:lnTo>
                  <a:lnTo>
                    <a:pt x="500" y="984"/>
                  </a:lnTo>
                  <a:lnTo>
                    <a:pt x="461" y="958"/>
                  </a:lnTo>
                  <a:lnTo>
                    <a:pt x="432" y="977"/>
                  </a:lnTo>
                  <a:lnTo>
                    <a:pt x="398" y="993"/>
                  </a:lnTo>
                  <a:lnTo>
                    <a:pt x="364" y="1004"/>
                  </a:lnTo>
                  <a:lnTo>
                    <a:pt x="328" y="1011"/>
                  </a:lnTo>
                  <a:lnTo>
                    <a:pt x="289" y="1013"/>
                  </a:lnTo>
                  <a:lnTo>
                    <a:pt x="246" y="1011"/>
                  </a:lnTo>
                  <a:lnTo>
                    <a:pt x="205" y="1002"/>
                  </a:lnTo>
                  <a:lnTo>
                    <a:pt x="167" y="988"/>
                  </a:lnTo>
                  <a:lnTo>
                    <a:pt x="132" y="969"/>
                  </a:lnTo>
                  <a:lnTo>
                    <a:pt x="100" y="946"/>
                  </a:lnTo>
                  <a:lnTo>
                    <a:pt x="71" y="919"/>
                  </a:lnTo>
                  <a:lnTo>
                    <a:pt x="47" y="888"/>
                  </a:lnTo>
                  <a:lnTo>
                    <a:pt x="27" y="854"/>
                  </a:lnTo>
                  <a:lnTo>
                    <a:pt x="12" y="817"/>
                  </a:lnTo>
                  <a:lnTo>
                    <a:pt x="3" y="779"/>
                  </a:lnTo>
                  <a:lnTo>
                    <a:pt x="0" y="738"/>
                  </a:lnTo>
                  <a:lnTo>
                    <a:pt x="2" y="702"/>
                  </a:lnTo>
                  <a:lnTo>
                    <a:pt x="10" y="666"/>
                  </a:lnTo>
                  <a:lnTo>
                    <a:pt x="23" y="632"/>
                  </a:lnTo>
                  <a:lnTo>
                    <a:pt x="40" y="599"/>
                  </a:lnTo>
                  <a:lnTo>
                    <a:pt x="61" y="569"/>
                  </a:lnTo>
                  <a:lnTo>
                    <a:pt x="85" y="542"/>
                  </a:lnTo>
                  <a:lnTo>
                    <a:pt x="114" y="518"/>
                  </a:lnTo>
                  <a:lnTo>
                    <a:pt x="146" y="498"/>
                  </a:lnTo>
                  <a:lnTo>
                    <a:pt x="180" y="483"/>
                  </a:lnTo>
                  <a:lnTo>
                    <a:pt x="174" y="458"/>
                  </a:lnTo>
                  <a:lnTo>
                    <a:pt x="170" y="432"/>
                  </a:lnTo>
                  <a:lnTo>
                    <a:pt x="168" y="407"/>
                  </a:lnTo>
                  <a:lnTo>
                    <a:pt x="172" y="369"/>
                  </a:lnTo>
                  <a:lnTo>
                    <a:pt x="180" y="332"/>
                  </a:lnTo>
                  <a:lnTo>
                    <a:pt x="195" y="297"/>
                  </a:lnTo>
                  <a:lnTo>
                    <a:pt x="215" y="265"/>
                  </a:lnTo>
                  <a:lnTo>
                    <a:pt x="239" y="236"/>
                  </a:lnTo>
                  <a:lnTo>
                    <a:pt x="267" y="209"/>
                  </a:lnTo>
                  <a:lnTo>
                    <a:pt x="298" y="187"/>
                  </a:lnTo>
                  <a:lnTo>
                    <a:pt x="332" y="168"/>
                  </a:lnTo>
                  <a:lnTo>
                    <a:pt x="370" y="155"/>
                  </a:lnTo>
                  <a:lnTo>
                    <a:pt x="408" y="146"/>
                  </a:lnTo>
                  <a:lnTo>
                    <a:pt x="449" y="144"/>
                  </a:lnTo>
                  <a:lnTo>
                    <a:pt x="477" y="144"/>
                  </a:lnTo>
                  <a:lnTo>
                    <a:pt x="501" y="146"/>
                  </a:lnTo>
                  <a:lnTo>
                    <a:pt x="526" y="152"/>
                  </a:lnTo>
                  <a:lnTo>
                    <a:pt x="544" y="119"/>
                  </a:lnTo>
                  <a:lnTo>
                    <a:pt x="569" y="89"/>
                  </a:lnTo>
                  <a:lnTo>
                    <a:pt x="596" y="64"/>
                  </a:lnTo>
                  <a:lnTo>
                    <a:pt x="628" y="42"/>
                  </a:lnTo>
                  <a:lnTo>
                    <a:pt x="663" y="24"/>
                  </a:lnTo>
                  <a:lnTo>
                    <a:pt x="699" y="11"/>
                  </a:lnTo>
                  <a:lnTo>
                    <a:pt x="738" y="3"/>
                  </a:lnTo>
                  <a:lnTo>
                    <a:pt x="779" y="0"/>
                  </a:lnTo>
                  <a:close/>
                </a:path>
              </a:pathLst>
            </a:custGeom>
            <a:grpFill/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Light"/>
              </a:endParaRPr>
            </a:p>
          </p:txBody>
        </p:sp>
        <p:sp>
          <p:nvSpPr>
            <p:cNvPr id="240" name="Freeform 314">
              <a:extLst>
                <a:ext uri="{FF2B5EF4-FFF2-40B4-BE49-F238E27FC236}">
                  <a16:creationId xmlns:a16="http://schemas.microsoft.com/office/drawing/2014/main" id="{1B1EBDBB-CF34-C5C2-F1CF-CA38FF3672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3" y="2233"/>
              <a:ext cx="49" cy="33"/>
            </a:xfrm>
            <a:custGeom>
              <a:avLst/>
              <a:gdLst>
                <a:gd name="T0" fmla="*/ 205 w 243"/>
                <a:gd name="T1" fmla="*/ 0 h 161"/>
                <a:gd name="T2" fmla="*/ 213 w 243"/>
                <a:gd name="T3" fmla="*/ 1 h 161"/>
                <a:gd name="T4" fmla="*/ 223 w 243"/>
                <a:gd name="T5" fmla="*/ 7 h 161"/>
                <a:gd name="T6" fmla="*/ 226 w 243"/>
                <a:gd name="T7" fmla="*/ 13 h 161"/>
                <a:gd name="T8" fmla="*/ 225 w 243"/>
                <a:gd name="T9" fmla="*/ 22 h 161"/>
                <a:gd name="T10" fmla="*/ 217 w 243"/>
                <a:gd name="T11" fmla="*/ 41 h 161"/>
                <a:gd name="T12" fmla="*/ 208 w 243"/>
                <a:gd name="T13" fmla="*/ 58 h 161"/>
                <a:gd name="T14" fmla="*/ 196 w 243"/>
                <a:gd name="T15" fmla="*/ 75 h 161"/>
                <a:gd name="T16" fmla="*/ 185 w 243"/>
                <a:gd name="T17" fmla="*/ 89 h 161"/>
                <a:gd name="T18" fmla="*/ 197 w 243"/>
                <a:gd name="T19" fmla="*/ 95 h 161"/>
                <a:gd name="T20" fmla="*/ 209 w 243"/>
                <a:gd name="T21" fmla="*/ 103 h 161"/>
                <a:gd name="T22" fmla="*/ 222 w 243"/>
                <a:gd name="T23" fmla="*/ 113 h 161"/>
                <a:gd name="T24" fmla="*/ 233 w 243"/>
                <a:gd name="T25" fmla="*/ 125 h 161"/>
                <a:gd name="T26" fmla="*/ 240 w 243"/>
                <a:gd name="T27" fmla="*/ 141 h 161"/>
                <a:gd name="T28" fmla="*/ 243 w 243"/>
                <a:gd name="T29" fmla="*/ 149 h 161"/>
                <a:gd name="T30" fmla="*/ 239 w 243"/>
                <a:gd name="T31" fmla="*/ 156 h 161"/>
                <a:gd name="T32" fmla="*/ 233 w 243"/>
                <a:gd name="T33" fmla="*/ 161 h 161"/>
                <a:gd name="T34" fmla="*/ 225 w 243"/>
                <a:gd name="T35" fmla="*/ 161 h 161"/>
                <a:gd name="T36" fmla="*/ 220 w 243"/>
                <a:gd name="T37" fmla="*/ 161 h 161"/>
                <a:gd name="T38" fmla="*/ 217 w 243"/>
                <a:gd name="T39" fmla="*/ 160 h 161"/>
                <a:gd name="T40" fmla="*/ 214 w 243"/>
                <a:gd name="T41" fmla="*/ 157 h 161"/>
                <a:gd name="T42" fmla="*/ 212 w 243"/>
                <a:gd name="T43" fmla="*/ 155 h 161"/>
                <a:gd name="T44" fmla="*/ 208 w 243"/>
                <a:gd name="T45" fmla="*/ 153 h 161"/>
                <a:gd name="T46" fmla="*/ 199 w 243"/>
                <a:gd name="T47" fmla="*/ 140 h 161"/>
                <a:gd name="T48" fmla="*/ 188 w 243"/>
                <a:gd name="T49" fmla="*/ 130 h 161"/>
                <a:gd name="T50" fmla="*/ 176 w 243"/>
                <a:gd name="T51" fmla="*/ 122 h 161"/>
                <a:gd name="T52" fmla="*/ 165 w 243"/>
                <a:gd name="T53" fmla="*/ 117 h 161"/>
                <a:gd name="T54" fmla="*/ 156 w 243"/>
                <a:gd name="T55" fmla="*/ 113 h 161"/>
                <a:gd name="T56" fmla="*/ 133 w 243"/>
                <a:gd name="T57" fmla="*/ 129 h 161"/>
                <a:gd name="T58" fmla="*/ 109 w 243"/>
                <a:gd name="T59" fmla="*/ 141 h 161"/>
                <a:gd name="T60" fmla="*/ 85 w 243"/>
                <a:gd name="T61" fmla="*/ 150 h 161"/>
                <a:gd name="T62" fmla="*/ 63 w 243"/>
                <a:gd name="T63" fmla="*/ 155 h 161"/>
                <a:gd name="T64" fmla="*/ 45 w 243"/>
                <a:gd name="T65" fmla="*/ 158 h 161"/>
                <a:gd name="T66" fmla="*/ 30 w 243"/>
                <a:gd name="T67" fmla="*/ 161 h 161"/>
                <a:gd name="T68" fmla="*/ 20 w 243"/>
                <a:gd name="T69" fmla="*/ 161 h 161"/>
                <a:gd name="T70" fmla="*/ 16 w 243"/>
                <a:gd name="T71" fmla="*/ 161 h 161"/>
                <a:gd name="T72" fmla="*/ 12 w 243"/>
                <a:gd name="T73" fmla="*/ 161 h 161"/>
                <a:gd name="T74" fmla="*/ 8 w 243"/>
                <a:gd name="T75" fmla="*/ 160 h 161"/>
                <a:gd name="T76" fmla="*/ 5 w 243"/>
                <a:gd name="T77" fmla="*/ 158 h 161"/>
                <a:gd name="T78" fmla="*/ 3 w 243"/>
                <a:gd name="T79" fmla="*/ 156 h 161"/>
                <a:gd name="T80" fmla="*/ 0 w 243"/>
                <a:gd name="T81" fmla="*/ 153 h 161"/>
                <a:gd name="T82" fmla="*/ 0 w 243"/>
                <a:gd name="T83" fmla="*/ 150 h 161"/>
                <a:gd name="T84" fmla="*/ 1 w 243"/>
                <a:gd name="T85" fmla="*/ 144 h 161"/>
                <a:gd name="T86" fmla="*/ 4 w 243"/>
                <a:gd name="T87" fmla="*/ 140 h 161"/>
                <a:gd name="T88" fmla="*/ 7 w 243"/>
                <a:gd name="T89" fmla="*/ 136 h 161"/>
                <a:gd name="T90" fmla="*/ 11 w 243"/>
                <a:gd name="T91" fmla="*/ 134 h 161"/>
                <a:gd name="T92" fmla="*/ 16 w 243"/>
                <a:gd name="T93" fmla="*/ 133 h 161"/>
                <a:gd name="T94" fmla="*/ 19 w 243"/>
                <a:gd name="T95" fmla="*/ 133 h 161"/>
                <a:gd name="T96" fmla="*/ 27 w 243"/>
                <a:gd name="T97" fmla="*/ 133 h 161"/>
                <a:gd name="T98" fmla="*/ 37 w 243"/>
                <a:gd name="T99" fmla="*/ 132 h 161"/>
                <a:gd name="T100" fmla="*/ 50 w 243"/>
                <a:gd name="T101" fmla="*/ 130 h 161"/>
                <a:gd name="T102" fmla="*/ 66 w 243"/>
                <a:gd name="T103" fmla="*/ 127 h 161"/>
                <a:gd name="T104" fmla="*/ 82 w 243"/>
                <a:gd name="T105" fmla="*/ 121 h 161"/>
                <a:gd name="T106" fmla="*/ 100 w 243"/>
                <a:gd name="T107" fmla="*/ 114 h 161"/>
                <a:gd name="T108" fmla="*/ 118 w 243"/>
                <a:gd name="T109" fmla="*/ 106 h 161"/>
                <a:gd name="T110" fmla="*/ 136 w 243"/>
                <a:gd name="T111" fmla="*/ 94 h 161"/>
                <a:gd name="T112" fmla="*/ 153 w 243"/>
                <a:gd name="T113" fmla="*/ 79 h 161"/>
                <a:gd name="T114" fmla="*/ 168 w 243"/>
                <a:gd name="T115" fmla="*/ 61 h 161"/>
                <a:gd name="T116" fmla="*/ 182 w 243"/>
                <a:gd name="T117" fmla="*/ 40 h 161"/>
                <a:gd name="T118" fmla="*/ 193 w 243"/>
                <a:gd name="T119" fmla="*/ 13 h 161"/>
                <a:gd name="T120" fmla="*/ 198 w 243"/>
                <a:gd name="T121" fmla="*/ 4 h 161"/>
                <a:gd name="T122" fmla="*/ 205 w 243"/>
                <a:gd name="T123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43" h="161">
                  <a:moveTo>
                    <a:pt x="205" y="0"/>
                  </a:moveTo>
                  <a:lnTo>
                    <a:pt x="213" y="1"/>
                  </a:lnTo>
                  <a:lnTo>
                    <a:pt x="223" y="7"/>
                  </a:lnTo>
                  <a:lnTo>
                    <a:pt x="226" y="13"/>
                  </a:lnTo>
                  <a:lnTo>
                    <a:pt x="225" y="22"/>
                  </a:lnTo>
                  <a:lnTo>
                    <a:pt x="217" y="41"/>
                  </a:lnTo>
                  <a:lnTo>
                    <a:pt x="208" y="58"/>
                  </a:lnTo>
                  <a:lnTo>
                    <a:pt x="196" y="75"/>
                  </a:lnTo>
                  <a:lnTo>
                    <a:pt x="185" y="89"/>
                  </a:lnTo>
                  <a:lnTo>
                    <a:pt x="197" y="95"/>
                  </a:lnTo>
                  <a:lnTo>
                    <a:pt x="209" y="103"/>
                  </a:lnTo>
                  <a:lnTo>
                    <a:pt x="222" y="113"/>
                  </a:lnTo>
                  <a:lnTo>
                    <a:pt x="233" y="125"/>
                  </a:lnTo>
                  <a:lnTo>
                    <a:pt x="240" y="141"/>
                  </a:lnTo>
                  <a:lnTo>
                    <a:pt x="243" y="149"/>
                  </a:lnTo>
                  <a:lnTo>
                    <a:pt x="239" y="156"/>
                  </a:lnTo>
                  <a:lnTo>
                    <a:pt x="233" y="161"/>
                  </a:lnTo>
                  <a:lnTo>
                    <a:pt x="225" y="161"/>
                  </a:lnTo>
                  <a:lnTo>
                    <a:pt x="220" y="161"/>
                  </a:lnTo>
                  <a:lnTo>
                    <a:pt x="217" y="160"/>
                  </a:lnTo>
                  <a:lnTo>
                    <a:pt x="214" y="157"/>
                  </a:lnTo>
                  <a:lnTo>
                    <a:pt x="212" y="155"/>
                  </a:lnTo>
                  <a:lnTo>
                    <a:pt x="208" y="153"/>
                  </a:lnTo>
                  <a:lnTo>
                    <a:pt x="199" y="140"/>
                  </a:lnTo>
                  <a:lnTo>
                    <a:pt x="188" y="130"/>
                  </a:lnTo>
                  <a:lnTo>
                    <a:pt x="176" y="122"/>
                  </a:lnTo>
                  <a:lnTo>
                    <a:pt x="165" y="117"/>
                  </a:lnTo>
                  <a:lnTo>
                    <a:pt x="156" y="113"/>
                  </a:lnTo>
                  <a:lnTo>
                    <a:pt x="133" y="129"/>
                  </a:lnTo>
                  <a:lnTo>
                    <a:pt x="109" y="141"/>
                  </a:lnTo>
                  <a:lnTo>
                    <a:pt x="85" y="150"/>
                  </a:lnTo>
                  <a:lnTo>
                    <a:pt x="63" y="155"/>
                  </a:lnTo>
                  <a:lnTo>
                    <a:pt x="45" y="158"/>
                  </a:lnTo>
                  <a:lnTo>
                    <a:pt x="30" y="161"/>
                  </a:lnTo>
                  <a:lnTo>
                    <a:pt x="20" y="161"/>
                  </a:lnTo>
                  <a:lnTo>
                    <a:pt x="16" y="161"/>
                  </a:lnTo>
                  <a:lnTo>
                    <a:pt x="12" y="161"/>
                  </a:lnTo>
                  <a:lnTo>
                    <a:pt x="8" y="160"/>
                  </a:lnTo>
                  <a:lnTo>
                    <a:pt x="5" y="158"/>
                  </a:lnTo>
                  <a:lnTo>
                    <a:pt x="3" y="156"/>
                  </a:lnTo>
                  <a:lnTo>
                    <a:pt x="0" y="153"/>
                  </a:lnTo>
                  <a:lnTo>
                    <a:pt x="0" y="150"/>
                  </a:lnTo>
                  <a:lnTo>
                    <a:pt x="1" y="144"/>
                  </a:lnTo>
                  <a:lnTo>
                    <a:pt x="4" y="140"/>
                  </a:lnTo>
                  <a:lnTo>
                    <a:pt x="7" y="136"/>
                  </a:lnTo>
                  <a:lnTo>
                    <a:pt x="11" y="134"/>
                  </a:lnTo>
                  <a:lnTo>
                    <a:pt x="16" y="133"/>
                  </a:lnTo>
                  <a:lnTo>
                    <a:pt x="19" y="133"/>
                  </a:lnTo>
                  <a:lnTo>
                    <a:pt x="27" y="133"/>
                  </a:lnTo>
                  <a:lnTo>
                    <a:pt x="37" y="132"/>
                  </a:lnTo>
                  <a:lnTo>
                    <a:pt x="50" y="130"/>
                  </a:lnTo>
                  <a:lnTo>
                    <a:pt x="66" y="127"/>
                  </a:lnTo>
                  <a:lnTo>
                    <a:pt x="82" y="121"/>
                  </a:lnTo>
                  <a:lnTo>
                    <a:pt x="100" y="114"/>
                  </a:lnTo>
                  <a:lnTo>
                    <a:pt x="118" y="106"/>
                  </a:lnTo>
                  <a:lnTo>
                    <a:pt x="136" y="94"/>
                  </a:lnTo>
                  <a:lnTo>
                    <a:pt x="153" y="79"/>
                  </a:lnTo>
                  <a:lnTo>
                    <a:pt x="168" y="61"/>
                  </a:lnTo>
                  <a:lnTo>
                    <a:pt x="182" y="40"/>
                  </a:lnTo>
                  <a:lnTo>
                    <a:pt x="193" y="13"/>
                  </a:lnTo>
                  <a:lnTo>
                    <a:pt x="198" y="4"/>
                  </a:lnTo>
                  <a:lnTo>
                    <a:pt x="205" y="0"/>
                  </a:lnTo>
                  <a:close/>
                </a:path>
              </a:pathLst>
            </a:custGeom>
            <a:grpFill/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Light"/>
              </a:endParaRPr>
            </a:p>
          </p:txBody>
        </p:sp>
        <p:sp>
          <p:nvSpPr>
            <p:cNvPr id="241" name="Freeform 315">
              <a:extLst>
                <a:ext uri="{FF2B5EF4-FFF2-40B4-BE49-F238E27FC236}">
                  <a16:creationId xmlns:a16="http://schemas.microsoft.com/office/drawing/2014/main" id="{31D3A393-4398-2AF4-C527-EC071D0D1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3" y="2325"/>
              <a:ext cx="61" cy="35"/>
            </a:xfrm>
            <a:custGeom>
              <a:avLst/>
              <a:gdLst>
                <a:gd name="T0" fmla="*/ 23 w 304"/>
                <a:gd name="T1" fmla="*/ 1 h 171"/>
                <a:gd name="T2" fmla="*/ 54 w 304"/>
                <a:gd name="T3" fmla="*/ 3 h 171"/>
                <a:gd name="T4" fmla="*/ 99 w 304"/>
                <a:gd name="T5" fmla="*/ 10 h 171"/>
                <a:gd name="T6" fmla="*/ 145 w 304"/>
                <a:gd name="T7" fmla="*/ 23 h 171"/>
                <a:gd name="T8" fmla="*/ 184 w 304"/>
                <a:gd name="T9" fmla="*/ 44 h 171"/>
                <a:gd name="T10" fmla="*/ 209 w 304"/>
                <a:gd name="T11" fmla="*/ 23 h 171"/>
                <a:gd name="T12" fmla="*/ 243 w 304"/>
                <a:gd name="T13" fmla="*/ 5 h 171"/>
                <a:gd name="T14" fmla="*/ 284 w 304"/>
                <a:gd name="T15" fmla="*/ 0 h 171"/>
                <a:gd name="T16" fmla="*/ 298 w 304"/>
                <a:gd name="T17" fmla="*/ 10 h 171"/>
                <a:gd name="T18" fmla="*/ 300 w 304"/>
                <a:gd name="T19" fmla="*/ 27 h 171"/>
                <a:gd name="T20" fmla="*/ 284 w 304"/>
                <a:gd name="T21" fmla="*/ 32 h 171"/>
                <a:gd name="T22" fmla="*/ 249 w 304"/>
                <a:gd name="T23" fmla="*/ 38 h 171"/>
                <a:gd name="T24" fmla="*/ 220 w 304"/>
                <a:gd name="T25" fmla="*/ 56 h 171"/>
                <a:gd name="T26" fmla="*/ 205 w 304"/>
                <a:gd name="T27" fmla="*/ 72 h 171"/>
                <a:gd name="T28" fmla="*/ 199 w 304"/>
                <a:gd name="T29" fmla="*/ 101 h 171"/>
                <a:gd name="T30" fmla="*/ 188 w 304"/>
                <a:gd name="T31" fmla="*/ 130 h 171"/>
                <a:gd name="T32" fmla="*/ 169 w 304"/>
                <a:gd name="T33" fmla="*/ 155 h 171"/>
                <a:gd name="T34" fmla="*/ 142 w 304"/>
                <a:gd name="T35" fmla="*/ 169 h 171"/>
                <a:gd name="T36" fmla="*/ 120 w 304"/>
                <a:gd name="T37" fmla="*/ 171 h 171"/>
                <a:gd name="T38" fmla="*/ 111 w 304"/>
                <a:gd name="T39" fmla="*/ 168 h 171"/>
                <a:gd name="T40" fmla="*/ 105 w 304"/>
                <a:gd name="T41" fmla="*/ 160 h 171"/>
                <a:gd name="T42" fmla="*/ 105 w 304"/>
                <a:gd name="T43" fmla="*/ 152 h 171"/>
                <a:gd name="T44" fmla="*/ 111 w 304"/>
                <a:gd name="T45" fmla="*/ 143 h 171"/>
                <a:gd name="T46" fmla="*/ 120 w 304"/>
                <a:gd name="T47" fmla="*/ 140 h 171"/>
                <a:gd name="T48" fmla="*/ 143 w 304"/>
                <a:gd name="T49" fmla="*/ 130 h 171"/>
                <a:gd name="T50" fmla="*/ 157 w 304"/>
                <a:gd name="T51" fmla="*/ 105 h 171"/>
                <a:gd name="T52" fmla="*/ 166 w 304"/>
                <a:gd name="T53" fmla="*/ 81 h 171"/>
                <a:gd name="T54" fmla="*/ 155 w 304"/>
                <a:gd name="T55" fmla="*/ 61 h 171"/>
                <a:gd name="T56" fmla="*/ 113 w 304"/>
                <a:gd name="T57" fmla="*/ 45 h 171"/>
                <a:gd name="T58" fmla="*/ 63 w 304"/>
                <a:gd name="T59" fmla="*/ 35 h 171"/>
                <a:gd name="T60" fmla="*/ 16 w 304"/>
                <a:gd name="T61" fmla="*/ 32 h 171"/>
                <a:gd name="T62" fmla="*/ 7 w 304"/>
                <a:gd name="T63" fmla="*/ 28 h 171"/>
                <a:gd name="T64" fmla="*/ 0 w 304"/>
                <a:gd name="T65" fmla="*/ 21 h 171"/>
                <a:gd name="T66" fmla="*/ 0 w 304"/>
                <a:gd name="T67" fmla="*/ 12 h 171"/>
                <a:gd name="T68" fmla="*/ 7 w 304"/>
                <a:gd name="T69" fmla="*/ 3 h 171"/>
                <a:gd name="T70" fmla="*/ 16 w 304"/>
                <a:gd name="T71" fmla="*/ 0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4" h="171">
                  <a:moveTo>
                    <a:pt x="16" y="0"/>
                  </a:moveTo>
                  <a:lnTo>
                    <a:pt x="23" y="1"/>
                  </a:lnTo>
                  <a:lnTo>
                    <a:pt x="37" y="1"/>
                  </a:lnTo>
                  <a:lnTo>
                    <a:pt x="54" y="3"/>
                  </a:lnTo>
                  <a:lnTo>
                    <a:pt x="75" y="5"/>
                  </a:lnTo>
                  <a:lnTo>
                    <a:pt x="99" y="10"/>
                  </a:lnTo>
                  <a:lnTo>
                    <a:pt x="122" y="15"/>
                  </a:lnTo>
                  <a:lnTo>
                    <a:pt x="145" y="23"/>
                  </a:lnTo>
                  <a:lnTo>
                    <a:pt x="166" y="32"/>
                  </a:lnTo>
                  <a:lnTo>
                    <a:pt x="184" y="44"/>
                  </a:lnTo>
                  <a:lnTo>
                    <a:pt x="196" y="34"/>
                  </a:lnTo>
                  <a:lnTo>
                    <a:pt x="209" y="23"/>
                  </a:lnTo>
                  <a:lnTo>
                    <a:pt x="226" y="13"/>
                  </a:lnTo>
                  <a:lnTo>
                    <a:pt x="243" y="5"/>
                  </a:lnTo>
                  <a:lnTo>
                    <a:pt x="263" y="1"/>
                  </a:lnTo>
                  <a:lnTo>
                    <a:pt x="284" y="0"/>
                  </a:lnTo>
                  <a:lnTo>
                    <a:pt x="291" y="3"/>
                  </a:lnTo>
                  <a:lnTo>
                    <a:pt x="298" y="10"/>
                  </a:lnTo>
                  <a:lnTo>
                    <a:pt x="304" y="21"/>
                  </a:lnTo>
                  <a:lnTo>
                    <a:pt x="300" y="27"/>
                  </a:lnTo>
                  <a:lnTo>
                    <a:pt x="292" y="31"/>
                  </a:lnTo>
                  <a:lnTo>
                    <a:pt x="284" y="32"/>
                  </a:lnTo>
                  <a:lnTo>
                    <a:pt x="267" y="33"/>
                  </a:lnTo>
                  <a:lnTo>
                    <a:pt x="249" y="38"/>
                  </a:lnTo>
                  <a:lnTo>
                    <a:pt x="233" y="46"/>
                  </a:lnTo>
                  <a:lnTo>
                    <a:pt x="220" y="56"/>
                  </a:lnTo>
                  <a:lnTo>
                    <a:pt x="210" y="65"/>
                  </a:lnTo>
                  <a:lnTo>
                    <a:pt x="205" y="72"/>
                  </a:lnTo>
                  <a:lnTo>
                    <a:pt x="203" y="86"/>
                  </a:lnTo>
                  <a:lnTo>
                    <a:pt x="199" y="101"/>
                  </a:lnTo>
                  <a:lnTo>
                    <a:pt x="194" y="115"/>
                  </a:lnTo>
                  <a:lnTo>
                    <a:pt x="188" y="130"/>
                  </a:lnTo>
                  <a:lnTo>
                    <a:pt x="179" y="144"/>
                  </a:lnTo>
                  <a:lnTo>
                    <a:pt x="169" y="155"/>
                  </a:lnTo>
                  <a:lnTo>
                    <a:pt x="156" y="164"/>
                  </a:lnTo>
                  <a:lnTo>
                    <a:pt x="142" y="169"/>
                  </a:lnTo>
                  <a:lnTo>
                    <a:pt x="124" y="171"/>
                  </a:lnTo>
                  <a:lnTo>
                    <a:pt x="120" y="171"/>
                  </a:lnTo>
                  <a:lnTo>
                    <a:pt x="115" y="171"/>
                  </a:lnTo>
                  <a:lnTo>
                    <a:pt x="111" y="168"/>
                  </a:lnTo>
                  <a:lnTo>
                    <a:pt x="107" y="165"/>
                  </a:lnTo>
                  <a:lnTo>
                    <a:pt x="105" y="160"/>
                  </a:lnTo>
                  <a:lnTo>
                    <a:pt x="104" y="156"/>
                  </a:lnTo>
                  <a:lnTo>
                    <a:pt x="105" y="152"/>
                  </a:lnTo>
                  <a:lnTo>
                    <a:pt x="107" y="147"/>
                  </a:lnTo>
                  <a:lnTo>
                    <a:pt x="111" y="143"/>
                  </a:lnTo>
                  <a:lnTo>
                    <a:pt x="115" y="141"/>
                  </a:lnTo>
                  <a:lnTo>
                    <a:pt x="120" y="140"/>
                  </a:lnTo>
                  <a:lnTo>
                    <a:pt x="133" y="137"/>
                  </a:lnTo>
                  <a:lnTo>
                    <a:pt x="143" y="130"/>
                  </a:lnTo>
                  <a:lnTo>
                    <a:pt x="152" y="119"/>
                  </a:lnTo>
                  <a:lnTo>
                    <a:pt x="157" y="105"/>
                  </a:lnTo>
                  <a:lnTo>
                    <a:pt x="163" y="92"/>
                  </a:lnTo>
                  <a:lnTo>
                    <a:pt x="166" y="81"/>
                  </a:lnTo>
                  <a:lnTo>
                    <a:pt x="168" y="72"/>
                  </a:lnTo>
                  <a:lnTo>
                    <a:pt x="155" y="61"/>
                  </a:lnTo>
                  <a:lnTo>
                    <a:pt x="136" y="52"/>
                  </a:lnTo>
                  <a:lnTo>
                    <a:pt x="113" y="45"/>
                  </a:lnTo>
                  <a:lnTo>
                    <a:pt x="89" y="39"/>
                  </a:lnTo>
                  <a:lnTo>
                    <a:pt x="63" y="35"/>
                  </a:lnTo>
                  <a:lnTo>
                    <a:pt x="38" y="33"/>
                  </a:lnTo>
                  <a:lnTo>
                    <a:pt x="16" y="32"/>
                  </a:lnTo>
                  <a:lnTo>
                    <a:pt x="11" y="32"/>
                  </a:lnTo>
                  <a:lnTo>
                    <a:pt x="7" y="28"/>
                  </a:lnTo>
                  <a:lnTo>
                    <a:pt x="3" y="25"/>
                  </a:lnTo>
                  <a:lnTo>
                    <a:pt x="0" y="21"/>
                  </a:lnTo>
                  <a:lnTo>
                    <a:pt x="0" y="16"/>
                  </a:lnTo>
                  <a:lnTo>
                    <a:pt x="0" y="12"/>
                  </a:lnTo>
                  <a:lnTo>
                    <a:pt x="3" y="8"/>
                  </a:lnTo>
                  <a:lnTo>
                    <a:pt x="7" y="3"/>
                  </a:lnTo>
                  <a:lnTo>
                    <a:pt x="11" y="1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Light"/>
              </a:endParaRPr>
            </a:p>
          </p:txBody>
        </p:sp>
        <p:sp>
          <p:nvSpPr>
            <p:cNvPr id="242" name="Freeform 316">
              <a:extLst>
                <a:ext uri="{FF2B5EF4-FFF2-40B4-BE49-F238E27FC236}">
                  <a16:creationId xmlns:a16="http://schemas.microsoft.com/office/drawing/2014/main" id="{41D57983-0BE2-D2C1-59C3-80B3946E3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0" y="2256"/>
              <a:ext cx="126" cy="57"/>
            </a:xfrm>
            <a:custGeom>
              <a:avLst/>
              <a:gdLst>
                <a:gd name="T0" fmla="*/ 627 w 629"/>
                <a:gd name="T1" fmla="*/ 7 h 282"/>
                <a:gd name="T2" fmla="*/ 627 w 629"/>
                <a:gd name="T3" fmla="*/ 27 h 282"/>
                <a:gd name="T4" fmla="*/ 604 w 629"/>
                <a:gd name="T5" fmla="*/ 49 h 282"/>
                <a:gd name="T6" fmla="*/ 607 w 629"/>
                <a:gd name="T7" fmla="*/ 80 h 282"/>
                <a:gd name="T8" fmla="*/ 620 w 629"/>
                <a:gd name="T9" fmla="*/ 104 h 282"/>
                <a:gd name="T10" fmla="*/ 628 w 629"/>
                <a:gd name="T11" fmla="*/ 114 h 282"/>
                <a:gd name="T12" fmla="*/ 624 w 629"/>
                <a:gd name="T13" fmla="*/ 131 h 282"/>
                <a:gd name="T14" fmla="*/ 614 w 629"/>
                <a:gd name="T15" fmla="*/ 135 h 282"/>
                <a:gd name="T16" fmla="*/ 565 w 629"/>
                <a:gd name="T17" fmla="*/ 129 h 282"/>
                <a:gd name="T18" fmla="*/ 510 w 629"/>
                <a:gd name="T19" fmla="*/ 147 h 282"/>
                <a:gd name="T20" fmla="*/ 473 w 629"/>
                <a:gd name="T21" fmla="*/ 192 h 282"/>
                <a:gd name="T22" fmla="*/ 458 w 629"/>
                <a:gd name="T23" fmla="*/ 227 h 282"/>
                <a:gd name="T24" fmla="*/ 456 w 629"/>
                <a:gd name="T25" fmla="*/ 236 h 282"/>
                <a:gd name="T26" fmla="*/ 450 w 629"/>
                <a:gd name="T27" fmla="*/ 242 h 282"/>
                <a:gd name="T28" fmla="*/ 437 w 629"/>
                <a:gd name="T29" fmla="*/ 242 h 282"/>
                <a:gd name="T30" fmla="*/ 430 w 629"/>
                <a:gd name="T31" fmla="*/ 235 h 282"/>
                <a:gd name="T32" fmla="*/ 368 w 629"/>
                <a:gd name="T33" fmla="*/ 154 h 282"/>
                <a:gd name="T34" fmla="*/ 302 w 629"/>
                <a:gd name="T35" fmla="*/ 134 h 282"/>
                <a:gd name="T36" fmla="*/ 251 w 629"/>
                <a:gd name="T37" fmla="*/ 148 h 282"/>
                <a:gd name="T38" fmla="*/ 215 w 629"/>
                <a:gd name="T39" fmla="*/ 173 h 282"/>
                <a:gd name="T40" fmla="*/ 201 w 629"/>
                <a:gd name="T41" fmla="*/ 186 h 282"/>
                <a:gd name="T42" fmla="*/ 181 w 629"/>
                <a:gd name="T43" fmla="*/ 191 h 282"/>
                <a:gd name="T44" fmla="*/ 111 w 629"/>
                <a:gd name="T45" fmla="*/ 176 h 282"/>
                <a:gd name="T46" fmla="*/ 61 w 629"/>
                <a:gd name="T47" fmla="*/ 198 h 282"/>
                <a:gd name="T48" fmla="*/ 37 w 629"/>
                <a:gd name="T49" fmla="*/ 242 h 282"/>
                <a:gd name="T50" fmla="*/ 32 w 629"/>
                <a:gd name="T51" fmla="*/ 267 h 282"/>
                <a:gd name="T52" fmla="*/ 26 w 629"/>
                <a:gd name="T53" fmla="*/ 279 h 282"/>
                <a:gd name="T54" fmla="*/ 11 w 629"/>
                <a:gd name="T55" fmla="*/ 282 h 282"/>
                <a:gd name="T56" fmla="*/ 1 w 629"/>
                <a:gd name="T57" fmla="*/ 271 h 282"/>
                <a:gd name="T58" fmla="*/ 1 w 629"/>
                <a:gd name="T59" fmla="*/ 255 h 282"/>
                <a:gd name="T60" fmla="*/ 16 w 629"/>
                <a:gd name="T61" fmla="*/ 209 h 282"/>
                <a:gd name="T62" fmla="*/ 57 w 629"/>
                <a:gd name="T63" fmla="*/ 163 h 282"/>
                <a:gd name="T64" fmla="*/ 125 w 629"/>
                <a:gd name="T65" fmla="*/ 146 h 282"/>
                <a:gd name="T66" fmla="*/ 192 w 629"/>
                <a:gd name="T67" fmla="*/ 149 h 282"/>
                <a:gd name="T68" fmla="*/ 246 w 629"/>
                <a:gd name="T69" fmla="*/ 115 h 282"/>
                <a:gd name="T70" fmla="*/ 321 w 629"/>
                <a:gd name="T71" fmla="*/ 103 h 282"/>
                <a:gd name="T72" fmla="*/ 393 w 629"/>
                <a:gd name="T73" fmla="*/ 140 h 282"/>
                <a:gd name="T74" fmla="*/ 444 w 629"/>
                <a:gd name="T75" fmla="*/ 173 h 282"/>
                <a:gd name="T76" fmla="*/ 490 w 629"/>
                <a:gd name="T77" fmla="*/ 123 h 282"/>
                <a:gd name="T78" fmla="*/ 555 w 629"/>
                <a:gd name="T79" fmla="*/ 101 h 282"/>
                <a:gd name="T80" fmla="*/ 570 w 629"/>
                <a:gd name="T81" fmla="*/ 55 h 282"/>
                <a:gd name="T82" fmla="*/ 602 w 629"/>
                <a:gd name="T83" fmla="*/ 4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29" h="282">
                  <a:moveTo>
                    <a:pt x="615" y="0"/>
                  </a:moveTo>
                  <a:lnTo>
                    <a:pt x="622" y="3"/>
                  </a:lnTo>
                  <a:lnTo>
                    <a:pt x="627" y="7"/>
                  </a:lnTo>
                  <a:lnTo>
                    <a:pt x="629" y="14"/>
                  </a:lnTo>
                  <a:lnTo>
                    <a:pt x="629" y="20"/>
                  </a:lnTo>
                  <a:lnTo>
                    <a:pt x="627" y="27"/>
                  </a:lnTo>
                  <a:lnTo>
                    <a:pt x="622" y="31"/>
                  </a:lnTo>
                  <a:lnTo>
                    <a:pt x="612" y="39"/>
                  </a:lnTo>
                  <a:lnTo>
                    <a:pt x="604" y="49"/>
                  </a:lnTo>
                  <a:lnTo>
                    <a:pt x="602" y="59"/>
                  </a:lnTo>
                  <a:lnTo>
                    <a:pt x="603" y="70"/>
                  </a:lnTo>
                  <a:lnTo>
                    <a:pt x="607" y="80"/>
                  </a:lnTo>
                  <a:lnTo>
                    <a:pt x="611" y="90"/>
                  </a:lnTo>
                  <a:lnTo>
                    <a:pt x="617" y="97"/>
                  </a:lnTo>
                  <a:lnTo>
                    <a:pt x="620" y="104"/>
                  </a:lnTo>
                  <a:lnTo>
                    <a:pt x="622" y="107"/>
                  </a:lnTo>
                  <a:lnTo>
                    <a:pt x="622" y="107"/>
                  </a:lnTo>
                  <a:lnTo>
                    <a:pt x="628" y="114"/>
                  </a:lnTo>
                  <a:lnTo>
                    <a:pt x="629" y="120"/>
                  </a:lnTo>
                  <a:lnTo>
                    <a:pt x="627" y="127"/>
                  </a:lnTo>
                  <a:lnTo>
                    <a:pt x="624" y="131"/>
                  </a:lnTo>
                  <a:lnTo>
                    <a:pt x="621" y="134"/>
                  </a:lnTo>
                  <a:lnTo>
                    <a:pt x="619" y="135"/>
                  </a:lnTo>
                  <a:lnTo>
                    <a:pt x="614" y="135"/>
                  </a:lnTo>
                  <a:lnTo>
                    <a:pt x="610" y="135"/>
                  </a:lnTo>
                  <a:lnTo>
                    <a:pt x="587" y="130"/>
                  </a:lnTo>
                  <a:lnTo>
                    <a:pt x="565" y="129"/>
                  </a:lnTo>
                  <a:lnTo>
                    <a:pt x="545" y="132"/>
                  </a:lnTo>
                  <a:lnTo>
                    <a:pt x="526" y="138"/>
                  </a:lnTo>
                  <a:lnTo>
                    <a:pt x="510" y="147"/>
                  </a:lnTo>
                  <a:lnTo>
                    <a:pt x="495" y="160"/>
                  </a:lnTo>
                  <a:lnTo>
                    <a:pt x="482" y="175"/>
                  </a:lnTo>
                  <a:lnTo>
                    <a:pt x="473" y="192"/>
                  </a:lnTo>
                  <a:lnTo>
                    <a:pt x="466" y="206"/>
                  </a:lnTo>
                  <a:lnTo>
                    <a:pt x="462" y="219"/>
                  </a:lnTo>
                  <a:lnTo>
                    <a:pt x="458" y="227"/>
                  </a:lnTo>
                  <a:lnTo>
                    <a:pt x="458" y="230"/>
                  </a:lnTo>
                  <a:lnTo>
                    <a:pt x="457" y="233"/>
                  </a:lnTo>
                  <a:lnTo>
                    <a:pt x="456" y="236"/>
                  </a:lnTo>
                  <a:lnTo>
                    <a:pt x="455" y="238"/>
                  </a:lnTo>
                  <a:lnTo>
                    <a:pt x="453" y="240"/>
                  </a:lnTo>
                  <a:lnTo>
                    <a:pt x="450" y="242"/>
                  </a:lnTo>
                  <a:lnTo>
                    <a:pt x="446" y="242"/>
                  </a:lnTo>
                  <a:lnTo>
                    <a:pt x="442" y="242"/>
                  </a:lnTo>
                  <a:lnTo>
                    <a:pt x="437" y="242"/>
                  </a:lnTo>
                  <a:lnTo>
                    <a:pt x="435" y="241"/>
                  </a:lnTo>
                  <a:lnTo>
                    <a:pt x="432" y="238"/>
                  </a:lnTo>
                  <a:lnTo>
                    <a:pt x="430" y="235"/>
                  </a:lnTo>
                  <a:lnTo>
                    <a:pt x="410" y="202"/>
                  </a:lnTo>
                  <a:lnTo>
                    <a:pt x="390" y="175"/>
                  </a:lnTo>
                  <a:lnTo>
                    <a:pt x="368" y="154"/>
                  </a:lnTo>
                  <a:lnTo>
                    <a:pt x="346" y="141"/>
                  </a:lnTo>
                  <a:lnTo>
                    <a:pt x="321" y="135"/>
                  </a:lnTo>
                  <a:lnTo>
                    <a:pt x="302" y="134"/>
                  </a:lnTo>
                  <a:lnTo>
                    <a:pt x="285" y="136"/>
                  </a:lnTo>
                  <a:lnTo>
                    <a:pt x="267" y="141"/>
                  </a:lnTo>
                  <a:lnTo>
                    <a:pt x="251" y="148"/>
                  </a:lnTo>
                  <a:lnTo>
                    <a:pt x="237" y="157"/>
                  </a:lnTo>
                  <a:lnTo>
                    <a:pt x="225" y="165"/>
                  </a:lnTo>
                  <a:lnTo>
                    <a:pt x="215" y="173"/>
                  </a:lnTo>
                  <a:lnTo>
                    <a:pt x="207" y="180"/>
                  </a:lnTo>
                  <a:lnTo>
                    <a:pt x="203" y="185"/>
                  </a:lnTo>
                  <a:lnTo>
                    <a:pt x="201" y="186"/>
                  </a:lnTo>
                  <a:lnTo>
                    <a:pt x="194" y="191"/>
                  </a:lnTo>
                  <a:lnTo>
                    <a:pt x="188" y="193"/>
                  </a:lnTo>
                  <a:lnTo>
                    <a:pt x="181" y="191"/>
                  </a:lnTo>
                  <a:lnTo>
                    <a:pt x="155" y="183"/>
                  </a:lnTo>
                  <a:lnTo>
                    <a:pt x="132" y="178"/>
                  </a:lnTo>
                  <a:lnTo>
                    <a:pt x="111" y="176"/>
                  </a:lnTo>
                  <a:lnTo>
                    <a:pt x="92" y="180"/>
                  </a:lnTo>
                  <a:lnTo>
                    <a:pt x="77" y="186"/>
                  </a:lnTo>
                  <a:lnTo>
                    <a:pt x="61" y="198"/>
                  </a:lnTo>
                  <a:lnTo>
                    <a:pt x="50" y="213"/>
                  </a:lnTo>
                  <a:lnTo>
                    <a:pt x="42" y="228"/>
                  </a:lnTo>
                  <a:lnTo>
                    <a:pt x="37" y="242"/>
                  </a:lnTo>
                  <a:lnTo>
                    <a:pt x="35" y="255"/>
                  </a:lnTo>
                  <a:lnTo>
                    <a:pt x="32" y="263"/>
                  </a:lnTo>
                  <a:lnTo>
                    <a:pt x="32" y="267"/>
                  </a:lnTo>
                  <a:lnTo>
                    <a:pt x="31" y="271"/>
                  </a:lnTo>
                  <a:lnTo>
                    <a:pt x="29" y="275"/>
                  </a:lnTo>
                  <a:lnTo>
                    <a:pt x="26" y="279"/>
                  </a:lnTo>
                  <a:lnTo>
                    <a:pt x="21" y="282"/>
                  </a:lnTo>
                  <a:lnTo>
                    <a:pt x="17" y="282"/>
                  </a:lnTo>
                  <a:lnTo>
                    <a:pt x="11" y="282"/>
                  </a:lnTo>
                  <a:lnTo>
                    <a:pt x="7" y="279"/>
                  </a:lnTo>
                  <a:lnTo>
                    <a:pt x="4" y="275"/>
                  </a:lnTo>
                  <a:lnTo>
                    <a:pt x="1" y="271"/>
                  </a:lnTo>
                  <a:lnTo>
                    <a:pt x="0" y="267"/>
                  </a:lnTo>
                  <a:lnTo>
                    <a:pt x="0" y="263"/>
                  </a:lnTo>
                  <a:lnTo>
                    <a:pt x="1" y="255"/>
                  </a:lnTo>
                  <a:lnTo>
                    <a:pt x="5" y="242"/>
                  </a:lnTo>
                  <a:lnTo>
                    <a:pt x="9" y="227"/>
                  </a:lnTo>
                  <a:lnTo>
                    <a:pt x="16" y="209"/>
                  </a:lnTo>
                  <a:lnTo>
                    <a:pt x="26" y="193"/>
                  </a:lnTo>
                  <a:lnTo>
                    <a:pt x="39" y="176"/>
                  </a:lnTo>
                  <a:lnTo>
                    <a:pt x="57" y="163"/>
                  </a:lnTo>
                  <a:lnTo>
                    <a:pt x="78" y="153"/>
                  </a:lnTo>
                  <a:lnTo>
                    <a:pt x="100" y="147"/>
                  </a:lnTo>
                  <a:lnTo>
                    <a:pt x="125" y="146"/>
                  </a:lnTo>
                  <a:lnTo>
                    <a:pt x="153" y="150"/>
                  </a:lnTo>
                  <a:lnTo>
                    <a:pt x="181" y="159"/>
                  </a:lnTo>
                  <a:lnTo>
                    <a:pt x="192" y="149"/>
                  </a:lnTo>
                  <a:lnTo>
                    <a:pt x="206" y="138"/>
                  </a:lnTo>
                  <a:lnTo>
                    <a:pt x="225" y="126"/>
                  </a:lnTo>
                  <a:lnTo>
                    <a:pt x="246" y="115"/>
                  </a:lnTo>
                  <a:lnTo>
                    <a:pt x="269" y="107"/>
                  </a:lnTo>
                  <a:lnTo>
                    <a:pt x="295" y="103"/>
                  </a:lnTo>
                  <a:lnTo>
                    <a:pt x="321" y="103"/>
                  </a:lnTo>
                  <a:lnTo>
                    <a:pt x="347" y="110"/>
                  </a:lnTo>
                  <a:lnTo>
                    <a:pt x="371" y="123"/>
                  </a:lnTo>
                  <a:lnTo>
                    <a:pt x="393" y="140"/>
                  </a:lnTo>
                  <a:lnTo>
                    <a:pt x="414" y="162"/>
                  </a:lnTo>
                  <a:lnTo>
                    <a:pt x="434" y="191"/>
                  </a:lnTo>
                  <a:lnTo>
                    <a:pt x="444" y="173"/>
                  </a:lnTo>
                  <a:lnTo>
                    <a:pt x="456" y="156"/>
                  </a:lnTo>
                  <a:lnTo>
                    <a:pt x="471" y="139"/>
                  </a:lnTo>
                  <a:lnTo>
                    <a:pt x="490" y="123"/>
                  </a:lnTo>
                  <a:lnTo>
                    <a:pt x="509" y="113"/>
                  </a:lnTo>
                  <a:lnTo>
                    <a:pt x="531" y="105"/>
                  </a:lnTo>
                  <a:lnTo>
                    <a:pt x="555" y="101"/>
                  </a:lnTo>
                  <a:lnTo>
                    <a:pt x="578" y="99"/>
                  </a:lnTo>
                  <a:lnTo>
                    <a:pt x="572" y="79"/>
                  </a:lnTo>
                  <a:lnTo>
                    <a:pt x="570" y="55"/>
                  </a:lnTo>
                  <a:lnTo>
                    <a:pt x="576" y="37"/>
                  </a:lnTo>
                  <a:lnTo>
                    <a:pt x="586" y="19"/>
                  </a:lnTo>
                  <a:lnTo>
                    <a:pt x="602" y="4"/>
                  </a:lnTo>
                  <a:lnTo>
                    <a:pt x="609" y="2"/>
                  </a:lnTo>
                  <a:lnTo>
                    <a:pt x="615" y="0"/>
                  </a:lnTo>
                  <a:close/>
                </a:path>
              </a:pathLst>
            </a:custGeom>
            <a:grpFill/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Light"/>
              </a:endParaRPr>
            </a:p>
          </p:txBody>
        </p:sp>
        <p:sp>
          <p:nvSpPr>
            <p:cNvPr id="243" name="Freeform 317">
              <a:extLst>
                <a:ext uri="{FF2B5EF4-FFF2-40B4-BE49-F238E27FC236}">
                  <a16:creationId xmlns:a16="http://schemas.microsoft.com/office/drawing/2014/main" id="{0224093B-67BC-5092-C9ED-2DA8E02D15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2" y="2207"/>
              <a:ext cx="64" cy="35"/>
            </a:xfrm>
            <a:custGeom>
              <a:avLst/>
              <a:gdLst>
                <a:gd name="T0" fmla="*/ 28 w 320"/>
                <a:gd name="T1" fmla="*/ 3 h 177"/>
                <a:gd name="T2" fmla="*/ 34 w 320"/>
                <a:gd name="T3" fmla="*/ 12 h 177"/>
                <a:gd name="T4" fmla="*/ 43 w 320"/>
                <a:gd name="T5" fmla="*/ 23 h 177"/>
                <a:gd name="T6" fmla="*/ 61 w 320"/>
                <a:gd name="T7" fmla="*/ 39 h 177"/>
                <a:gd name="T8" fmla="*/ 88 w 320"/>
                <a:gd name="T9" fmla="*/ 53 h 177"/>
                <a:gd name="T10" fmla="*/ 130 w 320"/>
                <a:gd name="T11" fmla="*/ 63 h 177"/>
                <a:gd name="T12" fmla="*/ 185 w 320"/>
                <a:gd name="T13" fmla="*/ 63 h 177"/>
                <a:gd name="T14" fmla="*/ 221 w 320"/>
                <a:gd name="T15" fmla="*/ 58 h 177"/>
                <a:gd name="T16" fmla="*/ 227 w 320"/>
                <a:gd name="T17" fmla="*/ 59 h 177"/>
                <a:gd name="T18" fmla="*/ 232 w 320"/>
                <a:gd name="T19" fmla="*/ 65 h 177"/>
                <a:gd name="T20" fmla="*/ 234 w 320"/>
                <a:gd name="T21" fmla="*/ 70 h 177"/>
                <a:gd name="T22" fmla="*/ 234 w 320"/>
                <a:gd name="T23" fmla="*/ 83 h 177"/>
                <a:gd name="T24" fmla="*/ 240 w 320"/>
                <a:gd name="T25" fmla="*/ 109 h 177"/>
                <a:gd name="T26" fmla="*/ 254 w 320"/>
                <a:gd name="T27" fmla="*/ 133 h 177"/>
                <a:gd name="T28" fmla="*/ 273 w 320"/>
                <a:gd name="T29" fmla="*/ 142 h 177"/>
                <a:gd name="T30" fmla="*/ 299 w 320"/>
                <a:gd name="T31" fmla="*/ 142 h 177"/>
                <a:gd name="T32" fmla="*/ 312 w 320"/>
                <a:gd name="T33" fmla="*/ 143 h 177"/>
                <a:gd name="T34" fmla="*/ 319 w 320"/>
                <a:gd name="T35" fmla="*/ 154 h 177"/>
                <a:gd name="T36" fmla="*/ 316 w 320"/>
                <a:gd name="T37" fmla="*/ 166 h 177"/>
                <a:gd name="T38" fmla="*/ 306 w 320"/>
                <a:gd name="T39" fmla="*/ 174 h 177"/>
                <a:gd name="T40" fmla="*/ 293 w 320"/>
                <a:gd name="T41" fmla="*/ 177 h 177"/>
                <a:gd name="T42" fmla="*/ 268 w 320"/>
                <a:gd name="T43" fmla="*/ 176 h 177"/>
                <a:gd name="T44" fmla="*/ 238 w 320"/>
                <a:gd name="T45" fmla="*/ 162 h 177"/>
                <a:gd name="T46" fmla="*/ 221 w 320"/>
                <a:gd name="T47" fmla="*/ 138 h 177"/>
                <a:gd name="T48" fmla="*/ 212 w 320"/>
                <a:gd name="T49" fmla="*/ 110 h 177"/>
                <a:gd name="T50" fmla="*/ 174 w 320"/>
                <a:gd name="T51" fmla="*/ 100 h 177"/>
                <a:gd name="T52" fmla="*/ 114 w 320"/>
                <a:gd name="T53" fmla="*/ 96 h 177"/>
                <a:gd name="T54" fmla="*/ 70 w 320"/>
                <a:gd name="T55" fmla="*/ 81 h 177"/>
                <a:gd name="T56" fmla="*/ 38 w 320"/>
                <a:gd name="T57" fmla="*/ 63 h 177"/>
                <a:gd name="T58" fmla="*/ 17 w 320"/>
                <a:gd name="T59" fmla="*/ 43 h 177"/>
                <a:gd name="T60" fmla="*/ 4 w 320"/>
                <a:gd name="T61" fmla="*/ 30 h 177"/>
                <a:gd name="T62" fmla="*/ 0 w 320"/>
                <a:gd name="T63" fmla="*/ 17 h 177"/>
                <a:gd name="T64" fmla="*/ 10 w 320"/>
                <a:gd name="T65" fmla="*/ 2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20" h="177">
                  <a:moveTo>
                    <a:pt x="19" y="0"/>
                  </a:moveTo>
                  <a:lnTo>
                    <a:pt x="28" y="3"/>
                  </a:lnTo>
                  <a:lnTo>
                    <a:pt x="33" y="10"/>
                  </a:lnTo>
                  <a:lnTo>
                    <a:pt x="34" y="12"/>
                  </a:lnTo>
                  <a:lnTo>
                    <a:pt x="38" y="17"/>
                  </a:lnTo>
                  <a:lnTo>
                    <a:pt x="43" y="23"/>
                  </a:lnTo>
                  <a:lnTo>
                    <a:pt x="50" y="31"/>
                  </a:lnTo>
                  <a:lnTo>
                    <a:pt x="61" y="39"/>
                  </a:lnTo>
                  <a:lnTo>
                    <a:pt x="73" y="46"/>
                  </a:lnTo>
                  <a:lnTo>
                    <a:pt x="88" y="53"/>
                  </a:lnTo>
                  <a:lnTo>
                    <a:pt x="108" y="58"/>
                  </a:lnTo>
                  <a:lnTo>
                    <a:pt x="130" y="63"/>
                  </a:lnTo>
                  <a:lnTo>
                    <a:pt x="156" y="64"/>
                  </a:lnTo>
                  <a:lnTo>
                    <a:pt x="185" y="63"/>
                  </a:lnTo>
                  <a:lnTo>
                    <a:pt x="218" y="58"/>
                  </a:lnTo>
                  <a:lnTo>
                    <a:pt x="221" y="58"/>
                  </a:lnTo>
                  <a:lnTo>
                    <a:pt x="224" y="58"/>
                  </a:lnTo>
                  <a:lnTo>
                    <a:pt x="227" y="59"/>
                  </a:lnTo>
                  <a:lnTo>
                    <a:pt x="230" y="62"/>
                  </a:lnTo>
                  <a:lnTo>
                    <a:pt x="232" y="65"/>
                  </a:lnTo>
                  <a:lnTo>
                    <a:pt x="233" y="68"/>
                  </a:lnTo>
                  <a:lnTo>
                    <a:pt x="234" y="70"/>
                  </a:lnTo>
                  <a:lnTo>
                    <a:pt x="234" y="74"/>
                  </a:lnTo>
                  <a:lnTo>
                    <a:pt x="234" y="83"/>
                  </a:lnTo>
                  <a:lnTo>
                    <a:pt x="237" y="96"/>
                  </a:lnTo>
                  <a:lnTo>
                    <a:pt x="240" y="109"/>
                  </a:lnTo>
                  <a:lnTo>
                    <a:pt x="246" y="122"/>
                  </a:lnTo>
                  <a:lnTo>
                    <a:pt x="254" y="133"/>
                  </a:lnTo>
                  <a:lnTo>
                    <a:pt x="263" y="139"/>
                  </a:lnTo>
                  <a:lnTo>
                    <a:pt x="273" y="142"/>
                  </a:lnTo>
                  <a:lnTo>
                    <a:pt x="284" y="143"/>
                  </a:lnTo>
                  <a:lnTo>
                    <a:pt x="299" y="142"/>
                  </a:lnTo>
                  <a:lnTo>
                    <a:pt x="305" y="141"/>
                  </a:lnTo>
                  <a:lnTo>
                    <a:pt x="312" y="143"/>
                  </a:lnTo>
                  <a:lnTo>
                    <a:pt x="316" y="147"/>
                  </a:lnTo>
                  <a:lnTo>
                    <a:pt x="319" y="154"/>
                  </a:lnTo>
                  <a:lnTo>
                    <a:pt x="320" y="160"/>
                  </a:lnTo>
                  <a:lnTo>
                    <a:pt x="316" y="166"/>
                  </a:lnTo>
                  <a:lnTo>
                    <a:pt x="312" y="172"/>
                  </a:lnTo>
                  <a:lnTo>
                    <a:pt x="306" y="174"/>
                  </a:lnTo>
                  <a:lnTo>
                    <a:pt x="300" y="176"/>
                  </a:lnTo>
                  <a:lnTo>
                    <a:pt x="293" y="177"/>
                  </a:lnTo>
                  <a:lnTo>
                    <a:pt x="286" y="177"/>
                  </a:lnTo>
                  <a:lnTo>
                    <a:pt x="268" y="176"/>
                  </a:lnTo>
                  <a:lnTo>
                    <a:pt x="251" y="171"/>
                  </a:lnTo>
                  <a:lnTo>
                    <a:pt x="238" y="162"/>
                  </a:lnTo>
                  <a:lnTo>
                    <a:pt x="228" y="151"/>
                  </a:lnTo>
                  <a:lnTo>
                    <a:pt x="221" y="138"/>
                  </a:lnTo>
                  <a:lnTo>
                    <a:pt x="216" y="124"/>
                  </a:lnTo>
                  <a:lnTo>
                    <a:pt x="212" y="110"/>
                  </a:lnTo>
                  <a:lnTo>
                    <a:pt x="210" y="98"/>
                  </a:lnTo>
                  <a:lnTo>
                    <a:pt x="174" y="100"/>
                  </a:lnTo>
                  <a:lnTo>
                    <a:pt x="143" y="100"/>
                  </a:lnTo>
                  <a:lnTo>
                    <a:pt x="114" y="96"/>
                  </a:lnTo>
                  <a:lnTo>
                    <a:pt x="90" y="90"/>
                  </a:lnTo>
                  <a:lnTo>
                    <a:pt x="70" y="81"/>
                  </a:lnTo>
                  <a:lnTo>
                    <a:pt x="52" y="73"/>
                  </a:lnTo>
                  <a:lnTo>
                    <a:pt x="38" y="63"/>
                  </a:lnTo>
                  <a:lnTo>
                    <a:pt x="25" y="53"/>
                  </a:lnTo>
                  <a:lnTo>
                    <a:pt x="17" y="43"/>
                  </a:lnTo>
                  <a:lnTo>
                    <a:pt x="9" y="35"/>
                  </a:lnTo>
                  <a:lnTo>
                    <a:pt x="4" y="30"/>
                  </a:lnTo>
                  <a:lnTo>
                    <a:pt x="1" y="26"/>
                  </a:lnTo>
                  <a:lnTo>
                    <a:pt x="0" y="17"/>
                  </a:lnTo>
                  <a:lnTo>
                    <a:pt x="3" y="8"/>
                  </a:lnTo>
                  <a:lnTo>
                    <a:pt x="10" y="2"/>
                  </a:lnTo>
                  <a:lnTo>
                    <a:pt x="19" y="0"/>
                  </a:lnTo>
                  <a:close/>
                </a:path>
              </a:pathLst>
            </a:custGeom>
            <a:grpFill/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Light"/>
              </a:endParaRPr>
            </a:p>
          </p:txBody>
        </p:sp>
        <p:sp>
          <p:nvSpPr>
            <p:cNvPr id="244" name="Freeform 318">
              <a:extLst>
                <a:ext uri="{FF2B5EF4-FFF2-40B4-BE49-F238E27FC236}">
                  <a16:creationId xmlns:a16="http://schemas.microsoft.com/office/drawing/2014/main" id="{02F25CC4-B1ED-CE23-B4AE-52E42203FC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0" y="2321"/>
              <a:ext cx="31" cy="47"/>
            </a:xfrm>
            <a:custGeom>
              <a:avLst/>
              <a:gdLst>
                <a:gd name="T0" fmla="*/ 21 w 156"/>
                <a:gd name="T1" fmla="*/ 1 h 235"/>
                <a:gd name="T2" fmla="*/ 29 w 156"/>
                <a:gd name="T3" fmla="*/ 6 h 235"/>
                <a:gd name="T4" fmla="*/ 32 w 156"/>
                <a:gd name="T5" fmla="*/ 15 h 235"/>
                <a:gd name="T6" fmla="*/ 32 w 156"/>
                <a:gd name="T7" fmla="*/ 24 h 235"/>
                <a:gd name="T8" fmla="*/ 36 w 156"/>
                <a:gd name="T9" fmla="*/ 44 h 235"/>
                <a:gd name="T10" fmla="*/ 46 w 156"/>
                <a:gd name="T11" fmla="*/ 67 h 235"/>
                <a:gd name="T12" fmla="*/ 68 w 156"/>
                <a:gd name="T13" fmla="*/ 88 h 235"/>
                <a:gd name="T14" fmla="*/ 89 w 156"/>
                <a:gd name="T15" fmla="*/ 95 h 235"/>
                <a:gd name="T16" fmla="*/ 94 w 156"/>
                <a:gd name="T17" fmla="*/ 99 h 235"/>
                <a:gd name="T18" fmla="*/ 97 w 156"/>
                <a:gd name="T19" fmla="*/ 103 h 235"/>
                <a:gd name="T20" fmla="*/ 100 w 156"/>
                <a:gd name="T21" fmla="*/ 111 h 235"/>
                <a:gd name="T22" fmla="*/ 99 w 156"/>
                <a:gd name="T23" fmla="*/ 116 h 235"/>
                <a:gd name="T24" fmla="*/ 93 w 156"/>
                <a:gd name="T25" fmla="*/ 126 h 235"/>
                <a:gd name="T26" fmla="*/ 87 w 156"/>
                <a:gd name="T27" fmla="*/ 148 h 235"/>
                <a:gd name="T28" fmla="*/ 89 w 156"/>
                <a:gd name="T29" fmla="*/ 171 h 235"/>
                <a:gd name="T30" fmla="*/ 106 w 156"/>
                <a:gd name="T31" fmla="*/ 187 h 235"/>
                <a:gd name="T32" fmla="*/ 132 w 156"/>
                <a:gd name="T33" fmla="*/ 194 h 235"/>
                <a:gd name="T34" fmla="*/ 152 w 156"/>
                <a:gd name="T35" fmla="*/ 198 h 235"/>
                <a:gd name="T36" fmla="*/ 156 w 156"/>
                <a:gd name="T37" fmla="*/ 219 h 235"/>
                <a:gd name="T38" fmla="*/ 153 w 156"/>
                <a:gd name="T39" fmla="*/ 227 h 235"/>
                <a:gd name="T40" fmla="*/ 145 w 156"/>
                <a:gd name="T41" fmla="*/ 234 h 235"/>
                <a:gd name="T42" fmla="*/ 116 w 156"/>
                <a:gd name="T43" fmla="*/ 231 h 235"/>
                <a:gd name="T44" fmla="*/ 79 w 156"/>
                <a:gd name="T45" fmla="*/ 215 h 235"/>
                <a:gd name="T46" fmla="*/ 57 w 156"/>
                <a:gd name="T47" fmla="*/ 191 h 235"/>
                <a:gd name="T48" fmla="*/ 49 w 156"/>
                <a:gd name="T49" fmla="*/ 154 h 235"/>
                <a:gd name="T50" fmla="*/ 57 w 156"/>
                <a:gd name="T51" fmla="*/ 123 h 235"/>
                <a:gd name="T52" fmla="*/ 25 w 156"/>
                <a:gd name="T53" fmla="*/ 94 h 235"/>
                <a:gd name="T54" fmla="*/ 7 w 156"/>
                <a:gd name="T55" fmla="*/ 60 h 235"/>
                <a:gd name="T56" fmla="*/ 1 w 156"/>
                <a:gd name="T57" fmla="*/ 28 h 235"/>
                <a:gd name="T58" fmla="*/ 1 w 156"/>
                <a:gd name="T59" fmla="*/ 11 h 235"/>
                <a:gd name="T60" fmla="*/ 7 w 156"/>
                <a:gd name="T61" fmla="*/ 3 h 235"/>
                <a:gd name="T62" fmla="*/ 16 w 156"/>
                <a:gd name="T63" fmla="*/ 0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56" h="235">
                  <a:moveTo>
                    <a:pt x="16" y="0"/>
                  </a:moveTo>
                  <a:lnTo>
                    <a:pt x="21" y="1"/>
                  </a:lnTo>
                  <a:lnTo>
                    <a:pt x="26" y="3"/>
                  </a:lnTo>
                  <a:lnTo>
                    <a:pt x="29" y="6"/>
                  </a:lnTo>
                  <a:lnTo>
                    <a:pt x="31" y="11"/>
                  </a:lnTo>
                  <a:lnTo>
                    <a:pt x="32" y="15"/>
                  </a:lnTo>
                  <a:lnTo>
                    <a:pt x="32" y="17"/>
                  </a:lnTo>
                  <a:lnTo>
                    <a:pt x="32" y="24"/>
                  </a:lnTo>
                  <a:lnTo>
                    <a:pt x="33" y="33"/>
                  </a:lnTo>
                  <a:lnTo>
                    <a:pt x="36" y="44"/>
                  </a:lnTo>
                  <a:lnTo>
                    <a:pt x="40" y="56"/>
                  </a:lnTo>
                  <a:lnTo>
                    <a:pt x="46" y="67"/>
                  </a:lnTo>
                  <a:lnTo>
                    <a:pt x="56" y="79"/>
                  </a:lnTo>
                  <a:lnTo>
                    <a:pt x="68" y="88"/>
                  </a:lnTo>
                  <a:lnTo>
                    <a:pt x="84" y="95"/>
                  </a:lnTo>
                  <a:lnTo>
                    <a:pt x="89" y="95"/>
                  </a:lnTo>
                  <a:lnTo>
                    <a:pt x="92" y="97"/>
                  </a:lnTo>
                  <a:lnTo>
                    <a:pt x="94" y="99"/>
                  </a:lnTo>
                  <a:lnTo>
                    <a:pt x="97" y="101"/>
                  </a:lnTo>
                  <a:lnTo>
                    <a:pt x="97" y="103"/>
                  </a:lnTo>
                  <a:lnTo>
                    <a:pt x="99" y="108"/>
                  </a:lnTo>
                  <a:lnTo>
                    <a:pt x="100" y="111"/>
                  </a:lnTo>
                  <a:lnTo>
                    <a:pt x="100" y="114"/>
                  </a:lnTo>
                  <a:lnTo>
                    <a:pt x="99" y="116"/>
                  </a:lnTo>
                  <a:lnTo>
                    <a:pt x="97" y="120"/>
                  </a:lnTo>
                  <a:lnTo>
                    <a:pt x="93" y="126"/>
                  </a:lnTo>
                  <a:lnTo>
                    <a:pt x="90" y="136"/>
                  </a:lnTo>
                  <a:lnTo>
                    <a:pt x="87" y="148"/>
                  </a:lnTo>
                  <a:lnTo>
                    <a:pt x="85" y="160"/>
                  </a:lnTo>
                  <a:lnTo>
                    <a:pt x="89" y="171"/>
                  </a:lnTo>
                  <a:lnTo>
                    <a:pt x="95" y="179"/>
                  </a:lnTo>
                  <a:lnTo>
                    <a:pt x="106" y="187"/>
                  </a:lnTo>
                  <a:lnTo>
                    <a:pt x="119" y="191"/>
                  </a:lnTo>
                  <a:lnTo>
                    <a:pt x="132" y="194"/>
                  </a:lnTo>
                  <a:lnTo>
                    <a:pt x="145" y="194"/>
                  </a:lnTo>
                  <a:lnTo>
                    <a:pt x="152" y="198"/>
                  </a:lnTo>
                  <a:lnTo>
                    <a:pt x="155" y="205"/>
                  </a:lnTo>
                  <a:lnTo>
                    <a:pt x="156" y="219"/>
                  </a:lnTo>
                  <a:lnTo>
                    <a:pt x="156" y="223"/>
                  </a:lnTo>
                  <a:lnTo>
                    <a:pt x="153" y="227"/>
                  </a:lnTo>
                  <a:lnTo>
                    <a:pt x="150" y="232"/>
                  </a:lnTo>
                  <a:lnTo>
                    <a:pt x="145" y="234"/>
                  </a:lnTo>
                  <a:lnTo>
                    <a:pt x="141" y="235"/>
                  </a:lnTo>
                  <a:lnTo>
                    <a:pt x="116" y="231"/>
                  </a:lnTo>
                  <a:lnTo>
                    <a:pt x="95" y="224"/>
                  </a:lnTo>
                  <a:lnTo>
                    <a:pt x="79" y="215"/>
                  </a:lnTo>
                  <a:lnTo>
                    <a:pt x="66" y="204"/>
                  </a:lnTo>
                  <a:lnTo>
                    <a:pt x="57" y="191"/>
                  </a:lnTo>
                  <a:lnTo>
                    <a:pt x="50" y="172"/>
                  </a:lnTo>
                  <a:lnTo>
                    <a:pt x="49" y="154"/>
                  </a:lnTo>
                  <a:lnTo>
                    <a:pt x="51" y="137"/>
                  </a:lnTo>
                  <a:lnTo>
                    <a:pt x="57" y="123"/>
                  </a:lnTo>
                  <a:lnTo>
                    <a:pt x="38" y="110"/>
                  </a:lnTo>
                  <a:lnTo>
                    <a:pt x="25" y="94"/>
                  </a:lnTo>
                  <a:lnTo>
                    <a:pt x="14" y="78"/>
                  </a:lnTo>
                  <a:lnTo>
                    <a:pt x="7" y="60"/>
                  </a:lnTo>
                  <a:lnTo>
                    <a:pt x="2" y="44"/>
                  </a:lnTo>
                  <a:lnTo>
                    <a:pt x="1" y="28"/>
                  </a:lnTo>
                  <a:lnTo>
                    <a:pt x="0" y="15"/>
                  </a:lnTo>
                  <a:lnTo>
                    <a:pt x="1" y="11"/>
                  </a:lnTo>
                  <a:lnTo>
                    <a:pt x="4" y="6"/>
                  </a:lnTo>
                  <a:lnTo>
                    <a:pt x="7" y="3"/>
                  </a:lnTo>
                  <a:lnTo>
                    <a:pt x="11" y="1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Light"/>
              </a:endParaRPr>
            </a:p>
          </p:txBody>
        </p:sp>
        <p:sp>
          <p:nvSpPr>
            <p:cNvPr id="245" name="Freeform 319">
              <a:extLst>
                <a:ext uri="{FF2B5EF4-FFF2-40B4-BE49-F238E27FC236}">
                  <a16:creationId xmlns:a16="http://schemas.microsoft.com/office/drawing/2014/main" id="{172210E7-1CC4-A089-5EF9-2097E79E1B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9" y="2320"/>
              <a:ext cx="49" cy="33"/>
            </a:xfrm>
            <a:custGeom>
              <a:avLst/>
              <a:gdLst>
                <a:gd name="T0" fmla="*/ 228 w 246"/>
                <a:gd name="T1" fmla="*/ 0 h 169"/>
                <a:gd name="T2" fmla="*/ 236 w 246"/>
                <a:gd name="T3" fmla="*/ 1 h 169"/>
                <a:gd name="T4" fmla="*/ 239 w 246"/>
                <a:gd name="T5" fmla="*/ 4 h 169"/>
                <a:gd name="T6" fmla="*/ 241 w 246"/>
                <a:gd name="T7" fmla="*/ 6 h 169"/>
                <a:gd name="T8" fmla="*/ 244 w 246"/>
                <a:gd name="T9" fmla="*/ 8 h 169"/>
                <a:gd name="T10" fmla="*/ 245 w 246"/>
                <a:gd name="T11" fmla="*/ 11 h 169"/>
                <a:gd name="T12" fmla="*/ 246 w 246"/>
                <a:gd name="T13" fmla="*/ 13 h 169"/>
                <a:gd name="T14" fmla="*/ 246 w 246"/>
                <a:gd name="T15" fmla="*/ 16 h 169"/>
                <a:gd name="T16" fmla="*/ 246 w 246"/>
                <a:gd name="T17" fmla="*/ 17 h 169"/>
                <a:gd name="T18" fmla="*/ 245 w 246"/>
                <a:gd name="T19" fmla="*/ 18 h 169"/>
                <a:gd name="T20" fmla="*/ 235 w 246"/>
                <a:gd name="T21" fmla="*/ 40 h 169"/>
                <a:gd name="T22" fmla="*/ 221 w 246"/>
                <a:gd name="T23" fmla="*/ 57 h 169"/>
                <a:gd name="T24" fmla="*/ 206 w 246"/>
                <a:gd name="T25" fmla="*/ 72 h 169"/>
                <a:gd name="T26" fmla="*/ 189 w 246"/>
                <a:gd name="T27" fmla="*/ 84 h 169"/>
                <a:gd name="T28" fmla="*/ 172 w 246"/>
                <a:gd name="T29" fmla="*/ 93 h 169"/>
                <a:gd name="T30" fmla="*/ 153 w 246"/>
                <a:gd name="T31" fmla="*/ 99 h 169"/>
                <a:gd name="T32" fmla="*/ 134 w 246"/>
                <a:gd name="T33" fmla="*/ 103 h 169"/>
                <a:gd name="T34" fmla="*/ 116 w 246"/>
                <a:gd name="T35" fmla="*/ 105 h 169"/>
                <a:gd name="T36" fmla="*/ 100 w 246"/>
                <a:gd name="T37" fmla="*/ 106 h 169"/>
                <a:gd name="T38" fmla="*/ 84 w 246"/>
                <a:gd name="T39" fmla="*/ 105 h 169"/>
                <a:gd name="T40" fmla="*/ 75 w 246"/>
                <a:gd name="T41" fmla="*/ 123 h 169"/>
                <a:gd name="T42" fmla="*/ 64 w 246"/>
                <a:gd name="T43" fmla="*/ 139 h 169"/>
                <a:gd name="T44" fmla="*/ 53 w 246"/>
                <a:gd name="T45" fmla="*/ 150 h 169"/>
                <a:gd name="T46" fmla="*/ 41 w 246"/>
                <a:gd name="T47" fmla="*/ 159 h 169"/>
                <a:gd name="T48" fmla="*/ 31 w 246"/>
                <a:gd name="T49" fmla="*/ 165 h 169"/>
                <a:gd name="T50" fmla="*/ 23 w 246"/>
                <a:gd name="T51" fmla="*/ 167 h 169"/>
                <a:gd name="T52" fmla="*/ 20 w 246"/>
                <a:gd name="T53" fmla="*/ 169 h 169"/>
                <a:gd name="T54" fmla="*/ 16 w 246"/>
                <a:gd name="T55" fmla="*/ 169 h 169"/>
                <a:gd name="T56" fmla="*/ 11 w 246"/>
                <a:gd name="T57" fmla="*/ 169 h 169"/>
                <a:gd name="T58" fmla="*/ 8 w 246"/>
                <a:gd name="T59" fmla="*/ 167 h 169"/>
                <a:gd name="T60" fmla="*/ 5 w 246"/>
                <a:gd name="T61" fmla="*/ 164 h 169"/>
                <a:gd name="T62" fmla="*/ 2 w 246"/>
                <a:gd name="T63" fmla="*/ 161 h 169"/>
                <a:gd name="T64" fmla="*/ 0 w 246"/>
                <a:gd name="T65" fmla="*/ 158 h 169"/>
                <a:gd name="T66" fmla="*/ 1 w 246"/>
                <a:gd name="T67" fmla="*/ 149 h 169"/>
                <a:gd name="T68" fmla="*/ 5 w 246"/>
                <a:gd name="T69" fmla="*/ 142 h 169"/>
                <a:gd name="T70" fmla="*/ 11 w 246"/>
                <a:gd name="T71" fmla="*/ 137 h 169"/>
                <a:gd name="T72" fmla="*/ 13 w 246"/>
                <a:gd name="T73" fmla="*/ 137 h 169"/>
                <a:gd name="T74" fmla="*/ 19 w 246"/>
                <a:gd name="T75" fmla="*/ 133 h 169"/>
                <a:gd name="T76" fmla="*/ 27 w 246"/>
                <a:gd name="T77" fmla="*/ 129 h 169"/>
                <a:gd name="T78" fmla="*/ 36 w 246"/>
                <a:gd name="T79" fmla="*/ 122 h 169"/>
                <a:gd name="T80" fmla="*/ 43 w 246"/>
                <a:gd name="T81" fmla="*/ 112 h 169"/>
                <a:gd name="T82" fmla="*/ 51 w 246"/>
                <a:gd name="T83" fmla="*/ 100 h 169"/>
                <a:gd name="T84" fmla="*/ 55 w 246"/>
                <a:gd name="T85" fmla="*/ 85 h 169"/>
                <a:gd name="T86" fmla="*/ 61 w 246"/>
                <a:gd name="T87" fmla="*/ 78 h 169"/>
                <a:gd name="T88" fmla="*/ 68 w 246"/>
                <a:gd name="T89" fmla="*/ 75 h 169"/>
                <a:gd name="T90" fmla="*/ 75 w 246"/>
                <a:gd name="T91" fmla="*/ 73 h 169"/>
                <a:gd name="T92" fmla="*/ 80 w 246"/>
                <a:gd name="T93" fmla="*/ 75 h 169"/>
                <a:gd name="T94" fmla="*/ 86 w 246"/>
                <a:gd name="T95" fmla="*/ 76 h 169"/>
                <a:gd name="T96" fmla="*/ 97 w 246"/>
                <a:gd name="T97" fmla="*/ 77 h 169"/>
                <a:gd name="T98" fmla="*/ 112 w 246"/>
                <a:gd name="T99" fmla="*/ 77 h 169"/>
                <a:gd name="T100" fmla="*/ 127 w 246"/>
                <a:gd name="T101" fmla="*/ 76 h 169"/>
                <a:gd name="T102" fmla="*/ 144 w 246"/>
                <a:gd name="T103" fmla="*/ 73 h 169"/>
                <a:gd name="T104" fmla="*/ 161 w 246"/>
                <a:gd name="T105" fmla="*/ 66 h 169"/>
                <a:gd name="T106" fmla="*/ 177 w 246"/>
                <a:gd name="T107" fmla="*/ 57 h 169"/>
                <a:gd name="T108" fmla="*/ 193 w 246"/>
                <a:gd name="T109" fmla="*/ 45 h 169"/>
                <a:gd name="T110" fmla="*/ 206 w 246"/>
                <a:gd name="T111" fmla="*/ 30 h 169"/>
                <a:gd name="T112" fmla="*/ 216 w 246"/>
                <a:gd name="T113" fmla="*/ 9 h 169"/>
                <a:gd name="T114" fmla="*/ 221 w 246"/>
                <a:gd name="T115" fmla="*/ 2 h 169"/>
                <a:gd name="T116" fmla="*/ 228 w 246"/>
                <a:gd name="T117" fmla="*/ 0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46" h="169">
                  <a:moveTo>
                    <a:pt x="228" y="0"/>
                  </a:moveTo>
                  <a:lnTo>
                    <a:pt x="236" y="1"/>
                  </a:lnTo>
                  <a:lnTo>
                    <a:pt x="239" y="4"/>
                  </a:lnTo>
                  <a:lnTo>
                    <a:pt x="241" y="6"/>
                  </a:lnTo>
                  <a:lnTo>
                    <a:pt x="244" y="8"/>
                  </a:lnTo>
                  <a:lnTo>
                    <a:pt x="245" y="11"/>
                  </a:lnTo>
                  <a:lnTo>
                    <a:pt x="246" y="13"/>
                  </a:lnTo>
                  <a:lnTo>
                    <a:pt x="246" y="16"/>
                  </a:lnTo>
                  <a:lnTo>
                    <a:pt x="246" y="17"/>
                  </a:lnTo>
                  <a:lnTo>
                    <a:pt x="245" y="18"/>
                  </a:lnTo>
                  <a:lnTo>
                    <a:pt x="235" y="40"/>
                  </a:lnTo>
                  <a:lnTo>
                    <a:pt x="221" y="57"/>
                  </a:lnTo>
                  <a:lnTo>
                    <a:pt x="206" y="72"/>
                  </a:lnTo>
                  <a:lnTo>
                    <a:pt x="189" y="84"/>
                  </a:lnTo>
                  <a:lnTo>
                    <a:pt x="172" y="93"/>
                  </a:lnTo>
                  <a:lnTo>
                    <a:pt x="153" y="99"/>
                  </a:lnTo>
                  <a:lnTo>
                    <a:pt x="134" y="103"/>
                  </a:lnTo>
                  <a:lnTo>
                    <a:pt x="116" y="105"/>
                  </a:lnTo>
                  <a:lnTo>
                    <a:pt x="100" y="106"/>
                  </a:lnTo>
                  <a:lnTo>
                    <a:pt x="84" y="105"/>
                  </a:lnTo>
                  <a:lnTo>
                    <a:pt x="75" y="123"/>
                  </a:lnTo>
                  <a:lnTo>
                    <a:pt x="64" y="139"/>
                  </a:lnTo>
                  <a:lnTo>
                    <a:pt x="53" y="150"/>
                  </a:lnTo>
                  <a:lnTo>
                    <a:pt x="41" y="159"/>
                  </a:lnTo>
                  <a:lnTo>
                    <a:pt x="31" y="165"/>
                  </a:lnTo>
                  <a:lnTo>
                    <a:pt x="23" y="167"/>
                  </a:lnTo>
                  <a:lnTo>
                    <a:pt x="20" y="169"/>
                  </a:lnTo>
                  <a:lnTo>
                    <a:pt x="16" y="169"/>
                  </a:lnTo>
                  <a:lnTo>
                    <a:pt x="11" y="169"/>
                  </a:lnTo>
                  <a:lnTo>
                    <a:pt x="8" y="167"/>
                  </a:lnTo>
                  <a:lnTo>
                    <a:pt x="5" y="164"/>
                  </a:lnTo>
                  <a:lnTo>
                    <a:pt x="2" y="161"/>
                  </a:lnTo>
                  <a:lnTo>
                    <a:pt x="0" y="158"/>
                  </a:lnTo>
                  <a:lnTo>
                    <a:pt x="1" y="149"/>
                  </a:lnTo>
                  <a:lnTo>
                    <a:pt x="5" y="142"/>
                  </a:lnTo>
                  <a:lnTo>
                    <a:pt x="11" y="137"/>
                  </a:lnTo>
                  <a:lnTo>
                    <a:pt x="13" y="137"/>
                  </a:lnTo>
                  <a:lnTo>
                    <a:pt x="19" y="133"/>
                  </a:lnTo>
                  <a:lnTo>
                    <a:pt x="27" y="129"/>
                  </a:lnTo>
                  <a:lnTo>
                    <a:pt x="36" y="122"/>
                  </a:lnTo>
                  <a:lnTo>
                    <a:pt x="43" y="112"/>
                  </a:lnTo>
                  <a:lnTo>
                    <a:pt x="51" y="100"/>
                  </a:lnTo>
                  <a:lnTo>
                    <a:pt x="55" y="85"/>
                  </a:lnTo>
                  <a:lnTo>
                    <a:pt x="61" y="78"/>
                  </a:lnTo>
                  <a:lnTo>
                    <a:pt x="68" y="75"/>
                  </a:lnTo>
                  <a:lnTo>
                    <a:pt x="75" y="73"/>
                  </a:lnTo>
                  <a:lnTo>
                    <a:pt x="80" y="75"/>
                  </a:lnTo>
                  <a:lnTo>
                    <a:pt x="86" y="76"/>
                  </a:lnTo>
                  <a:lnTo>
                    <a:pt x="97" y="77"/>
                  </a:lnTo>
                  <a:lnTo>
                    <a:pt x="112" y="77"/>
                  </a:lnTo>
                  <a:lnTo>
                    <a:pt x="127" y="76"/>
                  </a:lnTo>
                  <a:lnTo>
                    <a:pt x="144" y="73"/>
                  </a:lnTo>
                  <a:lnTo>
                    <a:pt x="161" y="66"/>
                  </a:lnTo>
                  <a:lnTo>
                    <a:pt x="177" y="57"/>
                  </a:lnTo>
                  <a:lnTo>
                    <a:pt x="193" y="45"/>
                  </a:lnTo>
                  <a:lnTo>
                    <a:pt x="206" y="30"/>
                  </a:lnTo>
                  <a:lnTo>
                    <a:pt x="216" y="9"/>
                  </a:lnTo>
                  <a:lnTo>
                    <a:pt x="221" y="2"/>
                  </a:lnTo>
                  <a:lnTo>
                    <a:pt x="228" y="0"/>
                  </a:lnTo>
                  <a:close/>
                </a:path>
              </a:pathLst>
            </a:custGeom>
            <a:grpFill/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Light"/>
              </a:endParaRPr>
            </a:p>
          </p:txBody>
        </p:sp>
        <p:sp>
          <p:nvSpPr>
            <p:cNvPr id="246" name="Freeform 320">
              <a:extLst>
                <a:ext uri="{FF2B5EF4-FFF2-40B4-BE49-F238E27FC236}">
                  <a16:creationId xmlns:a16="http://schemas.microsoft.com/office/drawing/2014/main" id="{EA9F77B1-31C8-8AF5-EE35-BEB0D9242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" y="2268"/>
              <a:ext cx="42" cy="49"/>
            </a:xfrm>
            <a:custGeom>
              <a:avLst/>
              <a:gdLst>
                <a:gd name="T0" fmla="*/ 199 w 212"/>
                <a:gd name="T1" fmla="*/ 2 h 244"/>
                <a:gd name="T2" fmla="*/ 206 w 212"/>
                <a:gd name="T3" fmla="*/ 12 h 244"/>
                <a:gd name="T4" fmla="*/ 206 w 212"/>
                <a:gd name="T5" fmla="*/ 54 h 244"/>
                <a:gd name="T6" fmla="*/ 191 w 212"/>
                <a:gd name="T7" fmla="*/ 88 h 244"/>
                <a:gd name="T8" fmla="*/ 171 w 212"/>
                <a:gd name="T9" fmla="*/ 114 h 244"/>
                <a:gd name="T10" fmla="*/ 171 w 212"/>
                <a:gd name="T11" fmla="*/ 132 h 244"/>
                <a:gd name="T12" fmla="*/ 192 w 212"/>
                <a:gd name="T13" fmla="*/ 154 h 244"/>
                <a:gd name="T14" fmla="*/ 209 w 212"/>
                <a:gd name="T15" fmla="*/ 182 h 244"/>
                <a:gd name="T16" fmla="*/ 212 w 212"/>
                <a:gd name="T17" fmla="*/ 216 h 244"/>
                <a:gd name="T18" fmla="*/ 203 w 212"/>
                <a:gd name="T19" fmla="*/ 237 h 244"/>
                <a:gd name="T20" fmla="*/ 198 w 212"/>
                <a:gd name="T21" fmla="*/ 242 h 244"/>
                <a:gd name="T22" fmla="*/ 190 w 212"/>
                <a:gd name="T23" fmla="*/ 244 h 244"/>
                <a:gd name="T24" fmla="*/ 176 w 212"/>
                <a:gd name="T25" fmla="*/ 238 h 244"/>
                <a:gd name="T26" fmla="*/ 173 w 212"/>
                <a:gd name="T27" fmla="*/ 223 h 244"/>
                <a:gd name="T28" fmla="*/ 176 w 212"/>
                <a:gd name="T29" fmla="*/ 196 h 244"/>
                <a:gd name="T30" fmla="*/ 162 w 212"/>
                <a:gd name="T31" fmla="*/ 170 h 244"/>
                <a:gd name="T32" fmla="*/ 142 w 212"/>
                <a:gd name="T33" fmla="*/ 152 h 244"/>
                <a:gd name="T34" fmla="*/ 128 w 212"/>
                <a:gd name="T35" fmla="*/ 142 h 244"/>
                <a:gd name="T36" fmla="*/ 126 w 212"/>
                <a:gd name="T37" fmla="*/ 139 h 244"/>
                <a:gd name="T38" fmla="*/ 125 w 212"/>
                <a:gd name="T39" fmla="*/ 139 h 244"/>
                <a:gd name="T40" fmla="*/ 121 w 212"/>
                <a:gd name="T41" fmla="*/ 136 h 244"/>
                <a:gd name="T42" fmla="*/ 95 w 212"/>
                <a:gd name="T43" fmla="*/ 121 h 244"/>
                <a:gd name="T44" fmla="*/ 62 w 212"/>
                <a:gd name="T45" fmla="*/ 119 h 244"/>
                <a:gd name="T46" fmla="*/ 32 w 212"/>
                <a:gd name="T47" fmla="*/ 122 h 244"/>
                <a:gd name="T48" fmla="*/ 13 w 212"/>
                <a:gd name="T49" fmla="*/ 125 h 244"/>
                <a:gd name="T50" fmla="*/ 1 w 212"/>
                <a:gd name="T51" fmla="*/ 116 h 244"/>
                <a:gd name="T52" fmla="*/ 3 w 212"/>
                <a:gd name="T53" fmla="*/ 101 h 244"/>
                <a:gd name="T54" fmla="*/ 13 w 212"/>
                <a:gd name="T55" fmla="*/ 95 h 244"/>
                <a:gd name="T56" fmla="*/ 34 w 212"/>
                <a:gd name="T57" fmla="*/ 90 h 244"/>
                <a:gd name="T58" fmla="*/ 65 w 212"/>
                <a:gd name="T59" fmla="*/ 86 h 244"/>
                <a:gd name="T60" fmla="*/ 100 w 212"/>
                <a:gd name="T61" fmla="*/ 89 h 244"/>
                <a:gd name="T62" fmla="*/ 134 w 212"/>
                <a:gd name="T63" fmla="*/ 104 h 244"/>
                <a:gd name="T64" fmla="*/ 154 w 212"/>
                <a:gd name="T65" fmla="*/ 83 h 244"/>
                <a:gd name="T66" fmla="*/ 170 w 212"/>
                <a:gd name="T67" fmla="*/ 55 h 244"/>
                <a:gd name="T68" fmla="*/ 173 w 212"/>
                <a:gd name="T69" fmla="*/ 21 h 244"/>
                <a:gd name="T70" fmla="*/ 176 w 212"/>
                <a:gd name="T71" fmla="*/ 7 h 244"/>
                <a:gd name="T72" fmla="*/ 186 w 212"/>
                <a:gd name="T7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12" h="244">
                  <a:moveTo>
                    <a:pt x="192" y="0"/>
                  </a:moveTo>
                  <a:lnTo>
                    <a:pt x="199" y="2"/>
                  </a:lnTo>
                  <a:lnTo>
                    <a:pt x="204" y="6"/>
                  </a:lnTo>
                  <a:lnTo>
                    <a:pt x="206" y="12"/>
                  </a:lnTo>
                  <a:lnTo>
                    <a:pt x="209" y="34"/>
                  </a:lnTo>
                  <a:lnTo>
                    <a:pt x="206" y="54"/>
                  </a:lnTo>
                  <a:lnTo>
                    <a:pt x="200" y="71"/>
                  </a:lnTo>
                  <a:lnTo>
                    <a:pt x="191" y="88"/>
                  </a:lnTo>
                  <a:lnTo>
                    <a:pt x="181" y="102"/>
                  </a:lnTo>
                  <a:lnTo>
                    <a:pt x="171" y="114"/>
                  </a:lnTo>
                  <a:lnTo>
                    <a:pt x="162" y="124"/>
                  </a:lnTo>
                  <a:lnTo>
                    <a:pt x="171" y="132"/>
                  </a:lnTo>
                  <a:lnTo>
                    <a:pt x="182" y="143"/>
                  </a:lnTo>
                  <a:lnTo>
                    <a:pt x="192" y="154"/>
                  </a:lnTo>
                  <a:lnTo>
                    <a:pt x="202" y="168"/>
                  </a:lnTo>
                  <a:lnTo>
                    <a:pt x="209" y="182"/>
                  </a:lnTo>
                  <a:lnTo>
                    <a:pt x="212" y="199"/>
                  </a:lnTo>
                  <a:lnTo>
                    <a:pt x="212" y="216"/>
                  </a:lnTo>
                  <a:lnTo>
                    <a:pt x="206" y="235"/>
                  </a:lnTo>
                  <a:lnTo>
                    <a:pt x="203" y="237"/>
                  </a:lnTo>
                  <a:lnTo>
                    <a:pt x="201" y="240"/>
                  </a:lnTo>
                  <a:lnTo>
                    <a:pt x="198" y="242"/>
                  </a:lnTo>
                  <a:lnTo>
                    <a:pt x="194" y="243"/>
                  </a:lnTo>
                  <a:lnTo>
                    <a:pt x="190" y="244"/>
                  </a:lnTo>
                  <a:lnTo>
                    <a:pt x="182" y="244"/>
                  </a:lnTo>
                  <a:lnTo>
                    <a:pt x="176" y="238"/>
                  </a:lnTo>
                  <a:lnTo>
                    <a:pt x="172" y="232"/>
                  </a:lnTo>
                  <a:lnTo>
                    <a:pt x="173" y="223"/>
                  </a:lnTo>
                  <a:lnTo>
                    <a:pt x="178" y="209"/>
                  </a:lnTo>
                  <a:lnTo>
                    <a:pt x="176" y="196"/>
                  </a:lnTo>
                  <a:lnTo>
                    <a:pt x="170" y="182"/>
                  </a:lnTo>
                  <a:lnTo>
                    <a:pt x="162" y="170"/>
                  </a:lnTo>
                  <a:lnTo>
                    <a:pt x="152" y="160"/>
                  </a:lnTo>
                  <a:lnTo>
                    <a:pt x="142" y="152"/>
                  </a:lnTo>
                  <a:lnTo>
                    <a:pt x="134" y="145"/>
                  </a:lnTo>
                  <a:lnTo>
                    <a:pt x="128" y="142"/>
                  </a:lnTo>
                  <a:lnTo>
                    <a:pt x="126" y="139"/>
                  </a:lnTo>
                  <a:lnTo>
                    <a:pt x="126" y="139"/>
                  </a:lnTo>
                  <a:lnTo>
                    <a:pt x="126" y="139"/>
                  </a:lnTo>
                  <a:lnTo>
                    <a:pt x="125" y="139"/>
                  </a:lnTo>
                  <a:lnTo>
                    <a:pt x="124" y="137"/>
                  </a:lnTo>
                  <a:lnTo>
                    <a:pt x="121" y="136"/>
                  </a:lnTo>
                  <a:lnTo>
                    <a:pt x="109" y="126"/>
                  </a:lnTo>
                  <a:lnTo>
                    <a:pt x="95" y="121"/>
                  </a:lnTo>
                  <a:lnTo>
                    <a:pt x="78" y="119"/>
                  </a:lnTo>
                  <a:lnTo>
                    <a:pt x="62" y="119"/>
                  </a:lnTo>
                  <a:lnTo>
                    <a:pt x="46" y="120"/>
                  </a:lnTo>
                  <a:lnTo>
                    <a:pt x="32" y="122"/>
                  </a:lnTo>
                  <a:lnTo>
                    <a:pt x="22" y="124"/>
                  </a:lnTo>
                  <a:lnTo>
                    <a:pt x="13" y="125"/>
                  </a:lnTo>
                  <a:lnTo>
                    <a:pt x="6" y="122"/>
                  </a:lnTo>
                  <a:lnTo>
                    <a:pt x="1" y="116"/>
                  </a:lnTo>
                  <a:lnTo>
                    <a:pt x="0" y="108"/>
                  </a:lnTo>
                  <a:lnTo>
                    <a:pt x="3" y="101"/>
                  </a:lnTo>
                  <a:lnTo>
                    <a:pt x="10" y="95"/>
                  </a:lnTo>
                  <a:lnTo>
                    <a:pt x="13" y="95"/>
                  </a:lnTo>
                  <a:lnTo>
                    <a:pt x="22" y="93"/>
                  </a:lnTo>
                  <a:lnTo>
                    <a:pt x="34" y="90"/>
                  </a:lnTo>
                  <a:lnTo>
                    <a:pt x="48" y="88"/>
                  </a:lnTo>
                  <a:lnTo>
                    <a:pt x="65" y="86"/>
                  </a:lnTo>
                  <a:lnTo>
                    <a:pt x="83" y="86"/>
                  </a:lnTo>
                  <a:lnTo>
                    <a:pt x="100" y="89"/>
                  </a:lnTo>
                  <a:lnTo>
                    <a:pt x="118" y="94"/>
                  </a:lnTo>
                  <a:lnTo>
                    <a:pt x="134" y="104"/>
                  </a:lnTo>
                  <a:lnTo>
                    <a:pt x="142" y="94"/>
                  </a:lnTo>
                  <a:lnTo>
                    <a:pt x="154" y="83"/>
                  </a:lnTo>
                  <a:lnTo>
                    <a:pt x="162" y="69"/>
                  </a:lnTo>
                  <a:lnTo>
                    <a:pt x="170" y="55"/>
                  </a:lnTo>
                  <a:lnTo>
                    <a:pt x="175" y="37"/>
                  </a:lnTo>
                  <a:lnTo>
                    <a:pt x="173" y="21"/>
                  </a:lnTo>
                  <a:lnTo>
                    <a:pt x="173" y="14"/>
                  </a:lnTo>
                  <a:lnTo>
                    <a:pt x="176" y="7"/>
                  </a:lnTo>
                  <a:lnTo>
                    <a:pt x="180" y="2"/>
                  </a:lnTo>
                  <a:lnTo>
                    <a:pt x="186" y="0"/>
                  </a:lnTo>
                  <a:lnTo>
                    <a:pt x="192" y="0"/>
                  </a:lnTo>
                  <a:close/>
                </a:path>
              </a:pathLst>
            </a:custGeom>
            <a:grpFill/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Light"/>
              </a:endParaRPr>
            </a:p>
          </p:txBody>
        </p:sp>
        <p:sp>
          <p:nvSpPr>
            <p:cNvPr id="247" name="Freeform 321">
              <a:extLst>
                <a:ext uri="{FF2B5EF4-FFF2-40B4-BE49-F238E27FC236}">
                  <a16:creationId xmlns:a16="http://schemas.microsoft.com/office/drawing/2014/main" id="{B9D246FD-9FED-0F02-1C6E-1145D9D039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4" y="1973"/>
              <a:ext cx="38" cy="132"/>
            </a:xfrm>
            <a:custGeom>
              <a:avLst/>
              <a:gdLst>
                <a:gd name="T0" fmla="*/ 0 w 193"/>
                <a:gd name="T1" fmla="*/ 0 h 662"/>
                <a:gd name="T2" fmla="*/ 193 w 193"/>
                <a:gd name="T3" fmla="*/ 0 h 662"/>
                <a:gd name="T4" fmla="*/ 96 w 193"/>
                <a:gd name="T5" fmla="*/ 662 h 662"/>
                <a:gd name="T6" fmla="*/ 0 w 193"/>
                <a:gd name="T7" fmla="*/ 0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3" h="662">
                  <a:moveTo>
                    <a:pt x="0" y="0"/>
                  </a:moveTo>
                  <a:lnTo>
                    <a:pt x="193" y="0"/>
                  </a:lnTo>
                  <a:lnTo>
                    <a:pt x="96" y="66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Light"/>
              </a:endParaRPr>
            </a:p>
          </p:txBody>
        </p:sp>
        <p:sp>
          <p:nvSpPr>
            <p:cNvPr id="248" name="Freeform 322">
              <a:extLst>
                <a:ext uri="{FF2B5EF4-FFF2-40B4-BE49-F238E27FC236}">
                  <a16:creationId xmlns:a16="http://schemas.microsoft.com/office/drawing/2014/main" id="{26101923-B705-DAAC-28FB-4755240871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7" y="2010"/>
              <a:ext cx="84" cy="126"/>
            </a:xfrm>
            <a:custGeom>
              <a:avLst/>
              <a:gdLst>
                <a:gd name="T0" fmla="*/ 173 w 422"/>
                <a:gd name="T1" fmla="*/ 0 h 626"/>
                <a:gd name="T2" fmla="*/ 422 w 422"/>
                <a:gd name="T3" fmla="*/ 626 h 626"/>
                <a:gd name="T4" fmla="*/ 0 w 422"/>
                <a:gd name="T5" fmla="*/ 100 h 626"/>
                <a:gd name="T6" fmla="*/ 173 w 422"/>
                <a:gd name="T7" fmla="*/ 0 h 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22" h="626">
                  <a:moveTo>
                    <a:pt x="173" y="0"/>
                  </a:moveTo>
                  <a:lnTo>
                    <a:pt x="422" y="626"/>
                  </a:lnTo>
                  <a:lnTo>
                    <a:pt x="0" y="100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Light"/>
              </a:endParaRPr>
            </a:p>
          </p:txBody>
        </p:sp>
        <p:sp>
          <p:nvSpPr>
            <p:cNvPr id="249" name="Freeform 323">
              <a:extLst>
                <a:ext uri="{FF2B5EF4-FFF2-40B4-BE49-F238E27FC236}">
                  <a16:creationId xmlns:a16="http://schemas.microsoft.com/office/drawing/2014/main" id="{9BF92E0B-E3D3-5F61-E409-765D095E4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4" y="2133"/>
              <a:ext cx="126" cy="84"/>
            </a:xfrm>
            <a:custGeom>
              <a:avLst/>
              <a:gdLst>
                <a:gd name="T0" fmla="*/ 100 w 630"/>
                <a:gd name="T1" fmla="*/ 0 h 418"/>
                <a:gd name="T2" fmla="*/ 630 w 630"/>
                <a:gd name="T3" fmla="*/ 418 h 418"/>
                <a:gd name="T4" fmla="*/ 0 w 630"/>
                <a:gd name="T5" fmla="*/ 170 h 418"/>
                <a:gd name="T6" fmla="*/ 100 w 630"/>
                <a:gd name="T7" fmla="*/ 0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0" h="418">
                  <a:moveTo>
                    <a:pt x="100" y="0"/>
                  </a:moveTo>
                  <a:lnTo>
                    <a:pt x="630" y="418"/>
                  </a:lnTo>
                  <a:lnTo>
                    <a:pt x="0" y="170"/>
                  </a:lnTo>
                  <a:lnTo>
                    <a:pt x="100" y="0"/>
                  </a:lnTo>
                  <a:close/>
                </a:path>
              </a:pathLst>
            </a:custGeom>
            <a:grpFill/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Light"/>
              </a:endParaRPr>
            </a:p>
          </p:txBody>
        </p:sp>
        <p:sp>
          <p:nvSpPr>
            <p:cNvPr id="250" name="Freeform 324">
              <a:extLst>
                <a:ext uri="{FF2B5EF4-FFF2-40B4-BE49-F238E27FC236}">
                  <a16:creationId xmlns:a16="http://schemas.microsoft.com/office/drawing/2014/main" id="{511A6372-DDD5-C4A9-8F55-4B1587B568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6" y="2309"/>
              <a:ext cx="133" cy="38"/>
            </a:xfrm>
            <a:custGeom>
              <a:avLst/>
              <a:gdLst>
                <a:gd name="T0" fmla="*/ 0 w 666"/>
                <a:gd name="T1" fmla="*/ 0 h 192"/>
                <a:gd name="T2" fmla="*/ 666 w 666"/>
                <a:gd name="T3" fmla="*/ 96 h 192"/>
                <a:gd name="T4" fmla="*/ 0 w 666"/>
                <a:gd name="T5" fmla="*/ 192 h 192"/>
                <a:gd name="T6" fmla="*/ 0 w 666"/>
                <a:gd name="T7" fmla="*/ 0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6" h="192">
                  <a:moveTo>
                    <a:pt x="0" y="0"/>
                  </a:moveTo>
                  <a:lnTo>
                    <a:pt x="666" y="96"/>
                  </a:lnTo>
                  <a:lnTo>
                    <a:pt x="0" y="19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Light"/>
              </a:endParaRPr>
            </a:p>
          </p:txBody>
        </p:sp>
        <p:sp>
          <p:nvSpPr>
            <p:cNvPr id="251" name="Freeform 325">
              <a:extLst>
                <a:ext uri="{FF2B5EF4-FFF2-40B4-BE49-F238E27FC236}">
                  <a16:creationId xmlns:a16="http://schemas.microsoft.com/office/drawing/2014/main" id="{7CD70D46-FCC4-62BA-74CE-ECA0B36152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4" y="2439"/>
              <a:ext cx="126" cy="83"/>
            </a:xfrm>
            <a:custGeom>
              <a:avLst/>
              <a:gdLst>
                <a:gd name="T0" fmla="*/ 630 w 630"/>
                <a:gd name="T1" fmla="*/ 0 h 419"/>
                <a:gd name="T2" fmla="*/ 100 w 630"/>
                <a:gd name="T3" fmla="*/ 419 h 419"/>
                <a:gd name="T4" fmla="*/ 0 w 630"/>
                <a:gd name="T5" fmla="*/ 248 h 419"/>
                <a:gd name="T6" fmla="*/ 630 w 630"/>
                <a:gd name="T7" fmla="*/ 0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0" h="419">
                  <a:moveTo>
                    <a:pt x="630" y="0"/>
                  </a:moveTo>
                  <a:lnTo>
                    <a:pt x="100" y="419"/>
                  </a:lnTo>
                  <a:lnTo>
                    <a:pt x="0" y="248"/>
                  </a:lnTo>
                  <a:lnTo>
                    <a:pt x="630" y="0"/>
                  </a:lnTo>
                  <a:close/>
                </a:path>
              </a:pathLst>
            </a:custGeom>
            <a:grpFill/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Light"/>
              </a:endParaRPr>
            </a:p>
          </p:txBody>
        </p:sp>
        <p:sp>
          <p:nvSpPr>
            <p:cNvPr id="252" name="Freeform 326">
              <a:extLst>
                <a:ext uri="{FF2B5EF4-FFF2-40B4-BE49-F238E27FC236}">
                  <a16:creationId xmlns:a16="http://schemas.microsoft.com/office/drawing/2014/main" id="{B94E8027-5162-C413-8C03-155ADE3DEE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6" y="2439"/>
              <a:ext cx="126" cy="83"/>
            </a:xfrm>
            <a:custGeom>
              <a:avLst/>
              <a:gdLst>
                <a:gd name="T0" fmla="*/ 0 w 630"/>
                <a:gd name="T1" fmla="*/ 0 h 419"/>
                <a:gd name="T2" fmla="*/ 630 w 630"/>
                <a:gd name="T3" fmla="*/ 248 h 419"/>
                <a:gd name="T4" fmla="*/ 530 w 630"/>
                <a:gd name="T5" fmla="*/ 419 h 419"/>
                <a:gd name="T6" fmla="*/ 0 w 630"/>
                <a:gd name="T7" fmla="*/ 0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0" h="419">
                  <a:moveTo>
                    <a:pt x="0" y="0"/>
                  </a:moveTo>
                  <a:lnTo>
                    <a:pt x="630" y="248"/>
                  </a:lnTo>
                  <a:lnTo>
                    <a:pt x="530" y="41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Light"/>
              </a:endParaRPr>
            </a:p>
          </p:txBody>
        </p:sp>
        <p:sp>
          <p:nvSpPr>
            <p:cNvPr id="253" name="Freeform 327">
              <a:extLst>
                <a:ext uri="{FF2B5EF4-FFF2-40B4-BE49-F238E27FC236}">
                  <a16:creationId xmlns:a16="http://schemas.microsoft.com/office/drawing/2014/main" id="{11C00F5F-3453-38C1-65D0-B037CA0A3A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7" y="2309"/>
              <a:ext cx="133" cy="38"/>
            </a:xfrm>
            <a:custGeom>
              <a:avLst/>
              <a:gdLst>
                <a:gd name="T0" fmla="*/ 666 w 666"/>
                <a:gd name="T1" fmla="*/ 0 h 192"/>
                <a:gd name="T2" fmla="*/ 666 w 666"/>
                <a:gd name="T3" fmla="*/ 192 h 192"/>
                <a:gd name="T4" fmla="*/ 0 w 666"/>
                <a:gd name="T5" fmla="*/ 96 h 192"/>
                <a:gd name="T6" fmla="*/ 666 w 666"/>
                <a:gd name="T7" fmla="*/ 0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6" h="192">
                  <a:moveTo>
                    <a:pt x="666" y="0"/>
                  </a:moveTo>
                  <a:lnTo>
                    <a:pt x="666" y="192"/>
                  </a:lnTo>
                  <a:lnTo>
                    <a:pt x="0" y="96"/>
                  </a:lnTo>
                  <a:lnTo>
                    <a:pt x="666" y="0"/>
                  </a:lnTo>
                  <a:close/>
                </a:path>
              </a:pathLst>
            </a:custGeom>
            <a:grpFill/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Light"/>
              </a:endParaRPr>
            </a:p>
          </p:txBody>
        </p:sp>
        <p:sp>
          <p:nvSpPr>
            <p:cNvPr id="254" name="Freeform 328">
              <a:extLst>
                <a:ext uri="{FF2B5EF4-FFF2-40B4-BE49-F238E27FC236}">
                  <a16:creationId xmlns:a16="http://schemas.microsoft.com/office/drawing/2014/main" id="{FE4D4819-56F1-6C18-FBCE-C22B03B6BD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6" y="2133"/>
              <a:ext cx="126" cy="84"/>
            </a:xfrm>
            <a:custGeom>
              <a:avLst/>
              <a:gdLst>
                <a:gd name="T0" fmla="*/ 530 w 630"/>
                <a:gd name="T1" fmla="*/ 0 h 418"/>
                <a:gd name="T2" fmla="*/ 630 w 630"/>
                <a:gd name="T3" fmla="*/ 170 h 418"/>
                <a:gd name="T4" fmla="*/ 0 w 630"/>
                <a:gd name="T5" fmla="*/ 418 h 418"/>
                <a:gd name="T6" fmla="*/ 530 w 630"/>
                <a:gd name="T7" fmla="*/ 0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0" h="418">
                  <a:moveTo>
                    <a:pt x="530" y="0"/>
                  </a:moveTo>
                  <a:lnTo>
                    <a:pt x="630" y="170"/>
                  </a:lnTo>
                  <a:lnTo>
                    <a:pt x="0" y="418"/>
                  </a:lnTo>
                  <a:lnTo>
                    <a:pt x="530" y="0"/>
                  </a:lnTo>
                  <a:close/>
                </a:path>
              </a:pathLst>
            </a:custGeom>
            <a:grpFill/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Light"/>
              </a:endParaRPr>
            </a:p>
          </p:txBody>
        </p:sp>
        <p:sp>
          <p:nvSpPr>
            <p:cNvPr id="255" name="Freeform 329">
              <a:extLst>
                <a:ext uri="{FF2B5EF4-FFF2-40B4-BE49-F238E27FC236}">
                  <a16:creationId xmlns:a16="http://schemas.microsoft.com/office/drawing/2014/main" id="{54D16769-521F-F9F0-60A1-8A7DECDE3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4" y="2010"/>
              <a:ext cx="85" cy="126"/>
            </a:xfrm>
            <a:custGeom>
              <a:avLst/>
              <a:gdLst>
                <a:gd name="T0" fmla="*/ 249 w 422"/>
                <a:gd name="T1" fmla="*/ 0 h 626"/>
                <a:gd name="T2" fmla="*/ 422 w 422"/>
                <a:gd name="T3" fmla="*/ 100 h 626"/>
                <a:gd name="T4" fmla="*/ 0 w 422"/>
                <a:gd name="T5" fmla="*/ 626 h 626"/>
                <a:gd name="T6" fmla="*/ 249 w 422"/>
                <a:gd name="T7" fmla="*/ 0 h 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22" h="626">
                  <a:moveTo>
                    <a:pt x="249" y="0"/>
                  </a:moveTo>
                  <a:lnTo>
                    <a:pt x="422" y="100"/>
                  </a:lnTo>
                  <a:lnTo>
                    <a:pt x="0" y="626"/>
                  </a:lnTo>
                  <a:lnTo>
                    <a:pt x="249" y="0"/>
                  </a:lnTo>
                  <a:close/>
                </a:path>
              </a:pathLst>
            </a:custGeom>
            <a:grpFill/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Light"/>
              </a:endParaRPr>
            </a:p>
          </p:txBody>
        </p:sp>
      </p:grpSp>
      <p:pic>
        <p:nvPicPr>
          <p:cNvPr id="257" name="Graphic 256">
            <a:extLst>
              <a:ext uri="{FF2B5EF4-FFF2-40B4-BE49-F238E27FC236}">
                <a16:creationId xmlns:a16="http://schemas.microsoft.com/office/drawing/2014/main" id="{019E405D-6F7A-D9DC-CBF3-D14651B8B0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00563" y="3115397"/>
            <a:ext cx="440914" cy="321344"/>
          </a:xfrm>
          <a:prstGeom prst="rect">
            <a:avLst/>
          </a:prstGeom>
        </p:spPr>
      </p:pic>
      <p:grpSp>
        <p:nvGrpSpPr>
          <p:cNvPr id="258" name="Group 257">
            <a:extLst>
              <a:ext uri="{FF2B5EF4-FFF2-40B4-BE49-F238E27FC236}">
                <a16:creationId xmlns:a16="http://schemas.microsoft.com/office/drawing/2014/main" id="{0D450534-2F25-C282-10EE-D6F2F1E669DC}"/>
              </a:ext>
            </a:extLst>
          </p:cNvPr>
          <p:cNvGrpSpPr/>
          <p:nvPr/>
        </p:nvGrpSpPr>
        <p:grpSpPr>
          <a:xfrm>
            <a:off x="10767287" y="2844174"/>
            <a:ext cx="1329924" cy="1666595"/>
            <a:chOff x="1968235" y="2129821"/>
            <a:chExt cx="1988638" cy="790533"/>
          </a:xfrm>
        </p:grpSpPr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608FCF7F-D6DF-F0B4-4F45-27B7B41AC2F7}"/>
                </a:ext>
              </a:extLst>
            </p:cNvPr>
            <p:cNvSpPr/>
            <p:nvPr/>
          </p:nvSpPr>
          <p:spPr>
            <a:xfrm>
              <a:off x="2591335" y="2129821"/>
              <a:ext cx="49484" cy="49079"/>
            </a:xfrm>
            <a:prstGeom prst="rect">
              <a:avLst/>
            </a:prstGeom>
            <a:solidFill>
              <a:schemeClr val="accent1"/>
            </a:solidFill>
            <a:ln w="447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FCB311B7-0000-F143-8085-9D5FE4AE0FF7}"/>
                </a:ext>
              </a:extLst>
            </p:cNvPr>
            <p:cNvSpPr/>
            <p:nvPr/>
          </p:nvSpPr>
          <p:spPr>
            <a:xfrm>
              <a:off x="3907389" y="2297819"/>
              <a:ext cx="49484" cy="49080"/>
            </a:xfrm>
            <a:prstGeom prst="rect">
              <a:avLst/>
            </a:prstGeom>
            <a:solidFill>
              <a:schemeClr val="accent1"/>
            </a:solidFill>
            <a:ln w="447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B50B54E-4F01-13AA-4310-A0E7F4C5F4A8}"/>
                </a:ext>
              </a:extLst>
            </p:cNvPr>
            <p:cNvSpPr/>
            <p:nvPr/>
          </p:nvSpPr>
          <p:spPr>
            <a:xfrm>
              <a:off x="1968235" y="2152024"/>
              <a:ext cx="621995" cy="768330"/>
            </a:xfrm>
            <a:custGeom>
              <a:avLst/>
              <a:gdLst>
                <a:gd name="connsiteX0" fmla="*/ 0 w 1639272"/>
                <a:gd name="connsiteY0" fmla="*/ 1651143 h 1651142"/>
                <a:gd name="connsiteX1" fmla="*/ 0 w 1639272"/>
                <a:gd name="connsiteY1" fmla="*/ 0 h 1651142"/>
                <a:gd name="connsiteX2" fmla="*/ 1639273 w 1639272"/>
                <a:gd name="connsiteY2" fmla="*/ 0 h 165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39272" h="1651142">
                  <a:moveTo>
                    <a:pt x="0" y="1651143"/>
                  </a:moveTo>
                  <a:lnTo>
                    <a:pt x="0" y="0"/>
                  </a:lnTo>
                  <a:lnTo>
                    <a:pt x="1639273" y="0"/>
                  </a:lnTo>
                </a:path>
              </a:pathLst>
            </a:custGeom>
            <a:noFill/>
            <a:ln w="40302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C566D90-8F19-7E41-0A8B-99D90B373A0B}"/>
                </a:ext>
              </a:extLst>
            </p:cNvPr>
            <p:cNvSpPr/>
            <p:nvPr/>
          </p:nvSpPr>
          <p:spPr>
            <a:xfrm>
              <a:off x="1968236" y="2346899"/>
              <a:ext cx="1963896" cy="555974"/>
            </a:xfrm>
            <a:custGeom>
              <a:avLst/>
              <a:gdLst>
                <a:gd name="connsiteX0" fmla="*/ 0 w 3337628"/>
                <a:gd name="connsiteY0" fmla="*/ 1156620 h 1684827"/>
                <a:gd name="connsiteX1" fmla="*/ 0 w 3337628"/>
                <a:gd name="connsiteY1" fmla="*/ 1684828 h 1684827"/>
                <a:gd name="connsiteX2" fmla="*/ 3337629 w 3337628"/>
                <a:gd name="connsiteY2" fmla="*/ 1684828 h 1684827"/>
                <a:gd name="connsiteX3" fmla="*/ 3337629 w 3337628"/>
                <a:gd name="connsiteY3" fmla="*/ 0 h 1684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37628" h="1684827">
                  <a:moveTo>
                    <a:pt x="0" y="1156620"/>
                  </a:moveTo>
                  <a:lnTo>
                    <a:pt x="0" y="1684828"/>
                  </a:lnTo>
                  <a:lnTo>
                    <a:pt x="3337629" y="1684828"/>
                  </a:lnTo>
                  <a:lnTo>
                    <a:pt x="3337629" y="0"/>
                  </a:lnTo>
                </a:path>
              </a:pathLst>
            </a:custGeom>
            <a:noFill/>
            <a:ln w="40302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  <p:cxnSp>
          <p:nvCxnSpPr>
            <p:cNvPr id="263" name="Connector: Elbow 262">
              <a:extLst>
                <a:ext uri="{FF2B5EF4-FFF2-40B4-BE49-F238E27FC236}">
                  <a16:creationId xmlns:a16="http://schemas.microsoft.com/office/drawing/2014/main" id="{EEC203E8-5CB2-A98F-E0DC-EEA4AF8F158C}"/>
                </a:ext>
              </a:extLst>
            </p:cNvPr>
            <p:cNvCxnSpPr>
              <a:cxnSpLocks/>
              <a:stCxn id="259" idx="3"/>
              <a:endCxn id="260" idx="0"/>
            </p:cNvCxnSpPr>
            <p:nvPr/>
          </p:nvCxnSpPr>
          <p:spPr>
            <a:xfrm>
              <a:off x="2640819" y="2154361"/>
              <a:ext cx="1291312" cy="143458"/>
            </a:xfrm>
            <a:prstGeom prst="bentConnector2">
              <a:avLst/>
            </a:prstGeom>
            <a:ln w="15875">
              <a:solidFill>
                <a:schemeClr val="accent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5" name="Arrow: Chevron 264">
            <a:extLst>
              <a:ext uri="{FF2B5EF4-FFF2-40B4-BE49-F238E27FC236}">
                <a16:creationId xmlns:a16="http://schemas.microsoft.com/office/drawing/2014/main" id="{3DFFCC23-0F3D-414A-669C-3F12CF09DE79}"/>
              </a:ext>
            </a:extLst>
          </p:cNvPr>
          <p:cNvSpPr/>
          <p:nvPr/>
        </p:nvSpPr>
        <p:spPr>
          <a:xfrm>
            <a:off x="189231" y="897423"/>
            <a:ext cx="2480397" cy="425506"/>
          </a:xfrm>
          <a:prstGeom prst="chevron">
            <a:avLst/>
          </a:prstGeom>
          <a:solidFill>
            <a:srgbClr val="004E4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</a:rPr>
              <a:t>Current Sources</a:t>
            </a:r>
          </a:p>
        </p:txBody>
      </p:sp>
      <p:sp>
        <p:nvSpPr>
          <p:cNvPr id="267" name="Arrow: Chevron 266">
            <a:extLst>
              <a:ext uri="{FF2B5EF4-FFF2-40B4-BE49-F238E27FC236}">
                <a16:creationId xmlns:a16="http://schemas.microsoft.com/office/drawing/2014/main" id="{A3506647-82F2-7ACE-D5DA-CF59B03C65A9}"/>
              </a:ext>
            </a:extLst>
          </p:cNvPr>
          <p:cNvSpPr/>
          <p:nvPr/>
        </p:nvSpPr>
        <p:spPr>
          <a:xfrm>
            <a:off x="2698685" y="892840"/>
            <a:ext cx="2659699" cy="425506"/>
          </a:xfrm>
          <a:prstGeom prst="chevron">
            <a:avLst/>
          </a:prstGeom>
          <a:solidFill>
            <a:srgbClr val="004E4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</a:rPr>
              <a:t>Forecast Power from GHI</a:t>
            </a:r>
          </a:p>
        </p:txBody>
      </p:sp>
      <p:sp>
        <p:nvSpPr>
          <p:cNvPr id="268" name="Arrow: Chevron 267">
            <a:extLst>
              <a:ext uri="{FF2B5EF4-FFF2-40B4-BE49-F238E27FC236}">
                <a16:creationId xmlns:a16="http://schemas.microsoft.com/office/drawing/2014/main" id="{BC9AB477-8EC0-C58B-6E1C-775A327CB452}"/>
              </a:ext>
            </a:extLst>
          </p:cNvPr>
          <p:cNvSpPr/>
          <p:nvPr/>
        </p:nvSpPr>
        <p:spPr>
          <a:xfrm>
            <a:off x="5526801" y="902590"/>
            <a:ext cx="2214514" cy="425506"/>
          </a:xfrm>
          <a:prstGeom prst="chevron">
            <a:avLst/>
          </a:prstGeom>
          <a:solidFill>
            <a:srgbClr val="004E4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Weather Pattern</a:t>
            </a:r>
          </a:p>
        </p:txBody>
      </p:sp>
      <p:sp>
        <p:nvSpPr>
          <p:cNvPr id="269" name="Arrow: Chevron 268">
            <a:extLst>
              <a:ext uri="{FF2B5EF4-FFF2-40B4-BE49-F238E27FC236}">
                <a16:creationId xmlns:a16="http://schemas.microsoft.com/office/drawing/2014/main" id="{B040ED4D-A8B8-89BB-2DF5-8A7A1CA3A777}"/>
              </a:ext>
            </a:extLst>
          </p:cNvPr>
          <p:cNvSpPr/>
          <p:nvPr/>
        </p:nvSpPr>
        <p:spPr>
          <a:xfrm>
            <a:off x="8027955" y="902590"/>
            <a:ext cx="2214514" cy="425506"/>
          </a:xfrm>
          <a:prstGeom prst="chevron">
            <a:avLst/>
          </a:prstGeom>
          <a:solidFill>
            <a:srgbClr val="004E4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Forecast Adjustment</a:t>
            </a:r>
          </a:p>
        </p:txBody>
      </p:sp>
      <p:sp>
        <p:nvSpPr>
          <p:cNvPr id="270" name="Arrow: Chevron 269">
            <a:extLst>
              <a:ext uri="{FF2B5EF4-FFF2-40B4-BE49-F238E27FC236}">
                <a16:creationId xmlns:a16="http://schemas.microsoft.com/office/drawing/2014/main" id="{C02527FB-28F9-54D3-B291-66AFA016E055}"/>
              </a:ext>
            </a:extLst>
          </p:cNvPr>
          <p:cNvSpPr/>
          <p:nvPr/>
        </p:nvSpPr>
        <p:spPr>
          <a:xfrm>
            <a:off x="10327200" y="916194"/>
            <a:ext cx="1864799" cy="425506"/>
          </a:xfrm>
          <a:prstGeom prst="chevron">
            <a:avLst/>
          </a:prstGeom>
          <a:solidFill>
            <a:srgbClr val="004E4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</a:rPr>
              <a:t>Scheduled  Power</a:t>
            </a: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861A6074-43A7-F651-12E2-D84639B0FD02}"/>
              </a:ext>
            </a:extLst>
          </p:cNvPr>
          <p:cNvSpPr txBox="1"/>
          <p:nvPr/>
        </p:nvSpPr>
        <p:spPr>
          <a:xfrm>
            <a:off x="10919643" y="2714962"/>
            <a:ext cx="1073653" cy="263902"/>
          </a:xfrm>
          <a:prstGeom prst="roundRect">
            <a:avLst/>
          </a:prstGeom>
          <a:solidFill>
            <a:schemeClr val="accent3"/>
          </a:solidFill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Output</a:t>
            </a: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812F487F-6D9B-E19F-D009-363FD8687A9C}"/>
              </a:ext>
            </a:extLst>
          </p:cNvPr>
          <p:cNvSpPr txBox="1"/>
          <p:nvPr/>
        </p:nvSpPr>
        <p:spPr>
          <a:xfrm>
            <a:off x="6957593" y="6785956"/>
            <a:ext cx="48347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0" i="1">
                <a:solidFill>
                  <a:srgbClr val="424242"/>
                </a:solidFill>
                <a:effectLst/>
              </a:rPr>
              <a:t>* Solar – Day Ahead model to be built as Step 1. On successful output of Step 1, Solar – Intraday as step 2 will be taken up. All common features from Step 1 will be used in Step 2.</a:t>
            </a:r>
            <a:endParaRPr lang="en-US" sz="800" b="1" i="1">
              <a:solidFill>
                <a:srgbClr val="424242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7D1D7CC-B1D5-559B-E82B-31F4BB3A076F}"/>
              </a:ext>
            </a:extLst>
          </p:cNvPr>
          <p:cNvSpPr/>
          <p:nvPr/>
        </p:nvSpPr>
        <p:spPr>
          <a:xfrm>
            <a:off x="42931" y="2573931"/>
            <a:ext cx="2301279" cy="2548821"/>
          </a:xfrm>
          <a:prstGeom prst="round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73E23F3D-31FC-BBAD-7E18-28F217D913F4}"/>
              </a:ext>
            </a:extLst>
          </p:cNvPr>
          <p:cNvSpPr txBox="1"/>
          <p:nvPr/>
        </p:nvSpPr>
        <p:spPr>
          <a:xfrm>
            <a:off x="656743" y="2297860"/>
            <a:ext cx="1073653" cy="553343"/>
          </a:xfrm>
          <a:prstGeom prst="roundRect">
            <a:avLst/>
          </a:prstGeom>
          <a:solidFill>
            <a:schemeClr val="accent3"/>
          </a:solidFill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Input Sources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2C19A11-C69B-B530-9580-BC43B3D9781E}"/>
              </a:ext>
            </a:extLst>
          </p:cNvPr>
          <p:cNvSpPr/>
          <p:nvPr/>
        </p:nvSpPr>
        <p:spPr>
          <a:xfrm>
            <a:off x="2783399" y="2573932"/>
            <a:ext cx="2510977" cy="2548815"/>
          </a:xfrm>
          <a:prstGeom prst="round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1EAF477F-DD91-D12C-EC54-F08586EE432B}"/>
              </a:ext>
            </a:extLst>
          </p:cNvPr>
          <p:cNvSpPr txBox="1"/>
          <p:nvPr/>
        </p:nvSpPr>
        <p:spPr>
          <a:xfrm>
            <a:off x="3318738" y="2418566"/>
            <a:ext cx="1440297" cy="301213"/>
          </a:xfrm>
          <a:prstGeom prst="roundRect">
            <a:avLst>
              <a:gd name="adj" fmla="val 9737"/>
            </a:avLst>
          </a:prstGeom>
          <a:solidFill>
            <a:schemeClr val="accent3"/>
          </a:solidFill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>
                <a:solidFill>
                  <a:prstClr val="white"/>
                </a:solidFill>
                <a:latin typeface="Poppins"/>
                <a:cs typeface="+mn-cs"/>
              </a:rPr>
              <a:t>GHI TO Power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673A0B7-123C-2F5F-BFC5-6CAE6C302460}"/>
              </a:ext>
            </a:extLst>
          </p:cNvPr>
          <p:cNvSpPr/>
          <p:nvPr/>
        </p:nvSpPr>
        <p:spPr>
          <a:xfrm>
            <a:off x="5653374" y="2489534"/>
            <a:ext cx="2301279" cy="2548815"/>
          </a:xfrm>
          <a:prstGeom prst="round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D5C957-ED77-E75C-9AF5-85DF223FF1F7}"/>
              </a:ext>
            </a:extLst>
          </p:cNvPr>
          <p:cNvSpPr txBox="1"/>
          <p:nvPr/>
        </p:nvSpPr>
        <p:spPr>
          <a:xfrm>
            <a:off x="6095999" y="2337762"/>
            <a:ext cx="1440297" cy="301213"/>
          </a:xfrm>
          <a:prstGeom prst="roundRect">
            <a:avLst>
              <a:gd name="adj" fmla="val 9737"/>
            </a:avLst>
          </a:prstGeom>
          <a:solidFill>
            <a:schemeClr val="accent3"/>
          </a:solidFill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>
                <a:solidFill>
                  <a:prstClr val="white"/>
                </a:solidFill>
                <a:latin typeface="Poppins"/>
                <a:cs typeface="+mn-cs"/>
              </a:rPr>
              <a:t>Weather Data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B592D0A-59A5-A5E2-D89B-404AE50DFE82}"/>
              </a:ext>
            </a:extLst>
          </p:cNvPr>
          <p:cNvSpPr txBox="1">
            <a:spLocks/>
          </p:cNvSpPr>
          <p:nvPr/>
        </p:nvSpPr>
        <p:spPr>
          <a:xfrm>
            <a:off x="357648" y="154799"/>
            <a:ext cx="10967687" cy="78612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lang="de-DE" sz="2000" b="1" kern="1200">
                <a:solidFill>
                  <a:schemeClr val="tx1"/>
                </a:solidFill>
                <a:latin typeface="Adani Regular" panose="02000503000000020004" pitchFamily="2" charset="0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/>
              <a:t>Existing Architecture (As-Is) before Introduction of the New Solution </a:t>
            </a:r>
            <a:br>
              <a:rPr lang="en-US"/>
            </a:br>
            <a:r>
              <a:rPr lang="en-US" sz="1400" b="0"/>
              <a:t>(Architecture Components depicting the different existing Applications in the BU/Function)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4ECB28A-6D71-DE95-D2FD-BFB0DF8DBB05}"/>
              </a:ext>
            </a:extLst>
          </p:cNvPr>
          <p:cNvGrpSpPr/>
          <p:nvPr/>
        </p:nvGrpSpPr>
        <p:grpSpPr>
          <a:xfrm>
            <a:off x="8125227" y="3781325"/>
            <a:ext cx="190619" cy="239760"/>
            <a:chOff x="1607749" y="3416181"/>
            <a:chExt cx="398211" cy="366617"/>
          </a:xfrm>
          <a:solidFill>
            <a:srgbClr val="004E42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C44AF50-7C45-098E-B1A3-CB4C3D9E1FB3}"/>
                </a:ext>
              </a:extLst>
            </p:cNvPr>
            <p:cNvSpPr/>
            <p:nvPr/>
          </p:nvSpPr>
          <p:spPr>
            <a:xfrm>
              <a:off x="1607749" y="3416181"/>
              <a:ext cx="398211" cy="366617"/>
            </a:xfrm>
            <a:custGeom>
              <a:avLst/>
              <a:gdLst>
                <a:gd name="connsiteX0" fmla="*/ 99404 w 398211"/>
                <a:gd name="connsiteY0" fmla="*/ 182317 h 366617"/>
                <a:gd name="connsiteX1" fmla="*/ 2585 w 398211"/>
                <a:gd name="connsiteY1" fmla="*/ 366618 h 366617"/>
                <a:gd name="connsiteX2" fmla="*/ 398212 w 398211"/>
                <a:gd name="connsiteY2" fmla="*/ 180174 h 366617"/>
                <a:gd name="connsiteX3" fmla="*/ 0 w 398211"/>
                <a:gd name="connsiteY3" fmla="*/ 0 h 366617"/>
                <a:gd name="connsiteX4" fmla="*/ 99404 w 398211"/>
                <a:gd name="connsiteY4" fmla="*/ 182317 h 36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8211" h="366617">
                  <a:moveTo>
                    <a:pt x="99404" y="182317"/>
                  </a:moveTo>
                  <a:lnTo>
                    <a:pt x="2585" y="366618"/>
                  </a:lnTo>
                  <a:lnTo>
                    <a:pt x="398212" y="180174"/>
                  </a:lnTo>
                  <a:lnTo>
                    <a:pt x="0" y="0"/>
                  </a:lnTo>
                  <a:lnTo>
                    <a:pt x="99404" y="182317"/>
                  </a:lnTo>
                  <a:close/>
                </a:path>
              </a:pathLst>
            </a:custGeom>
            <a:grpFill/>
            <a:ln w="45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Meiryo UI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80981D3-9629-8799-02FD-9D2956EDE3B9}"/>
                </a:ext>
              </a:extLst>
            </p:cNvPr>
            <p:cNvSpPr/>
            <p:nvPr/>
          </p:nvSpPr>
          <p:spPr>
            <a:xfrm>
              <a:off x="1607749" y="3416181"/>
              <a:ext cx="398211" cy="182316"/>
            </a:xfrm>
            <a:custGeom>
              <a:avLst/>
              <a:gdLst>
                <a:gd name="connsiteX0" fmla="*/ 99404 w 398211"/>
                <a:gd name="connsiteY0" fmla="*/ 182317 h 182316"/>
                <a:gd name="connsiteX1" fmla="*/ 398212 w 398211"/>
                <a:gd name="connsiteY1" fmla="*/ 180174 h 182316"/>
                <a:gd name="connsiteX2" fmla="*/ 0 w 398211"/>
                <a:gd name="connsiteY2" fmla="*/ 0 h 182316"/>
                <a:gd name="connsiteX3" fmla="*/ 99404 w 398211"/>
                <a:gd name="connsiteY3" fmla="*/ 182317 h 182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8211" h="182316">
                  <a:moveTo>
                    <a:pt x="99404" y="182317"/>
                  </a:moveTo>
                  <a:lnTo>
                    <a:pt x="398212" y="180174"/>
                  </a:lnTo>
                  <a:lnTo>
                    <a:pt x="0" y="0"/>
                  </a:lnTo>
                  <a:lnTo>
                    <a:pt x="99404" y="182317"/>
                  </a:lnTo>
                  <a:close/>
                </a:path>
              </a:pathLst>
            </a:custGeom>
            <a:grpFill/>
            <a:ln w="45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Meiryo UI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DD12246-FA2A-A913-2F7E-6C6E984E9623}"/>
              </a:ext>
            </a:extLst>
          </p:cNvPr>
          <p:cNvGrpSpPr/>
          <p:nvPr/>
        </p:nvGrpSpPr>
        <p:grpSpPr>
          <a:xfrm>
            <a:off x="5407313" y="3733502"/>
            <a:ext cx="190619" cy="239760"/>
            <a:chOff x="1607749" y="3416181"/>
            <a:chExt cx="398211" cy="366617"/>
          </a:xfrm>
          <a:solidFill>
            <a:srgbClr val="004E42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8DF799D-1CCA-6697-F5C2-251E96B0419C}"/>
                </a:ext>
              </a:extLst>
            </p:cNvPr>
            <p:cNvSpPr/>
            <p:nvPr/>
          </p:nvSpPr>
          <p:spPr>
            <a:xfrm>
              <a:off x="1607749" y="3416181"/>
              <a:ext cx="398211" cy="366617"/>
            </a:xfrm>
            <a:custGeom>
              <a:avLst/>
              <a:gdLst>
                <a:gd name="connsiteX0" fmla="*/ 99404 w 398211"/>
                <a:gd name="connsiteY0" fmla="*/ 182317 h 366617"/>
                <a:gd name="connsiteX1" fmla="*/ 2585 w 398211"/>
                <a:gd name="connsiteY1" fmla="*/ 366618 h 366617"/>
                <a:gd name="connsiteX2" fmla="*/ 398212 w 398211"/>
                <a:gd name="connsiteY2" fmla="*/ 180174 h 366617"/>
                <a:gd name="connsiteX3" fmla="*/ 0 w 398211"/>
                <a:gd name="connsiteY3" fmla="*/ 0 h 366617"/>
                <a:gd name="connsiteX4" fmla="*/ 99404 w 398211"/>
                <a:gd name="connsiteY4" fmla="*/ 182317 h 36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8211" h="366617">
                  <a:moveTo>
                    <a:pt x="99404" y="182317"/>
                  </a:moveTo>
                  <a:lnTo>
                    <a:pt x="2585" y="366618"/>
                  </a:lnTo>
                  <a:lnTo>
                    <a:pt x="398212" y="180174"/>
                  </a:lnTo>
                  <a:lnTo>
                    <a:pt x="0" y="0"/>
                  </a:lnTo>
                  <a:lnTo>
                    <a:pt x="99404" y="182317"/>
                  </a:lnTo>
                  <a:close/>
                </a:path>
              </a:pathLst>
            </a:custGeom>
            <a:grpFill/>
            <a:ln w="45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Meiryo UI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A7A9D8D-CB81-F42D-26B5-52DB0F58137C}"/>
                </a:ext>
              </a:extLst>
            </p:cNvPr>
            <p:cNvSpPr/>
            <p:nvPr/>
          </p:nvSpPr>
          <p:spPr>
            <a:xfrm>
              <a:off x="1607749" y="3416181"/>
              <a:ext cx="398211" cy="182316"/>
            </a:xfrm>
            <a:custGeom>
              <a:avLst/>
              <a:gdLst>
                <a:gd name="connsiteX0" fmla="*/ 99404 w 398211"/>
                <a:gd name="connsiteY0" fmla="*/ 182317 h 182316"/>
                <a:gd name="connsiteX1" fmla="*/ 398212 w 398211"/>
                <a:gd name="connsiteY1" fmla="*/ 180174 h 182316"/>
                <a:gd name="connsiteX2" fmla="*/ 0 w 398211"/>
                <a:gd name="connsiteY2" fmla="*/ 0 h 182316"/>
                <a:gd name="connsiteX3" fmla="*/ 99404 w 398211"/>
                <a:gd name="connsiteY3" fmla="*/ 182317 h 182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8211" h="182316">
                  <a:moveTo>
                    <a:pt x="99404" y="182317"/>
                  </a:moveTo>
                  <a:lnTo>
                    <a:pt x="398212" y="180174"/>
                  </a:lnTo>
                  <a:lnTo>
                    <a:pt x="0" y="0"/>
                  </a:lnTo>
                  <a:lnTo>
                    <a:pt x="99404" y="182317"/>
                  </a:lnTo>
                  <a:close/>
                </a:path>
              </a:pathLst>
            </a:custGeom>
            <a:grpFill/>
            <a:ln w="45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Meiryo UI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66287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1AB51-7FCC-A138-AD40-73EA6011E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5C76A-65A0-23E3-EC3C-044BD2A2C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dani Regular" panose="02000503000000020004" pitchFamily="2" charset="0"/>
              </a:rPr>
              <a:t>Proposed New Solution </a:t>
            </a:r>
            <a:br>
              <a:rPr lang="en-US">
                <a:latin typeface="Adani Regular" panose="02000503000000020004" pitchFamily="2" charset="0"/>
              </a:rPr>
            </a:br>
            <a:r>
              <a:rPr lang="en-US" sz="1400" b="0"/>
              <a:t>(Architecture Components depicting the different existing Applications in the BU/Function)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BD9BB64-7C6B-149D-7A52-D6BF6DD7A375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22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Executive Summary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Business Needs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Functional Evaluation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Architecture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Technical</a:t>
                      </a:r>
                      <a:r>
                        <a:rPr lang="en-US" sz="900" b="0" baseline="0">
                          <a:latin typeface="Adani Regular" panose="02000503000000020004" pitchFamily="2" charset="0"/>
                        </a:rPr>
                        <a:t> Evaluation</a:t>
                      </a:r>
                      <a:endParaRPr lang="en-US" sz="900" b="0">
                        <a:latin typeface="Adani Regular" panose="02000503000000020004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ARB Feedback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2" name="Slide Number Placeholder 2">
            <a:extLst>
              <a:ext uri="{FF2B5EF4-FFF2-40B4-BE49-F238E27FC236}">
                <a16:creationId xmlns:a16="http://schemas.microsoft.com/office/drawing/2014/main" id="{E9DC0311-A9EA-BE9C-3743-F7E63D1FFC61}"/>
              </a:ext>
            </a:extLst>
          </p:cNvPr>
          <p:cNvSpPr txBox="1">
            <a:spLocks/>
          </p:cNvSpPr>
          <p:nvPr/>
        </p:nvSpPr>
        <p:spPr>
          <a:xfrm>
            <a:off x="5905500" y="6772671"/>
            <a:ext cx="380999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FAF63893-4B0C-4F88-9650-53ECAF8C5052}" type="slidenum">
              <a:rPr lang="en-IN" sz="1000" smtClean="0">
                <a:solidFill>
                  <a:prstClr val="black">
                    <a:tint val="75000"/>
                  </a:prst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14</a:t>
            </a:fld>
            <a:endParaRPr lang="en-IN" sz="1000">
              <a:solidFill>
                <a:prstClr val="black">
                  <a:tint val="75000"/>
                </a:prstClr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AF76F0DB-47C0-C66A-EE65-407C335C5D80}"/>
              </a:ext>
            </a:extLst>
          </p:cNvPr>
          <p:cNvSpPr txBox="1"/>
          <p:nvPr/>
        </p:nvSpPr>
        <p:spPr>
          <a:xfrm>
            <a:off x="189230" y="6311006"/>
            <a:ext cx="23063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0" i="1">
                <a:solidFill>
                  <a:srgbClr val="424242"/>
                </a:solidFill>
                <a:effectLst/>
              </a:rPr>
              <a:t>*Sources are illustrative. Actual sources will be finalized during discovery and recommendations on new sources.</a:t>
            </a:r>
            <a:endParaRPr lang="en-US" sz="800" b="1" i="1">
              <a:solidFill>
                <a:srgbClr val="424242"/>
              </a:solidFill>
            </a:endParaRP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6BD4D678-33E6-7FD5-D8E4-90171283236B}"/>
              </a:ext>
            </a:extLst>
          </p:cNvPr>
          <p:cNvSpPr txBox="1"/>
          <p:nvPr/>
        </p:nvSpPr>
        <p:spPr>
          <a:xfrm>
            <a:off x="6957593" y="6785956"/>
            <a:ext cx="48347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0" i="1">
                <a:solidFill>
                  <a:srgbClr val="424242"/>
                </a:solidFill>
                <a:effectLst/>
              </a:rPr>
              <a:t>* Solar – Day Ahead model to be built as Step 1. On successful output of Step 1, Solar – Intraday as step 2 will be taken up. All common features from Step 1 will be used in Step 2.</a:t>
            </a:r>
            <a:endParaRPr lang="en-US" sz="800" b="1" i="1">
              <a:solidFill>
                <a:srgbClr val="424242"/>
              </a:solidFill>
            </a:endParaRPr>
          </a:p>
        </p:txBody>
      </p:sp>
      <p:sp>
        <p:nvSpPr>
          <p:cNvPr id="286" name="TextBox 285"/>
          <p:cNvSpPr txBox="1"/>
          <p:nvPr/>
        </p:nvSpPr>
        <p:spPr>
          <a:xfrm>
            <a:off x="457200" y="32004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/>
            </a:pPr>
            <a:r>
              <a:t>Intelligence Layer: AI Agents, Notifications</a:t>
            </a:r>
            <a:br/>
            <a:r>
              <a:t>Visualization Layer: Power BI, MIS</a:t>
            </a:r>
            <a:br/>
            <a:r>
              <a:t>Analytics: DataBricks</a:t>
            </a:r>
            <a:br/>
            <a:r>
              <a:t>Data: Enterprise DataLake</a:t>
            </a:r>
            <a:br/>
            <a:r>
              <a:t>Foundation: SAP, P6, DPR, Genetec, etc.</a:t>
            </a:r>
            <a:br/>
            <a:r>
              <a:t>Input: SCADA, Sensors, API</a:t>
            </a:r>
          </a:p>
        </p:txBody>
      </p:sp>
    </p:spTree>
    <p:extLst>
      <p:ext uri="{BB962C8B-B14F-4D97-AF65-F5344CB8AC3E}">
        <p14:creationId xmlns:p14="http://schemas.microsoft.com/office/powerpoint/2010/main" val="3173798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617DE-56BA-FC95-F7FE-1A19F508C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97D87-4B37-160D-1152-A7C60E584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655" y="111301"/>
            <a:ext cx="11507985" cy="786122"/>
          </a:xfrm>
        </p:spPr>
        <p:txBody>
          <a:bodyPr/>
          <a:lstStyle/>
          <a:p>
            <a:r>
              <a:rPr lang="en-US" sz="1800">
                <a:latin typeface="Adani Regular"/>
              </a:rPr>
              <a:t>Proposed Functional/ Logical Architecture – </a:t>
            </a:r>
            <a:br>
              <a:rPr lang="en-US" sz="1800">
                <a:latin typeface="Adani Regular" panose="02000503000000020004" pitchFamily="2" charset="0"/>
              </a:rPr>
            </a:br>
            <a:r>
              <a:rPr lang="en-US" sz="1400" b="0">
                <a:latin typeface="Adani Regular"/>
              </a:rPr>
              <a:t>(Show all logical components or the functional building blocks of the solution </a:t>
            </a:r>
            <a:r>
              <a:rPr lang="en-US" sz="1400" b="0">
                <a:solidFill>
                  <a:srgbClr val="FF0000"/>
                </a:solidFill>
                <a:latin typeface="Adani Regular"/>
              </a:rPr>
              <a:t>– </a:t>
            </a:r>
            <a:r>
              <a:rPr lang="en-US" sz="1400" b="0">
                <a:latin typeface="Adani Regular"/>
              </a:rPr>
              <a:t>presentation, business logic, data access layers, etc.)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B7C4232-DFAA-B8B3-3D04-2494288C6A4E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22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Executive Summary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Business Needs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Functional Evaluation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Architecture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Technical</a:t>
                      </a:r>
                      <a:r>
                        <a:rPr lang="en-US" sz="900" b="0" baseline="0">
                          <a:latin typeface="Adani Regular" panose="02000503000000020004" pitchFamily="2" charset="0"/>
                        </a:rPr>
                        <a:t> Evaluation</a:t>
                      </a:r>
                      <a:endParaRPr lang="en-US" sz="900" b="0">
                        <a:latin typeface="Adani Regular" panose="02000503000000020004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ARB Feedback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34970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03560-854E-F720-3FC7-724F885EA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74D39-24E4-FD29-B040-0BFF5B926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655" y="111301"/>
            <a:ext cx="11507985" cy="786122"/>
          </a:xfrm>
        </p:spPr>
        <p:txBody>
          <a:bodyPr/>
          <a:lstStyle/>
          <a:p>
            <a:r>
              <a:rPr lang="en-US" sz="1800">
                <a:latin typeface="Adani Regular"/>
              </a:rPr>
              <a:t>Proposed Functional/ Logical Architecture – Data Flow </a:t>
            </a:r>
            <a:br>
              <a:rPr lang="en-US" sz="1800">
                <a:latin typeface="Adani Regular" panose="02000503000000020004" pitchFamily="2" charset="0"/>
              </a:rPr>
            </a:br>
            <a:r>
              <a:rPr lang="en-US" sz="1400" b="0">
                <a:latin typeface="Adani Regular"/>
              </a:rPr>
              <a:t>(Show all logical components or the functional building blocks of the solution </a:t>
            </a:r>
            <a:r>
              <a:rPr lang="en-US" sz="1400" b="0">
                <a:solidFill>
                  <a:srgbClr val="FF0000"/>
                </a:solidFill>
                <a:latin typeface="Adani Regular"/>
              </a:rPr>
              <a:t>– </a:t>
            </a:r>
            <a:r>
              <a:rPr lang="en-US" sz="1400" b="0">
                <a:latin typeface="Adani Regular"/>
              </a:rPr>
              <a:t>presentation, business logic, data access layers, etc.)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BAD2FA5-8DA6-0F24-951A-AE27ADBB41AF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22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Executive Summary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Business Needs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Functional Evaluation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Architecture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Technical</a:t>
                      </a:r>
                      <a:r>
                        <a:rPr lang="en-US" sz="900" b="0" baseline="0">
                          <a:latin typeface="Adani Regular" panose="02000503000000020004" pitchFamily="2" charset="0"/>
                        </a:rPr>
                        <a:t> Evaluation</a:t>
                      </a:r>
                      <a:endParaRPr lang="en-US" sz="900" b="0">
                        <a:latin typeface="Adani Regular" panose="02000503000000020004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ARB Feedback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6FD18D33-C2BE-15F6-D2AB-060386F9D7A3}"/>
              </a:ext>
            </a:extLst>
          </p:cNvPr>
          <p:cNvSpPr txBox="1"/>
          <p:nvPr/>
        </p:nvSpPr>
        <p:spPr>
          <a:xfrm>
            <a:off x="7940353" y="733908"/>
            <a:ext cx="1022771" cy="365071"/>
          </a:xfrm>
          <a:prstGeom prst="parallelogram">
            <a:avLst/>
          </a:prstGeom>
          <a:solidFill>
            <a:srgbClr val="FE5000"/>
          </a:solidFill>
          <a:ln w="12700" cap="flat" cmpd="sng" algn="ctr">
            <a:noFill/>
            <a:prstDash val="solid"/>
          </a:ln>
          <a:effectLst/>
        </p:spPr>
        <p:txBody>
          <a:bodyPr wrap="none" rtlCol="0" anchor="ctr"/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kern="0" cap="none" spc="0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Gill Sans MT" panose="020B05020201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1" i="0" u="none" strike="noStrike" kern="0" cap="none" spc="200" normalizeH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Feature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1" spc="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Mappin#</a:t>
            </a:r>
            <a:endParaRPr kumimoji="0" lang="en-IN" sz="800" b="1" i="0" u="none" strike="noStrike" kern="0" cap="none" spc="200" normalizeH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2133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1C866-B156-E09C-C95D-E5D00610C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lide Number Placeholder 1">
            <a:extLst>
              <a:ext uri="{FF2B5EF4-FFF2-40B4-BE49-F238E27FC236}">
                <a16:creationId xmlns:a16="http://schemas.microsoft.com/office/drawing/2014/main" id="{58625BAC-A2AC-7C97-C661-DAEB303328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F63893-4B0C-4F88-9650-53ECAF8C5052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Poppins" panose="00000500000000000000" pitchFamily="50" charset="0"/>
                <a:ea typeface="+mn-ea"/>
                <a:cs typeface="Poppins" panose="00000500000000000000" pitchFamily="50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Poppins" panose="00000500000000000000" pitchFamily="50" charset="0"/>
              <a:ea typeface="+mn-ea"/>
              <a:cs typeface="Poppins" panose="00000500000000000000" pitchFamily="50" charset="0"/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FAFC319C-DD8A-E342-1B02-DB77547729CD}"/>
              </a:ext>
            </a:extLst>
          </p:cNvPr>
          <p:cNvGrpSpPr/>
          <p:nvPr/>
        </p:nvGrpSpPr>
        <p:grpSpPr>
          <a:xfrm>
            <a:off x="5992489" y="84407"/>
            <a:ext cx="5239050" cy="183604"/>
            <a:chOff x="6147270" y="147114"/>
            <a:chExt cx="5239050" cy="18360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A5701B6-DB1C-5180-B2E6-6637898DCEC7}"/>
                </a:ext>
              </a:extLst>
            </p:cNvPr>
            <p:cNvSpPr/>
            <p:nvPr/>
          </p:nvSpPr>
          <p:spPr>
            <a:xfrm>
              <a:off x="6147270" y="153920"/>
              <a:ext cx="488405" cy="176798"/>
            </a:xfrm>
            <a:prstGeom prst="rect">
              <a:avLst/>
            </a:prstGeom>
            <a:noFill/>
            <a:ln>
              <a:noFill/>
            </a:ln>
            <a:effectLst>
              <a:outerShdw blurRad="635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DISCOVER 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8A367C0-5BC5-396A-1E58-F8D200D5A596}"/>
                </a:ext>
              </a:extLst>
            </p:cNvPr>
            <p:cNvSpPr/>
            <p:nvPr/>
          </p:nvSpPr>
          <p:spPr>
            <a:xfrm>
              <a:off x="7710478" y="147114"/>
              <a:ext cx="1351898" cy="176798"/>
            </a:xfrm>
            <a:prstGeom prst="rect">
              <a:avLst/>
            </a:prstGeom>
            <a:noFill/>
            <a:ln>
              <a:noFill/>
            </a:ln>
            <a:effectLst>
              <a:outerShdw blurRad="635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POST IMPLEMENTATION SUPPORT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5FF9A33-226F-6856-2A66-8656FCADBEF1}"/>
                </a:ext>
              </a:extLst>
            </p:cNvPr>
            <p:cNvSpPr/>
            <p:nvPr/>
          </p:nvSpPr>
          <p:spPr>
            <a:xfrm>
              <a:off x="9198134" y="147114"/>
              <a:ext cx="998326" cy="176798"/>
            </a:xfrm>
            <a:prstGeom prst="rect">
              <a:avLst/>
            </a:prstGeom>
            <a:noFill/>
            <a:ln>
              <a:noFill/>
            </a:ln>
            <a:effectLst>
              <a:outerShdw blurRad="635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CHANGE MANAGEMENT</a:t>
              </a: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BC69374-1DE6-AD47-538B-2EBCC61E1566}"/>
                </a:ext>
              </a:extLst>
            </p:cNvPr>
            <p:cNvSpPr/>
            <p:nvPr/>
          </p:nvSpPr>
          <p:spPr>
            <a:xfrm>
              <a:off x="10332220" y="147114"/>
              <a:ext cx="1054100" cy="1767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PROGRAM MANAGEMENT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B2B754E-B007-0999-99DA-F13EA0623DAF}"/>
                </a:ext>
              </a:extLst>
            </p:cNvPr>
            <p:cNvSpPr/>
            <p:nvPr/>
          </p:nvSpPr>
          <p:spPr>
            <a:xfrm>
              <a:off x="6731407" y="147114"/>
              <a:ext cx="843313" cy="176798"/>
            </a:xfrm>
            <a:prstGeom prst="rect">
              <a:avLst/>
            </a:prstGeom>
            <a:solidFill>
              <a:srgbClr val="FE5000"/>
            </a:solidFill>
            <a:ln>
              <a:noFill/>
            </a:ln>
            <a:effectLst>
              <a:outerShdw blurRad="635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BUILD &amp; IMPLEMENT</a:t>
              </a:r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8CD10126-0D34-48D3-328E-894C6D92E981}"/>
                </a:ext>
              </a:extLst>
            </p:cNvPr>
            <p:cNvSpPr/>
            <p:nvPr/>
          </p:nvSpPr>
          <p:spPr>
            <a:xfrm rot="5400000">
              <a:off x="6631219" y="214468"/>
              <a:ext cx="64614" cy="5570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3718EBD3-32F6-B40F-21A3-0732CBA21406}"/>
                </a:ext>
              </a:extLst>
            </p:cNvPr>
            <p:cNvSpPr/>
            <p:nvPr/>
          </p:nvSpPr>
          <p:spPr>
            <a:xfrm rot="5400000">
              <a:off x="7610292" y="207662"/>
              <a:ext cx="64614" cy="5570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D6BC49E6-C45A-BCAC-358B-65E4C55AB1F9}"/>
                </a:ext>
              </a:extLst>
            </p:cNvPr>
            <p:cNvSpPr/>
            <p:nvPr/>
          </p:nvSpPr>
          <p:spPr>
            <a:xfrm rot="5400000">
              <a:off x="9097948" y="207662"/>
              <a:ext cx="64614" cy="5570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  <p:sp>
          <p:nvSpPr>
            <p:cNvPr id="63" name="Isosceles Triangle 62">
              <a:extLst>
                <a:ext uri="{FF2B5EF4-FFF2-40B4-BE49-F238E27FC236}">
                  <a16:creationId xmlns:a16="http://schemas.microsoft.com/office/drawing/2014/main" id="{C8718CBB-0FE9-C0F0-7A89-3AF13E3FB718}"/>
                </a:ext>
              </a:extLst>
            </p:cNvPr>
            <p:cNvSpPr/>
            <p:nvPr/>
          </p:nvSpPr>
          <p:spPr>
            <a:xfrm rot="5400000">
              <a:off x="10232032" y="207662"/>
              <a:ext cx="64614" cy="5570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</p:grpSp>
      <p:sp>
        <p:nvSpPr>
          <p:cNvPr id="29" name="Title 1">
            <a:extLst>
              <a:ext uri="{FF2B5EF4-FFF2-40B4-BE49-F238E27FC236}">
                <a16:creationId xmlns:a16="http://schemas.microsoft.com/office/drawing/2014/main" id="{B1F8123D-CFCC-7C24-1AD9-1F17AC263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435" y="129247"/>
            <a:ext cx="11881320" cy="786122"/>
          </a:xfrm>
        </p:spPr>
        <p:txBody>
          <a:bodyPr/>
          <a:lstStyle/>
          <a:p>
            <a:r>
              <a:rPr lang="en-US" sz="1800">
                <a:latin typeface="+mn-lt"/>
              </a:rPr>
              <a:t>Proposed Integration Architecture (Interim Process)</a:t>
            </a:r>
            <a:br>
              <a:rPr lang="en-US" sz="1800">
                <a:latin typeface="+mn-lt"/>
              </a:rPr>
            </a:br>
            <a:r>
              <a:rPr lang="en-US" sz="1200" b="0">
                <a:latin typeface="+mn-lt"/>
              </a:rPr>
              <a:t>(Show all interfaces with other systems in the organization)</a:t>
            </a:r>
          </a:p>
        </p:txBody>
      </p: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0A03C831-5F51-2EBC-8368-FA3BBB25AB96}"/>
              </a:ext>
            </a:extLst>
          </p:cNvPr>
          <p:cNvGraphicFramePr>
            <a:graphicFrameLocks noGrp="1"/>
          </p:cNvGraphicFramePr>
          <p:nvPr/>
        </p:nvGraphicFramePr>
        <p:xfrm>
          <a:off x="0" y="-16410"/>
          <a:ext cx="12192000" cy="3072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7269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Executive Summary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Business Needs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Functional Evaluation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Architecture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Technical</a:t>
                      </a:r>
                      <a:r>
                        <a:rPr lang="en-US" sz="900" b="0" baseline="0">
                          <a:latin typeface="Adani Regular" panose="02000503000000020004" pitchFamily="2" charset="0"/>
                        </a:rPr>
                        <a:t> Evaluation</a:t>
                      </a:r>
                      <a:endParaRPr lang="en-US" sz="900" b="0">
                        <a:latin typeface="Adani Regular" panose="02000503000000020004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ARB Feedback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0" name="TextBox 69">
            <a:extLst>
              <a:ext uri="{FF2B5EF4-FFF2-40B4-BE49-F238E27FC236}">
                <a16:creationId xmlns:a16="http://schemas.microsoft.com/office/drawing/2014/main" id="{F900FA4C-CEFF-115C-4E3C-4085C47059FE}"/>
              </a:ext>
            </a:extLst>
          </p:cNvPr>
          <p:cNvSpPr txBox="1"/>
          <p:nvPr/>
        </p:nvSpPr>
        <p:spPr>
          <a:xfrm>
            <a:off x="7733811" y="6205883"/>
            <a:ext cx="1401593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l"/>
            <a:r>
              <a:rPr lang="en-US" sz="1100">
                <a:latin typeface="Poppins" panose="00000500000000000000" pitchFamily="2" charset="0"/>
                <a:cs typeface="Poppins" panose="00000500000000000000" pitchFamily="2" charset="0"/>
              </a:rPr>
              <a:t>Adani Environment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/>
            </a:pPr>
            <a:r>
              <a:t>Drop 1 (8 weeks): Integration of SAP, Primavera P6, Digital DPR, Transmission Connectivity, Module Tracker.</a:t>
            </a:r>
            <a:br/>
            <a:r>
              <a:t>Drop 2 (+8 weeks): SCADA, Sensors, O&amp;M ADLS, MIS.</a:t>
            </a:r>
          </a:p>
        </p:txBody>
      </p:sp>
    </p:spTree>
    <p:extLst>
      <p:ext uri="{BB962C8B-B14F-4D97-AF65-F5344CB8AC3E}">
        <p14:creationId xmlns:p14="http://schemas.microsoft.com/office/powerpoint/2010/main" val="27739302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588D9-A892-D4D1-7B5D-1DD00AD2C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lide Number Placeholder 1">
            <a:extLst>
              <a:ext uri="{FF2B5EF4-FFF2-40B4-BE49-F238E27FC236}">
                <a16:creationId xmlns:a16="http://schemas.microsoft.com/office/drawing/2014/main" id="{C6FBC727-B1F8-9F22-94C6-3EA6DE9084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F63893-4B0C-4F88-9650-53ECAF8C5052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Poppins" panose="00000500000000000000" pitchFamily="50" charset="0"/>
                <a:ea typeface="+mn-ea"/>
                <a:cs typeface="Poppins" panose="00000500000000000000" pitchFamily="50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Poppins" panose="00000500000000000000" pitchFamily="50" charset="0"/>
              <a:ea typeface="+mn-ea"/>
              <a:cs typeface="Poppins" panose="00000500000000000000" pitchFamily="50" charset="0"/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4F41E0A-9B9D-684D-3B07-1B9DB9541EB5}"/>
              </a:ext>
            </a:extLst>
          </p:cNvPr>
          <p:cNvGrpSpPr/>
          <p:nvPr/>
        </p:nvGrpSpPr>
        <p:grpSpPr>
          <a:xfrm>
            <a:off x="5992489" y="84407"/>
            <a:ext cx="5239050" cy="183604"/>
            <a:chOff x="6147270" y="147114"/>
            <a:chExt cx="5239050" cy="18360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7CCA226-37B4-FD21-CD12-C511C3114864}"/>
                </a:ext>
              </a:extLst>
            </p:cNvPr>
            <p:cNvSpPr/>
            <p:nvPr/>
          </p:nvSpPr>
          <p:spPr>
            <a:xfrm>
              <a:off x="6147270" y="153920"/>
              <a:ext cx="488405" cy="176798"/>
            </a:xfrm>
            <a:prstGeom prst="rect">
              <a:avLst/>
            </a:prstGeom>
            <a:noFill/>
            <a:ln>
              <a:noFill/>
            </a:ln>
            <a:effectLst>
              <a:outerShdw blurRad="635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DISCOVER 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B40B21-A06B-FBBB-CFB2-CFD4D7F51957}"/>
                </a:ext>
              </a:extLst>
            </p:cNvPr>
            <p:cNvSpPr/>
            <p:nvPr/>
          </p:nvSpPr>
          <p:spPr>
            <a:xfrm>
              <a:off x="7710478" y="147114"/>
              <a:ext cx="1351898" cy="176798"/>
            </a:xfrm>
            <a:prstGeom prst="rect">
              <a:avLst/>
            </a:prstGeom>
            <a:noFill/>
            <a:ln>
              <a:noFill/>
            </a:ln>
            <a:effectLst>
              <a:outerShdw blurRad="635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POST IMPLEMENTATION SUPPORT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54E68AA-B95B-D813-87A2-4177385A19F1}"/>
                </a:ext>
              </a:extLst>
            </p:cNvPr>
            <p:cNvSpPr/>
            <p:nvPr/>
          </p:nvSpPr>
          <p:spPr>
            <a:xfrm>
              <a:off x="9198134" y="147114"/>
              <a:ext cx="998326" cy="176798"/>
            </a:xfrm>
            <a:prstGeom prst="rect">
              <a:avLst/>
            </a:prstGeom>
            <a:noFill/>
            <a:ln>
              <a:noFill/>
            </a:ln>
            <a:effectLst>
              <a:outerShdw blurRad="635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CHANGE MANAGEMENT</a:t>
              </a: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B713E73-7323-C8C4-0789-B344F97D75D9}"/>
                </a:ext>
              </a:extLst>
            </p:cNvPr>
            <p:cNvSpPr/>
            <p:nvPr/>
          </p:nvSpPr>
          <p:spPr>
            <a:xfrm>
              <a:off x="10332220" y="147114"/>
              <a:ext cx="1054100" cy="1767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PROGRAM MANAGEMENT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CFFDF39-EE49-A976-A9CC-C97C5889E282}"/>
                </a:ext>
              </a:extLst>
            </p:cNvPr>
            <p:cNvSpPr/>
            <p:nvPr/>
          </p:nvSpPr>
          <p:spPr>
            <a:xfrm>
              <a:off x="6731407" y="147114"/>
              <a:ext cx="843313" cy="176798"/>
            </a:xfrm>
            <a:prstGeom prst="rect">
              <a:avLst/>
            </a:prstGeom>
            <a:solidFill>
              <a:srgbClr val="FE5000"/>
            </a:solidFill>
            <a:ln>
              <a:noFill/>
            </a:ln>
            <a:effectLst>
              <a:outerShdw blurRad="635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BUILD &amp; IMPLEMENT</a:t>
              </a:r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ABDF54EA-170A-3FD5-E4FF-B523F1C51D37}"/>
                </a:ext>
              </a:extLst>
            </p:cNvPr>
            <p:cNvSpPr/>
            <p:nvPr/>
          </p:nvSpPr>
          <p:spPr>
            <a:xfrm rot="5400000">
              <a:off x="6631219" y="214468"/>
              <a:ext cx="64614" cy="5570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41093FAD-2AE7-4DEB-606C-EE9ACD86FB81}"/>
                </a:ext>
              </a:extLst>
            </p:cNvPr>
            <p:cNvSpPr/>
            <p:nvPr/>
          </p:nvSpPr>
          <p:spPr>
            <a:xfrm rot="5400000">
              <a:off x="7610292" y="207662"/>
              <a:ext cx="64614" cy="5570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6721BE07-5322-7987-BA70-606892351267}"/>
                </a:ext>
              </a:extLst>
            </p:cNvPr>
            <p:cNvSpPr/>
            <p:nvPr/>
          </p:nvSpPr>
          <p:spPr>
            <a:xfrm rot="5400000">
              <a:off x="9097948" y="207662"/>
              <a:ext cx="64614" cy="5570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  <p:sp>
          <p:nvSpPr>
            <p:cNvPr id="63" name="Isosceles Triangle 62">
              <a:extLst>
                <a:ext uri="{FF2B5EF4-FFF2-40B4-BE49-F238E27FC236}">
                  <a16:creationId xmlns:a16="http://schemas.microsoft.com/office/drawing/2014/main" id="{A94C9D24-6117-7567-3192-7BF134509885}"/>
                </a:ext>
              </a:extLst>
            </p:cNvPr>
            <p:cNvSpPr/>
            <p:nvPr/>
          </p:nvSpPr>
          <p:spPr>
            <a:xfrm rot="5400000">
              <a:off x="10232032" y="207662"/>
              <a:ext cx="64614" cy="5570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</p:grpSp>
      <p:sp>
        <p:nvSpPr>
          <p:cNvPr id="29" name="Title 1">
            <a:extLst>
              <a:ext uri="{FF2B5EF4-FFF2-40B4-BE49-F238E27FC236}">
                <a16:creationId xmlns:a16="http://schemas.microsoft.com/office/drawing/2014/main" id="{125FE34E-EC64-A359-78F8-73FF5BA52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435" y="129247"/>
            <a:ext cx="11881320" cy="786122"/>
          </a:xfrm>
        </p:spPr>
        <p:txBody>
          <a:bodyPr/>
          <a:lstStyle/>
          <a:p>
            <a:r>
              <a:rPr lang="en-US" sz="1800">
                <a:latin typeface="+mn-lt"/>
              </a:rPr>
              <a:t>Proposed Integration Architecture (Future Process)</a:t>
            </a:r>
            <a:br>
              <a:rPr lang="en-US" sz="1800">
                <a:latin typeface="+mn-lt"/>
              </a:rPr>
            </a:br>
            <a:r>
              <a:rPr lang="en-US" sz="1200" b="0">
                <a:latin typeface="+mn-lt"/>
              </a:rPr>
              <a:t>(Show all interfaces with other systems in the organization)</a:t>
            </a:r>
          </a:p>
        </p:txBody>
      </p: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D75A0581-001F-CDEC-C507-C2A1BF40E636}"/>
              </a:ext>
            </a:extLst>
          </p:cNvPr>
          <p:cNvGraphicFramePr>
            <a:graphicFrameLocks noGrp="1"/>
          </p:cNvGraphicFramePr>
          <p:nvPr/>
        </p:nvGraphicFramePr>
        <p:xfrm>
          <a:off x="0" y="-16410"/>
          <a:ext cx="12192000" cy="3072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7269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Executive Summary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Business Needs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Functional Evaluation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Architecture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Technical</a:t>
                      </a:r>
                      <a:r>
                        <a:rPr lang="en-US" sz="900" b="0" baseline="0">
                          <a:latin typeface="Adani Regular" panose="02000503000000020004" pitchFamily="2" charset="0"/>
                        </a:rPr>
                        <a:t> Evaluation</a:t>
                      </a:r>
                      <a:endParaRPr lang="en-US" sz="900" b="0">
                        <a:latin typeface="Adani Regular" panose="02000503000000020004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ARB Feedback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7CF38481-F7A6-615C-E41D-C139EAA0D0BF}"/>
              </a:ext>
            </a:extLst>
          </p:cNvPr>
          <p:cNvCxnSpPr>
            <a:cxnSpLocks/>
          </p:cNvCxnSpPr>
          <p:nvPr/>
        </p:nvCxnSpPr>
        <p:spPr>
          <a:xfrm>
            <a:off x="8711283" y="522308"/>
            <a:ext cx="1267442" cy="0"/>
          </a:xfrm>
          <a:prstGeom prst="line">
            <a:avLst/>
          </a:prstGeom>
          <a:ln w="25400">
            <a:solidFill>
              <a:srgbClr val="FE662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/>
            </a:pPr>
            <a:r>
              <a:t>Drop 3 (+10 weeks): Oracle HR, Kronos, Trade Finance, Ariba, PULSE.</a:t>
            </a:r>
            <a:br/>
            <a:r>
              <a:t>Drop 4 (+6 weeks): Full AI Agent capability and Automated Cross-functional Workflows.</a:t>
            </a:r>
          </a:p>
        </p:txBody>
      </p:sp>
    </p:spTree>
    <p:extLst>
      <p:ext uri="{BB962C8B-B14F-4D97-AF65-F5344CB8AC3E}">
        <p14:creationId xmlns:p14="http://schemas.microsoft.com/office/powerpoint/2010/main" val="21870491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345" y="194606"/>
            <a:ext cx="11881320" cy="786122"/>
          </a:xfrm>
        </p:spPr>
        <p:txBody>
          <a:bodyPr/>
          <a:lstStyle/>
          <a:p>
            <a:r>
              <a:rPr lang="en-US" sz="1800">
                <a:latin typeface="Adani Regular"/>
              </a:rPr>
              <a:t>Data Flow Diagram– </a:t>
            </a:r>
            <a:br>
              <a:rPr lang="en-US" sz="1800"/>
            </a:br>
            <a:r>
              <a:rPr lang="en-US" sz="1200" b="0">
                <a:latin typeface="Adani Regular"/>
              </a:rPr>
              <a:t>Show all relevant aspects of data rest, motion and use. Show all the components as annotations on the Data Flow Diagram.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0" y="0"/>
          <a:ext cx="12192000" cy="22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Executive Summary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Business Needs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Functional Evaluation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Architecture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Technical</a:t>
                      </a:r>
                      <a:r>
                        <a:rPr lang="en-US" sz="900" b="0" baseline="0">
                          <a:latin typeface="Adani Regular" panose="02000503000000020004" pitchFamily="2" charset="0"/>
                        </a:rPr>
                        <a:t> Evaluation</a:t>
                      </a:r>
                      <a:endParaRPr lang="en-US" sz="900" b="0">
                        <a:latin typeface="Adani Regular" panose="02000503000000020004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ARB Feedback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51863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BDEB59-664C-2335-1C7B-8258EED2BD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88767" y="6743725"/>
            <a:ext cx="380999" cy="365125"/>
          </a:xfrm>
        </p:spPr>
        <p:txBody>
          <a:bodyPr/>
          <a:lstStyle/>
          <a:p>
            <a:fld id="{FAF63893-4B0C-4F88-9650-53ECAF8C5052}" type="slidenum">
              <a:rPr lang="en-IN" smtClean="0"/>
              <a:pPr/>
              <a:t>20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8EA0959-A3CB-B185-C356-2AF9471C4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592" y="503330"/>
            <a:ext cx="4851939" cy="584775"/>
          </a:xfrm>
        </p:spPr>
        <p:txBody>
          <a:bodyPr/>
          <a:lstStyle/>
          <a:p>
            <a:r>
              <a:rPr lang="en-US"/>
              <a:t>Deployment Architecture</a:t>
            </a:r>
          </a:p>
        </p:txBody>
      </p:sp>
    </p:spTree>
    <p:extLst>
      <p:ext uri="{BB962C8B-B14F-4D97-AF65-F5344CB8AC3E}">
        <p14:creationId xmlns:p14="http://schemas.microsoft.com/office/powerpoint/2010/main" val="20090502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AE78C-4A1D-4915-5145-71BC2DED0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E6F5D-43B4-BD04-2BBC-E0916249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349" y="144099"/>
            <a:ext cx="10967687" cy="786122"/>
          </a:xfrm>
        </p:spPr>
        <p:txBody>
          <a:bodyPr/>
          <a:lstStyle/>
          <a:p>
            <a:r>
              <a:rPr lang="en-US" sz="2000">
                <a:latin typeface="+mj-lt"/>
                <a:cs typeface="Poppins"/>
              </a:rPr>
              <a:t>WebApp Application Architecture </a:t>
            </a:r>
            <a:endParaRPr lang="en-US">
              <a:latin typeface="+mj-lt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E2E64D8-486C-E389-687F-E8AEEEE1E5B2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22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Executive Summary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Business Needs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Functional Evaluation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Architecture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Technical</a:t>
                      </a:r>
                      <a:r>
                        <a:rPr lang="en-US" sz="900" b="0" baseline="0">
                          <a:latin typeface="Adani Regular" panose="02000503000000020004" pitchFamily="2" charset="0"/>
                        </a:rPr>
                        <a:t> Evaluation</a:t>
                      </a:r>
                      <a:endParaRPr lang="en-US" sz="900" b="0">
                        <a:latin typeface="Adani Regular" panose="02000503000000020004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ARB Feedback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31D0A2C0-9079-43E9-CEB8-86E352BCFA64}"/>
              </a:ext>
            </a:extLst>
          </p:cNvPr>
          <p:cNvSpPr txBox="1"/>
          <p:nvPr/>
        </p:nvSpPr>
        <p:spPr>
          <a:xfrm>
            <a:off x="55104" y="800002"/>
            <a:ext cx="1879541" cy="230458"/>
          </a:xfrm>
          <a:prstGeom prst="parallelogram">
            <a:avLst/>
          </a:prstGeom>
          <a:solidFill>
            <a:srgbClr val="FE5000"/>
          </a:solidFill>
        </p:spPr>
        <p:txBody>
          <a:bodyPr wrap="none" lIns="91440" tIns="45720" rIns="91440" bIns="45720" rtlCol="0"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1400" b="1" kern="0">
                <a:solidFill>
                  <a:srgbClr val="FFFFFF"/>
                </a:solidFill>
                <a:latin typeface="Arial"/>
                <a:cs typeface="Arial"/>
              </a:rPr>
              <a:t>Model Processing</a:t>
            </a:r>
            <a:endParaRPr lang="en-IN" sz="14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58790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AC285-E424-AB82-2542-5795F3D0B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D5778-F40E-2C1C-4C9D-CFAD9D363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Proposed Network Architecture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807E5A33-459D-6830-D6D2-21D665458E1E}"/>
              </a:ext>
            </a:extLst>
          </p:cNvPr>
          <p:cNvSpPr txBox="1">
            <a:spLocks/>
          </p:cNvSpPr>
          <p:nvPr/>
        </p:nvSpPr>
        <p:spPr>
          <a:xfrm>
            <a:off x="5905500" y="6499675"/>
            <a:ext cx="380999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FAF63893-4B0C-4F88-9650-53ECAF8C5052}" type="slidenum">
              <a:rPr lang="en-IN" sz="1000" smtClean="0">
                <a:solidFill>
                  <a:prstClr val="black">
                    <a:tint val="75000"/>
                  </a:prst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22</a:t>
            </a:fld>
            <a:endParaRPr lang="en-IN" sz="1000">
              <a:solidFill>
                <a:prstClr val="black">
                  <a:tint val="75000"/>
                </a:prstClr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38041D8-6847-6C11-F443-ACF7AEF04E2A}"/>
              </a:ext>
            </a:extLst>
          </p:cNvPr>
          <p:cNvGrpSpPr/>
          <p:nvPr/>
        </p:nvGrpSpPr>
        <p:grpSpPr>
          <a:xfrm>
            <a:off x="5992489" y="84407"/>
            <a:ext cx="5239050" cy="183604"/>
            <a:chOff x="6147270" y="147114"/>
            <a:chExt cx="5239050" cy="183604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9730B6C5-BE7C-7F20-93CF-4723F58B3140}"/>
                </a:ext>
              </a:extLst>
            </p:cNvPr>
            <p:cNvSpPr/>
            <p:nvPr/>
          </p:nvSpPr>
          <p:spPr>
            <a:xfrm>
              <a:off x="6147270" y="153920"/>
              <a:ext cx="488405" cy="176798"/>
            </a:xfrm>
            <a:prstGeom prst="rect">
              <a:avLst/>
            </a:prstGeom>
            <a:noFill/>
            <a:ln>
              <a:noFill/>
            </a:ln>
            <a:effectLst>
              <a:outerShdw blurRad="635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DISCOVER 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C61793CE-6AB3-075F-4B60-4870D5723A18}"/>
                </a:ext>
              </a:extLst>
            </p:cNvPr>
            <p:cNvSpPr/>
            <p:nvPr/>
          </p:nvSpPr>
          <p:spPr>
            <a:xfrm>
              <a:off x="7710478" y="147114"/>
              <a:ext cx="1351898" cy="176798"/>
            </a:xfrm>
            <a:prstGeom prst="rect">
              <a:avLst/>
            </a:prstGeom>
            <a:noFill/>
            <a:ln>
              <a:noFill/>
            </a:ln>
            <a:effectLst>
              <a:outerShdw blurRad="635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POST IMPLEMENTATION SUPPORT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10B68E19-D354-5E04-0AB5-D81101DE5351}"/>
                </a:ext>
              </a:extLst>
            </p:cNvPr>
            <p:cNvSpPr/>
            <p:nvPr/>
          </p:nvSpPr>
          <p:spPr>
            <a:xfrm>
              <a:off x="9198134" y="147114"/>
              <a:ext cx="998326" cy="176798"/>
            </a:xfrm>
            <a:prstGeom prst="rect">
              <a:avLst/>
            </a:prstGeom>
            <a:noFill/>
            <a:ln>
              <a:noFill/>
            </a:ln>
            <a:effectLst>
              <a:outerShdw blurRad="635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CHANGE MANAGEMENT</a:t>
              </a: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54810140-CA11-6165-6DC8-FF546745D209}"/>
                </a:ext>
              </a:extLst>
            </p:cNvPr>
            <p:cNvSpPr/>
            <p:nvPr/>
          </p:nvSpPr>
          <p:spPr>
            <a:xfrm>
              <a:off x="10332220" y="147114"/>
              <a:ext cx="1054100" cy="1767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PROGRAM MANAGEMENT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22F0B763-263A-D37D-3005-16B4815B869A}"/>
                </a:ext>
              </a:extLst>
            </p:cNvPr>
            <p:cNvSpPr/>
            <p:nvPr/>
          </p:nvSpPr>
          <p:spPr>
            <a:xfrm>
              <a:off x="6731407" y="147114"/>
              <a:ext cx="843313" cy="176798"/>
            </a:xfrm>
            <a:prstGeom prst="rect">
              <a:avLst/>
            </a:prstGeom>
            <a:solidFill>
              <a:srgbClr val="FE5000"/>
            </a:solidFill>
            <a:ln>
              <a:noFill/>
            </a:ln>
            <a:effectLst>
              <a:outerShdw blurRad="635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BUILD &amp; IMPLEMENT</a:t>
              </a:r>
            </a:p>
          </p:txBody>
        </p:sp>
        <p:sp>
          <p:nvSpPr>
            <p:cNvPr id="71" name="Isosceles Triangle 70">
              <a:extLst>
                <a:ext uri="{FF2B5EF4-FFF2-40B4-BE49-F238E27FC236}">
                  <a16:creationId xmlns:a16="http://schemas.microsoft.com/office/drawing/2014/main" id="{4308F372-6D94-36B1-6571-FFDDD9AB087A}"/>
                </a:ext>
              </a:extLst>
            </p:cNvPr>
            <p:cNvSpPr/>
            <p:nvPr/>
          </p:nvSpPr>
          <p:spPr>
            <a:xfrm rot="5400000">
              <a:off x="6631219" y="214468"/>
              <a:ext cx="64614" cy="5570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  <p:sp>
          <p:nvSpPr>
            <p:cNvPr id="72" name="Isosceles Triangle 71">
              <a:extLst>
                <a:ext uri="{FF2B5EF4-FFF2-40B4-BE49-F238E27FC236}">
                  <a16:creationId xmlns:a16="http://schemas.microsoft.com/office/drawing/2014/main" id="{4E304F16-4DC4-68E5-B463-2C3247433720}"/>
                </a:ext>
              </a:extLst>
            </p:cNvPr>
            <p:cNvSpPr/>
            <p:nvPr/>
          </p:nvSpPr>
          <p:spPr>
            <a:xfrm rot="5400000">
              <a:off x="7610292" y="207662"/>
              <a:ext cx="64614" cy="5570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  <p:sp>
          <p:nvSpPr>
            <p:cNvPr id="73" name="Isosceles Triangle 72">
              <a:extLst>
                <a:ext uri="{FF2B5EF4-FFF2-40B4-BE49-F238E27FC236}">
                  <a16:creationId xmlns:a16="http://schemas.microsoft.com/office/drawing/2014/main" id="{6A360BA0-3476-1B10-0922-A7098A60F93D}"/>
                </a:ext>
              </a:extLst>
            </p:cNvPr>
            <p:cNvSpPr/>
            <p:nvPr/>
          </p:nvSpPr>
          <p:spPr>
            <a:xfrm rot="5400000">
              <a:off x="9097948" y="207662"/>
              <a:ext cx="64614" cy="5570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  <p:sp>
          <p:nvSpPr>
            <p:cNvPr id="74" name="Isosceles Triangle 73">
              <a:extLst>
                <a:ext uri="{FF2B5EF4-FFF2-40B4-BE49-F238E27FC236}">
                  <a16:creationId xmlns:a16="http://schemas.microsoft.com/office/drawing/2014/main" id="{EE3A915D-6F07-6B7D-CD6D-BF2027AD992F}"/>
                </a:ext>
              </a:extLst>
            </p:cNvPr>
            <p:cNvSpPr/>
            <p:nvPr/>
          </p:nvSpPr>
          <p:spPr>
            <a:xfrm rot="5400000">
              <a:off x="10232032" y="207662"/>
              <a:ext cx="64614" cy="5570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</p:grpSp>
      <p:graphicFrame>
        <p:nvGraphicFramePr>
          <p:cNvPr id="111" name="Table 110">
            <a:extLst>
              <a:ext uri="{FF2B5EF4-FFF2-40B4-BE49-F238E27FC236}">
                <a16:creationId xmlns:a16="http://schemas.microsoft.com/office/drawing/2014/main" id="{1A0D9618-6793-0949-93F9-B9994809CB2D}"/>
              </a:ext>
            </a:extLst>
          </p:cNvPr>
          <p:cNvGraphicFramePr>
            <a:graphicFrameLocks noGrp="1"/>
          </p:cNvGraphicFramePr>
          <p:nvPr/>
        </p:nvGraphicFramePr>
        <p:xfrm>
          <a:off x="0" y="-16410"/>
          <a:ext cx="12192000" cy="3072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7269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Executive Summary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Business Needs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Functional Evaluation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Architecture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Technical</a:t>
                      </a:r>
                      <a:r>
                        <a:rPr lang="en-US" sz="900" b="0" baseline="0">
                          <a:latin typeface="Adani Regular" panose="02000503000000020004" pitchFamily="2" charset="0"/>
                        </a:rPr>
                        <a:t> Evaluation</a:t>
                      </a:r>
                      <a:endParaRPr lang="en-US" sz="900" b="0">
                        <a:latin typeface="Adani Regular" panose="02000503000000020004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ARB Feedback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90CA4343-3BF5-33B5-6CBC-0E7765B5D8ED}"/>
              </a:ext>
            </a:extLst>
          </p:cNvPr>
          <p:cNvCxnSpPr/>
          <p:nvPr/>
        </p:nvCxnSpPr>
        <p:spPr>
          <a:xfrm>
            <a:off x="6608597" y="6682237"/>
            <a:ext cx="825258" cy="0"/>
          </a:xfrm>
          <a:prstGeom prst="line">
            <a:avLst/>
          </a:prstGeom>
          <a:ln w="12700">
            <a:solidFill>
              <a:schemeClr val="tx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57D618A8-2852-D269-D9E8-C43DB8CBE68D}"/>
              </a:ext>
            </a:extLst>
          </p:cNvPr>
          <p:cNvSpPr txBox="1"/>
          <p:nvPr/>
        </p:nvSpPr>
        <p:spPr>
          <a:xfrm>
            <a:off x="7496744" y="6573954"/>
            <a:ext cx="1401593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l"/>
            <a:r>
              <a:rPr lang="en-US" sz="1100">
                <a:latin typeface="Poppins" panose="00000500000000000000" pitchFamily="2" charset="0"/>
                <a:cs typeface="Poppins" panose="00000500000000000000" pitchFamily="2" charset="0"/>
              </a:rPr>
              <a:t>Adani Environment</a:t>
            </a:r>
          </a:p>
        </p:txBody>
      </p:sp>
      <p:pic>
        <p:nvPicPr>
          <p:cNvPr id="1092" name="Picture 6" descr="What is Virtual Network in Azure">
            <a:extLst>
              <a:ext uri="{FF2B5EF4-FFF2-40B4-BE49-F238E27FC236}">
                <a16:creationId xmlns:a16="http://schemas.microsoft.com/office/drawing/2014/main" id="{9E47CBA8-F3E3-A9B3-D8B8-0B5CA1DDE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7540" y="619620"/>
            <a:ext cx="604240" cy="317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4075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8E46F-4C4D-27B8-4284-06E2F30D5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DEED6-994F-9909-0DDA-8CB6B6EB8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5" y="194606"/>
            <a:ext cx="11881320" cy="786122"/>
          </a:xfrm>
        </p:spPr>
        <p:txBody>
          <a:bodyPr/>
          <a:lstStyle/>
          <a:p>
            <a:r>
              <a:rPr lang="en-US" sz="1800">
                <a:latin typeface="Adani Regular"/>
              </a:rPr>
              <a:t>Security Architecture–</a:t>
            </a:r>
            <a:br>
              <a:rPr lang="en-US" sz="1800"/>
            </a:br>
            <a:r>
              <a:rPr lang="en-US" sz="1200" b="0">
                <a:latin typeface="Adani Regular"/>
              </a:rPr>
              <a:t>Show all relevant aspects of- Perimeter Security, Endpoint Security, Data Security, Monitoring &amp; Testing, API Security……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FD80551-97F8-03BF-5BA0-649C5B7A5E53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22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Executive Summary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Business Needs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Functional Evaluation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Architecture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Technical</a:t>
                      </a:r>
                      <a:r>
                        <a:rPr lang="en-US" sz="900" b="0" baseline="0">
                          <a:latin typeface="Adani Regular" panose="02000503000000020004" pitchFamily="2" charset="0"/>
                        </a:rPr>
                        <a:t> Evaluation</a:t>
                      </a:r>
                      <a:endParaRPr lang="en-US" sz="900" b="0">
                        <a:latin typeface="Adani Regular" panose="02000503000000020004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ARB Feedback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5163016-621A-4D85-E5F2-4D6ED8693A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933652"/>
              </p:ext>
            </p:extLst>
          </p:nvPr>
        </p:nvGraphicFramePr>
        <p:xfrm>
          <a:off x="6709152" y="1095544"/>
          <a:ext cx="4938561" cy="3650183"/>
        </p:xfrm>
        <a:graphic>
          <a:graphicData uri="http://schemas.openxmlformats.org/drawingml/2006/table">
            <a:tbl>
              <a:tblPr/>
              <a:tblGrid>
                <a:gridCol w="1971739">
                  <a:extLst>
                    <a:ext uri="{9D8B030D-6E8A-4147-A177-3AD203B41FA5}">
                      <a16:colId xmlns:a16="http://schemas.microsoft.com/office/drawing/2014/main" val="1308716856"/>
                    </a:ext>
                  </a:extLst>
                </a:gridCol>
                <a:gridCol w="2966822">
                  <a:extLst>
                    <a:ext uri="{9D8B030D-6E8A-4147-A177-3AD203B41FA5}">
                      <a16:colId xmlns:a16="http://schemas.microsoft.com/office/drawing/2014/main" val="311844988"/>
                    </a:ext>
                  </a:extLst>
                </a:gridCol>
              </a:tblGrid>
              <a:tr h="443237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Adani Regular" panose="02000503000000020004"/>
                        </a:rPr>
                        <a:t>Domain​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Adani Regular" panose="02000503000000020004"/>
                        </a:rPr>
                        <a:t>Controls​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346882"/>
                  </a:ext>
                </a:extLst>
              </a:tr>
              <a:tr h="641389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Adani Regular" panose="02000503000000020004"/>
                        </a:rPr>
                        <a:t>SDLC and DevSecOps​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C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9776702"/>
                  </a:ext>
                </a:extLst>
              </a:tr>
              <a:tr h="458880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Adani Regular" panose="02000503000000020004"/>
                        </a:rPr>
                        <a:t>SAST/SCA​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4809562"/>
                  </a:ext>
                </a:extLst>
              </a:tr>
              <a:tr h="641389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Adani Regular" panose="02000503000000020004"/>
                        </a:rPr>
                        <a:t>Encryption​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C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656899"/>
                  </a:ext>
                </a:extLst>
              </a:tr>
              <a:tr h="458880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Adani Regular" panose="02000503000000020004"/>
                        </a:rPr>
                        <a:t>Identity Security​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2533764"/>
                  </a:ext>
                </a:extLst>
              </a:tr>
              <a:tr h="1006408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Adani Regular" panose="02000503000000020004"/>
                        </a:rPr>
                        <a:t>Network Security​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C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02504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695AEFF-D46E-B92B-3113-6CB26E00AC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8515088"/>
              </p:ext>
            </p:extLst>
          </p:nvPr>
        </p:nvGraphicFramePr>
        <p:xfrm>
          <a:off x="575558" y="1095544"/>
          <a:ext cx="5520442" cy="4838910"/>
        </p:xfrm>
        <a:graphic>
          <a:graphicData uri="http://schemas.openxmlformats.org/drawingml/2006/table">
            <a:tbl>
              <a:tblPr/>
              <a:tblGrid>
                <a:gridCol w="2204057">
                  <a:extLst>
                    <a:ext uri="{9D8B030D-6E8A-4147-A177-3AD203B41FA5}">
                      <a16:colId xmlns:a16="http://schemas.microsoft.com/office/drawing/2014/main" val="644708367"/>
                    </a:ext>
                  </a:extLst>
                </a:gridCol>
                <a:gridCol w="3316385">
                  <a:extLst>
                    <a:ext uri="{9D8B030D-6E8A-4147-A177-3AD203B41FA5}">
                      <a16:colId xmlns:a16="http://schemas.microsoft.com/office/drawing/2014/main" val="2895445290"/>
                    </a:ext>
                  </a:extLst>
                </a:gridCol>
              </a:tblGrid>
              <a:tr h="421655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FFFFFF"/>
                          </a:solidFill>
                          <a:effectLst/>
                          <a:latin typeface="Adani Regular" panose="02000503000000020004"/>
                        </a:rPr>
                        <a:t>Domain​</a:t>
                      </a:r>
                      <a:endParaRPr lang="en-US" sz="17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6118" marR="86118" marT="43059" marB="43059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FFFFFF"/>
                          </a:solidFill>
                          <a:effectLst/>
                          <a:latin typeface="Adani Regular" panose="02000503000000020004"/>
                        </a:rPr>
                        <a:t>Controls​</a:t>
                      </a:r>
                      <a:endParaRPr lang="en-US" sz="17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6118" marR="86118" marT="43059" marB="43059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2370252"/>
                  </a:ext>
                </a:extLst>
              </a:tr>
              <a:tr h="818869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Adani Regular" panose="02000503000000020004"/>
                        </a:rPr>
                        <a:t>Network Segmentation​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6118" marR="86118" marT="43059" marB="43059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C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6118" marR="86118" marT="43059" marB="43059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1005887"/>
                  </a:ext>
                </a:extLst>
              </a:tr>
              <a:tr h="450163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Adani Regular" panose="02000503000000020004"/>
                        </a:rPr>
                        <a:t>OT Security​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6118" marR="86118" marT="43059" marB="43059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6118" marR="86118" marT="43059" marB="43059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5126614"/>
                  </a:ext>
                </a:extLst>
              </a:tr>
              <a:tr h="818869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Adani Regular" panose="02000503000000020004"/>
                        </a:rPr>
                        <a:t>Endpoint Security​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6118" marR="86118" marT="43059" marB="43059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C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6118" marR="86118" marT="43059" marB="43059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770177"/>
                  </a:ext>
                </a:extLst>
              </a:tr>
              <a:tr h="450163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Adani Regular" panose="02000503000000020004"/>
                        </a:rPr>
                        <a:t>Vulnerability Management​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6118" marR="86118" marT="43059" marB="43059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6118" marR="86118" marT="43059" marB="43059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7511898"/>
                  </a:ext>
                </a:extLst>
              </a:tr>
              <a:tr h="634516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Adani Regular" panose="02000503000000020004"/>
                        </a:rPr>
                        <a:t>Application Security​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6118" marR="86118" marT="43059" marB="43059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C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6118" marR="86118" marT="43059" marB="43059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938814"/>
                  </a:ext>
                </a:extLst>
              </a:tr>
              <a:tr h="610159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Adani Regular" panose="02000503000000020004"/>
                        </a:rPr>
                        <a:t>Cloud Security​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6118" marR="86118" marT="43059" marB="43059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6118" marR="86118" marT="43059" marB="43059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5866"/>
                  </a:ext>
                </a:extLst>
              </a:tr>
              <a:tr h="634516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Adani Regular" panose="02000503000000020004"/>
                        </a:rPr>
                        <a:t>Security Monitoring​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6118" marR="86118" marT="43059" marB="43059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C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6118" marR="86118" marT="43059" marB="43059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3285098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AEA53138-9E58-FE23-6B3D-009A57DD3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8825" y="117595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/>
            </a:pPr>
            <a:r>
              <a:t>- Encryption: Data in transit and at rest.</a:t>
            </a:r>
            <a:br/>
            <a:r>
              <a:t>- Access Control: RBAC, SSO.</a:t>
            </a:r>
            <a:br/>
            <a:r>
              <a:t>- Gateways: Secure API gateways with periodic key rotation.</a:t>
            </a:r>
            <a:br/>
            <a:r>
              <a:t>- Monitoring: End-to-end logging.</a:t>
            </a:r>
          </a:p>
        </p:txBody>
      </p:sp>
    </p:spTree>
    <p:extLst>
      <p:ext uri="{BB962C8B-B14F-4D97-AF65-F5344CB8AC3E}">
        <p14:creationId xmlns:p14="http://schemas.microsoft.com/office/powerpoint/2010/main" val="26968653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dani Regular"/>
              </a:rPr>
              <a:t>Observations on the Technical Evaluation (1/8)  </a:t>
            </a:r>
            <a:endParaRPr lang="en-US" sz="1800" b="0">
              <a:latin typeface="Adani Regular" panose="02000503000000020004" pitchFamily="2" charset="0"/>
            </a:endParaRP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0" y="0"/>
          <a:ext cx="12192000" cy="22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Executive Summary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Business Needs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Functional Evaluation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Architecture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Technical</a:t>
                      </a:r>
                      <a:r>
                        <a:rPr lang="en-US" sz="900" b="0" baseline="0">
                          <a:latin typeface="Adani Regular" panose="02000503000000020004" pitchFamily="2" charset="0"/>
                        </a:rPr>
                        <a:t> Evaluation</a:t>
                      </a:r>
                      <a:endParaRPr lang="en-US" sz="900" b="0">
                        <a:latin typeface="Adani Regular" panose="02000503000000020004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ARB Feedback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1013456"/>
              </p:ext>
            </p:extLst>
          </p:nvPr>
        </p:nvGraphicFramePr>
        <p:xfrm>
          <a:off x="315254" y="1009194"/>
          <a:ext cx="11001088" cy="5210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8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5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6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1056">
                <a:tc>
                  <a:txBody>
                    <a:bodyPr/>
                    <a:lstStyle/>
                    <a:p>
                      <a:pPr algn="l"/>
                      <a:r>
                        <a:rPr lang="en-US" sz="1800" b="1">
                          <a:solidFill>
                            <a:srgbClr val="FFFFFF"/>
                          </a:solidFill>
                          <a:latin typeface="Adani Regular"/>
                        </a:rPr>
                        <a:t>#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/>
                        </a:rPr>
                        <a:t>Non Functional Requirements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/>
                        </a:rPr>
                        <a:t>&lt;&lt;Option 1&gt;&gt;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586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1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Deployment</a:t>
                      </a:r>
                      <a:r>
                        <a:rPr lang="en-US" sz="1200" b="0" baseline="0">
                          <a:solidFill>
                            <a:schemeClr val="tx1"/>
                          </a:solidFill>
                          <a:latin typeface="Adani Regular"/>
                        </a:rPr>
                        <a:t> mode (Cloud)</a:t>
                      </a:r>
                      <a:endParaRPr lang="en-US" sz="12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4619376"/>
                  </a:ext>
                </a:extLst>
              </a:tr>
              <a:tr h="373586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2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baseline="0">
                          <a:solidFill>
                            <a:schemeClr val="tx1"/>
                          </a:solidFill>
                          <a:latin typeface="Adani Regular"/>
                        </a:rPr>
                        <a:t>Deployment Location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lang="en-US"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8909178"/>
                  </a:ext>
                </a:extLst>
              </a:tr>
              <a:tr h="425116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3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Hardware usage</a:t>
                      </a:r>
                      <a:r>
                        <a:rPr lang="en-US" sz="1200" b="0" baseline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, if on-premise – new vs. reuse, remaining life of re-used hardware, etc.</a:t>
                      </a:r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584969"/>
                  </a:ext>
                </a:extLst>
              </a:tr>
              <a:tr h="598472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4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Are OS,</a:t>
                      </a:r>
                      <a:r>
                        <a:rPr lang="en-US" sz="1200" b="0" baseline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 DB &amp; software N or N-1 version/release.</a:t>
                      </a:r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626322"/>
                  </a:ext>
                </a:extLst>
              </a:tr>
              <a:tr h="425116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5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  <a:latin typeface="Adani Regular"/>
                        </a:rPr>
                        <a:t>Additional licensing requirements (apart from s/w) – OS, DB, integration platform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200">
                        <a:latin typeface="+mn-lt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116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6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Use of open-source software (does</a:t>
                      </a:r>
                      <a:r>
                        <a:rPr lang="en-US" sz="1200" baseline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 it include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any community version?)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586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7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API integration capabilities exist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586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8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Native and/ or Responsive</a:t>
                      </a:r>
                      <a:r>
                        <a:rPr lang="en-US" sz="1200" b="0" baseline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 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Mobile app exists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5116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9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Mobile apps compliant with ACE (</a:t>
                      </a:r>
                      <a:r>
                        <a:rPr lang="en-US" sz="1200" b="0" err="1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AppConfig</a:t>
                      </a:r>
                      <a:r>
                        <a:rPr lang="en-US" sz="1200" b="0" baseline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 community guidelines)</a:t>
                      </a:r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0879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10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Compliant with 3</a:t>
                      </a:r>
                      <a:r>
                        <a:rPr lang="en-US" sz="1200" b="0" baseline="30000">
                          <a:solidFill>
                            <a:schemeClr val="tx1"/>
                          </a:solidFill>
                          <a:latin typeface="Adani Regular"/>
                        </a:rPr>
                        <a:t>rd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 party EMM solutions (list down</a:t>
                      </a:r>
                      <a:r>
                        <a:rPr lang="en-US" sz="1200" b="0" baseline="0">
                          <a:solidFill>
                            <a:schemeClr val="tx1"/>
                          </a:solidFill>
                          <a:latin typeface="Adani Regular"/>
                        </a:rPr>
                        <a:t> few based on partner response)</a:t>
                      </a:r>
                      <a:endParaRPr lang="en-US" sz="12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5116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11</a:t>
                      </a:r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baseline="0">
                          <a:solidFill>
                            <a:schemeClr val="tx1"/>
                          </a:solidFill>
                          <a:latin typeface="Adani Regular"/>
                        </a:rPr>
                        <a:t>Performance requirements (response time, throughput, concurrency) </a:t>
                      </a:r>
                      <a:endParaRPr lang="en-US" sz="1200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748738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E8F0933-CC26-4EAA-A04B-41773F2C05F9}"/>
                  </a:ext>
                </a:extLst>
              </p14:cNvPr>
              <p14:cNvContentPartPr/>
              <p14:nvPr/>
            </p14:nvContentPartPr>
            <p14:xfrm>
              <a:off x="316301" y="6742981"/>
              <a:ext cx="19050" cy="1905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E8F0933-CC26-4EAA-A04B-41773F2C05F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017449" y="3409231"/>
                <a:ext cx="6667500" cy="66675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27530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dani Regular"/>
              </a:rPr>
              <a:t>Observations on the Technical Evaluation (2/8)  </a:t>
            </a:r>
            <a:endParaRPr lang="en-US" sz="1800" b="0">
              <a:latin typeface="Adani Regular" panose="02000503000000020004" pitchFamily="2" charset="0"/>
            </a:endParaRPr>
          </a:p>
        </p:txBody>
      </p:sp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7471203"/>
              </p:ext>
            </p:extLst>
          </p:nvPr>
        </p:nvGraphicFramePr>
        <p:xfrm>
          <a:off x="0" y="0"/>
          <a:ext cx="12192000" cy="22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Executive Summary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Business Needs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Functional Evaluation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Architecture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Technical</a:t>
                      </a:r>
                      <a:r>
                        <a:rPr lang="en-US" sz="900" b="0" baseline="0">
                          <a:latin typeface="Adani Regular" panose="02000503000000020004" pitchFamily="2" charset="0"/>
                        </a:rPr>
                        <a:t> Evaluation</a:t>
                      </a:r>
                      <a:endParaRPr lang="en-US" sz="900" b="0">
                        <a:latin typeface="Adani Regular" panose="02000503000000020004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ARB Feedback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9198047"/>
              </p:ext>
            </p:extLst>
          </p:nvPr>
        </p:nvGraphicFramePr>
        <p:xfrm>
          <a:off x="315254" y="1009194"/>
          <a:ext cx="11001087" cy="48952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8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59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6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5995">
                <a:tc>
                  <a:txBody>
                    <a:bodyPr/>
                    <a:lstStyle/>
                    <a:p>
                      <a:pPr algn="l"/>
                      <a:r>
                        <a:rPr lang="en-US" sz="1800" b="1">
                          <a:solidFill>
                            <a:srgbClr val="FFFFFF"/>
                          </a:solidFill>
                          <a:latin typeface="Adani Regular"/>
                        </a:rPr>
                        <a:t>#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/>
                        </a:rPr>
                        <a:t>Non Functional Requirements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/>
                        </a:rPr>
                        <a:t>&lt;&lt;Option 1&gt;&gt;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854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12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+mn-lt"/>
                        </a:rPr>
                        <a:t>Compliant with 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r>
                        <a:rPr lang="en-US" sz="1200" b="0" baseline="30000">
                          <a:solidFill>
                            <a:schemeClr val="tx1"/>
                          </a:solidFill>
                          <a:latin typeface="+mn-lt"/>
                        </a:rPr>
                        <a:t>rd </a:t>
                      </a:r>
                      <a:r>
                        <a:rPr lang="en-US" sz="1200">
                          <a:latin typeface="+mn-lt"/>
                        </a:rPr>
                        <a:t>party Master Data Management solution (list down few based on partner response)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4619376"/>
                  </a:ext>
                </a:extLst>
              </a:tr>
              <a:tr h="421854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13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RPO RTO figures</a:t>
                      </a:r>
                      <a:r>
                        <a:rPr lang="en-US" sz="1200" b="0" baseline="0">
                          <a:solidFill>
                            <a:schemeClr val="tx1"/>
                          </a:solidFill>
                          <a:latin typeface="+mn-lt"/>
                        </a:rPr>
                        <a:t> offered by the solution</a:t>
                      </a:r>
                      <a:endParaRPr lang="en-US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584969"/>
                  </a:ext>
                </a:extLst>
              </a:tr>
              <a:tr h="421854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14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Uptime availability offered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626322"/>
                  </a:ext>
                </a:extLst>
              </a:tr>
              <a:tr h="421854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15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HA, DR &amp; backup provided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854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16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Infra sizing &amp; scalability (scale up or scale out), references</a:t>
                      </a:r>
                      <a:r>
                        <a:rPr lang="en-US" sz="1200" b="0" baseline="0">
                          <a:solidFill>
                            <a:schemeClr val="tx1"/>
                          </a:solidFill>
                          <a:latin typeface="+mn-lt"/>
                        </a:rPr>
                        <a:t> of application being used for similar workload (concurrent users, transactions per second, data size, etc.)</a:t>
                      </a:r>
                      <a:endParaRPr lang="en-US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854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17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N/W bandwidth &amp; infra</a:t>
                      </a:r>
                      <a:r>
                        <a:rPr lang="en-US" sz="1200" b="0" baseline="0">
                          <a:solidFill>
                            <a:schemeClr val="tx1"/>
                          </a:solidFill>
                          <a:latin typeface="+mn-lt"/>
                        </a:rPr>
                        <a:t> requirements</a:t>
                      </a:r>
                      <a:endParaRPr lang="en-US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854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18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Existing ITO partner has relevant skills and will support ? If No, then describe ITO support plan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1854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19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Other Customers exist</a:t>
                      </a:r>
                      <a:r>
                        <a:rPr lang="en-US" sz="1200" b="0" baseline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in India 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1854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20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SI &amp; Support partners exist</a:t>
                      </a:r>
                      <a:r>
                        <a:rPr lang="en-US" sz="1200" b="0" baseline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in India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1854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21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Partner supports data destruction upon exit (in case of hosted solution) and also provides options to exit after termination of contract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748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01525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dani Regular"/>
              </a:rPr>
              <a:t>Observations on the Technical Evaluation (3/8) </a:t>
            </a:r>
            <a:endParaRPr lang="en-US" sz="1800" b="0">
              <a:latin typeface="Adani Regular" panose="02000503000000020004" pitchFamily="2" charset="0"/>
            </a:endParaRP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0" y="0"/>
          <a:ext cx="12192000" cy="22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Executive Summary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Business Needs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Functional Evaluation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Architecture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Technical</a:t>
                      </a:r>
                      <a:r>
                        <a:rPr lang="en-US" sz="900" b="0" baseline="0">
                          <a:latin typeface="Adani Regular" panose="02000503000000020004" pitchFamily="2" charset="0"/>
                        </a:rPr>
                        <a:t> Evaluation</a:t>
                      </a:r>
                      <a:endParaRPr lang="en-US" sz="900" b="0">
                        <a:latin typeface="Adani Regular" panose="02000503000000020004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ARB Feedback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974313"/>
              </p:ext>
            </p:extLst>
          </p:nvPr>
        </p:nvGraphicFramePr>
        <p:xfrm>
          <a:off x="315254" y="1009194"/>
          <a:ext cx="11071432" cy="5141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4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0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6197">
                <a:tc>
                  <a:txBody>
                    <a:bodyPr/>
                    <a:lstStyle/>
                    <a:p>
                      <a:pPr algn="l"/>
                      <a:r>
                        <a:rPr lang="en-US" sz="1800" b="1">
                          <a:solidFill>
                            <a:srgbClr val="FFFFFF"/>
                          </a:solidFill>
                          <a:latin typeface="Adani Regular"/>
                        </a:rPr>
                        <a:t>#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/>
                        </a:rPr>
                        <a:t>Non Functional Requirements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/>
                        </a:rPr>
                        <a:t>&lt;&lt;Option 1&gt;&gt;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334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22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Adani Regular"/>
                        </a:rPr>
                        <a:t>Security</a:t>
                      </a:r>
                      <a:r>
                        <a:rPr lang="en-US" sz="1200" b="1" baseline="0">
                          <a:latin typeface="Adani Regular"/>
                        </a:rPr>
                        <a:t> Governance</a:t>
                      </a:r>
                      <a:r>
                        <a:rPr lang="en-US" sz="1200" b="0" baseline="0">
                          <a:latin typeface="Adani Regular"/>
                        </a:rPr>
                        <a:t> – Does the Organization implement a Security Program which is overseen by a senior executive, supported by management with regular management reviews and internal / external assessment </a:t>
                      </a:r>
                      <a:endParaRPr lang="en-US" sz="1200" b="0"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4619376"/>
                  </a:ext>
                </a:extLst>
              </a:tr>
              <a:tr h="872668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23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Adani Regular"/>
                        </a:rPr>
                        <a:t>Secure Development Life Cycle</a:t>
                      </a:r>
                      <a:r>
                        <a:rPr lang="en-US" sz="1200" b="0">
                          <a:latin typeface="Adani Regular"/>
                        </a:rPr>
                        <a:t> (for applications): Provide details on the measures</a:t>
                      </a:r>
                      <a:r>
                        <a:rPr lang="en-US" sz="1200" b="0" baseline="0">
                          <a:latin typeface="Adani Regular"/>
                        </a:rPr>
                        <a:t> partner has implemented in each stages of their product development </a:t>
                      </a:r>
                      <a:r>
                        <a:rPr lang="en-US" sz="1050" b="0" baseline="0">
                          <a:latin typeface="Adani Regular"/>
                        </a:rPr>
                        <a:t>(E.g., Static/ Dynamic Code Analysis, Secure Code review, Secure &amp; Binary scanning, Vulnerability Scanning, Threat model, Security Review &amp; sign off etc.)</a:t>
                      </a:r>
                      <a:r>
                        <a:rPr lang="en-US" sz="1200" b="0" baseline="0">
                          <a:latin typeface="Adani Regular"/>
                        </a:rPr>
                        <a:t> </a:t>
                      </a:r>
                      <a:endParaRPr lang="en-US" sz="1200" b="0"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584969"/>
                  </a:ext>
                </a:extLst>
              </a:tr>
              <a:tr h="872668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24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Adani Regular"/>
                        </a:rPr>
                        <a:t>Security Standards &amp;</a:t>
                      </a:r>
                      <a:r>
                        <a:rPr lang="en-US" sz="1200" b="1" baseline="0">
                          <a:latin typeface="Adani Regular"/>
                        </a:rPr>
                        <a:t> Certifications: </a:t>
                      </a:r>
                      <a:endParaRPr lang="en-US" sz="1200" b="1" baseline="0">
                        <a:latin typeface="Adani Regular" panose="02000503000000020004" pitchFamily="2" charset="0"/>
                      </a:endParaRPr>
                    </a:p>
                    <a:p>
                      <a:r>
                        <a:rPr lang="en-US" sz="1200" b="0" baseline="0">
                          <a:latin typeface="Adani Regular"/>
                        </a:rPr>
                        <a:t>Security standards aligned the Program </a:t>
                      </a:r>
                      <a:r>
                        <a:rPr lang="en-US" sz="1050" b="0" baseline="0">
                          <a:latin typeface="Adani Regular"/>
                        </a:rPr>
                        <a:t>(E.g., ISO 27000/38000 family, NIST etc.)</a:t>
                      </a:r>
                      <a:endParaRPr lang="en-US" sz="1200" b="0" baseline="0">
                        <a:latin typeface="Adani Regular"/>
                      </a:endParaRPr>
                    </a:p>
                    <a:p>
                      <a:r>
                        <a:rPr lang="en-US" sz="1200" b="0" baseline="0">
                          <a:latin typeface="Adani Regular"/>
                        </a:rPr>
                        <a:t>Security certifications obtained </a:t>
                      </a:r>
                      <a:r>
                        <a:rPr lang="en-US" sz="1050" b="0" baseline="0">
                          <a:latin typeface="Adani Regular"/>
                        </a:rPr>
                        <a:t>(ISO 27001, SOC2 Type1 and Type 2 etc.)</a:t>
                      </a:r>
                      <a:r>
                        <a:rPr lang="en-US" sz="1200" b="0" baseline="0">
                          <a:latin typeface="Adani Regular"/>
                        </a:rPr>
                        <a:t> </a:t>
                      </a:r>
                      <a:endParaRPr lang="en-US" sz="1200" b="0"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626322"/>
                  </a:ext>
                </a:extLst>
              </a:tr>
              <a:tr h="1371336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25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Adani Regular"/>
                        </a:rPr>
                        <a:t>Identity &amp; Access Management</a:t>
                      </a:r>
                    </a:p>
                    <a:p>
                      <a:r>
                        <a:rPr lang="en-US" sz="1200" b="1">
                          <a:latin typeface="Adani Regular"/>
                        </a:rPr>
                        <a:t>Authentication</a:t>
                      </a:r>
                      <a:r>
                        <a:rPr lang="en-US" sz="1200" b="0">
                          <a:latin typeface="Adani Regular"/>
                        </a:rPr>
                        <a:t>: Has capability to integrate with Active Directory in order to manage the identity</a:t>
                      </a:r>
                      <a:r>
                        <a:rPr lang="en-US" sz="1200" b="0" baseline="0">
                          <a:latin typeface="Adani Regular"/>
                        </a:rPr>
                        <a:t> life cycle &amp; authentication</a:t>
                      </a:r>
                    </a:p>
                    <a:p>
                      <a:r>
                        <a:rPr lang="en-US" sz="1200" b="1" baseline="0">
                          <a:latin typeface="Adani Regular"/>
                        </a:rPr>
                        <a:t>Authorization</a:t>
                      </a:r>
                      <a:r>
                        <a:rPr lang="en-US" sz="1200" b="0" baseline="0">
                          <a:latin typeface="Adani Regular"/>
                        </a:rPr>
                        <a:t>: Capability to handle Role Based Access Control (RBAC) – Yes/ No</a:t>
                      </a:r>
                    </a:p>
                    <a:p>
                      <a:r>
                        <a:rPr lang="en-US" sz="1200" b="1" baseline="0">
                          <a:latin typeface="Adani Regular"/>
                        </a:rPr>
                        <a:t>Multi Factor </a:t>
                      </a:r>
                      <a:r>
                        <a:rPr lang="en-US" sz="1200" b="0" baseline="0">
                          <a:latin typeface="Adani Regular"/>
                        </a:rPr>
                        <a:t>Authentication: Capability – Yes/ No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145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26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Adani Regular"/>
                        </a:rPr>
                        <a:t>Encryption:</a:t>
                      </a:r>
                      <a:r>
                        <a:rPr lang="en-US" sz="1200" b="0">
                          <a:latin typeface="Adani Regular"/>
                        </a:rPr>
                        <a:t> Data at Rest &amp; Data in transit (Capability &amp; Methods)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12147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dani Regular"/>
              </a:rPr>
              <a:t>Observations on the Technical Evaluation (4/8) </a:t>
            </a:r>
            <a:endParaRPr lang="en-US" sz="1800" b="0">
              <a:latin typeface="Adani Regular" panose="02000503000000020004" pitchFamily="2" charset="0"/>
            </a:endParaRP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0" y="0"/>
          <a:ext cx="12192000" cy="22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Executive Summary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Business Needs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Functional Evaluation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Architecture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Technical</a:t>
                      </a:r>
                      <a:r>
                        <a:rPr lang="en-US" sz="900" b="0" baseline="0">
                          <a:latin typeface="Adani Regular" panose="02000503000000020004" pitchFamily="2" charset="0"/>
                        </a:rPr>
                        <a:t> Evaluation</a:t>
                      </a:r>
                      <a:endParaRPr lang="en-US" sz="900" b="0">
                        <a:latin typeface="Adani Regular" panose="02000503000000020004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ARB Feedback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660009"/>
              </p:ext>
            </p:extLst>
          </p:nvPr>
        </p:nvGraphicFramePr>
        <p:xfrm>
          <a:off x="315254" y="1009194"/>
          <a:ext cx="11001088" cy="52096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0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063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4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5995">
                <a:tc>
                  <a:txBody>
                    <a:bodyPr/>
                    <a:lstStyle/>
                    <a:p>
                      <a:pPr algn="l"/>
                      <a:r>
                        <a:rPr lang="en-US" sz="1800" b="1">
                          <a:solidFill>
                            <a:srgbClr val="FFFFFF"/>
                          </a:solidFill>
                          <a:latin typeface="Adani Regular" panose="02000503000000020004" pitchFamily="2" charset="0"/>
                        </a:rPr>
                        <a:t>#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 panose="02000503000000020004" pitchFamily="2" charset="0"/>
                        </a:rPr>
                        <a:t>Non Functional Requirements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 panose="02000503000000020004" pitchFamily="2" charset="0"/>
                        </a:rPr>
                        <a:t>&lt;&lt;Option 1&gt;&gt;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499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27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Security Operation Tools(as in where applicable): 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4717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27a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Security Controls (Firewall, WAF, Proxy, EP, AV/EDR etc.)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ym typeface="Adani Regular"/>
                        </a:rPr>
                        <a:t>Firewall</a:t>
                      </a: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1854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27b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PIM/PAM/SSO/MFA/RADIUS/IDM/IAM etc.</a:t>
                      </a:r>
                    </a:p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endParaRPr lang="en-US" sz="12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200">
                          <a:sym typeface="Adani Regular"/>
                        </a:rPr>
                        <a:t>Yes</a:t>
                      </a: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46539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27c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Key and Certificate Management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ym typeface="Adani Regular"/>
                        </a:rPr>
                        <a:t>KMS and ACM</a:t>
                      </a: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748738"/>
                  </a:ext>
                </a:extLst>
              </a:tr>
              <a:tr h="483347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27d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Sandboxing and Data Sanitization.</a:t>
                      </a:r>
                    </a:p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endParaRPr lang="en-US" sz="12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ym typeface="Adani Regular"/>
                        </a:rPr>
                        <a:t>Managed by KMS</a:t>
                      </a: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261728"/>
                  </a:ext>
                </a:extLst>
              </a:tr>
              <a:tr h="421854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27e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Monitoring and Logging (Data, Network etc.)</a:t>
                      </a:r>
                    </a:p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endParaRPr lang="en-US" sz="12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ym typeface="Adani Regular"/>
                        </a:rPr>
                        <a:t>Cloud Watch</a:t>
                      </a: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243043"/>
                  </a:ext>
                </a:extLst>
              </a:tr>
              <a:tr h="584056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27e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Testing (SAST, DAST,VAPT Tools Etc.)</a:t>
                      </a:r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200">
                          <a:sym typeface="Adani Regular"/>
                        </a:rPr>
                        <a:t>As per Adani Cyber Guidelines</a:t>
                      </a: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736324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27f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End Point Protection (AV/EDR/XDR Etc.)</a:t>
                      </a:r>
                    </a:p>
                    <a:p>
                      <a:pPr marL="0" algn="l" defTabSz="914400" rtl="0" eaLnBrk="1" latinLnBrk="0" hangingPunct="1"/>
                      <a:endParaRPr lang="en-US" sz="12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ym typeface="Adani Regular"/>
                        </a:rPr>
                        <a:t>RSA Algorithm using KMS</a:t>
                      </a: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886289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28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Application &amp; Platform Hardening Guidelines  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en-US" sz="1200">
                          <a:sym typeface="Adani Regular"/>
                        </a:rPr>
                        <a:t>As per Adani Cyber Guidelines</a:t>
                      </a: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1541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0420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dani Regular"/>
              </a:rPr>
              <a:t>Observations on the Technical Evaluation (5/8) </a:t>
            </a:r>
            <a:endParaRPr lang="en-US" sz="1800" b="0">
              <a:latin typeface="Adani Regular" panose="02000503000000020004" pitchFamily="2" charset="0"/>
            </a:endParaRP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0" y="0"/>
          <a:ext cx="12192000" cy="22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Executive Summary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Business Needs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Functional Evaluation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Architecture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Technical</a:t>
                      </a:r>
                      <a:r>
                        <a:rPr lang="en-US" sz="900" b="0" baseline="0">
                          <a:latin typeface="Adani Regular" panose="02000503000000020004" pitchFamily="2" charset="0"/>
                        </a:rPr>
                        <a:t> Evaluation</a:t>
                      </a:r>
                      <a:endParaRPr lang="en-US" sz="900" b="0">
                        <a:latin typeface="Adani Regular" panose="02000503000000020004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ARB Feedback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84770"/>
              </p:ext>
            </p:extLst>
          </p:nvPr>
        </p:nvGraphicFramePr>
        <p:xfrm>
          <a:off x="315254" y="1009194"/>
          <a:ext cx="11001088" cy="50547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29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1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4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4899">
                <a:tc>
                  <a:txBody>
                    <a:bodyPr/>
                    <a:lstStyle/>
                    <a:p>
                      <a:pPr algn="l"/>
                      <a:r>
                        <a:rPr lang="en-US" sz="1800" b="1">
                          <a:solidFill>
                            <a:srgbClr val="FFFFFF"/>
                          </a:solidFill>
                          <a:latin typeface="Adani Regular"/>
                        </a:rPr>
                        <a:t>#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/>
                        </a:rPr>
                        <a:t>Non Functional Requirements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/>
                        </a:rPr>
                        <a:t>&lt;&lt;Option 1&gt;&gt;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875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29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tx1"/>
                          </a:solidFill>
                          <a:latin typeface="Adani Regular"/>
                        </a:rPr>
                        <a:t>Security Policy &amp; Process</a:t>
                      </a:r>
                      <a:r>
                        <a:rPr lang="en-US" sz="1400" b="1" baseline="0">
                          <a:solidFill>
                            <a:schemeClr val="tx1"/>
                          </a:solidFill>
                          <a:latin typeface="Adani Regular"/>
                        </a:rPr>
                        <a:t> :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16990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29a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Is the Incident Management process detailing escalation matrix, MTTR, SLA etc. (if yes, kindly provide us with the process links)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79067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29b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baseline="0">
                          <a:solidFill>
                            <a:schemeClr val="tx1"/>
                          </a:solidFill>
                          <a:latin typeface="Adani Regular"/>
                        </a:rPr>
                        <a:t>Is the Patch &amp; Version Management Process detailing SLA </a:t>
                      </a:r>
                      <a:r>
                        <a:rPr lang="en-US" sz="1200" b="0" baseline="0" err="1">
                          <a:solidFill>
                            <a:schemeClr val="tx1"/>
                          </a:solidFill>
                          <a:latin typeface="Adani Regular"/>
                        </a:rPr>
                        <a:t>etc</a:t>
                      </a:r>
                      <a:r>
                        <a:rPr lang="en-US" sz="1200" b="0" baseline="0">
                          <a:solidFill>
                            <a:schemeClr val="tx1"/>
                          </a:solidFill>
                          <a:latin typeface="Adani Regular"/>
                        </a:rPr>
                        <a:t> in place?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 (if yes, kindly provide us with the process links)</a:t>
                      </a:r>
                      <a:endParaRPr lang="en-US" sz="1200" b="0" baseline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843085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29c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baseline="0">
                          <a:solidFill>
                            <a:schemeClr val="tx1"/>
                          </a:solidFill>
                          <a:latin typeface="Adani Regular"/>
                        </a:rPr>
                        <a:t>Is Vulnerability Management Process in place?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 (if yes, kindly provide us with the process links)</a:t>
                      </a:r>
                      <a:endParaRPr lang="en-US" sz="1200" b="0" baseline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748738"/>
                  </a:ext>
                </a:extLst>
              </a:tr>
              <a:tr h="1136806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29d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latin typeface="Adani Regular"/>
                        </a:rPr>
                        <a:t>Security Event Monitoring &amp; Incident Management:</a:t>
                      </a:r>
                    </a:p>
                    <a:p>
                      <a:endParaRPr lang="en-US" sz="1200" b="1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  <a:p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With exclusive logging for Application Security and System Logs</a:t>
                      </a:r>
                    </a:p>
                    <a:p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  <a:p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Incident / breach</a:t>
                      </a:r>
                      <a:r>
                        <a:rPr lang="en-US" sz="1200" b="0" baseline="0">
                          <a:solidFill>
                            <a:schemeClr val="tx1"/>
                          </a:solidFill>
                          <a:latin typeface="Adani Regular"/>
                        </a:rPr>
                        <a:t> reporting process to client?</a:t>
                      </a:r>
                      <a:endParaRPr lang="en-US" sz="12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261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77442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dani Regular"/>
              </a:rPr>
              <a:t>Observations on the Technical Evaluation (6/8) </a:t>
            </a:r>
            <a:endParaRPr lang="en-US" sz="1800" b="0">
              <a:latin typeface="Adani Regular" panose="02000503000000020004" pitchFamily="2" charset="0"/>
            </a:endParaRP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0" y="0"/>
          <a:ext cx="12192000" cy="22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Executive Summary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Business Needs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Functional Evaluation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Architecture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Technical</a:t>
                      </a:r>
                      <a:r>
                        <a:rPr lang="en-US" sz="900" b="0" baseline="0">
                          <a:latin typeface="Adani Regular" panose="02000503000000020004" pitchFamily="2" charset="0"/>
                        </a:rPr>
                        <a:t> Evaluation</a:t>
                      </a:r>
                      <a:endParaRPr lang="en-US" sz="900" b="0">
                        <a:latin typeface="Adani Regular" panose="02000503000000020004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ARB Feedback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500140"/>
              </p:ext>
            </p:extLst>
          </p:nvPr>
        </p:nvGraphicFramePr>
        <p:xfrm>
          <a:off x="348655" y="1077838"/>
          <a:ext cx="11046526" cy="5168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49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8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398">
                <a:tc>
                  <a:txBody>
                    <a:bodyPr/>
                    <a:lstStyle/>
                    <a:p>
                      <a:pPr algn="l"/>
                      <a:r>
                        <a:rPr lang="en-US" sz="1800" b="1">
                          <a:solidFill>
                            <a:srgbClr val="FFFFFF"/>
                          </a:solidFill>
                          <a:latin typeface="Adani Regular"/>
                        </a:rPr>
                        <a:t>#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/>
                        </a:rPr>
                        <a:t>Non Functional Requirements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/>
                        </a:rPr>
                        <a:t>&lt;&lt;Option 1&gt;&gt;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542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30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latin typeface="Adani Regular"/>
                        </a:rPr>
                        <a:t>Data Governance</a:t>
                      </a:r>
                      <a:endParaRPr lang="en-US" sz="12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878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30a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latin typeface="Adani Regular"/>
                        </a:rPr>
                        <a:t>Location for data storage &amp; support for localization 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(if required to move data to India):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0588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30b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latin typeface="Adani Regular"/>
                        </a:rPr>
                        <a:t>Data Archival &amp; Data Destruction – </a:t>
                      </a: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data life span has been defined and storage volume and archival setup have been identified accordingly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0588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30c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Adani Regular"/>
                        </a:rPr>
                        <a:t>Master Data Management </a:t>
                      </a: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(Integration and interface with centrally governed MDG solution has been defined. MDM at individual application level must be strictly avoided.)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261728"/>
                  </a:ext>
                </a:extLst>
              </a:tr>
              <a:tr h="703598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30b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CIA impact rating(in terms of Low Medium High for all three parameters) </a:t>
                      </a: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of the application based upon the data confidentiality, accuracy (integrity) and availability requirements,(refer Annexure)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736324"/>
                  </a:ext>
                </a:extLst>
              </a:tr>
              <a:tr h="703598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30a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Data Classification </a:t>
                      </a: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– Define the underlying data labels as per security needs – Public/ Internal/ Confidential/ Restricted.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886289"/>
                  </a:ext>
                </a:extLst>
              </a:tr>
              <a:tr h="656471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30c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Privacy Impact Assessment – </a:t>
                      </a: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Are</a:t>
                      </a:r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Data privacy</a:t>
                      </a:r>
                      <a:r>
                        <a:rPr lang="en-US" sz="1200" b="0" baseline="0">
                          <a:solidFill>
                            <a:schemeClr val="tx1"/>
                          </a:solidFill>
                          <a:latin typeface="Adani Regular"/>
                        </a:rPr>
                        <a:t> controls  implemented both at Design &amp; operations stage (Provide details). Regulatory and Legal mandated controls to be highlighted.</a:t>
                      </a:r>
                      <a:endParaRPr lang="en-US" sz="1200" b="1" kern="1200">
                        <a:solidFill>
                          <a:schemeClr val="tx1"/>
                        </a:solidFill>
                        <a:latin typeface="Adani Regular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2694872"/>
                  </a:ext>
                </a:extLst>
              </a:tr>
              <a:tr h="875294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30f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Data Access </a:t>
                      </a:r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–</a:t>
                      </a:r>
                      <a:r>
                        <a:rPr lang="en-US" sz="1200" b="1" kern="1200">
                          <a:solidFill>
                            <a:schemeClr val="tx1"/>
                          </a:solidFill>
                          <a:effectLst/>
                          <a:latin typeface="Adani Regular"/>
                          <a:ea typeface="+mn-ea"/>
                          <a:cs typeface="+mn-cs"/>
                        </a:rPr>
                        <a:t> W</a:t>
                      </a:r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hich access model is implemented, give details(ex RBAC, Context Based.) </a:t>
                      </a: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Application should leverage the organization’s central identity &amp; access management system for access control, and same definitions to be propagated to application layer.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157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36848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dani Regular"/>
              </a:rPr>
              <a:t>Observations on the Technical Evaluation (7/8) </a:t>
            </a:r>
            <a:endParaRPr lang="en-US" sz="1800" b="0">
              <a:latin typeface="Adani Regular" panose="02000503000000020004" pitchFamily="2" charset="0"/>
            </a:endParaRP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0" y="0"/>
          <a:ext cx="12192000" cy="22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Executive Summary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Business Needs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Functional Evaluation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Architecture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Technical</a:t>
                      </a:r>
                      <a:r>
                        <a:rPr lang="en-US" sz="900" b="0" baseline="0">
                          <a:latin typeface="Adani Regular" panose="02000503000000020004" pitchFamily="2" charset="0"/>
                        </a:rPr>
                        <a:t> Evaluation</a:t>
                      </a:r>
                      <a:endParaRPr lang="en-US" sz="900" b="0">
                        <a:latin typeface="Adani Regular" panose="02000503000000020004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ARB Feedback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3455221"/>
              </p:ext>
            </p:extLst>
          </p:nvPr>
        </p:nvGraphicFramePr>
        <p:xfrm>
          <a:off x="348655" y="1126023"/>
          <a:ext cx="10967687" cy="50775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0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32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42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6402">
                <a:tc>
                  <a:txBody>
                    <a:bodyPr/>
                    <a:lstStyle/>
                    <a:p>
                      <a:pPr algn="l"/>
                      <a:r>
                        <a:rPr lang="en-US" sz="1800" b="1">
                          <a:solidFill>
                            <a:srgbClr val="FFFFFF"/>
                          </a:solidFill>
                          <a:latin typeface="Adani Regular"/>
                        </a:rPr>
                        <a:t>#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/>
                        </a:rPr>
                        <a:t>Non Functional Requirements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/>
                        </a:rPr>
                        <a:t>&lt;&lt;Option 1&gt;&gt;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452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30g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latin typeface="Adani Regular"/>
                        </a:rPr>
                        <a:t>Data duplication </a:t>
                      </a:r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to be avoided 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– the application is not creating duplicate data (Master data or Transaction data)[IT TEAM]</a:t>
                      </a:r>
                    </a:p>
                    <a:p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Duplicate Data if permitted will have the same security controls as the original data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002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30h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Adani Regular"/>
                          <a:ea typeface="+mn-ea"/>
                          <a:cs typeface="+mn-cs"/>
                        </a:rPr>
                        <a:t>Data Sharing 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- Does the solution enforce data sharing on APIs only? (if not, please specify which all methods are used, SFTP, </a:t>
                      </a:r>
                      <a:r>
                        <a:rPr lang="en-US" sz="1200" b="0" err="1">
                          <a:solidFill>
                            <a:schemeClr val="tx1"/>
                          </a:solidFill>
                          <a:latin typeface="Adani Regular"/>
                        </a:rPr>
                        <a:t>WebHook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 etc..)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3002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31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latin typeface="Adani Regular"/>
                        </a:rPr>
                        <a:t>Periodic Assessment &amp; Testing (Internal assessment, external audits, etc.)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 Give details of the testing methodologies and periodicity.</a:t>
                      </a:r>
                      <a:endParaRPr lang="en-US" sz="1200" b="1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200">
                        <a:sym typeface="Adani Regular"/>
                      </a:endParaRPr>
                    </a:p>
                  </a:txBody>
                  <a:tcPr marL="45720" marR="45720"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261728"/>
                  </a:ext>
                </a:extLst>
              </a:tr>
              <a:tr h="388236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31a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chemeClr val="tx1"/>
                          </a:solidFill>
                          <a:latin typeface="Adani Regular"/>
                        </a:rPr>
                        <a:t>Development Process Compliance (27001, </a:t>
                      </a:r>
                      <a:r>
                        <a:rPr lang="en-US" sz="1100" b="0" err="1">
                          <a:solidFill>
                            <a:schemeClr val="tx1"/>
                          </a:solidFill>
                          <a:latin typeface="Adani Regular"/>
                        </a:rPr>
                        <a:t>DevSecOps</a:t>
                      </a:r>
                      <a:r>
                        <a:rPr lang="en-US" sz="1100" b="0">
                          <a:solidFill>
                            <a:schemeClr val="tx1"/>
                          </a:solidFill>
                          <a:latin typeface="Adani Regular"/>
                        </a:rPr>
                        <a:t>, SAST,  DAST, Library Scanning)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3052143"/>
                  </a:ext>
                </a:extLst>
              </a:tr>
              <a:tr h="778772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31b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Adani Regular"/>
                        </a:rPr>
                        <a:t>Security Testing(COTS)</a:t>
                      </a:r>
                    </a:p>
                    <a:p>
                      <a:pPr marL="228600" indent="-228600">
                        <a:buFont typeface="+mj-lt"/>
                        <a:buAutoNum type="alphaLcParenR"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Adani Regular"/>
                        </a:rPr>
                        <a:t>Has VA been done?</a:t>
                      </a:r>
                    </a:p>
                    <a:p>
                      <a:pPr marL="228600" indent="-228600">
                        <a:buFont typeface="+mj-lt"/>
                        <a:buAutoNum type="alphaLcParenR"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Adani Regular"/>
                        </a:rPr>
                        <a:t>Has PT &amp; Grey Box Testing(including Source Code Review) been done?</a:t>
                      </a:r>
                    </a:p>
                    <a:p>
                      <a:pPr marL="228600" indent="-228600">
                        <a:buFont typeface="+mj-lt"/>
                        <a:buAutoNum type="alphaLcParenR"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Adani Regular"/>
                        </a:rPr>
                        <a:t>When was the grey box testing last done?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Adani Regular"/>
                        </a:rPr>
                        <a:t>d)   Has report been furnished to the Bus?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2272448"/>
                  </a:ext>
                </a:extLst>
              </a:tr>
              <a:tr h="919206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31c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chemeClr val="tx1"/>
                          </a:solidFill>
                          <a:latin typeface="Adani Regular"/>
                        </a:rPr>
                        <a:t>Security Testing Development ??</a:t>
                      </a:r>
                    </a:p>
                    <a:p>
                      <a:r>
                        <a:rPr lang="en-US" sz="1100" b="0">
                          <a:solidFill>
                            <a:schemeClr val="tx1"/>
                          </a:solidFill>
                          <a:latin typeface="Adani Regular"/>
                        </a:rPr>
                        <a:t>Is </a:t>
                      </a:r>
                      <a:r>
                        <a:rPr lang="en-US" sz="1100" b="0" err="1">
                          <a:solidFill>
                            <a:schemeClr val="tx1"/>
                          </a:solidFill>
                          <a:latin typeface="Adani Regular"/>
                        </a:rPr>
                        <a:t>DevSecOps</a:t>
                      </a:r>
                      <a:r>
                        <a:rPr lang="en-US" sz="1100" b="0">
                          <a:solidFill>
                            <a:schemeClr val="tx1"/>
                          </a:solidFill>
                          <a:latin typeface="Adani Regular"/>
                        </a:rPr>
                        <a:t>/SDLC framework in place and complied to?</a:t>
                      </a:r>
                    </a:p>
                    <a:p>
                      <a:endParaRPr lang="en-US" sz="11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  <a:p>
                      <a:r>
                        <a:rPr lang="en-US" sz="1100" b="0">
                          <a:solidFill>
                            <a:schemeClr val="tx1"/>
                          </a:solidFill>
                          <a:latin typeface="Adani Regular"/>
                        </a:rPr>
                        <a:t>What is the frequency of VA, PT, SAST, DAST</a:t>
                      </a:r>
                    </a:p>
                    <a:p>
                      <a:r>
                        <a:rPr lang="en-US" sz="1100" b="0">
                          <a:solidFill>
                            <a:schemeClr val="tx1"/>
                          </a:solidFill>
                          <a:latin typeface="Adani Regular"/>
                        </a:rPr>
                        <a:t>How often are they created?</a:t>
                      </a:r>
                    </a:p>
                    <a:p>
                      <a:r>
                        <a:rPr lang="en-US" sz="1100" b="0">
                          <a:solidFill>
                            <a:schemeClr val="tx1"/>
                          </a:solidFill>
                          <a:latin typeface="Adani Regular"/>
                        </a:rPr>
                        <a:t>What are security assurances being fulfilled? 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>
                        <a:latin typeface="+mn-lt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098275"/>
                  </a:ext>
                </a:extLst>
              </a:tr>
              <a:tr h="738778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31d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latin typeface="Adani Regular"/>
                        </a:rPr>
                        <a:t>Third party</a:t>
                      </a:r>
                      <a:r>
                        <a:rPr lang="en-US" sz="1200" b="1" baseline="0">
                          <a:solidFill>
                            <a:schemeClr val="tx1"/>
                          </a:solidFill>
                          <a:latin typeface="Adani Regular"/>
                        </a:rPr>
                        <a:t> components usage:</a:t>
                      </a:r>
                    </a:p>
                    <a:p>
                      <a:r>
                        <a:rPr lang="en-US" sz="1100" b="0" baseline="0">
                          <a:solidFill>
                            <a:schemeClr val="tx1"/>
                          </a:solidFill>
                          <a:latin typeface="Adani Regular"/>
                        </a:rPr>
                        <a:t>Is the Process to validate and review usage of open source and third-party components as part of security requirements definition, scan source code using security tools and remediate identified Vulnerabilities in place?</a:t>
                      </a:r>
                      <a:r>
                        <a:rPr lang="en-US" sz="1100" b="0">
                          <a:solidFill>
                            <a:schemeClr val="tx1"/>
                          </a:solidFill>
                          <a:latin typeface="Adani Regular"/>
                        </a:rPr>
                        <a:t> (if yes, kindly provide us with the process links)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7363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11024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dani Regular"/>
              </a:rPr>
              <a:t>Observations on the Technical Evaluation (8/8) </a:t>
            </a:r>
            <a:endParaRPr lang="en-US" sz="1800" b="0">
              <a:latin typeface="Adani Regular" panose="02000503000000020004" pitchFamily="2" charset="0"/>
            </a:endParaRP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0" y="0"/>
          <a:ext cx="12192000" cy="22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Executive Summary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Business Needs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Functional Evaluation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Architecture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Technical</a:t>
                      </a:r>
                      <a:r>
                        <a:rPr lang="en-US" sz="900" b="0" baseline="0">
                          <a:latin typeface="Adani Regular" panose="02000503000000020004" pitchFamily="2" charset="0"/>
                        </a:rPr>
                        <a:t> Evaluation</a:t>
                      </a:r>
                      <a:endParaRPr lang="en-US" sz="900" b="0">
                        <a:latin typeface="Adani Regular" panose="02000503000000020004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latin typeface="Adani Regular" panose="02000503000000020004" pitchFamily="2" charset="0"/>
                        </a:rPr>
                        <a:t>ARB Feedback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7554417"/>
              </p:ext>
            </p:extLst>
          </p:nvPr>
        </p:nvGraphicFramePr>
        <p:xfrm>
          <a:off x="251321" y="1008723"/>
          <a:ext cx="11065021" cy="52088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3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5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2396">
                <a:tc>
                  <a:txBody>
                    <a:bodyPr/>
                    <a:lstStyle/>
                    <a:p>
                      <a:pPr algn="l"/>
                      <a:r>
                        <a:rPr lang="en-US" sz="1800" b="1">
                          <a:solidFill>
                            <a:srgbClr val="FFFFFF"/>
                          </a:solidFill>
                          <a:latin typeface="Adani Regular"/>
                        </a:rPr>
                        <a:t>#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/>
                        </a:rPr>
                        <a:t>Non Functional Requirements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dani Regular"/>
                        </a:rPr>
                        <a:t>&lt;&lt;Option 1&gt;&gt;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008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32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Adani Regular"/>
                        </a:rPr>
                        <a:t>Employees &amp; Third parties </a:t>
                      </a:r>
                      <a:endParaRPr lang="en-US" sz="1200" b="1">
                        <a:solidFill>
                          <a:srgbClr val="FF0000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800824"/>
                  </a:ext>
                </a:extLst>
              </a:tr>
              <a:tr h="413277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32a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latin typeface="Adani Regular"/>
                        </a:rPr>
                        <a:t>Background Check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 on all employment candidates &amp; contractors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154003"/>
                  </a:ext>
                </a:extLst>
              </a:tr>
              <a:tr h="1074520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32b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baseline="0">
                          <a:solidFill>
                            <a:schemeClr val="tx1"/>
                          </a:solidFill>
                          <a:latin typeface="Adani Regular"/>
                        </a:rPr>
                        <a:t>Infrastructure Provider:</a:t>
                      </a:r>
                      <a:r>
                        <a:rPr lang="en-US" sz="1200" b="0" baseline="0">
                          <a:solidFill>
                            <a:schemeClr val="tx1"/>
                          </a:solidFill>
                          <a:latin typeface="Adani Regular"/>
                        </a:rPr>
                        <a:t> Is the Process to ensure the cloud service provider or any physical datacenter facilities follow the security policies &amp; standards (Contacts, NDAs, Shared responsibility matrix, certifications, audits, C3M etc.) in place.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 (if yes, kindly provide us with the process links)</a:t>
                      </a:r>
                      <a:endParaRPr lang="en-US" sz="1200" b="0" baseline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0025095"/>
                  </a:ext>
                </a:extLst>
              </a:tr>
              <a:tr h="743899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32c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baseline="0">
                          <a:solidFill>
                            <a:schemeClr val="tx1"/>
                          </a:solidFill>
                          <a:latin typeface="Adani Regular"/>
                        </a:rPr>
                        <a:t>Suppliers &amp; Licensors:</a:t>
                      </a:r>
                      <a:r>
                        <a:rPr lang="en-US" sz="1200" b="0" baseline="0">
                          <a:solidFill>
                            <a:schemeClr val="tx1"/>
                          </a:solidFill>
                          <a:latin typeface="Adani Regular"/>
                        </a:rPr>
                        <a:t> Is the process to ensure that third-party suppliers and licensors adhere to the substantially similar standards and levels of security as per your policy in place.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 (if yes, kindly provide us with the process links)</a:t>
                      </a:r>
                      <a:endParaRPr lang="en-US" sz="1200" b="0" baseline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9210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33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latin typeface="Adani Regular"/>
                        </a:rPr>
                        <a:t>Environment: </a:t>
                      </a:r>
                      <a:endParaRPr lang="en-US" sz="1200" b="1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  <a:p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Multitenant</a:t>
                      </a:r>
                      <a:r>
                        <a:rPr lang="en-US" sz="1200" b="0" baseline="0">
                          <a:solidFill>
                            <a:schemeClr val="tx1"/>
                          </a:solidFill>
                          <a:latin typeface="Adani Regular"/>
                        </a:rPr>
                        <a:t> or dedicated? If multi-tenant, Describe the process to segregate the data from other tenants?</a:t>
                      </a:r>
                    </a:p>
                    <a:p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Do you have Dev, Quality , Staging &amp; Production environment and are physically</a:t>
                      </a:r>
                      <a:r>
                        <a:rPr lang="en-US" sz="1200" b="0" baseline="0">
                          <a:solidFill>
                            <a:schemeClr val="tx1"/>
                          </a:solidFill>
                          <a:latin typeface="Adani Regular"/>
                        </a:rPr>
                        <a:t> segregated?</a:t>
                      </a:r>
                      <a:endParaRPr lang="en-US" sz="12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4916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34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/>
                        </a:rPr>
                        <a:t>Describe Change control procedures and Assurance methodologies.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725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35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tx1"/>
                          </a:solidFill>
                          <a:latin typeface="Adani Regular"/>
                        </a:rPr>
                        <a:t>Audit Trail availability</a:t>
                      </a:r>
                      <a:r>
                        <a:rPr lang="en-US" sz="1100" b="0">
                          <a:solidFill>
                            <a:schemeClr val="tx1"/>
                          </a:solidFill>
                          <a:latin typeface="Adani Regular"/>
                        </a:rPr>
                        <a:t>: (User, user actions &amp; Critical Transaction)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620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</a:rPr>
                        <a:t>36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chemeClr val="tx1"/>
                          </a:solidFill>
                          <a:latin typeface="Adani Regular"/>
                        </a:rPr>
                        <a:t>Are Licensing required</a:t>
                      </a:r>
                      <a:r>
                        <a:rPr lang="en-US" sz="1100" b="0" baseline="0">
                          <a:solidFill>
                            <a:schemeClr val="tx1"/>
                          </a:solidFill>
                          <a:latin typeface="Adani Regular"/>
                        </a:rPr>
                        <a:t> for additional components?</a:t>
                      </a:r>
                      <a:endParaRPr lang="en-US" sz="1100" b="0">
                        <a:solidFill>
                          <a:schemeClr val="tx1"/>
                        </a:solidFill>
                        <a:latin typeface="Adani Regular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261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11124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CCENTFARBEEXIST" val="0"/>
  <p:tag name="GROESSE" val="Standard"/>
  <p:tag name="THINKCELLUNDODONOTDELETE" val="5"/>
  <p:tag name="VERSION" val="V8.0"/>
  <p:tag name="VORLAGE" val="QPT_Molecule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cc_Strategy_template 4-3_V.1">
  <a:themeElements>
    <a:clrScheme name="Accenture Strategy">
      <a:dk1>
        <a:sysClr val="windowText" lastClr="000000"/>
      </a:dk1>
      <a:lt1>
        <a:sysClr val="window" lastClr="FFFFFF"/>
      </a:lt1>
      <a:dk2>
        <a:srgbClr val="666666"/>
      </a:dk2>
      <a:lt2>
        <a:srgbClr val="778888"/>
      </a:lt2>
      <a:accent1>
        <a:srgbClr val="FF0000"/>
      </a:accent1>
      <a:accent2>
        <a:srgbClr val="359B4C"/>
      </a:accent2>
      <a:accent3>
        <a:srgbClr val="FF9900"/>
      </a:accent3>
      <a:accent4>
        <a:srgbClr val="00BBEE"/>
      </a:accent4>
      <a:accent5>
        <a:srgbClr val="993399"/>
      </a:accent5>
      <a:accent6>
        <a:srgbClr val="002266"/>
      </a:accent6>
      <a:hlink>
        <a:srgbClr val="2F539C"/>
      </a:hlink>
      <a:folHlink>
        <a:srgbClr val="992222"/>
      </a:folHlink>
    </a:clrScheme>
    <a:fontScheme name="Custom 1">
      <a:majorFont>
        <a:latin typeface="Adani Bold"/>
        <a:ea typeface=""/>
        <a:cs typeface=""/>
      </a:majorFont>
      <a:minorFont>
        <a:latin typeface="Adani Regular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rgbClr val="778888">
            <a:lumMod val="20000"/>
            <a:lumOff val="80000"/>
          </a:srgbClr>
        </a:solidFill>
        <a:ln w="6350">
          <a:solidFill>
            <a:srgbClr val="778888">
              <a:lumMod val="20000"/>
              <a:lumOff val="80000"/>
            </a:srgbClr>
          </a:solidFill>
          <a:miter lim="800000"/>
          <a:headEnd/>
          <a:tailEnd/>
        </a:ln>
        <a:effectLst/>
      </a:spPr>
      <a:bodyPr vert="horz" wrap="square" lIns="72000" tIns="72000" rIns="72000" bIns="72000" numCol="1" rtlCol="0" anchor="t" anchorCtr="0" compatLnSpc="1">
        <a:prstTxWarp prst="textNoShape">
          <a:avLst/>
        </a:prstTxWarp>
        <a:no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ts val="0"/>
          </a:spcBef>
          <a:spcAft>
            <a:spcPts val="300"/>
          </a:spcAft>
          <a:buClrTx/>
          <a:buSzTx/>
          <a:buFontTx/>
          <a:buNone/>
          <a:tabLst/>
          <a:defRPr kumimoji="0" sz="1600" b="0" i="0" u="none" strike="noStrike" kern="0" cap="none" spc="0" normalizeH="0" baseline="0" noProof="0" dirty="0" err="1" smtClean="0">
            <a:ln>
              <a:noFill/>
            </a:ln>
            <a:solidFill>
              <a:sysClr val="windowText" lastClr="000000"/>
            </a:solidFill>
            <a:effectLst/>
            <a:uLnTx/>
            <a:uFillTx/>
            <a:latin typeface="Arial" pitchFamily="34" charset="0"/>
            <a:cs typeface="Arial" pitchFamily="34" charset="0"/>
          </a:defRPr>
        </a:defPPr>
      </a:lstStyle>
    </a:spDef>
    <a:lnDef>
      <a:spPr>
        <a:ln w="1270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36000" tIns="36000" rIns="36000" bIns="36000" rtlCol="0">
        <a:spAutoFit/>
      </a:bodyPr>
      <a:lstStyle>
        <a:defPPr algn="l">
          <a:defRPr sz="1200"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CE496C20560C4B993D4F13547BEBBB" ma:contentTypeVersion="11" ma:contentTypeDescription="Create a new document." ma:contentTypeScope="" ma:versionID="fe2fa317c0c38efeef6daa2b20ce322c">
  <xsd:schema xmlns:xsd="http://www.w3.org/2001/XMLSchema" xmlns:xs="http://www.w3.org/2001/XMLSchema" xmlns:p="http://schemas.microsoft.com/office/2006/metadata/properties" xmlns:ns2="52603b67-89b3-4ce3-a404-6ed9d45e205c" xmlns:ns3="21f61875-382e-44c8-a14b-0ef4ded25db3" targetNamespace="http://schemas.microsoft.com/office/2006/metadata/properties" ma:root="true" ma:fieldsID="efadf1b80f56a01809138a65c98ea485" ns2:_="" ns3:_="">
    <xsd:import namespace="52603b67-89b3-4ce3-a404-6ed9d45e205c"/>
    <xsd:import namespace="21f61875-382e-44c8-a14b-0ef4ded25db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603b67-89b3-4ce3-a404-6ed9d45e205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3216492f-1b00-43ce-94d5-8598ab9f95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f61875-382e-44c8-a14b-0ef4ded25db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9ad9a30-a063-4c83-9303-0206c83825aa}" ma:internalName="TaxCatchAll" ma:showField="CatchAllData" ma:web="21f61875-382e-44c8-a14b-0ef4ded25db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>
    <TaxCatchAll xmlns="21f61875-382e-44c8-a14b-0ef4ded25db3" xsi:nil="true"/>
    <lcf76f155ced4ddcb4097134ff3c332f xmlns="52603b67-89b3-4ce3-a404-6ed9d45e205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2BAEAF7-F51D-46C8-9A87-3B3927514849}">
  <ds:schemaRefs>
    <ds:schemaRef ds:uri="21f61875-382e-44c8-a14b-0ef4ded25db3"/>
    <ds:schemaRef ds:uri="52603b67-89b3-4ce3-a404-6ed9d45e205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F9374D4-182C-4418-91DE-04BEDE5CE5F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263F07-070F-4AFC-BA56-3A975C43E3EF}">
  <ds:schemaRefs>
    <ds:schemaRef ds:uri="21f61875-382e-44c8-a14b-0ef4ded25db3"/>
    <ds:schemaRef ds:uri="52603b67-89b3-4ce3-a404-6ed9d45e205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Acc_Strategy_template 4-3</Template>
  <Application>Microsoft Office PowerPoint</Application>
  <PresentationFormat>Widescreen</PresentationFormat>
  <Slides>31</Slides>
  <Notes>12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Acc_Strategy_template 4-3_V.1</vt:lpstr>
      <vt:lpstr>PowerPoint Presentation</vt:lpstr>
      <vt:lpstr>Pre-Submission Checklist/ Pre-Requisites (1/2)  (to be checked by BU before submitting – for all solutions being evaluated)</vt:lpstr>
      <vt:lpstr>Pre-Submission Checklist/ Pre-Requisites (2/2) (to be checked by BU before submitting – for all solutions being evaluated)</vt:lpstr>
      <vt:lpstr>Pre-Submission Checklist for Partner Selection (to be checked by BU/Project team before submitting – for all solutions being evaluated)</vt:lpstr>
      <vt:lpstr>Evaluation of General Vendor Credentials</vt:lpstr>
      <vt:lpstr>Context</vt:lpstr>
      <vt:lpstr>At a Glance – Proposal to ARB (At least 2 solutions should be considered)</vt:lpstr>
      <vt:lpstr>Impact to the Business Capabilities (replace the capabilities with your BU-specific capabilities and highlight the ones impacted)</vt:lpstr>
      <vt:lpstr>Business Needs</vt:lpstr>
      <vt:lpstr>Application Profile </vt:lpstr>
      <vt:lpstr>Integration(Inter-connects) Details</vt:lpstr>
      <vt:lpstr>Technology Stack</vt:lpstr>
      <vt:lpstr>PowerPoint Presentation</vt:lpstr>
      <vt:lpstr>Proposed New Solution  (Architecture Components depicting the different existing Applications in the BU/Function)</vt:lpstr>
      <vt:lpstr>Proposed Functional/ Logical Architecture –  (Show all logical components or the functional building blocks of the solution – presentation, business logic, data access layers, etc.)</vt:lpstr>
      <vt:lpstr>Proposed Functional/ Logical Architecture – Data Flow  (Show all logical components or the functional building blocks of the solution – presentation, business logic, data access layers, etc.)</vt:lpstr>
      <vt:lpstr>Proposed Integration Architecture (Interim Process) (Show all interfaces with other systems in the organization)</vt:lpstr>
      <vt:lpstr>Proposed Integration Architecture (Future Process) (Show all interfaces with other systems in the organization)</vt:lpstr>
      <vt:lpstr>Data Flow Diagram–  Show all relevant aspects of data rest, motion and use. Show all the components as annotations on the Data Flow Diagram.</vt:lpstr>
      <vt:lpstr>Deployment Architecture</vt:lpstr>
      <vt:lpstr>WebApp Application Architecture </vt:lpstr>
      <vt:lpstr>Proposed Network Architecture</vt:lpstr>
      <vt:lpstr>Security Architecture– Show all relevant aspects of- Perimeter Security, Endpoint Security, Data Security, Monitoring &amp; Testing, API Security……</vt:lpstr>
      <vt:lpstr>Observations on the Technical Evaluation (1/8)  </vt:lpstr>
      <vt:lpstr>Observations on the Technical Evaluation (2/8)  </vt:lpstr>
      <vt:lpstr>Observations on the Technical Evaluation (3/8) </vt:lpstr>
      <vt:lpstr>Observations on the Technical Evaluation (4/8) </vt:lpstr>
      <vt:lpstr>Observations on the Technical Evaluation (5/8) </vt:lpstr>
      <vt:lpstr>Observations on the Technical Evaluation (6/8) </vt:lpstr>
      <vt:lpstr>Observations on the Technical Evaluation (7/8) </vt:lpstr>
      <vt:lpstr>Observations on the Technical Evaluation (8/8) </vt:lpstr>
    </vt:vector>
  </TitlesOfParts>
  <Company>ADANI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ARB Templates</dc:title>
  <dc:creator>Sudeep.Dwary@adani.com</dc:creator>
  <cp:revision>5</cp:revision>
  <dcterms:created xsi:type="dcterms:W3CDTF">2016-01-27T17:14:16Z</dcterms:created>
  <dcterms:modified xsi:type="dcterms:W3CDTF">2026-07-01T19:58:12Z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0x010100B7CE496C20560C4B993D4F13547BEBBB</vt:lpwstr>
  </property>
  <property fmtid="{D5CDD505-2E9C-101B-9397-08002B2CF9AE}" pid="3" name="SharedWithUsers">
    <vt:lpwstr>307;#Nilesh Pampattiwar;#309;#Piyush Pareek;#983;#Navin Kumar Pandey;#510;#Tarang Bhargava;#977;#Naresh Kondekar;#606;#Kallol Sarkar;#322;#Lokendra Singh Atri;#857;#Jankrut Desai;#60;#Smit Parmar;#9;#Yogesh Lotlikar;#485;#Vaibhav Ranjan Rai;#880;#Vivek Gupta;#59;#Jaybhai Rathod;#303;#Sanjay Kumar;#4884;#Dilip Kumar Behera;#560;#L D Satish Kumar;#391;#Sujoy Chakrabortty;#12;#Sudeep Dwary;#5678;#LINGARAJ MOHARANA;#173;#Mukesh Rajendra Lunia;#6046;#Jigar Shah;#6271;#Mohammed  Shaikh;#688;#Rohit Agrawal;#6940;#Gopal Chaubey;#1124;#Pinkal Patel;#5719;#Abhishek Gupta;#1108;#Lakhu Modhavadiya</vt:lpwstr>
  </property>
  <property fmtid="{D5CDD505-2E9C-101B-9397-08002B2CF9AE}" pid="4" name="Order">
    <vt:r8>1085200</vt:r8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bool>false</vt:bool>
  </property>
  <property fmtid="{D5CDD505-2E9C-101B-9397-08002B2CF9AE}" pid="11" name="MSIP_Label_8083ca2a-fa5f-423f-8f80-7e27cbcfb750_Enabled">
    <vt:lpwstr>true</vt:lpwstr>
  </property>
  <property fmtid="{D5CDD505-2E9C-101B-9397-08002B2CF9AE}" pid="12" name="MSIP_Label_8083ca2a-fa5f-423f-8f80-7e27cbcfb750_SetDate">
    <vt:lpwstr>2025-11-10T05:49:26Z</vt:lpwstr>
  </property>
  <property fmtid="{D5CDD505-2E9C-101B-9397-08002B2CF9AE}" pid="13" name="MSIP_Label_8083ca2a-fa5f-423f-8f80-7e27cbcfb750_Method">
    <vt:lpwstr>Privileged</vt:lpwstr>
  </property>
  <property fmtid="{D5CDD505-2E9C-101B-9397-08002B2CF9AE}" pid="14" name="MSIP_Label_8083ca2a-fa5f-423f-8f80-7e27cbcfb750_Name">
    <vt:lpwstr>Internal</vt:lpwstr>
  </property>
  <property fmtid="{D5CDD505-2E9C-101B-9397-08002B2CF9AE}" pid="15" name="MSIP_Label_8083ca2a-fa5f-423f-8f80-7e27cbcfb750_SiteId">
    <vt:lpwstr>927e65b8-7ad7-48db-a3c6-c42a67c100d6</vt:lpwstr>
  </property>
  <property fmtid="{D5CDD505-2E9C-101B-9397-08002B2CF9AE}" pid="16" name="MSIP_Label_8083ca2a-fa5f-423f-8f80-7e27cbcfb750_ActionId">
    <vt:lpwstr>7541e29e-2feb-4ebd-ac06-c9a92a401430</vt:lpwstr>
  </property>
  <property fmtid="{D5CDD505-2E9C-101B-9397-08002B2CF9AE}" pid="17" name="MSIP_Label_8083ca2a-fa5f-423f-8f80-7e27cbcfb750_ContentBits">
    <vt:lpwstr>0</vt:lpwstr>
  </property>
  <property fmtid="{D5CDD505-2E9C-101B-9397-08002B2CF9AE}" pid="18" name="MSIP_Label_8083ca2a-fa5f-423f-8f80-7e27cbcfb750_Tag">
    <vt:lpwstr>10, 0, 1, 1</vt:lpwstr>
  </property>
  <property fmtid="{D5CDD505-2E9C-101B-9397-08002B2CF9AE}" pid="19" name="MediaServiceImageTags">
    <vt:lpwstr/>
  </property>
</Properties>
</file>