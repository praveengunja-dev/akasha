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124_674DBD05.xml" ContentType="application/vnd.ms-powerpoint.comments+xml"/>
  <Override PartName="/ppt/comments/modernComment_7FFFFD42_EA4EDC26.xml" ContentType="application/vnd.ms-powerpoint.comments+xml"/>
  <Override PartName="/ppt/comments/modernComment_7FFFFCC1_B005C827.xml" ContentType="application/vnd.ms-powerpoint.comments+xml"/>
  <Override PartName="/ppt/notesSlides/notesSlide2.xml" ContentType="application/vnd.openxmlformats-officedocument.presentationml.notesSlide+xml"/>
  <Override PartName="/ppt/comments/modernComment_7FFFFD46_6DEDA17B.xml" ContentType="application/vnd.ms-powerpoint.comments+xml"/>
  <Override PartName="/ppt/notesSlides/notesSlide3.xml" ContentType="application/vnd.openxmlformats-officedocument.presentationml.notesSlide+xml"/>
  <Override PartName="/ppt/comments/modernComment_7FFFFD56_CECE764.xml" ContentType="application/vnd.ms-powerpoint.comments+xml"/>
  <Override PartName="/ppt/notesSlides/notesSlide4.xml" ContentType="application/vnd.openxmlformats-officedocument.presentationml.notesSlide+xml"/>
  <Override PartName="/ppt/comments/modernComment_7FFFFC79_4D431C06.xml" ContentType="application/vnd.ms-powerpoint.comments+xml"/>
  <Override PartName="/ppt/notesSlides/notesSlide5.xml" ContentType="application/vnd.openxmlformats-officedocument.presentationml.notesSlide+xml"/>
  <Override PartName="/ppt/comments/modernComment_7FFFFD31_B83952CE.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3.xml" ContentType="application/vnd.openxmlformats-officedocument.presentationml.notesSlide+xml"/>
  <Override PartName="/ppt/comments/modernComment_7FFFFD5E_197E665A.xml" ContentType="application/vnd.ms-powerpoint.comment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4.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5.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6.xml" ContentType="application/vnd.openxmlformats-officedocument.presentationml.notesSlide+xml"/>
  <Override PartName="/ppt/comments/modernComment_7FFFFD60_8A02D845.xml" ContentType="application/vnd.ms-powerpoint.comments+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7.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18.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19.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notesSlides/notesSlide20.xml" ContentType="application/vnd.openxmlformats-officedocument.presentationml.notesSlid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omments/modernComment_7FFFFB96_78B82721.xml" ContentType="application/vnd.ms-powerpoint.comment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omments/modernComment_7FFFFCE4_DB8308FC.xml" ContentType="application/vnd.ms-powerpoint.comments+xml"/>
  <Override PartName="/ppt/notesSlides/notesSlide31.xml" ContentType="application/vnd.openxmlformats-officedocument.presentationml.notesSlide+xml"/>
  <Override PartName="/ppt/comments/modernComment_7FFE5E60_19B2D8C8.xml" ContentType="application/vnd.ms-powerpoint.comments+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theme/themeOverride1.xml" ContentType="application/vnd.openxmlformats-officedocument.themeOverr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omments/modernComment_7FFFFCC4_C35E61AF.xml" ContentType="application/vnd.ms-powerpoint.comment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4"/>
  </p:sldMasterIdLst>
  <p:notesMasterIdLst>
    <p:notesMasterId r:id="rId74"/>
  </p:notesMasterIdLst>
  <p:handoutMasterIdLst>
    <p:handoutMasterId r:id="rId75"/>
  </p:handoutMasterIdLst>
  <p:sldIdLst>
    <p:sldId id="264" r:id="rId5"/>
    <p:sldId id="292" r:id="rId6"/>
    <p:sldId id="2147482946" r:id="rId7"/>
    <p:sldId id="2147482817" r:id="rId8"/>
    <p:sldId id="2147482950" r:id="rId9"/>
    <p:sldId id="2147482966" r:id="rId10"/>
    <p:sldId id="2147482967" r:id="rId11"/>
    <p:sldId id="2147482968" r:id="rId12"/>
    <p:sldId id="2147482969" r:id="rId13"/>
    <p:sldId id="2147482971" r:id="rId14"/>
    <p:sldId id="2147482970" r:id="rId15"/>
    <p:sldId id="2147482745" r:id="rId16"/>
    <p:sldId id="2147482933" r:id="rId17"/>
    <p:sldId id="2147482929" r:id="rId18"/>
    <p:sldId id="2147482903" r:id="rId19"/>
    <p:sldId id="2147482930" r:id="rId20"/>
    <p:sldId id="2147482931" r:id="rId21"/>
    <p:sldId id="2147482932" r:id="rId22"/>
    <p:sldId id="2147482905" r:id="rId23"/>
    <p:sldId id="2147482921" r:id="rId24"/>
    <p:sldId id="2147482789" r:id="rId25"/>
    <p:sldId id="2147482974" r:id="rId26"/>
    <p:sldId id="2147482790" r:id="rId27"/>
    <p:sldId id="2147482975" r:id="rId28"/>
    <p:sldId id="2147482791" r:id="rId29"/>
    <p:sldId id="2147482976" r:id="rId30"/>
    <p:sldId id="2147482922" r:id="rId31"/>
    <p:sldId id="2147482842" r:id="rId32"/>
    <p:sldId id="2147482977" r:id="rId33"/>
    <p:sldId id="2147482843" r:id="rId34"/>
    <p:sldId id="2147482978" r:id="rId35"/>
    <p:sldId id="2147482844" r:id="rId36"/>
    <p:sldId id="2147482979" r:id="rId37"/>
    <p:sldId id="2147482934" r:id="rId38"/>
    <p:sldId id="2147482944" r:id="rId39"/>
    <p:sldId id="2147482973" r:id="rId40"/>
    <p:sldId id="2147482518" r:id="rId41"/>
    <p:sldId id="2147482685" r:id="rId42"/>
    <p:sldId id="2147482686" r:id="rId43"/>
    <p:sldId id="2147482731" r:id="rId44"/>
    <p:sldId id="2147482773" r:id="rId45"/>
    <p:sldId id="2147482780" r:id="rId46"/>
    <p:sldId id="2147482945" r:id="rId47"/>
    <p:sldId id="2147482852" r:id="rId48"/>
    <p:sldId id="2147376736" r:id="rId49"/>
    <p:sldId id="290" r:id="rId50"/>
    <p:sldId id="2147482756" r:id="rId51"/>
    <p:sldId id="2147482820" r:id="rId52"/>
    <p:sldId id="2147482940" r:id="rId53"/>
    <p:sldId id="2147482848" r:id="rId54"/>
    <p:sldId id="2147482853" r:id="rId55"/>
    <p:sldId id="2147482688" r:id="rId56"/>
    <p:sldId id="2147482941" r:id="rId57"/>
    <p:sldId id="2147482910" r:id="rId58"/>
    <p:sldId id="2147482763" r:id="rId59"/>
    <p:sldId id="2147482764" r:id="rId60"/>
    <p:sldId id="2147482854" r:id="rId61"/>
    <p:sldId id="2147482855" r:id="rId62"/>
    <p:sldId id="2147482788" r:id="rId63"/>
    <p:sldId id="2147482856" r:id="rId64"/>
    <p:sldId id="2147482896" r:id="rId65"/>
    <p:sldId id="2147482753" r:id="rId66"/>
    <p:sldId id="2147482755" r:id="rId67"/>
    <p:sldId id="2147482959" r:id="rId68"/>
    <p:sldId id="2147482960" r:id="rId69"/>
    <p:sldId id="2147482961" r:id="rId70"/>
    <p:sldId id="2147482964" r:id="rId71"/>
    <p:sldId id="2147482963" r:id="rId72"/>
    <p:sldId id="2147482965" r:id="rId73"/>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8C7AF2D-AFE1-49BF-B1BF-77AF93E94DC3}">
          <p14:sldIdLst>
            <p14:sldId id="264"/>
            <p14:sldId id="292"/>
            <p14:sldId id="2147482946"/>
            <p14:sldId id="2147482817"/>
          </p14:sldIdLst>
        </p14:section>
        <p14:section name="Commissioning" id="{D133DE25-97A9-4C80-BC56-50E7D1B9EB78}">
          <p14:sldIdLst>
            <p14:sldId id="2147482950"/>
          </p14:sldIdLst>
        </p14:section>
        <p14:section name="Physical Progress" id="{4D47D254-E94E-4246-96A2-0F0D4BE70A58}">
          <p14:sldIdLst>
            <p14:sldId id="2147482966"/>
            <p14:sldId id="2147482967"/>
            <p14:sldId id="2147482968"/>
            <p14:sldId id="2147482969"/>
            <p14:sldId id="2147482971"/>
            <p14:sldId id="2147482970"/>
          </p14:sldIdLst>
        </p14:section>
        <p14:section name="Engineering" id="{401CC8E4-DF63-46C0-8E29-B27536A55B21}">
          <p14:sldIdLst>
            <p14:sldId id="2147482745"/>
          </p14:sldIdLst>
        </p14:section>
        <p14:section name="Procurement &amp; Monthly Rolling Plan" id="{979565BC-C068-46FF-97A9-0672C548123D}">
          <p14:sldIdLst>
            <p14:sldId id="2147482933"/>
            <p14:sldId id="2147482929"/>
            <p14:sldId id="2147482903"/>
            <p14:sldId id="2147482930"/>
            <p14:sldId id="2147482931"/>
            <p14:sldId id="2147482932"/>
            <p14:sldId id="2147482905"/>
          </p14:sldIdLst>
        </p14:section>
        <p14:section name="Civil Construction Progress" id="{B27D0672-266F-4CDF-A41E-2F78E752ABA1}">
          <p14:sldIdLst>
            <p14:sldId id="2147482921"/>
            <p14:sldId id="2147482789"/>
            <p14:sldId id="2147482974"/>
            <p14:sldId id="2147482790"/>
            <p14:sldId id="2147482975"/>
            <p14:sldId id="2147482791"/>
            <p14:sldId id="2147482976"/>
            <p14:sldId id="2147482922"/>
            <p14:sldId id="2147482842"/>
            <p14:sldId id="2147482977"/>
            <p14:sldId id="2147482843"/>
            <p14:sldId id="2147482978"/>
            <p14:sldId id="2147482844"/>
            <p14:sldId id="2147482979"/>
          </p14:sldIdLst>
        </p14:section>
        <p14:section name="Manpower Status" id="{2125DE47-07BC-4D30-B7F6-76688A60D8C9}">
          <p14:sldIdLst>
            <p14:sldId id="2147482934"/>
            <p14:sldId id="2147482944"/>
            <p14:sldId id="2147482973"/>
            <p14:sldId id="2147482518"/>
            <p14:sldId id="2147482685"/>
            <p14:sldId id="2147482686"/>
            <p14:sldId id="2147482731"/>
            <p14:sldId id="2147482773"/>
            <p14:sldId id="2147482780"/>
          </p14:sldIdLst>
        </p14:section>
        <p14:section name="Major Milestones &amp; Critical issues" id="{E006C319-2062-4567-948F-5F2CD7D3D597}">
          <p14:sldIdLst>
            <p14:sldId id="2147482945"/>
            <p14:sldId id="2147482852"/>
          </p14:sldIdLst>
        </p14:section>
        <p14:section name="Financial S-curve" id="{F2C107F0-3A07-4C7A-A9EF-2C5FF3FA2ED6}">
          <p14:sldIdLst>
            <p14:sldId id="2147376736"/>
            <p14:sldId id="290"/>
          </p14:sldIdLst>
        </p14:section>
        <p14:section name="Ordering Status" id="{F27D03CF-57BE-4BF8-8ABA-ED968FF8195D}">
          <p14:sldIdLst>
            <p14:sldId id="2147482756"/>
            <p14:sldId id="2147482820"/>
            <p14:sldId id="2147482940"/>
            <p14:sldId id="2147482848"/>
            <p14:sldId id="2147482853"/>
            <p14:sldId id="2147482688"/>
            <p14:sldId id="2147482941"/>
            <p14:sldId id="2147482910"/>
            <p14:sldId id="2147482763"/>
            <p14:sldId id="2147482764"/>
            <p14:sldId id="2147482854"/>
            <p14:sldId id="2147482855"/>
            <p14:sldId id="2147482788"/>
            <p14:sldId id="2147482856"/>
          </p14:sldIdLst>
        </p14:section>
        <p14:section name="Statutory &amp; other approvals" id="{91715EF9-ACCA-48F7-8627-698975714B28}">
          <p14:sldIdLst>
            <p14:sldId id="2147482896"/>
            <p14:sldId id="2147482753"/>
            <p14:sldId id="2147482755"/>
            <p14:sldId id="2147482959"/>
            <p14:sldId id="2147482960"/>
            <p14:sldId id="2147482961"/>
            <p14:sldId id="2147482964"/>
            <p14:sldId id="2147482963"/>
            <p14:sldId id="214748296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EAE4888-9D79-ED70-E402-CA363C25E157}" name="Devang Gajjar" initials="DG" userId="S::30061230@adani.com::cc2762aa-ec92-4ffa-a475-838368cbeec1" providerId="AD"/>
  <p188:author id="{65EA8ECA-A78B-6A56-D09B-8E2A6B4E6D1F}" name="Divyanshi Tahkit" initials="DT" userId="S::30136587@adani.com::e9fa80da-cab3-4b38-8a7a-32adb87f1e3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F2F2F2"/>
    <a:srgbClr val="FBE2D5"/>
    <a:srgbClr val="FFFFFF"/>
    <a:srgbClr val="800080"/>
    <a:srgbClr val="7030A0"/>
    <a:srgbClr val="0000FF"/>
    <a:srgbClr val="66FF33"/>
    <a:srgbClr val="B17ED8"/>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485" autoAdjust="0"/>
    <p:restoredTop sz="94660"/>
  </p:normalViewPr>
  <p:slideViewPr>
    <p:cSldViewPr snapToGrid="0">
      <p:cViewPr varScale="1">
        <p:scale>
          <a:sx n="74" d="100"/>
          <a:sy n="74" d="100"/>
        </p:scale>
        <p:origin x="31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charts/_rels/chart1.xml.rels><?xml version="1.0" encoding="UTF-8" standalone="yes"?>
<Relationships xmlns="http://schemas.openxmlformats.org/package/2006/relationships"><Relationship Id="rId3" Type="http://schemas.openxmlformats.org/officeDocument/2006/relationships/oleObject" Target="https://adaniltd-my.sharepoint.com/personal/30136587_adani_com/Documents/PMO%20-%20BESS%20-%20HO/CPAG%20files/Backup%20files/Progress%20Dashbord_FY26-27_06-Ju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adaniltd-my.sharepoint.com/personal/30136587_adani_com/Documents/PMO%20-%20BESS%20-%20HO/CPAG%20files/Backup%20files/Civil%20Progress/Progress%20Dashbord_FY26-27_06-Jul.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adaniltd-my.sharepoint.com/personal/30136587_adani_com/Documents/PMO%20-%20BESS%20-%20HO/CPAG%20files/Backup%20files/Civil%20Progress/Progress%20Dashbord_FY26-27_06-Jul.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adaniltd-my.sharepoint.com/personal/30136587_adani_com/Documents/PMO%20-%20BESS%20-%20HO/CPAG%20files/Backup%20files/Civil%20Progress/Progress%20Dashbord_FY26-27_06-Jul.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adaniltd-my.sharepoint.com/personal/30136587_adani_com/Documents/PMO%20-%20BESS%20-%20HO/CPAG%20files/Backup%20files/Civil%20Progress/Progress%20Dashbord_FY26-27_06-Jul.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adaniltd-my.sharepoint.com/personal/30136587_adani_com/Documents/PMO%20-%20BESS%20-%20HO/CPAG%20files/Backup%20files/Civil%20Progress/Progress%20Dashbord_FY26-27_06-Jul.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adaniltd-my.sharepoint.com/personal/30136587_adani_com/Documents/PMO%20-%20BESS%20-%20HO/CPAG%20files/Backup%20files/Civil%20Progress/Progress%20Dashbord_FY26-27_06-Jul.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adaniltd-my.sharepoint.com/personal/30136587_adani_com/Documents/PMO%20-%20BESS%20-%20HO/CPAG%20files/Backup%20files/Civil%20Progress/Progress%20Dashbord_FY26-27_06-Jul.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https://adaniltd-my.sharepoint.com/personal/30136587_adani_com/Documents/PMO%20-%20BESS%20-%20HO/CPAG%20files/Backup%20files/Civil%20Progress/Progress%20Dashbord_FY26-27_06-Jul.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https://adaniltd-my.sharepoint.com/personal/30136587_adani_com/Documents/PMO%20-%20BESS%20-%20HO/CPAG%20files/Backup%20files/Civil%20Progress/Progress%20Dashbord_FY26-27_06-Jul.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https://adaniltd-my.sharepoint.com/personal/30136587_adani_com/Documents/PMO%20-%20BESS%20-%20HO/CPAG%20files/Backup%20files/Civil%20Progress/Progress%20Dashbord_FY26-27_06-Jul.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https://adaniltd-my.sharepoint.com/personal/30136587_adani_com/Documents/PMO%20-%20BESS%20-%20HO/CPAG%20files/Backup%20files/Civil%20Progress/Progress%20Dashbord_FY26-27_06-Jul.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https://adaniltd-my.sharepoint.com/personal/30136587_adani_com/Documents/PMO%20-%20BESS%20-%20HO/CPAG%20files/Backup%20files/Civil%20Progress/Progress%20Dashbord_FY26-27_06-Jul.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https://adaniltd-my.sharepoint.com/personal/30136587_adani_com/Documents/PMO%20-%20BESS%20-%20HO/CPAG%20files/Backup%20files/Civil%20Progress/Progress%20Dashbord_FY26-27_06-Jul.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https://adaniltd-my.sharepoint.com/personal/30136587_adani_com/Documents/PMO%20-%20BESS%20-%20HO/CPAG%20files/Backup%20files/Civil%20Progress/Progress%20Dashbord_FY26-27_06-Jul.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https://adaniltd-my.sharepoint.com/personal/30136587_adani_com/Documents/PMO%20-%20BESS%20-%20HO/CPAG%20files/Backup%20files/Civil%20Progress/Progress%20Dashbord_FY26-27_06-Jul.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https://adaniltd-my.sharepoint.com/personal/30136587_adani_com/Documents/PMO%20-%20BESS%20-%20HO/CPAG%20files/Backup%20files/Civil%20Progress/Progress%20Dashbord_FY26-27_06-Jul.xlsx"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https://adaniltd-my.sharepoint.com/personal/30136587_adani_com/Documents/PMO%20-%20BESS%20-%20HO/CPAG%20files/Backup%20files/Civil%20Progress/Progress%20Dashbord_FY26-27_06-Jul.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9.xml"/><Relationship Id="rId1" Type="http://schemas.microsoft.com/office/2011/relationships/chartStyle" Target="style19.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400">
                <a:latin typeface="Adani Light" panose="02000503000000020004" pitchFamily="2" charset="0"/>
              </a:rPr>
              <a:t>BCF Progress pss-11</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PSS-11'!$J$32</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solidFill>
                  <a:srgbClr val="0070C0"/>
                </a:solidFill>
              </a:ln>
              <a:effectLst>
                <a:innerShdw blurRad="114300">
                  <a:schemeClr val="accent1"/>
                </a:innerShdw>
              </a:effectLst>
            </c:spPr>
            <c:extLst>
              <c:ext xmlns:c16="http://schemas.microsoft.com/office/drawing/2014/chart" uri="{C3380CC4-5D6E-409C-BE32-E72D297353CC}">
                <c16:uniqueId val="{00000001-5B65-45BC-A8DD-EE214A2908EF}"/>
              </c:ext>
            </c:extLst>
          </c:dPt>
          <c:dPt>
            <c:idx val="1"/>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03-5B65-45BC-A8DD-EE214A2908EF}"/>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PSS-11'!$B$33:$C$34</c:f>
              <c:multiLvlStrCache>
                <c:ptCount val="2"/>
                <c:lvl>
                  <c:pt idx="0">
                    <c:v>Plan</c:v>
                  </c:pt>
                  <c:pt idx="1">
                    <c:v>Actual</c:v>
                  </c:pt>
                </c:lvl>
                <c:lvl>
                  <c:pt idx="0">
                    <c:v>BCF</c:v>
                  </c:pt>
                </c:lvl>
              </c:multiLvlStrCache>
            </c:multiLvlStrRef>
          </c:cat>
          <c:val>
            <c:numRef>
              <c:f>'PPT PSS-11'!$J$33:$J$34</c:f>
              <c:numCache>
                <c:formatCode>0%</c:formatCode>
                <c:ptCount val="2"/>
                <c:pt idx="0">
                  <c:v>1</c:v>
                </c:pt>
                <c:pt idx="1">
                  <c:v>1</c:v>
                </c:pt>
              </c:numCache>
            </c:numRef>
          </c:val>
          <c:extLst>
            <c:ext xmlns:c16="http://schemas.microsoft.com/office/drawing/2014/chart" uri="{C3380CC4-5D6E-409C-BE32-E72D297353CC}">
              <c16:uniqueId val="{00000004-5B65-45BC-A8DD-EE214A2908EF}"/>
            </c:ext>
          </c:extLst>
        </c:ser>
        <c:dLbls>
          <c:dLblPos val="outEnd"/>
          <c:showLegendKey val="0"/>
          <c:showVal val="1"/>
          <c:showCatName val="0"/>
          <c:showSerName val="0"/>
          <c:showPercent val="0"/>
          <c:showBubbleSize val="0"/>
        </c:dLbls>
        <c:gapWidth val="164"/>
        <c:overlap val="-22"/>
        <c:axId val="1105330784"/>
        <c:axId val="1105326464"/>
      </c:barChart>
      <c:catAx>
        <c:axId val="1105330784"/>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26464"/>
        <c:crosses val="autoZero"/>
        <c:auto val="1"/>
        <c:lblAlgn val="ctr"/>
        <c:lblOffset val="100"/>
        <c:noMultiLvlLbl val="0"/>
      </c:catAx>
      <c:valAx>
        <c:axId val="1105326464"/>
        <c:scaling>
          <c:orientation val="minMax"/>
          <c:max val="1"/>
          <c:min val="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30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200">
                <a:latin typeface="Adani Light" panose="02000503000000020004" pitchFamily="2" charset="0"/>
              </a:rPr>
              <a:t>BOP Civil Progress pss-11 </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PSS-11'!$J$2</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1-4B71-462F-8229-0ABABFB2EA96}"/>
              </c:ext>
            </c:extLst>
          </c:dPt>
          <c:dPt>
            <c:idx val="1"/>
            <c:invertIfNegative val="0"/>
            <c:bubble3D val="0"/>
            <c:spPr>
              <a:solidFill>
                <a:srgbClr val="FFFF00"/>
              </a:solidFill>
              <a:ln>
                <a:noFill/>
              </a:ln>
              <a:effectLst>
                <a:innerShdw blurRad="114300">
                  <a:schemeClr val="accent1"/>
                </a:innerShdw>
              </a:effectLst>
            </c:spPr>
            <c:extLst>
              <c:ext xmlns:c16="http://schemas.microsoft.com/office/drawing/2014/chart" uri="{C3380CC4-5D6E-409C-BE32-E72D297353CC}">
                <c16:uniqueId val="{00000003-4B71-462F-8229-0ABABFB2EA96}"/>
              </c:ext>
            </c:extLst>
          </c:dPt>
          <c:dPt>
            <c:idx val="2"/>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5-4B71-462F-8229-0ABABFB2EA96}"/>
              </c:ext>
            </c:extLst>
          </c:dPt>
          <c:dPt>
            <c:idx val="3"/>
            <c:invertIfNegative val="0"/>
            <c:bubble3D val="0"/>
            <c:spPr>
              <a:solidFill>
                <a:srgbClr val="FFFF00"/>
              </a:solidFill>
              <a:ln>
                <a:noFill/>
              </a:ln>
              <a:effectLst>
                <a:innerShdw blurRad="114300">
                  <a:schemeClr val="accent1"/>
                </a:innerShdw>
              </a:effectLst>
            </c:spPr>
            <c:extLst>
              <c:ext xmlns:c16="http://schemas.microsoft.com/office/drawing/2014/chart" uri="{C3380CC4-5D6E-409C-BE32-E72D297353CC}">
                <c16:uniqueId val="{00000007-4B71-462F-8229-0ABABFB2EA96}"/>
              </c:ext>
            </c:extLst>
          </c:dPt>
          <c:dPt>
            <c:idx val="4"/>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9-4B71-462F-8229-0ABABFB2EA96}"/>
              </c:ext>
            </c:extLst>
          </c:dPt>
          <c:dPt>
            <c:idx val="5"/>
            <c:invertIfNegative val="0"/>
            <c:bubble3D val="0"/>
            <c:spPr>
              <a:solidFill>
                <a:srgbClr val="FFFF00"/>
              </a:solidFill>
              <a:ln>
                <a:noFill/>
              </a:ln>
              <a:effectLst>
                <a:innerShdw blurRad="114300">
                  <a:schemeClr val="accent1"/>
                </a:innerShdw>
              </a:effectLst>
            </c:spPr>
            <c:extLst>
              <c:ext xmlns:c16="http://schemas.microsoft.com/office/drawing/2014/chart" uri="{C3380CC4-5D6E-409C-BE32-E72D297353CC}">
                <c16:uniqueId val="{0000000B-4B71-462F-8229-0ABABFB2EA96}"/>
              </c:ext>
            </c:extLst>
          </c:dPt>
          <c:dPt>
            <c:idx val="6"/>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D-4B71-462F-8229-0ABABFB2EA96}"/>
              </c:ext>
            </c:extLst>
          </c:dPt>
          <c:dPt>
            <c:idx val="7"/>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0F-4B71-462F-8229-0ABABFB2EA96}"/>
              </c:ext>
            </c:extLst>
          </c:dPt>
          <c:dPt>
            <c:idx val="8"/>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1-4B71-462F-8229-0ABABFB2EA96}"/>
              </c:ext>
            </c:extLst>
          </c:dPt>
          <c:dPt>
            <c:idx val="9"/>
            <c:invertIfNegative val="0"/>
            <c:bubble3D val="0"/>
            <c:spPr>
              <a:solidFill>
                <a:srgbClr val="FFFF00"/>
              </a:solidFill>
              <a:ln>
                <a:noFill/>
              </a:ln>
              <a:effectLst>
                <a:innerShdw blurRad="114300">
                  <a:schemeClr val="accent1"/>
                </a:innerShdw>
              </a:effectLst>
            </c:spPr>
            <c:extLst>
              <c:ext xmlns:c16="http://schemas.microsoft.com/office/drawing/2014/chart" uri="{C3380CC4-5D6E-409C-BE32-E72D297353CC}">
                <c16:uniqueId val="{00000013-4B71-462F-8229-0ABABFB2EA96}"/>
              </c:ext>
            </c:extLst>
          </c:dPt>
          <c:dPt>
            <c:idx val="10"/>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5-4B71-462F-8229-0ABABFB2EA96}"/>
              </c:ext>
            </c:extLst>
          </c:dPt>
          <c:dPt>
            <c:idx val="11"/>
            <c:invertIfNegative val="0"/>
            <c:bubble3D val="0"/>
            <c:spPr>
              <a:solidFill>
                <a:srgbClr val="00B050"/>
              </a:solidFill>
              <a:ln>
                <a:solidFill>
                  <a:schemeClr val="bg1"/>
                </a:solidFill>
              </a:ln>
              <a:effectLst>
                <a:innerShdw blurRad="114300">
                  <a:schemeClr val="accent1"/>
                </a:innerShdw>
              </a:effectLst>
            </c:spPr>
            <c:extLst>
              <c:ext xmlns:c16="http://schemas.microsoft.com/office/drawing/2014/chart" uri="{C3380CC4-5D6E-409C-BE32-E72D297353CC}">
                <c16:uniqueId val="{00000017-4B71-462F-8229-0ABABFB2EA96}"/>
              </c:ext>
            </c:extLst>
          </c:dPt>
          <c:dPt>
            <c:idx val="12"/>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9-4B71-462F-8229-0ABABFB2EA96}"/>
              </c:ext>
            </c:extLst>
          </c:dPt>
          <c:dPt>
            <c:idx val="13"/>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1B-4B71-462F-8229-0ABABFB2EA96}"/>
              </c:ext>
            </c:extLst>
          </c:dPt>
          <c:dPt>
            <c:idx val="14"/>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D-4B71-462F-8229-0ABABFB2EA96}"/>
              </c:ext>
            </c:extLst>
          </c:dPt>
          <c:dPt>
            <c:idx val="15"/>
            <c:invertIfNegative val="0"/>
            <c:bubble3D val="0"/>
            <c:spPr>
              <a:solidFill>
                <a:srgbClr val="FFFF00"/>
              </a:solidFill>
              <a:ln>
                <a:noFill/>
              </a:ln>
              <a:effectLst>
                <a:innerShdw blurRad="114300">
                  <a:schemeClr val="accent1"/>
                </a:innerShdw>
              </a:effectLst>
            </c:spPr>
            <c:extLst>
              <c:ext xmlns:c16="http://schemas.microsoft.com/office/drawing/2014/chart" uri="{C3380CC4-5D6E-409C-BE32-E72D297353CC}">
                <c16:uniqueId val="{0000001F-4B71-462F-8229-0ABABFB2EA96}"/>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Adani Light" panose="02000503000000020004" pitchFamily="2"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PSS-11'!$B$3:$C$8,'PPT PSS-11'!$B$10:$C$19)</c:f>
              <c:multiLvlStrCache>
                <c:ptCount val="16"/>
                <c:lvl>
                  <c:pt idx="0">
                    <c:v>Plan</c:v>
                  </c:pt>
                  <c:pt idx="1">
                    <c:v>Actual</c:v>
                  </c:pt>
                  <c:pt idx="2">
                    <c:v>Plan</c:v>
                  </c:pt>
                  <c:pt idx="3">
                    <c:v>Actual</c:v>
                  </c:pt>
                  <c:pt idx="4">
                    <c:v>Plan</c:v>
                  </c:pt>
                  <c:pt idx="5">
                    <c:v>Actual</c:v>
                  </c:pt>
                  <c:pt idx="6">
                    <c:v>Plan</c:v>
                  </c:pt>
                  <c:pt idx="7">
                    <c:v>Actual</c:v>
                  </c:pt>
                  <c:pt idx="8">
                    <c:v>Plan</c:v>
                  </c:pt>
                  <c:pt idx="9">
                    <c:v>Actual</c:v>
                  </c:pt>
                  <c:pt idx="10">
                    <c:v>Plan</c:v>
                  </c:pt>
                  <c:pt idx="11">
                    <c:v>Actual</c:v>
                  </c:pt>
                  <c:pt idx="12">
                    <c:v>Plan</c:v>
                  </c:pt>
                  <c:pt idx="13">
                    <c:v>Actual</c:v>
                  </c:pt>
                  <c:pt idx="14">
                    <c:v>Plan</c:v>
                  </c:pt>
                  <c:pt idx="15">
                    <c:v>Actual</c:v>
                  </c:pt>
                </c:lvl>
                <c:lvl>
                  <c:pt idx="0">
                    <c:v>PCS</c:v>
                  </c:pt>
                  <c:pt idx="2">
                    <c:v>SGR</c:v>
                  </c:pt>
                  <c:pt idx="4">
                    <c:v>MCR</c:v>
                  </c:pt>
                  <c:pt idx="6">
                    <c:v>CT</c:v>
                  </c:pt>
                  <c:pt idx="8">
                    <c:v>CSS</c:v>
                  </c:pt>
                  <c:pt idx="10">
                    <c:v>BOT </c:v>
                  </c:pt>
                  <c:pt idx="12">
                    <c:v>NIFPS</c:v>
                  </c:pt>
                  <c:pt idx="14">
                    <c:v>HF</c:v>
                  </c:pt>
                </c:lvl>
              </c:multiLvlStrCache>
            </c:multiLvlStrRef>
          </c:cat>
          <c:val>
            <c:numRef>
              <c:f>('PPT PSS-11'!$J$3:$J$8,'PPT PSS-11'!$J$10:$J$19)</c:f>
              <c:numCache>
                <c:formatCode>0%</c:formatCode>
                <c:ptCount val="16"/>
                <c:pt idx="0">
                  <c:v>1</c:v>
                </c:pt>
                <c:pt idx="1">
                  <c:v>0.97777777777777775</c:v>
                </c:pt>
                <c:pt idx="2">
                  <c:v>1</c:v>
                </c:pt>
                <c:pt idx="3">
                  <c:v>0.97777777777777775</c:v>
                </c:pt>
                <c:pt idx="4">
                  <c:v>1</c:v>
                </c:pt>
                <c:pt idx="5">
                  <c:v>0.97333333333333327</c:v>
                </c:pt>
                <c:pt idx="6">
                  <c:v>1</c:v>
                </c:pt>
                <c:pt idx="7">
                  <c:v>1</c:v>
                </c:pt>
                <c:pt idx="8">
                  <c:v>1</c:v>
                </c:pt>
                <c:pt idx="9">
                  <c:v>1</c:v>
                </c:pt>
                <c:pt idx="10">
                  <c:v>0.99999999999999989</c:v>
                </c:pt>
                <c:pt idx="11">
                  <c:v>0.99999999999999989</c:v>
                </c:pt>
                <c:pt idx="12">
                  <c:v>1</c:v>
                </c:pt>
                <c:pt idx="13">
                  <c:v>0.95555555555555549</c:v>
                </c:pt>
                <c:pt idx="14">
                  <c:v>1</c:v>
                </c:pt>
                <c:pt idx="15">
                  <c:v>0.875</c:v>
                </c:pt>
              </c:numCache>
            </c:numRef>
          </c:val>
          <c:extLst>
            <c:ext xmlns:c16="http://schemas.microsoft.com/office/drawing/2014/chart" uri="{C3380CC4-5D6E-409C-BE32-E72D297353CC}">
              <c16:uniqueId val="{00000020-4B71-462F-8229-0ABABFB2EA96}"/>
            </c:ext>
          </c:extLst>
        </c:ser>
        <c:dLbls>
          <c:showLegendKey val="0"/>
          <c:showVal val="0"/>
          <c:showCatName val="0"/>
          <c:showSerName val="0"/>
          <c:showPercent val="0"/>
          <c:showBubbleSize val="0"/>
        </c:dLbls>
        <c:gapWidth val="164"/>
        <c:overlap val="-22"/>
        <c:axId val="520753280"/>
        <c:axId val="520769120"/>
      </c:barChart>
      <c:catAx>
        <c:axId val="520753280"/>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69120"/>
        <c:crosses val="autoZero"/>
        <c:auto val="1"/>
        <c:lblAlgn val="ctr"/>
        <c:lblOffset val="100"/>
        <c:noMultiLvlLbl val="0"/>
      </c:catAx>
      <c:valAx>
        <c:axId val="520769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53280"/>
        <c:crosses val="autoZero"/>
        <c:crossBetween val="between"/>
      </c:valAx>
      <c:spPr>
        <a:noFill/>
        <a:ln>
          <a:noFill/>
        </a:ln>
        <a:effectLst/>
      </c:spPr>
    </c:plotArea>
    <c:plotVisOnly val="1"/>
    <c:dispBlanksAs val="gap"/>
    <c:showDLblsOverMax val="0"/>
  </c:chart>
  <c:spPr>
    <a:solidFill>
      <a:schemeClr val="bg1"/>
    </a:solidFill>
    <a:ln w="19050" cap="flat" cmpd="sng" algn="ctr">
      <a:solidFill>
        <a:schemeClr val="tx1"/>
      </a:solid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Electrical</a:t>
            </a:r>
            <a:r>
              <a:rPr lang="en-US" b="1" baseline="0"/>
              <a:t> Progress - PSS 11</a:t>
            </a:r>
            <a:endParaRPr lang="en-US" b="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PSS-11'!$G$40</c:f>
              <c:strCache>
                <c:ptCount val="1"/>
                <c:pt idx="0">
                  <c:v>Plan %</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'PPT PSS-11'!$B$41:$B$50</c:f>
              <c:strCache>
                <c:ptCount val="10"/>
                <c:pt idx="0">
                  <c:v>HT Cable Laying</c:v>
                </c:pt>
                <c:pt idx="1">
                  <c:v>FO Cable Laying</c:v>
                </c:pt>
                <c:pt idx="2">
                  <c:v> DC Cable Laying</c:v>
                </c:pt>
                <c:pt idx="3">
                  <c:v>LT Cable Laying</c:v>
                </c:pt>
                <c:pt idx="4">
                  <c:v>Aux Cable Laying</c:v>
                </c:pt>
                <c:pt idx="5">
                  <c:v>Control Cable Laying</c:v>
                </c:pt>
                <c:pt idx="6">
                  <c:v>Battery Container Erection</c:v>
                </c:pt>
                <c:pt idx="7">
                  <c:v>PCS Erection</c:v>
                </c:pt>
                <c:pt idx="8">
                  <c:v>CT Erection</c:v>
                </c:pt>
                <c:pt idx="9">
                  <c:v>CSS Erection</c:v>
                </c:pt>
              </c:strCache>
            </c:strRef>
          </c:cat>
          <c:val>
            <c:numRef>
              <c:f>'PPT PSS-11'!$G$41:$G$50</c:f>
              <c:numCache>
                <c:formatCode>0%</c:formatCode>
                <c:ptCount val="10"/>
                <c:pt idx="0">
                  <c:v>1</c:v>
                </c:pt>
                <c:pt idx="1">
                  <c:v>1</c:v>
                </c:pt>
                <c:pt idx="2">
                  <c:v>1</c:v>
                </c:pt>
                <c:pt idx="3">
                  <c:v>1</c:v>
                </c:pt>
                <c:pt idx="4">
                  <c:v>1</c:v>
                </c:pt>
                <c:pt idx="5">
                  <c:v>1</c:v>
                </c:pt>
                <c:pt idx="6">
                  <c:v>0.3888888888888889</c:v>
                </c:pt>
                <c:pt idx="7">
                  <c:v>0.3888888888888889</c:v>
                </c:pt>
                <c:pt idx="8">
                  <c:v>1</c:v>
                </c:pt>
                <c:pt idx="9">
                  <c:v>1</c:v>
                </c:pt>
              </c:numCache>
            </c:numRef>
          </c:val>
          <c:extLst>
            <c:ext xmlns:c16="http://schemas.microsoft.com/office/drawing/2014/chart" uri="{C3380CC4-5D6E-409C-BE32-E72D297353CC}">
              <c16:uniqueId val="{00000000-8B38-4A49-8BCA-626E8BB1A616}"/>
            </c:ext>
          </c:extLst>
        </c:ser>
        <c:ser>
          <c:idx val="1"/>
          <c:order val="1"/>
          <c:tx>
            <c:strRef>
              <c:f>'PPT PSS-11'!$H$40</c:f>
              <c:strCache>
                <c:ptCount val="1"/>
                <c:pt idx="0">
                  <c:v>Actual %</c:v>
                </c:pt>
              </c:strCache>
            </c:strRef>
          </c:tx>
          <c:spPr>
            <a:solidFill>
              <a:schemeClr val="accent2"/>
            </a:solidFill>
            <a:ln>
              <a:noFill/>
            </a:ln>
            <a:effectLst/>
          </c:spPr>
          <c:invertIfNegative val="0"/>
          <c:dPt>
            <c:idx val="0"/>
            <c:invertIfNegative val="0"/>
            <c:bubble3D val="0"/>
            <c:spPr>
              <a:solidFill>
                <a:srgbClr val="FFFF00"/>
              </a:solidFill>
              <a:ln>
                <a:noFill/>
              </a:ln>
              <a:effectLst/>
            </c:spPr>
            <c:extLst>
              <c:ext xmlns:c16="http://schemas.microsoft.com/office/drawing/2014/chart" uri="{C3380CC4-5D6E-409C-BE32-E72D297353CC}">
                <c16:uniqueId val="{00000002-8B38-4A49-8BCA-626E8BB1A616}"/>
              </c:ext>
            </c:extLst>
          </c:dPt>
          <c:dPt>
            <c:idx val="1"/>
            <c:invertIfNegative val="0"/>
            <c:bubble3D val="0"/>
            <c:spPr>
              <a:solidFill>
                <a:srgbClr val="FF0000"/>
              </a:solidFill>
              <a:ln>
                <a:noFill/>
              </a:ln>
              <a:effectLst/>
            </c:spPr>
            <c:extLst>
              <c:ext xmlns:c16="http://schemas.microsoft.com/office/drawing/2014/chart" uri="{C3380CC4-5D6E-409C-BE32-E72D297353CC}">
                <c16:uniqueId val="{00000004-8B38-4A49-8BCA-626E8BB1A616}"/>
              </c:ext>
            </c:extLst>
          </c:dPt>
          <c:dPt>
            <c:idx val="2"/>
            <c:invertIfNegative val="0"/>
            <c:bubble3D val="0"/>
            <c:spPr>
              <a:solidFill>
                <a:srgbClr val="FF0000"/>
              </a:solidFill>
              <a:ln>
                <a:noFill/>
              </a:ln>
              <a:effectLst/>
            </c:spPr>
            <c:extLst>
              <c:ext xmlns:c16="http://schemas.microsoft.com/office/drawing/2014/chart" uri="{C3380CC4-5D6E-409C-BE32-E72D297353CC}">
                <c16:uniqueId val="{00000006-8B38-4A49-8BCA-626E8BB1A616}"/>
              </c:ext>
            </c:extLst>
          </c:dPt>
          <c:dPt>
            <c:idx val="3"/>
            <c:invertIfNegative val="0"/>
            <c:bubble3D val="0"/>
            <c:spPr>
              <a:solidFill>
                <a:srgbClr val="FF0000"/>
              </a:solidFill>
              <a:ln>
                <a:noFill/>
              </a:ln>
              <a:effectLst/>
            </c:spPr>
            <c:extLst>
              <c:ext xmlns:c16="http://schemas.microsoft.com/office/drawing/2014/chart" uri="{C3380CC4-5D6E-409C-BE32-E72D297353CC}">
                <c16:uniqueId val="{00000008-8B38-4A49-8BCA-626E8BB1A616}"/>
              </c:ext>
            </c:extLst>
          </c:dPt>
          <c:dPt>
            <c:idx val="4"/>
            <c:invertIfNegative val="0"/>
            <c:bubble3D val="0"/>
            <c:spPr>
              <a:solidFill>
                <a:srgbClr val="FF0000"/>
              </a:solidFill>
              <a:ln>
                <a:noFill/>
              </a:ln>
              <a:effectLst/>
            </c:spPr>
            <c:extLst>
              <c:ext xmlns:c16="http://schemas.microsoft.com/office/drawing/2014/chart" uri="{C3380CC4-5D6E-409C-BE32-E72D297353CC}">
                <c16:uniqueId val="{0000000A-8B38-4A49-8BCA-626E8BB1A616}"/>
              </c:ext>
            </c:extLst>
          </c:dPt>
          <c:dPt>
            <c:idx val="5"/>
            <c:invertIfNegative val="0"/>
            <c:bubble3D val="0"/>
            <c:spPr>
              <a:solidFill>
                <a:srgbClr val="FF0000"/>
              </a:solidFill>
              <a:ln>
                <a:noFill/>
              </a:ln>
              <a:effectLst/>
            </c:spPr>
            <c:extLst>
              <c:ext xmlns:c16="http://schemas.microsoft.com/office/drawing/2014/chart" uri="{C3380CC4-5D6E-409C-BE32-E72D297353CC}">
                <c16:uniqueId val="{0000000C-8B38-4A49-8BCA-626E8BB1A616}"/>
              </c:ext>
            </c:extLst>
          </c:dPt>
          <c:dPt>
            <c:idx val="7"/>
            <c:invertIfNegative val="0"/>
            <c:bubble3D val="0"/>
            <c:spPr>
              <a:solidFill>
                <a:srgbClr val="FF0000"/>
              </a:solidFill>
              <a:ln>
                <a:noFill/>
              </a:ln>
              <a:effectLst/>
            </c:spPr>
            <c:extLst>
              <c:ext xmlns:c16="http://schemas.microsoft.com/office/drawing/2014/chart" uri="{C3380CC4-5D6E-409C-BE32-E72D297353CC}">
                <c16:uniqueId val="{0000000E-8B38-4A49-8BCA-626E8BB1A616}"/>
              </c:ext>
            </c:extLst>
          </c:dPt>
          <c:dPt>
            <c:idx val="8"/>
            <c:invertIfNegative val="0"/>
            <c:bubble3D val="0"/>
            <c:spPr>
              <a:solidFill>
                <a:srgbClr val="FFFF00"/>
              </a:solidFill>
              <a:ln>
                <a:noFill/>
              </a:ln>
              <a:effectLst/>
            </c:spPr>
            <c:extLst>
              <c:ext xmlns:c16="http://schemas.microsoft.com/office/drawing/2014/chart" uri="{C3380CC4-5D6E-409C-BE32-E72D297353CC}">
                <c16:uniqueId val="{00000010-8B38-4A49-8BCA-626E8BB1A616}"/>
              </c:ext>
            </c:extLst>
          </c:dPt>
          <c:dPt>
            <c:idx val="9"/>
            <c:invertIfNegative val="0"/>
            <c:bubble3D val="0"/>
            <c:spPr>
              <a:solidFill>
                <a:srgbClr val="FF0000"/>
              </a:solidFill>
              <a:ln>
                <a:noFill/>
              </a:ln>
              <a:effectLst/>
            </c:spPr>
            <c:extLst>
              <c:ext xmlns:c16="http://schemas.microsoft.com/office/drawing/2014/chart" uri="{C3380CC4-5D6E-409C-BE32-E72D297353CC}">
                <c16:uniqueId val="{00000012-8B38-4A49-8BCA-626E8BB1A616}"/>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'PPT PSS-11'!$B$41:$B$50</c:f>
              <c:strCache>
                <c:ptCount val="10"/>
                <c:pt idx="0">
                  <c:v>HT Cable Laying</c:v>
                </c:pt>
                <c:pt idx="1">
                  <c:v>FO Cable Laying</c:v>
                </c:pt>
                <c:pt idx="2">
                  <c:v> DC Cable Laying</c:v>
                </c:pt>
                <c:pt idx="3">
                  <c:v>LT Cable Laying</c:v>
                </c:pt>
                <c:pt idx="4">
                  <c:v>Aux Cable Laying</c:v>
                </c:pt>
                <c:pt idx="5">
                  <c:v>Control Cable Laying</c:v>
                </c:pt>
                <c:pt idx="6">
                  <c:v>Battery Container Erection</c:v>
                </c:pt>
                <c:pt idx="7">
                  <c:v>PCS Erection</c:v>
                </c:pt>
                <c:pt idx="8">
                  <c:v>CT Erection</c:v>
                </c:pt>
                <c:pt idx="9">
                  <c:v>CSS Erection</c:v>
                </c:pt>
              </c:strCache>
            </c:strRef>
          </c:cat>
          <c:val>
            <c:numRef>
              <c:f>'PPT PSS-11'!$H$41:$H$50</c:f>
              <c:numCache>
                <c:formatCode>0%</c:formatCode>
                <c:ptCount val="10"/>
                <c:pt idx="0">
                  <c:v>0.63737469817809322</c:v>
                </c:pt>
                <c:pt idx="1">
                  <c:v>0.50145255797922106</c:v>
                </c:pt>
                <c:pt idx="2">
                  <c:v>0.42933141624730409</c:v>
                </c:pt>
                <c:pt idx="3">
                  <c:v>0.55556273760617469</c:v>
                </c:pt>
                <c:pt idx="4">
                  <c:v>0.43908121142763723</c:v>
                </c:pt>
                <c:pt idx="5">
                  <c:v>0.43460957769601738</c:v>
                </c:pt>
                <c:pt idx="6">
                  <c:v>0.53009259259259256</c:v>
                </c:pt>
                <c:pt idx="7">
                  <c:v>0.44444444444444442</c:v>
                </c:pt>
                <c:pt idx="8">
                  <c:v>0.87037037037037035</c:v>
                </c:pt>
                <c:pt idx="9">
                  <c:v>0.55555555555555558</c:v>
                </c:pt>
              </c:numCache>
            </c:numRef>
          </c:val>
          <c:extLst>
            <c:ext xmlns:c16="http://schemas.microsoft.com/office/drawing/2014/chart" uri="{C3380CC4-5D6E-409C-BE32-E72D297353CC}">
              <c16:uniqueId val="{00000013-8B38-4A49-8BCA-626E8BB1A616}"/>
            </c:ext>
          </c:extLst>
        </c:ser>
        <c:dLbls>
          <c:showLegendKey val="0"/>
          <c:showVal val="0"/>
          <c:showCatName val="0"/>
          <c:showSerName val="0"/>
          <c:showPercent val="0"/>
          <c:showBubbleSize val="0"/>
        </c:dLbls>
        <c:gapWidth val="129"/>
        <c:overlap val="-20"/>
        <c:axId val="1043629983"/>
        <c:axId val="1043638143"/>
      </c:barChart>
      <c:catAx>
        <c:axId val="1043629983"/>
        <c:scaling>
          <c:orientation val="minMax"/>
        </c:scaling>
        <c:delete val="0"/>
        <c:axPos val="b"/>
        <c:numFmt formatCode="General" sourceLinked="1"/>
        <c:majorTickMark val="none"/>
        <c:minorTickMark val="none"/>
        <c:tickLblPos val="nextTo"/>
        <c:spPr>
          <a:noFill/>
          <a:ln w="9525" cap="flat" cmpd="sng" algn="ctr">
            <a:solidFill>
              <a:schemeClr val="tx2"/>
            </a:solidFill>
            <a:round/>
          </a:ln>
          <a:effectLst/>
        </c:spPr>
        <c:txPr>
          <a:bodyPr rot="-54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3638143"/>
        <c:crosses val="autoZero"/>
        <c:auto val="1"/>
        <c:lblAlgn val="ctr"/>
        <c:lblOffset val="100"/>
        <c:noMultiLvlLbl val="0"/>
      </c:catAx>
      <c:valAx>
        <c:axId val="1043638143"/>
        <c:scaling>
          <c:orientation val="minMax"/>
          <c:max val="1"/>
          <c:min val="0"/>
        </c:scaling>
        <c:delete val="0"/>
        <c:axPos val="l"/>
        <c:majorGridlines>
          <c:spPr>
            <a:ln w="9525" cap="flat" cmpd="sng" algn="ctr">
              <a:no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3629983"/>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400">
                <a:latin typeface="Adani Light" panose="02000503000000020004" pitchFamily="2" charset="0"/>
              </a:rPr>
              <a:t>BCF Progress pss-12</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PSS-12'!$J$31</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solidFill>
                  <a:srgbClr val="0070C0"/>
                </a:solidFill>
              </a:ln>
              <a:effectLst>
                <a:innerShdw blurRad="114300">
                  <a:schemeClr val="accent1"/>
                </a:innerShdw>
              </a:effectLst>
            </c:spPr>
            <c:extLst>
              <c:ext xmlns:c16="http://schemas.microsoft.com/office/drawing/2014/chart" uri="{C3380CC4-5D6E-409C-BE32-E72D297353CC}">
                <c16:uniqueId val="{00000001-D1BD-4EC9-B8DA-E3D25E3C5438}"/>
              </c:ext>
            </c:extLst>
          </c:dPt>
          <c:dPt>
            <c:idx val="1"/>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03-D1BD-4EC9-B8DA-E3D25E3C5438}"/>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PSS-12'!$B$32:$C$33,'PPT PSS-12'!$J$32:$J$33)</c:f>
              <c:multiLvlStrCache>
                <c:ptCount val="4"/>
                <c:lvl>
                  <c:pt idx="0">
                    <c:v>Plan</c:v>
                  </c:pt>
                  <c:pt idx="1">
                    <c:v>Actual</c:v>
                  </c:pt>
                  <c:pt idx="2">
                    <c:v>100%</c:v>
                  </c:pt>
                  <c:pt idx="3">
                    <c:v>100%</c:v>
                  </c:pt>
                </c:lvl>
                <c:lvl>
                  <c:pt idx="0">
                    <c:v>BCF</c:v>
                  </c:pt>
                </c:lvl>
              </c:multiLvlStrCache>
            </c:multiLvlStrRef>
          </c:cat>
          <c:val>
            <c:numRef>
              <c:f>'PPT PSS-12'!$J$32:$J$33</c:f>
              <c:numCache>
                <c:formatCode>0%</c:formatCode>
                <c:ptCount val="2"/>
                <c:pt idx="0">
                  <c:v>1</c:v>
                </c:pt>
                <c:pt idx="1">
                  <c:v>1</c:v>
                </c:pt>
              </c:numCache>
            </c:numRef>
          </c:val>
          <c:extLst>
            <c:ext xmlns:c16="http://schemas.microsoft.com/office/drawing/2014/chart" uri="{C3380CC4-5D6E-409C-BE32-E72D297353CC}">
              <c16:uniqueId val="{00000004-D1BD-4EC9-B8DA-E3D25E3C5438}"/>
            </c:ext>
          </c:extLst>
        </c:ser>
        <c:dLbls>
          <c:dLblPos val="outEnd"/>
          <c:showLegendKey val="0"/>
          <c:showVal val="1"/>
          <c:showCatName val="0"/>
          <c:showSerName val="0"/>
          <c:showPercent val="0"/>
          <c:showBubbleSize val="0"/>
        </c:dLbls>
        <c:gapWidth val="164"/>
        <c:overlap val="-22"/>
        <c:axId val="1105330784"/>
        <c:axId val="1105326464"/>
      </c:barChart>
      <c:catAx>
        <c:axId val="1105330784"/>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26464"/>
        <c:crosses val="autoZero"/>
        <c:auto val="1"/>
        <c:lblAlgn val="ctr"/>
        <c:lblOffset val="100"/>
        <c:noMultiLvlLbl val="0"/>
      </c:catAx>
      <c:valAx>
        <c:axId val="1105326464"/>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30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solidFill>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200">
                <a:latin typeface="Adani Light" panose="02000503000000020004" pitchFamily="2" charset="0"/>
              </a:rPr>
              <a:t>BOP Civil Progress PSS-12 </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PSS-12'!$J$1</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1-EC15-42C5-A939-767151E02D0E}"/>
              </c:ext>
            </c:extLst>
          </c:dPt>
          <c:dPt>
            <c:idx val="1"/>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03-EC15-42C5-A939-767151E02D0E}"/>
              </c:ext>
            </c:extLst>
          </c:dPt>
          <c:dPt>
            <c:idx val="2"/>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5-EC15-42C5-A939-767151E02D0E}"/>
              </c:ext>
            </c:extLst>
          </c:dPt>
          <c:dPt>
            <c:idx val="3"/>
            <c:invertIfNegative val="0"/>
            <c:bubble3D val="0"/>
            <c:spPr>
              <a:solidFill>
                <a:srgbClr val="FFFF00"/>
              </a:solidFill>
              <a:ln>
                <a:noFill/>
              </a:ln>
              <a:effectLst>
                <a:innerShdw blurRad="114300">
                  <a:schemeClr val="accent1"/>
                </a:innerShdw>
              </a:effectLst>
            </c:spPr>
            <c:extLst>
              <c:ext xmlns:c16="http://schemas.microsoft.com/office/drawing/2014/chart" uri="{C3380CC4-5D6E-409C-BE32-E72D297353CC}">
                <c16:uniqueId val="{00000007-EC15-42C5-A939-767151E02D0E}"/>
              </c:ext>
            </c:extLst>
          </c:dPt>
          <c:dPt>
            <c:idx val="4"/>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9-EC15-42C5-A939-767151E02D0E}"/>
              </c:ext>
            </c:extLst>
          </c:dPt>
          <c:dPt>
            <c:idx val="5"/>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0B-EC15-42C5-A939-767151E02D0E}"/>
              </c:ext>
            </c:extLst>
          </c:dPt>
          <c:dPt>
            <c:idx val="6"/>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D-EC15-42C5-A939-767151E02D0E}"/>
              </c:ext>
            </c:extLst>
          </c:dPt>
          <c:dPt>
            <c:idx val="7"/>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0F-EC15-42C5-A939-767151E02D0E}"/>
              </c:ext>
            </c:extLst>
          </c:dPt>
          <c:dPt>
            <c:idx val="8"/>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1-EC15-42C5-A939-767151E02D0E}"/>
              </c:ext>
            </c:extLst>
          </c:dPt>
          <c:dPt>
            <c:idx val="9"/>
            <c:invertIfNegative val="0"/>
            <c:bubble3D val="0"/>
            <c:spPr>
              <a:solidFill>
                <a:srgbClr val="FFFF00"/>
              </a:solidFill>
              <a:ln>
                <a:noFill/>
              </a:ln>
              <a:effectLst>
                <a:innerShdw blurRad="114300">
                  <a:schemeClr val="accent1"/>
                </a:innerShdw>
              </a:effectLst>
            </c:spPr>
            <c:extLst>
              <c:ext xmlns:c16="http://schemas.microsoft.com/office/drawing/2014/chart" uri="{C3380CC4-5D6E-409C-BE32-E72D297353CC}">
                <c16:uniqueId val="{00000013-EC15-42C5-A939-767151E02D0E}"/>
              </c:ext>
            </c:extLst>
          </c:dPt>
          <c:dPt>
            <c:idx val="10"/>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5-EC15-42C5-A939-767151E02D0E}"/>
              </c:ext>
            </c:extLst>
          </c:dPt>
          <c:dPt>
            <c:idx val="11"/>
            <c:invertIfNegative val="0"/>
            <c:bubble3D val="0"/>
            <c:spPr>
              <a:solidFill>
                <a:srgbClr val="FFFF00"/>
              </a:solidFill>
              <a:ln>
                <a:solidFill>
                  <a:schemeClr val="bg1"/>
                </a:solidFill>
              </a:ln>
              <a:effectLst>
                <a:innerShdw blurRad="114300">
                  <a:schemeClr val="accent1"/>
                </a:innerShdw>
              </a:effectLst>
            </c:spPr>
            <c:extLst>
              <c:ext xmlns:c16="http://schemas.microsoft.com/office/drawing/2014/chart" uri="{C3380CC4-5D6E-409C-BE32-E72D297353CC}">
                <c16:uniqueId val="{00000017-EC15-42C5-A939-767151E02D0E}"/>
              </c:ext>
            </c:extLst>
          </c:dPt>
          <c:dPt>
            <c:idx val="12"/>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9-EC15-42C5-A939-767151E02D0E}"/>
              </c:ext>
            </c:extLst>
          </c:dPt>
          <c:dPt>
            <c:idx val="14"/>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B-EC15-42C5-A939-767151E02D0E}"/>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Adani Light" panose="02000503000000020004" pitchFamily="2"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PSS-12'!$B$2:$C$7,'PPT PSS-12'!$B$9:$C$18)</c:f>
              <c:multiLvlStrCache>
                <c:ptCount val="16"/>
                <c:lvl>
                  <c:pt idx="0">
                    <c:v>Plan</c:v>
                  </c:pt>
                  <c:pt idx="1">
                    <c:v>Actual</c:v>
                  </c:pt>
                  <c:pt idx="2">
                    <c:v>Plan</c:v>
                  </c:pt>
                  <c:pt idx="3">
                    <c:v>Actual</c:v>
                  </c:pt>
                  <c:pt idx="4">
                    <c:v>Plan</c:v>
                  </c:pt>
                  <c:pt idx="5">
                    <c:v>Actual</c:v>
                  </c:pt>
                  <c:pt idx="6">
                    <c:v>Plan</c:v>
                  </c:pt>
                  <c:pt idx="7">
                    <c:v>Actual</c:v>
                  </c:pt>
                  <c:pt idx="8">
                    <c:v>Plan</c:v>
                  </c:pt>
                  <c:pt idx="9">
                    <c:v>Actual</c:v>
                  </c:pt>
                  <c:pt idx="10">
                    <c:v>Plan</c:v>
                  </c:pt>
                  <c:pt idx="11">
                    <c:v>Actual</c:v>
                  </c:pt>
                  <c:pt idx="12">
                    <c:v>Plan</c:v>
                  </c:pt>
                  <c:pt idx="13">
                    <c:v>Actual</c:v>
                  </c:pt>
                  <c:pt idx="14">
                    <c:v>Plan</c:v>
                  </c:pt>
                  <c:pt idx="15">
                    <c:v>Actual</c:v>
                  </c:pt>
                </c:lvl>
                <c:lvl>
                  <c:pt idx="0">
                    <c:v>PCS</c:v>
                  </c:pt>
                  <c:pt idx="2">
                    <c:v>SGR</c:v>
                  </c:pt>
                  <c:pt idx="4">
                    <c:v>MCR</c:v>
                  </c:pt>
                  <c:pt idx="6">
                    <c:v>CT</c:v>
                  </c:pt>
                  <c:pt idx="8">
                    <c:v>CSS</c:v>
                  </c:pt>
                  <c:pt idx="10">
                    <c:v>BOT </c:v>
                  </c:pt>
                  <c:pt idx="12">
                    <c:v>NIFPS</c:v>
                  </c:pt>
                  <c:pt idx="14">
                    <c:v>HF</c:v>
                  </c:pt>
                </c:lvl>
              </c:multiLvlStrCache>
            </c:multiLvlStrRef>
          </c:cat>
          <c:val>
            <c:numRef>
              <c:f>('PPT PSS-12'!$J$2:$J$7,'PPT PSS-12'!$J$9:$J$18)</c:f>
              <c:numCache>
                <c:formatCode>0%</c:formatCode>
                <c:ptCount val="16"/>
                <c:pt idx="0">
                  <c:v>1</c:v>
                </c:pt>
                <c:pt idx="1">
                  <c:v>0.97</c:v>
                </c:pt>
                <c:pt idx="2">
                  <c:v>1</c:v>
                </c:pt>
                <c:pt idx="3">
                  <c:v>0.97</c:v>
                </c:pt>
                <c:pt idx="4">
                  <c:v>1</c:v>
                </c:pt>
                <c:pt idx="5">
                  <c:v>0.98499999999999999</c:v>
                </c:pt>
                <c:pt idx="6">
                  <c:v>1</c:v>
                </c:pt>
                <c:pt idx="7">
                  <c:v>1</c:v>
                </c:pt>
                <c:pt idx="8">
                  <c:v>1</c:v>
                </c:pt>
                <c:pt idx="9">
                  <c:v>1</c:v>
                </c:pt>
                <c:pt idx="10">
                  <c:v>0.99999999999999989</c:v>
                </c:pt>
                <c:pt idx="11">
                  <c:v>0.87083333333333324</c:v>
                </c:pt>
                <c:pt idx="12">
                  <c:v>1</c:v>
                </c:pt>
                <c:pt idx="13">
                  <c:v>0.97916666666666652</c:v>
                </c:pt>
                <c:pt idx="14">
                  <c:v>1</c:v>
                </c:pt>
                <c:pt idx="15">
                  <c:v>1</c:v>
                </c:pt>
              </c:numCache>
            </c:numRef>
          </c:val>
          <c:extLst>
            <c:ext xmlns:c16="http://schemas.microsoft.com/office/drawing/2014/chart" uri="{C3380CC4-5D6E-409C-BE32-E72D297353CC}">
              <c16:uniqueId val="{0000001C-EC15-42C5-A939-767151E02D0E}"/>
            </c:ext>
          </c:extLst>
        </c:ser>
        <c:dLbls>
          <c:showLegendKey val="0"/>
          <c:showVal val="0"/>
          <c:showCatName val="0"/>
          <c:showSerName val="0"/>
          <c:showPercent val="0"/>
          <c:showBubbleSize val="0"/>
        </c:dLbls>
        <c:gapWidth val="164"/>
        <c:overlap val="-22"/>
        <c:axId val="520753280"/>
        <c:axId val="520769120"/>
      </c:barChart>
      <c:catAx>
        <c:axId val="520753280"/>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69120"/>
        <c:crosses val="autoZero"/>
        <c:auto val="1"/>
        <c:lblAlgn val="ctr"/>
        <c:lblOffset val="100"/>
        <c:noMultiLvlLbl val="0"/>
      </c:catAx>
      <c:valAx>
        <c:axId val="520769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53280"/>
        <c:crosses val="autoZero"/>
        <c:crossBetween val="between"/>
      </c:valAx>
      <c:spPr>
        <a:noFill/>
        <a:ln>
          <a:noFill/>
        </a:ln>
        <a:effectLst/>
      </c:spPr>
    </c:plotArea>
    <c:plotVisOnly val="1"/>
    <c:dispBlanksAs val="gap"/>
    <c:showDLblsOverMax val="0"/>
  </c:chart>
  <c:spPr>
    <a:solidFill>
      <a:schemeClr val="bg1"/>
    </a:solidFill>
    <a:ln w="19050" cap="flat" cmpd="sng" algn="ctr">
      <a:solidFill>
        <a:schemeClr val="tx1"/>
      </a:solid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Electrical</a:t>
            </a:r>
            <a:r>
              <a:rPr lang="en-US" baseline="0"/>
              <a:t> Progress - PSS -12</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PSS-12'!$G$41</c:f>
              <c:strCache>
                <c:ptCount val="1"/>
                <c:pt idx="0">
                  <c:v>Plan %</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'PPT PSS-12'!$B$42:$B$51</c:f>
              <c:strCache>
                <c:ptCount val="10"/>
                <c:pt idx="0">
                  <c:v>HT Cable Laying</c:v>
                </c:pt>
                <c:pt idx="1">
                  <c:v>FO Cable Laying</c:v>
                </c:pt>
                <c:pt idx="2">
                  <c:v> DC Cable Laying</c:v>
                </c:pt>
                <c:pt idx="3">
                  <c:v>LT Cable Laying</c:v>
                </c:pt>
                <c:pt idx="4">
                  <c:v>Aux Cable Laying</c:v>
                </c:pt>
                <c:pt idx="5">
                  <c:v>Control Cable Laying</c:v>
                </c:pt>
                <c:pt idx="6">
                  <c:v>Battery Container Erection</c:v>
                </c:pt>
                <c:pt idx="7">
                  <c:v>PCS Erection</c:v>
                </c:pt>
                <c:pt idx="8">
                  <c:v>CT Erection</c:v>
                </c:pt>
                <c:pt idx="9">
                  <c:v>CSS Erection</c:v>
                </c:pt>
              </c:strCache>
            </c:strRef>
          </c:cat>
          <c:val>
            <c:numRef>
              <c:f>'PPT PSS-12'!$G$42:$G$51</c:f>
              <c:numCache>
                <c:formatCode>0%</c:formatCode>
                <c:ptCount val="10"/>
                <c:pt idx="0">
                  <c:v>1</c:v>
                </c:pt>
                <c:pt idx="1">
                  <c:v>1</c:v>
                </c:pt>
                <c:pt idx="2">
                  <c:v>1</c:v>
                </c:pt>
                <c:pt idx="3">
                  <c:v>1</c:v>
                </c:pt>
                <c:pt idx="4">
                  <c:v>1</c:v>
                </c:pt>
                <c:pt idx="5">
                  <c:v>1</c:v>
                </c:pt>
                <c:pt idx="6">
                  <c:v>1</c:v>
                </c:pt>
                <c:pt idx="7">
                  <c:v>1</c:v>
                </c:pt>
                <c:pt idx="8">
                  <c:v>1</c:v>
                </c:pt>
                <c:pt idx="9">
                  <c:v>1</c:v>
                </c:pt>
              </c:numCache>
            </c:numRef>
          </c:val>
          <c:extLst>
            <c:ext xmlns:c16="http://schemas.microsoft.com/office/drawing/2014/chart" uri="{C3380CC4-5D6E-409C-BE32-E72D297353CC}">
              <c16:uniqueId val="{00000000-413E-4BB5-8B2A-7F311F755705}"/>
            </c:ext>
          </c:extLst>
        </c:ser>
        <c:ser>
          <c:idx val="1"/>
          <c:order val="1"/>
          <c:tx>
            <c:strRef>
              <c:f>'PPT PSS-12'!$H$41</c:f>
              <c:strCache>
                <c:ptCount val="1"/>
                <c:pt idx="0">
                  <c:v>Actual %</c:v>
                </c:pt>
              </c:strCache>
            </c:strRef>
          </c:tx>
          <c:spPr>
            <a:solidFill>
              <a:schemeClr val="accent2"/>
            </a:solidFill>
            <a:ln>
              <a:noFill/>
            </a:ln>
            <a:effectLst/>
          </c:spPr>
          <c:invertIfNegative val="0"/>
          <c:dPt>
            <c:idx val="0"/>
            <c:invertIfNegative val="0"/>
            <c:bubble3D val="0"/>
            <c:spPr>
              <a:solidFill>
                <a:srgbClr val="FFFF00"/>
              </a:solidFill>
              <a:ln>
                <a:noFill/>
              </a:ln>
              <a:effectLst/>
            </c:spPr>
            <c:extLst>
              <c:ext xmlns:c16="http://schemas.microsoft.com/office/drawing/2014/chart" uri="{C3380CC4-5D6E-409C-BE32-E72D297353CC}">
                <c16:uniqueId val="{00000002-413E-4BB5-8B2A-7F311F755705}"/>
              </c:ext>
            </c:extLst>
          </c:dPt>
          <c:dPt>
            <c:idx val="1"/>
            <c:invertIfNegative val="0"/>
            <c:bubble3D val="0"/>
            <c:spPr>
              <a:solidFill>
                <a:srgbClr val="FF0000"/>
              </a:solidFill>
              <a:ln>
                <a:noFill/>
              </a:ln>
              <a:effectLst/>
            </c:spPr>
            <c:extLst>
              <c:ext xmlns:c16="http://schemas.microsoft.com/office/drawing/2014/chart" uri="{C3380CC4-5D6E-409C-BE32-E72D297353CC}">
                <c16:uniqueId val="{00000004-413E-4BB5-8B2A-7F311F755705}"/>
              </c:ext>
            </c:extLst>
          </c:dPt>
          <c:dPt>
            <c:idx val="2"/>
            <c:invertIfNegative val="0"/>
            <c:bubble3D val="0"/>
            <c:spPr>
              <a:solidFill>
                <a:srgbClr val="FF0000"/>
              </a:solidFill>
              <a:ln>
                <a:noFill/>
              </a:ln>
              <a:effectLst/>
            </c:spPr>
            <c:extLst>
              <c:ext xmlns:c16="http://schemas.microsoft.com/office/drawing/2014/chart" uri="{C3380CC4-5D6E-409C-BE32-E72D297353CC}">
                <c16:uniqueId val="{00000006-413E-4BB5-8B2A-7F311F755705}"/>
              </c:ext>
            </c:extLst>
          </c:dPt>
          <c:dPt>
            <c:idx val="3"/>
            <c:invertIfNegative val="0"/>
            <c:bubble3D val="0"/>
            <c:spPr>
              <a:solidFill>
                <a:srgbClr val="FFFF00"/>
              </a:solidFill>
              <a:ln>
                <a:noFill/>
              </a:ln>
              <a:effectLst/>
            </c:spPr>
            <c:extLst>
              <c:ext xmlns:c16="http://schemas.microsoft.com/office/drawing/2014/chart" uri="{C3380CC4-5D6E-409C-BE32-E72D297353CC}">
                <c16:uniqueId val="{00000008-413E-4BB5-8B2A-7F311F755705}"/>
              </c:ext>
            </c:extLst>
          </c:dPt>
          <c:dPt>
            <c:idx val="4"/>
            <c:invertIfNegative val="0"/>
            <c:bubble3D val="0"/>
            <c:spPr>
              <a:solidFill>
                <a:srgbClr val="FF0000"/>
              </a:solidFill>
              <a:ln>
                <a:noFill/>
              </a:ln>
              <a:effectLst/>
            </c:spPr>
            <c:extLst>
              <c:ext xmlns:c16="http://schemas.microsoft.com/office/drawing/2014/chart" uri="{C3380CC4-5D6E-409C-BE32-E72D297353CC}">
                <c16:uniqueId val="{0000000A-413E-4BB5-8B2A-7F311F755705}"/>
              </c:ext>
            </c:extLst>
          </c:dPt>
          <c:dPt>
            <c:idx val="5"/>
            <c:invertIfNegative val="0"/>
            <c:bubble3D val="0"/>
            <c:spPr>
              <a:solidFill>
                <a:srgbClr val="FF0000"/>
              </a:solidFill>
              <a:ln>
                <a:noFill/>
              </a:ln>
              <a:effectLst/>
            </c:spPr>
            <c:extLst>
              <c:ext xmlns:c16="http://schemas.microsoft.com/office/drawing/2014/chart" uri="{C3380CC4-5D6E-409C-BE32-E72D297353CC}">
                <c16:uniqueId val="{0000000C-413E-4BB5-8B2A-7F311F755705}"/>
              </c:ext>
            </c:extLst>
          </c:dPt>
          <c:dPt>
            <c:idx val="8"/>
            <c:invertIfNegative val="0"/>
            <c:bubble3D val="0"/>
            <c:spPr>
              <a:solidFill>
                <a:srgbClr val="FFFF00"/>
              </a:solidFill>
              <a:ln>
                <a:noFill/>
              </a:ln>
              <a:effectLst/>
            </c:spPr>
            <c:extLst>
              <c:ext xmlns:c16="http://schemas.microsoft.com/office/drawing/2014/chart" uri="{C3380CC4-5D6E-409C-BE32-E72D297353CC}">
                <c16:uniqueId val="{0000000E-413E-4BB5-8B2A-7F311F755705}"/>
              </c:ext>
            </c:extLst>
          </c:dPt>
          <c:dPt>
            <c:idx val="9"/>
            <c:invertIfNegative val="0"/>
            <c:bubble3D val="0"/>
            <c:spPr>
              <a:solidFill>
                <a:srgbClr val="FF0000"/>
              </a:solidFill>
              <a:ln>
                <a:noFill/>
              </a:ln>
              <a:effectLst/>
            </c:spPr>
            <c:extLst>
              <c:ext xmlns:c16="http://schemas.microsoft.com/office/drawing/2014/chart" uri="{C3380CC4-5D6E-409C-BE32-E72D297353CC}">
                <c16:uniqueId val="{00000010-413E-4BB5-8B2A-7F311F75570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'PPT PSS-12'!$B$42:$B$51</c:f>
              <c:strCache>
                <c:ptCount val="10"/>
                <c:pt idx="0">
                  <c:v>HT Cable Laying</c:v>
                </c:pt>
                <c:pt idx="1">
                  <c:v>FO Cable Laying</c:v>
                </c:pt>
                <c:pt idx="2">
                  <c:v> DC Cable Laying</c:v>
                </c:pt>
                <c:pt idx="3">
                  <c:v>LT Cable Laying</c:v>
                </c:pt>
                <c:pt idx="4">
                  <c:v>Aux Cable Laying</c:v>
                </c:pt>
                <c:pt idx="5">
                  <c:v>Control Cable Laying</c:v>
                </c:pt>
                <c:pt idx="6">
                  <c:v>Battery Container Erection</c:v>
                </c:pt>
                <c:pt idx="7">
                  <c:v>PCS Erection</c:v>
                </c:pt>
                <c:pt idx="8">
                  <c:v>CT Erection</c:v>
                </c:pt>
                <c:pt idx="9">
                  <c:v>CSS Erection</c:v>
                </c:pt>
              </c:strCache>
            </c:strRef>
          </c:cat>
          <c:val>
            <c:numRef>
              <c:f>'PPT PSS-12'!$H$42:$H$51</c:f>
              <c:numCache>
                <c:formatCode>0%</c:formatCode>
                <c:ptCount val="10"/>
                <c:pt idx="0">
                  <c:v>0.9612984126079398</c:v>
                </c:pt>
                <c:pt idx="1">
                  <c:v>0.4634022901246283</c:v>
                </c:pt>
                <c:pt idx="2">
                  <c:v>0.61248986212489864</c:v>
                </c:pt>
                <c:pt idx="3">
                  <c:v>0.63650940242610354</c:v>
                </c:pt>
                <c:pt idx="4">
                  <c:v>0.63733262586223038</c:v>
                </c:pt>
                <c:pt idx="5">
                  <c:v>0.63143887073409022</c:v>
                </c:pt>
                <c:pt idx="6">
                  <c:v>0.828125</c:v>
                </c:pt>
                <c:pt idx="7">
                  <c:v>0.625</c:v>
                </c:pt>
                <c:pt idx="8">
                  <c:v>0.9375</c:v>
                </c:pt>
                <c:pt idx="9">
                  <c:v>0.625</c:v>
                </c:pt>
              </c:numCache>
            </c:numRef>
          </c:val>
          <c:extLst>
            <c:ext xmlns:c16="http://schemas.microsoft.com/office/drawing/2014/chart" uri="{C3380CC4-5D6E-409C-BE32-E72D297353CC}">
              <c16:uniqueId val="{00000011-413E-4BB5-8B2A-7F311F755705}"/>
            </c:ext>
          </c:extLst>
        </c:ser>
        <c:dLbls>
          <c:dLblPos val="outEnd"/>
          <c:showLegendKey val="0"/>
          <c:showVal val="1"/>
          <c:showCatName val="0"/>
          <c:showSerName val="0"/>
          <c:showPercent val="0"/>
          <c:showBubbleSize val="0"/>
        </c:dLbls>
        <c:gapWidth val="129"/>
        <c:overlap val="-20"/>
        <c:axId val="1177310607"/>
        <c:axId val="1177311087"/>
      </c:barChart>
      <c:catAx>
        <c:axId val="1177310607"/>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5400000" spcFirstLastPara="1" vertOverflow="ellipsis"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177311087"/>
        <c:crosses val="autoZero"/>
        <c:auto val="1"/>
        <c:lblAlgn val="ctr"/>
        <c:lblOffset val="100"/>
        <c:noMultiLvlLbl val="0"/>
      </c:catAx>
      <c:valAx>
        <c:axId val="1177311087"/>
        <c:scaling>
          <c:orientation val="minMax"/>
          <c:max val="1"/>
          <c:min val="0"/>
        </c:scaling>
        <c:delete val="0"/>
        <c:axPos val="l"/>
        <c:majorGridlines>
          <c:spPr>
            <a:ln w="9525" cap="flat" cmpd="sng" algn="ctr">
              <a:no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77310607"/>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400">
                <a:latin typeface="Adani Light" panose="02000503000000020004" pitchFamily="2" charset="0"/>
              </a:rPr>
              <a:t>BCF Progress-PSS-10(B)</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PSS-10B'!$J$31</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solidFill>
                  <a:srgbClr val="0070C0"/>
                </a:solidFill>
              </a:ln>
              <a:effectLst>
                <a:innerShdw blurRad="114300">
                  <a:schemeClr val="accent1"/>
                </a:innerShdw>
              </a:effectLst>
            </c:spPr>
            <c:extLst>
              <c:ext xmlns:c16="http://schemas.microsoft.com/office/drawing/2014/chart" uri="{C3380CC4-5D6E-409C-BE32-E72D297353CC}">
                <c16:uniqueId val="{00000001-CFF1-444A-B417-E9BB1A7AA57A}"/>
              </c:ext>
            </c:extLst>
          </c:dPt>
          <c:dPt>
            <c:idx val="1"/>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03-CFF1-444A-B417-E9BB1A7AA57A}"/>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PSS-10B'!$B$32:$C$33</c:f>
              <c:multiLvlStrCache>
                <c:ptCount val="2"/>
                <c:lvl>
                  <c:pt idx="0">
                    <c:v>Plan</c:v>
                  </c:pt>
                  <c:pt idx="1">
                    <c:v>Actual</c:v>
                  </c:pt>
                </c:lvl>
                <c:lvl>
                  <c:pt idx="0">
                    <c:v>BCF</c:v>
                  </c:pt>
                </c:lvl>
              </c:multiLvlStrCache>
            </c:multiLvlStrRef>
          </c:cat>
          <c:val>
            <c:numRef>
              <c:f>'PPT PSS-10B'!$J$32:$J$33</c:f>
              <c:numCache>
                <c:formatCode>0%</c:formatCode>
                <c:ptCount val="2"/>
                <c:pt idx="0">
                  <c:v>1</c:v>
                </c:pt>
                <c:pt idx="1">
                  <c:v>1</c:v>
                </c:pt>
              </c:numCache>
            </c:numRef>
          </c:val>
          <c:extLst>
            <c:ext xmlns:c16="http://schemas.microsoft.com/office/drawing/2014/chart" uri="{C3380CC4-5D6E-409C-BE32-E72D297353CC}">
              <c16:uniqueId val="{00000004-CFF1-444A-B417-E9BB1A7AA57A}"/>
            </c:ext>
          </c:extLst>
        </c:ser>
        <c:dLbls>
          <c:dLblPos val="outEnd"/>
          <c:showLegendKey val="0"/>
          <c:showVal val="1"/>
          <c:showCatName val="0"/>
          <c:showSerName val="0"/>
          <c:showPercent val="0"/>
          <c:showBubbleSize val="0"/>
        </c:dLbls>
        <c:gapWidth val="164"/>
        <c:overlap val="-22"/>
        <c:axId val="1105330784"/>
        <c:axId val="1105326464"/>
      </c:barChart>
      <c:catAx>
        <c:axId val="1105330784"/>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26464"/>
        <c:crosses val="autoZero"/>
        <c:auto val="1"/>
        <c:lblAlgn val="ctr"/>
        <c:lblOffset val="100"/>
        <c:noMultiLvlLbl val="0"/>
      </c:catAx>
      <c:valAx>
        <c:axId val="1105326464"/>
        <c:scaling>
          <c:orientation val="minMax"/>
          <c:max val="1"/>
          <c:min val="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30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solidFill>
      <a:round/>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200">
                <a:latin typeface="Adani Light" panose="02000503000000020004" pitchFamily="2" charset="0"/>
              </a:rPr>
              <a:t>BOP Civil Progress- PSS-10(B) </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PSS-10B'!$J$1</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1-0355-4330-BA34-0DFF1241DDAB}"/>
              </c:ext>
            </c:extLst>
          </c:dPt>
          <c:dPt>
            <c:idx val="1"/>
            <c:invertIfNegative val="0"/>
            <c:bubble3D val="0"/>
            <c:spPr>
              <a:solidFill>
                <a:srgbClr val="FFFF00"/>
              </a:solidFill>
              <a:ln>
                <a:noFill/>
              </a:ln>
              <a:effectLst>
                <a:innerShdw blurRad="114300">
                  <a:schemeClr val="accent1"/>
                </a:innerShdw>
              </a:effectLst>
            </c:spPr>
            <c:extLst>
              <c:ext xmlns:c16="http://schemas.microsoft.com/office/drawing/2014/chart" uri="{C3380CC4-5D6E-409C-BE32-E72D297353CC}">
                <c16:uniqueId val="{00000003-0355-4330-BA34-0DFF1241DDAB}"/>
              </c:ext>
            </c:extLst>
          </c:dPt>
          <c:dPt>
            <c:idx val="2"/>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5-0355-4330-BA34-0DFF1241DDAB}"/>
              </c:ext>
            </c:extLst>
          </c:dPt>
          <c:dPt>
            <c:idx val="3"/>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07-0355-4330-BA34-0DFF1241DDAB}"/>
              </c:ext>
            </c:extLst>
          </c:dPt>
          <c:dPt>
            <c:idx val="4"/>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9-0355-4330-BA34-0DFF1241DDAB}"/>
              </c:ext>
            </c:extLst>
          </c:dPt>
          <c:dPt>
            <c:idx val="5"/>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0B-0355-4330-BA34-0DFF1241DDAB}"/>
              </c:ext>
            </c:extLst>
          </c:dPt>
          <c:dPt>
            <c:idx val="6"/>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D-0355-4330-BA34-0DFF1241DDAB}"/>
              </c:ext>
            </c:extLst>
          </c:dPt>
          <c:dPt>
            <c:idx val="7"/>
            <c:invertIfNegative val="0"/>
            <c:bubble3D val="0"/>
            <c:spPr>
              <a:solidFill>
                <a:srgbClr val="FFFF00"/>
              </a:solidFill>
              <a:ln>
                <a:noFill/>
              </a:ln>
              <a:effectLst>
                <a:innerShdw blurRad="114300">
                  <a:schemeClr val="accent1"/>
                </a:innerShdw>
              </a:effectLst>
            </c:spPr>
            <c:extLst>
              <c:ext xmlns:c16="http://schemas.microsoft.com/office/drawing/2014/chart" uri="{C3380CC4-5D6E-409C-BE32-E72D297353CC}">
                <c16:uniqueId val="{0000000F-0355-4330-BA34-0DFF1241DDAB}"/>
              </c:ext>
            </c:extLst>
          </c:dPt>
          <c:dPt>
            <c:idx val="8"/>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1-0355-4330-BA34-0DFF1241DDAB}"/>
              </c:ext>
            </c:extLst>
          </c:dPt>
          <c:dPt>
            <c:idx val="9"/>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13-0355-4330-BA34-0DFF1241DDAB}"/>
              </c:ext>
            </c:extLst>
          </c:dPt>
          <c:dPt>
            <c:idx val="10"/>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5-0355-4330-BA34-0DFF1241DDAB}"/>
              </c:ext>
            </c:extLst>
          </c:dPt>
          <c:dPt>
            <c:idx val="11"/>
            <c:invertIfNegative val="0"/>
            <c:bubble3D val="0"/>
            <c:spPr>
              <a:solidFill>
                <a:srgbClr val="FFFF00"/>
              </a:solidFill>
              <a:ln>
                <a:solidFill>
                  <a:schemeClr val="bg1"/>
                </a:solidFill>
              </a:ln>
              <a:effectLst>
                <a:innerShdw blurRad="114300">
                  <a:schemeClr val="accent1"/>
                </a:innerShdw>
              </a:effectLst>
            </c:spPr>
            <c:extLst>
              <c:ext xmlns:c16="http://schemas.microsoft.com/office/drawing/2014/chart" uri="{C3380CC4-5D6E-409C-BE32-E72D297353CC}">
                <c16:uniqueId val="{00000017-0355-4330-BA34-0DFF1241DDAB}"/>
              </c:ext>
            </c:extLst>
          </c:dPt>
          <c:dPt>
            <c:idx val="12"/>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9-0355-4330-BA34-0DFF1241DDAB}"/>
              </c:ext>
            </c:extLst>
          </c:dPt>
          <c:dPt>
            <c:idx val="14"/>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B-0355-4330-BA34-0DFF1241DDAB}"/>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Adani Light" panose="02000503000000020004" pitchFamily="2"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PSS-10B'!$B$2:$C$7,'PPT PSS-10B'!$B$9:$C$18)</c:f>
              <c:multiLvlStrCache>
                <c:ptCount val="16"/>
                <c:lvl>
                  <c:pt idx="0">
                    <c:v>Plan</c:v>
                  </c:pt>
                  <c:pt idx="1">
                    <c:v>Actual</c:v>
                  </c:pt>
                  <c:pt idx="2">
                    <c:v>Plan</c:v>
                  </c:pt>
                  <c:pt idx="3">
                    <c:v>Actual</c:v>
                  </c:pt>
                  <c:pt idx="4">
                    <c:v>Plan</c:v>
                  </c:pt>
                  <c:pt idx="5">
                    <c:v>Actual</c:v>
                  </c:pt>
                  <c:pt idx="6">
                    <c:v>Plan</c:v>
                  </c:pt>
                  <c:pt idx="7">
                    <c:v>Actual</c:v>
                  </c:pt>
                  <c:pt idx="8">
                    <c:v>Plan</c:v>
                  </c:pt>
                  <c:pt idx="9">
                    <c:v>Actual</c:v>
                  </c:pt>
                  <c:pt idx="10">
                    <c:v>Plan</c:v>
                  </c:pt>
                  <c:pt idx="11">
                    <c:v>Actual</c:v>
                  </c:pt>
                  <c:pt idx="12">
                    <c:v>Plan</c:v>
                  </c:pt>
                  <c:pt idx="13">
                    <c:v>Actual</c:v>
                  </c:pt>
                  <c:pt idx="14">
                    <c:v>Plan</c:v>
                  </c:pt>
                  <c:pt idx="15">
                    <c:v>Actual</c:v>
                  </c:pt>
                </c:lvl>
                <c:lvl>
                  <c:pt idx="0">
                    <c:v>PCS</c:v>
                  </c:pt>
                  <c:pt idx="2">
                    <c:v>SGR</c:v>
                  </c:pt>
                  <c:pt idx="4">
                    <c:v>MCR</c:v>
                  </c:pt>
                  <c:pt idx="6">
                    <c:v>CT</c:v>
                  </c:pt>
                  <c:pt idx="8">
                    <c:v>CSS</c:v>
                  </c:pt>
                  <c:pt idx="10">
                    <c:v>BOT </c:v>
                  </c:pt>
                  <c:pt idx="12">
                    <c:v>NIFPS</c:v>
                  </c:pt>
                  <c:pt idx="14">
                    <c:v>HF</c:v>
                  </c:pt>
                </c:lvl>
              </c:multiLvlStrCache>
            </c:multiLvlStrRef>
          </c:cat>
          <c:val>
            <c:numRef>
              <c:f>('PPT PSS-10B'!$J$2:$J$7,'PPT PSS-10B'!$J$9:$J$18)</c:f>
              <c:numCache>
                <c:formatCode>0%</c:formatCode>
                <c:ptCount val="16"/>
                <c:pt idx="0">
                  <c:v>1</c:v>
                </c:pt>
                <c:pt idx="1">
                  <c:v>0.99199999999999999</c:v>
                </c:pt>
                <c:pt idx="2">
                  <c:v>1</c:v>
                </c:pt>
                <c:pt idx="3">
                  <c:v>0.98399999999999999</c:v>
                </c:pt>
                <c:pt idx="4">
                  <c:v>1</c:v>
                </c:pt>
                <c:pt idx="5">
                  <c:v>0.98399999999999999</c:v>
                </c:pt>
                <c:pt idx="6">
                  <c:v>0.89999999999999991</c:v>
                </c:pt>
                <c:pt idx="7">
                  <c:v>0.89999999999999991</c:v>
                </c:pt>
                <c:pt idx="8">
                  <c:v>1</c:v>
                </c:pt>
                <c:pt idx="9">
                  <c:v>0.86799999999999988</c:v>
                </c:pt>
                <c:pt idx="10">
                  <c:v>0.99999999999999989</c:v>
                </c:pt>
                <c:pt idx="11">
                  <c:v>0.99999999999999989</c:v>
                </c:pt>
                <c:pt idx="12">
                  <c:v>1</c:v>
                </c:pt>
                <c:pt idx="13">
                  <c:v>1</c:v>
                </c:pt>
                <c:pt idx="14">
                  <c:v>1</c:v>
                </c:pt>
                <c:pt idx="15">
                  <c:v>1</c:v>
                </c:pt>
              </c:numCache>
            </c:numRef>
          </c:val>
          <c:extLst>
            <c:ext xmlns:c16="http://schemas.microsoft.com/office/drawing/2014/chart" uri="{C3380CC4-5D6E-409C-BE32-E72D297353CC}">
              <c16:uniqueId val="{0000001C-0355-4330-BA34-0DFF1241DDAB}"/>
            </c:ext>
          </c:extLst>
        </c:ser>
        <c:dLbls>
          <c:showLegendKey val="0"/>
          <c:showVal val="0"/>
          <c:showCatName val="0"/>
          <c:showSerName val="0"/>
          <c:showPercent val="0"/>
          <c:showBubbleSize val="0"/>
        </c:dLbls>
        <c:gapWidth val="164"/>
        <c:overlap val="-22"/>
        <c:axId val="520753280"/>
        <c:axId val="520769120"/>
      </c:barChart>
      <c:catAx>
        <c:axId val="520753280"/>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69120"/>
        <c:crosses val="autoZero"/>
        <c:auto val="1"/>
        <c:lblAlgn val="ctr"/>
        <c:lblOffset val="100"/>
        <c:noMultiLvlLbl val="0"/>
      </c:catAx>
      <c:valAx>
        <c:axId val="520769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53280"/>
        <c:crosses val="autoZero"/>
        <c:crossBetween val="between"/>
      </c:valAx>
      <c:spPr>
        <a:noFill/>
        <a:ln>
          <a:noFill/>
        </a:ln>
        <a:effectLst/>
      </c:spPr>
    </c:plotArea>
    <c:plotVisOnly val="1"/>
    <c:dispBlanksAs val="gap"/>
    <c:showDLblsOverMax val="0"/>
  </c:chart>
  <c:spPr>
    <a:solidFill>
      <a:schemeClr val="bg1"/>
    </a:solidFill>
    <a:ln w="19050" cap="flat" cmpd="sng" algn="ctr">
      <a:solidFill>
        <a:schemeClr val="tx1"/>
      </a:solidFill>
      <a:round/>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Electrical</a:t>
            </a:r>
            <a:r>
              <a:rPr lang="en-US" baseline="0"/>
              <a:t> Progress </a:t>
            </a:r>
            <a:r>
              <a:rPr lang="en-US"/>
              <a:t>PSS-10(B)</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PSS-10B'!$H$41</c:f>
              <c:strCache>
                <c:ptCount val="1"/>
                <c:pt idx="0">
                  <c:v>Plan %</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'PPT PSS-10B'!$C$42:$C$51</c:f>
              <c:strCache>
                <c:ptCount val="10"/>
                <c:pt idx="0">
                  <c:v>HT Cable Laying</c:v>
                </c:pt>
                <c:pt idx="1">
                  <c:v>FO Cable Laying</c:v>
                </c:pt>
                <c:pt idx="2">
                  <c:v> DC Cable Laying</c:v>
                </c:pt>
                <c:pt idx="3">
                  <c:v>LT Cable Laying</c:v>
                </c:pt>
                <c:pt idx="4">
                  <c:v>Aux Cable Laying</c:v>
                </c:pt>
                <c:pt idx="5">
                  <c:v>Control Cable Laying</c:v>
                </c:pt>
                <c:pt idx="6">
                  <c:v>Battery Container Erection</c:v>
                </c:pt>
                <c:pt idx="7">
                  <c:v>PCS Erection</c:v>
                </c:pt>
                <c:pt idx="8">
                  <c:v>CT Erection</c:v>
                </c:pt>
                <c:pt idx="9">
                  <c:v>CSS Erection</c:v>
                </c:pt>
              </c:strCache>
            </c:strRef>
          </c:cat>
          <c:val>
            <c:numRef>
              <c:f>'PPT PSS-10B'!$H$42:$H$51</c:f>
              <c:numCache>
                <c:formatCode>0%</c:formatCode>
                <c:ptCount val="10"/>
                <c:pt idx="0">
                  <c:v>1</c:v>
                </c:pt>
                <c:pt idx="1">
                  <c:v>1</c:v>
                </c:pt>
                <c:pt idx="2">
                  <c:v>1</c:v>
                </c:pt>
                <c:pt idx="3">
                  <c:v>1</c:v>
                </c:pt>
                <c:pt idx="4">
                  <c:v>1</c:v>
                </c:pt>
                <c:pt idx="5">
                  <c:v>1</c:v>
                </c:pt>
                <c:pt idx="6">
                  <c:v>1</c:v>
                </c:pt>
                <c:pt idx="7">
                  <c:v>1</c:v>
                </c:pt>
                <c:pt idx="8">
                  <c:v>1</c:v>
                </c:pt>
                <c:pt idx="9">
                  <c:v>1</c:v>
                </c:pt>
              </c:numCache>
            </c:numRef>
          </c:val>
          <c:extLst>
            <c:ext xmlns:c16="http://schemas.microsoft.com/office/drawing/2014/chart" uri="{C3380CC4-5D6E-409C-BE32-E72D297353CC}">
              <c16:uniqueId val="{00000000-562C-47D4-A80C-0F3970B1585E}"/>
            </c:ext>
          </c:extLst>
        </c:ser>
        <c:ser>
          <c:idx val="1"/>
          <c:order val="1"/>
          <c:tx>
            <c:strRef>
              <c:f>'PPT PSS-10B'!$I$41</c:f>
              <c:strCache>
                <c:ptCount val="1"/>
                <c:pt idx="0">
                  <c:v>Actual %</c:v>
                </c:pt>
              </c:strCache>
            </c:strRef>
          </c:tx>
          <c:spPr>
            <a:solidFill>
              <a:schemeClr val="accent2"/>
            </a:solidFill>
            <a:ln>
              <a:noFill/>
            </a:ln>
            <a:effectLst/>
          </c:spPr>
          <c:invertIfNegative val="0"/>
          <c:dPt>
            <c:idx val="0"/>
            <c:invertIfNegative val="0"/>
            <c:bubble3D val="0"/>
            <c:spPr>
              <a:solidFill>
                <a:srgbClr val="FFFF00"/>
              </a:solidFill>
              <a:ln>
                <a:noFill/>
              </a:ln>
              <a:effectLst/>
            </c:spPr>
            <c:extLst>
              <c:ext xmlns:c16="http://schemas.microsoft.com/office/drawing/2014/chart" uri="{C3380CC4-5D6E-409C-BE32-E72D297353CC}">
                <c16:uniqueId val="{00000002-562C-47D4-A80C-0F3970B1585E}"/>
              </c:ext>
            </c:extLst>
          </c:dPt>
          <c:dPt>
            <c:idx val="2"/>
            <c:invertIfNegative val="0"/>
            <c:bubble3D val="0"/>
            <c:spPr>
              <a:solidFill>
                <a:srgbClr val="FF0000"/>
              </a:solidFill>
              <a:ln>
                <a:noFill/>
              </a:ln>
              <a:effectLst/>
            </c:spPr>
            <c:extLst>
              <c:ext xmlns:c16="http://schemas.microsoft.com/office/drawing/2014/chart" uri="{C3380CC4-5D6E-409C-BE32-E72D297353CC}">
                <c16:uniqueId val="{00000004-562C-47D4-A80C-0F3970B1585E}"/>
              </c:ext>
            </c:extLst>
          </c:dPt>
          <c:dPt>
            <c:idx val="8"/>
            <c:invertIfNegative val="0"/>
            <c:bubble3D val="0"/>
            <c:spPr>
              <a:solidFill>
                <a:srgbClr val="FF0000"/>
              </a:solidFill>
              <a:ln>
                <a:noFill/>
              </a:ln>
              <a:effectLst/>
            </c:spPr>
            <c:extLst>
              <c:ext xmlns:c16="http://schemas.microsoft.com/office/drawing/2014/chart" uri="{C3380CC4-5D6E-409C-BE32-E72D297353CC}">
                <c16:uniqueId val="{00000006-562C-47D4-A80C-0F3970B1585E}"/>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'PPT PSS-10B'!$C$42:$C$51</c:f>
              <c:strCache>
                <c:ptCount val="10"/>
                <c:pt idx="0">
                  <c:v>HT Cable Laying</c:v>
                </c:pt>
                <c:pt idx="1">
                  <c:v>FO Cable Laying</c:v>
                </c:pt>
                <c:pt idx="2">
                  <c:v> DC Cable Laying</c:v>
                </c:pt>
                <c:pt idx="3">
                  <c:v>LT Cable Laying</c:v>
                </c:pt>
                <c:pt idx="4">
                  <c:v>Aux Cable Laying</c:v>
                </c:pt>
                <c:pt idx="5">
                  <c:v>Control Cable Laying</c:v>
                </c:pt>
                <c:pt idx="6">
                  <c:v>Battery Container Erection</c:v>
                </c:pt>
                <c:pt idx="7">
                  <c:v>PCS Erection</c:v>
                </c:pt>
                <c:pt idx="8">
                  <c:v>CT Erection</c:v>
                </c:pt>
                <c:pt idx="9">
                  <c:v>CSS Erection</c:v>
                </c:pt>
              </c:strCache>
            </c:strRef>
          </c:cat>
          <c:val>
            <c:numRef>
              <c:f>'PPT PSS-10B'!$I$42:$I$51</c:f>
              <c:numCache>
                <c:formatCode>0%</c:formatCode>
                <c:ptCount val="10"/>
                <c:pt idx="0">
                  <c:v>0.99028112885298347</c:v>
                </c:pt>
                <c:pt idx="1">
                  <c:v>0.7331711273317113</c:v>
                </c:pt>
                <c:pt idx="2">
                  <c:v>0.76607012239723027</c:v>
                </c:pt>
                <c:pt idx="3">
                  <c:v>0.70946571957998761</c:v>
                </c:pt>
                <c:pt idx="4">
                  <c:v>0.74214312760318057</c:v>
                </c:pt>
                <c:pt idx="5">
                  <c:v>0.5393459701189145</c:v>
                </c:pt>
                <c:pt idx="6">
                  <c:v>0.66666666666666663</c:v>
                </c:pt>
                <c:pt idx="7">
                  <c:v>0.5</c:v>
                </c:pt>
                <c:pt idx="8">
                  <c:v>1</c:v>
                </c:pt>
                <c:pt idx="9">
                  <c:v>0.8</c:v>
                </c:pt>
              </c:numCache>
            </c:numRef>
          </c:val>
          <c:extLst>
            <c:ext xmlns:c16="http://schemas.microsoft.com/office/drawing/2014/chart" uri="{C3380CC4-5D6E-409C-BE32-E72D297353CC}">
              <c16:uniqueId val="{00000007-562C-47D4-A80C-0F3970B1585E}"/>
            </c:ext>
          </c:extLst>
        </c:ser>
        <c:dLbls>
          <c:showLegendKey val="0"/>
          <c:showVal val="0"/>
          <c:showCatName val="0"/>
          <c:showSerName val="0"/>
          <c:showPercent val="0"/>
          <c:showBubbleSize val="0"/>
        </c:dLbls>
        <c:gapWidth val="219"/>
        <c:overlap val="-27"/>
        <c:axId val="342178255"/>
        <c:axId val="342176335"/>
      </c:barChart>
      <c:catAx>
        <c:axId val="3421782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342176335"/>
        <c:crosses val="autoZero"/>
        <c:auto val="1"/>
        <c:lblAlgn val="ctr"/>
        <c:lblOffset val="100"/>
        <c:noMultiLvlLbl val="0"/>
      </c:catAx>
      <c:valAx>
        <c:axId val="342176335"/>
        <c:scaling>
          <c:orientation val="minMax"/>
          <c:max val="1"/>
          <c:min val="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2178255"/>
        <c:crosses val="autoZero"/>
        <c:crossBetween val="between"/>
        <c:majorUnit val="0.2"/>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200">
                <a:latin typeface="Adani Light" panose="02000503000000020004" pitchFamily="2" charset="0"/>
              </a:rPr>
              <a:t>BOP Civil Progress-PSS-09 </a:t>
            </a:r>
          </a:p>
        </c:rich>
      </c:tx>
      <c:layout>
        <c:manualLayout>
          <c:xMode val="edge"/>
          <c:yMode val="edge"/>
          <c:x val="0.28471071430415151"/>
          <c:y val="0"/>
        </c:manualLayout>
      </c:layout>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PSS-09'!$J$2</c:f>
              <c:strCache>
                <c:ptCount val="1"/>
                <c:pt idx="0">
                  <c:v>Progress</c:v>
                </c:pt>
              </c:strCache>
            </c:strRef>
          </c:tx>
          <c:spPr>
            <a:pattFill prst="narHorz">
              <a:fgClr>
                <a:schemeClr val="accent1"/>
              </a:fgClr>
              <a:bgClr>
                <a:schemeClr val="accent1">
                  <a:lumMod val="20000"/>
                  <a:lumOff val="80000"/>
                </a:schemeClr>
              </a:bgClr>
            </a:pattFill>
            <a:ln>
              <a:solidFill>
                <a:schemeClr val="accent1"/>
              </a:solidFill>
            </a:ln>
            <a:effectLst>
              <a:innerShdw blurRad="114300">
                <a:schemeClr val="accent1"/>
              </a:innerShdw>
            </a:effectLst>
          </c:spPr>
          <c:invertIfNegative val="0"/>
          <c:dPt>
            <c:idx val="0"/>
            <c:invertIfNegative val="0"/>
            <c:bubble3D val="0"/>
            <c:spPr>
              <a:solidFill>
                <a:srgbClr val="0070C0"/>
              </a:solidFill>
              <a:ln>
                <a:solidFill>
                  <a:schemeClr val="accent1"/>
                </a:solidFill>
              </a:ln>
              <a:effectLst>
                <a:innerShdw blurRad="114300">
                  <a:schemeClr val="accent1"/>
                </a:innerShdw>
              </a:effectLst>
            </c:spPr>
            <c:extLst>
              <c:ext xmlns:c16="http://schemas.microsoft.com/office/drawing/2014/chart" uri="{C3380CC4-5D6E-409C-BE32-E72D297353CC}">
                <c16:uniqueId val="{00000001-728C-419C-A8CF-F51BE656506F}"/>
              </c:ext>
            </c:extLst>
          </c:dPt>
          <c:dPt>
            <c:idx val="1"/>
            <c:invertIfNegative val="0"/>
            <c:bubble3D val="0"/>
            <c:spPr>
              <a:solidFill>
                <a:srgbClr val="FF0000"/>
              </a:solidFill>
              <a:ln>
                <a:solidFill>
                  <a:schemeClr val="accent1"/>
                </a:solidFill>
              </a:ln>
              <a:effectLst>
                <a:innerShdw blurRad="114300">
                  <a:schemeClr val="accent1"/>
                </a:innerShdw>
              </a:effectLst>
            </c:spPr>
            <c:extLst>
              <c:ext xmlns:c16="http://schemas.microsoft.com/office/drawing/2014/chart" uri="{C3380CC4-5D6E-409C-BE32-E72D297353CC}">
                <c16:uniqueId val="{00000003-728C-419C-A8CF-F51BE656506F}"/>
              </c:ext>
            </c:extLst>
          </c:dPt>
          <c:dPt>
            <c:idx val="2"/>
            <c:invertIfNegative val="0"/>
            <c:bubble3D val="0"/>
            <c:spPr>
              <a:solidFill>
                <a:srgbClr val="0070C0"/>
              </a:solidFill>
              <a:ln>
                <a:solidFill>
                  <a:schemeClr val="accent1"/>
                </a:solidFill>
              </a:ln>
              <a:effectLst>
                <a:innerShdw blurRad="114300">
                  <a:schemeClr val="accent1"/>
                </a:innerShdw>
              </a:effectLst>
            </c:spPr>
            <c:extLst>
              <c:ext xmlns:c16="http://schemas.microsoft.com/office/drawing/2014/chart" uri="{C3380CC4-5D6E-409C-BE32-E72D297353CC}">
                <c16:uniqueId val="{00000005-728C-419C-A8CF-F51BE656506F}"/>
              </c:ext>
            </c:extLst>
          </c:dPt>
          <c:dPt>
            <c:idx val="3"/>
            <c:invertIfNegative val="0"/>
            <c:bubble3D val="0"/>
            <c:spPr>
              <a:solidFill>
                <a:srgbClr val="FF0000"/>
              </a:solidFill>
              <a:ln>
                <a:solidFill>
                  <a:schemeClr val="accent1"/>
                </a:solidFill>
              </a:ln>
              <a:effectLst>
                <a:innerShdw blurRad="114300">
                  <a:schemeClr val="accent1"/>
                </a:innerShdw>
              </a:effectLst>
            </c:spPr>
            <c:extLst>
              <c:ext xmlns:c16="http://schemas.microsoft.com/office/drawing/2014/chart" uri="{C3380CC4-5D6E-409C-BE32-E72D297353CC}">
                <c16:uniqueId val="{00000007-728C-419C-A8CF-F51BE656506F}"/>
              </c:ext>
            </c:extLst>
          </c:dPt>
          <c:dPt>
            <c:idx val="4"/>
            <c:invertIfNegative val="0"/>
            <c:bubble3D val="0"/>
            <c:spPr>
              <a:solidFill>
                <a:srgbClr val="0070C0"/>
              </a:solidFill>
              <a:ln>
                <a:solidFill>
                  <a:schemeClr val="accent1"/>
                </a:solidFill>
              </a:ln>
              <a:effectLst>
                <a:innerShdw blurRad="114300">
                  <a:schemeClr val="accent1"/>
                </a:innerShdw>
              </a:effectLst>
            </c:spPr>
            <c:extLst>
              <c:ext xmlns:c16="http://schemas.microsoft.com/office/drawing/2014/chart" uri="{C3380CC4-5D6E-409C-BE32-E72D297353CC}">
                <c16:uniqueId val="{00000009-728C-419C-A8CF-F51BE656506F}"/>
              </c:ext>
            </c:extLst>
          </c:dPt>
          <c:dPt>
            <c:idx val="5"/>
            <c:invertIfNegative val="0"/>
            <c:bubble3D val="0"/>
            <c:spPr>
              <a:solidFill>
                <a:srgbClr val="FF0000"/>
              </a:solidFill>
              <a:ln>
                <a:solidFill>
                  <a:schemeClr val="accent1"/>
                </a:solidFill>
              </a:ln>
              <a:effectLst>
                <a:innerShdw blurRad="114300">
                  <a:schemeClr val="accent1"/>
                </a:innerShdw>
              </a:effectLst>
            </c:spPr>
            <c:extLst>
              <c:ext xmlns:c16="http://schemas.microsoft.com/office/drawing/2014/chart" uri="{C3380CC4-5D6E-409C-BE32-E72D297353CC}">
                <c16:uniqueId val="{0000000B-728C-419C-A8CF-F51BE656506F}"/>
              </c:ext>
            </c:extLst>
          </c:dPt>
          <c:dPt>
            <c:idx val="6"/>
            <c:invertIfNegative val="0"/>
            <c:bubble3D val="0"/>
            <c:spPr>
              <a:solidFill>
                <a:srgbClr val="0070C0"/>
              </a:solidFill>
              <a:ln>
                <a:solidFill>
                  <a:schemeClr val="accent1"/>
                </a:solidFill>
              </a:ln>
              <a:effectLst>
                <a:innerShdw blurRad="114300">
                  <a:schemeClr val="accent1"/>
                </a:innerShdw>
              </a:effectLst>
            </c:spPr>
            <c:extLst>
              <c:ext xmlns:c16="http://schemas.microsoft.com/office/drawing/2014/chart" uri="{C3380CC4-5D6E-409C-BE32-E72D297353CC}">
                <c16:uniqueId val="{0000000D-728C-419C-A8CF-F51BE656506F}"/>
              </c:ext>
            </c:extLst>
          </c:dPt>
          <c:dPt>
            <c:idx val="7"/>
            <c:invertIfNegative val="0"/>
            <c:bubble3D val="0"/>
            <c:spPr>
              <a:solidFill>
                <a:srgbClr val="FFFF00"/>
              </a:solidFill>
              <a:ln>
                <a:solidFill>
                  <a:schemeClr val="bg1"/>
                </a:solidFill>
              </a:ln>
              <a:effectLst>
                <a:innerShdw blurRad="114300">
                  <a:schemeClr val="accent1"/>
                </a:innerShdw>
              </a:effectLst>
            </c:spPr>
            <c:extLst>
              <c:ext xmlns:c16="http://schemas.microsoft.com/office/drawing/2014/chart" uri="{C3380CC4-5D6E-409C-BE32-E72D297353CC}">
                <c16:uniqueId val="{0000000F-728C-419C-A8CF-F51BE656506F}"/>
              </c:ext>
            </c:extLst>
          </c:dPt>
          <c:dPt>
            <c:idx val="8"/>
            <c:invertIfNegative val="0"/>
            <c:bubble3D val="0"/>
            <c:spPr>
              <a:solidFill>
                <a:srgbClr val="0070C0"/>
              </a:solidFill>
              <a:ln>
                <a:solidFill>
                  <a:schemeClr val="accent1"/>
                </a:solidFill>
              </a:ln>
              <a:effectLst>
                <a:innerShdw blurRad="114300">
                  <a:schemeClr val="accent1"/>
                </a:innerShdw>
              </a:effectLst>
            </c:spPr>
            <c:extLst>
              <c:ext xmlns:c16="http://schemas.microsoft.com/office/drawing/2014/chart" uri="{C3380CC4-5D6E-409C-BE32-E72D297353CC}">
                <c16:uniqueId val="{00000011-728C-419C-A8CF-F51BE656506F}"/>
              </c:ext>
            </c:extLst>
          </c:dPt>
          <c:dPt>
            <c:idx val="9"/>
            <c:invertIfNegative val="0"/>
            <c:bubble3D val="0"/>
            <c:spPr>
              <a:solidFill>
                <a:srgbClr val="FF0000"/>
              </a:solidFill>
              <a:ln>
                <a:solidFill>
                  <a:schemeClr val="accent1"/>
                </a:solidFill>
              </a:ln>
              <a:effectLst>
                <a:innerShdw blurRad="114300">
                  <a:schemeClr val="accent1"/>
                </a:innerShdw>
              </a:effectLst>
            </c:spPr>
            <c:extLst>
              <c:ext xmlns:c16="http://schemas.microsoft.com/office/drawing/2014/chart" uri="{C3380CC4-5D6E-409C-BE32-E72D297353CC}">
                <c16:uniqueId val="{00000013-728C-419C-A8CF-F51BE656506F}"/>
              </c:ext>
            </c:extLst>
          </c:dPt>
          <c:dPt>
            <c:idx val="10"/>
            <c:invertIfNegative val="0"/>
            <c:bubble3D val="0"/>
            <c:spPr>
              <a:solidFill>
                <a:srgbClr val="0070C0"/>
              </a:solidFill>
              <a:ln>
                <a:solidFill>
                  <a:schemeClr val="accent1"/>
                </a:solidFill>
              </a:ln>
              <a:effectLst>
                <a:innerShdw blurRad="114300">
                  <a:schemeClr val="accent1"/>
                </a:innerShdw>
              </a:effectLst>
            </c:spPr>
            <c:extLst>
              <c:ext xmlns:c16="http://schemas.microsoft.com/office/drawing/2014/chart" uri="{C3380CC4-5D6E-409C-BE32-E72D297353CC}">
                <c16:uniqueId val="{00000015-728C-419C-A8CF-F51BE656506F}"/>
              </c:ext>
            </c:extLst>
          </c:dPt>
          <c:dPt>
            <c:idx val="11"/>
            <c:invertIfNegative val="0"/>
            <c:bubble3D val="0"/>
            <c:spPr>
              <a:solidFill>
                <a:srgbClr val="FF0000"/>
              </a:solidFill>
              <a:ln>
                <a:solidFill>
                  <a:schemeClr val="accent1"/>
                </a:solidFill>
              </a:ln>
              <a:effectLst>
                <a:innerShdw blurRad="114300">
                  <a:schemeClr val="accent1"/>
                </a:innerShdw>
              </a:effectLst>
            </c:spPr>
            <c:extLst>
              <c:ext xmlns:c16="http://schemas.microsoft.com/office/drawing/2014/chart" uri="{C3380CC4-5D6E-409C-BE32-E72D297353CC}">
                <c16:uniqueId val="{00000017-728C-419C-A8CF-F51BE656506F}"/>
              </c:ext>
            </c:extLst>
          </c:dPt>
          <c:dPt>
            <c:idx val="12"/>
            <c:invertIfNegative val="0"/>
            <c:bubble3D val="0"/>
            <c:spPr>
              <a:solidFill>
                <a:srgbClr val="0070C0"/>
              </a:solidFill>
              <a:ln>
                <a:solidFill>
                  <a:schemeClr val="accent1"/>
                </a:solidFill>
              </a:ln>
              <a:effectLst>
                <a:innerShdw blurRad="114300">
                  <a:schemeClr val="accent1"/>
                </a:innerShdw>
              </a:effectLst>
            </c:spPr>
            <c:extLst>
              <c:ext xmlns:c16="http://schemas.microsoft.com/office/drawing/2014/chart" uri="{C3380CC4-5D6E-409C-BE32-E72D297353CC}">
                <c16:uniqueId val="{00000019-728C-419C-A8CF-F51BE656506F}"/>
              </c:ext>
            </c:extLst>
          </c:dPt>
          <c:dPt>
            <c:idx val="14"/>
            <c:invertIfNegative val="0"/>
            <c:bubble3D val="0"/>
            <c:spPr>
              <a:solidFill>
                <a:srgbClr val="0070C0"/>
              </a:solidFill>
              <a:ln>
                <a:solidFill>
                  <a:srgbClr val="00B0F0"/>
                </a:solidFill>
              </a:ln>
              <a:effectLst>
                <a:innerShdw blurRad="114300">
                  <a:schemeClr val="accent1"/>
                </a:innerShdw>
              </a:effectLst>
            </c:spPr>
            <c:extLst>
              <c:ext xmlns:c16="http://schemas.microsoft.com/office/drawing/2014/chart" uri="{C3380CC4-5D6E-409C-BE32-E72D297353CC}">
                <c16:uniqueId val="{0000001B-728C-419C-A8CF-F51BE656506F}"/>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Adani Light" panose="02000503000000020004" pitchFamily="2"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PSS-09'!$B$3:$C$8,'PPT PSS-09'!$B$10:$C$19)</c:f>
              <c:multiLvlStrCache>
                <c:ptCount val="16"/>
                <c:lvl>
                  <c:pt idx="0">
                    <c:v>Plan</c:v>
                  </c:pt>
                  <c:pt idx="1">
                    <c:v>Actual</c:v>
                  </c:pt>
                  <c:pt idx="2">
                    <c:v>Plan</c:v>
                  </c:pt>
                  <c:pt idx="3">
                    <c:v>Actual</c:v>
                  </c:pt>
                  <c:pt idx="4">
                    <c:v>Plan</c:v>
                  </c:pt>
                  <c:pt idx="5">
                    <c:v>Actual</c:v>
                  </c:pt>
                  <c:pt idx="6">
                    <c:v>Plan</c:v>
                  </c:pt>
                  <c:pt idx="7">
                    <c:v>Actual</c:v>
                  </c:pt>
                  <c:pt idx="8">
                    <c:v>Plan</c:v>
                  </c:pt>
                  <c:pt idx="9">
                    <c:v>Actual</c:v>
                  </c:pt>
                  <c:pt idx="10">
                    <c:v>Plan</c:v>
                  </c:pt>
                  <c:pt idx="11">
                    <c:v>Actual</c:v>
                  </c:pt>
                  <c:pt idx="12">
                    <c:v>Plan</c:v>
                  </c:pt>
                  <c:pt idx="13">
                    <c:v>Actual</c:v>
                  </c:pt>
                  <c:pt idx="14">
                    <c:v>Plan</c:v>
                  </c:pt>
                  <c:pt idx="15">
                    <c:v>Actual</c:v>
                  </c:pt>
                </c:lvl>
                <c:lvl>
                  <c:pt idx="0">
                    <c:v>PCS</c:v>
                  </c:pt>
                  <c:pt idx="2">
                    <c:v>SGR</c:v>
                  </c:pt>
                  <c:pt idx="4">
                    <c:v>MCR</c:v>
                  </c:pt>
                  <c:pt idx="6">
                    <c:v>CT</c:v>
                  </c:pt>
                  <c:pt idx="8">
                    <c:v>CSS</c:v>
                  </c:pt>
                  <c:pt idx="10">
                    <c:v>BOT </c:v>
                  </c:pt>
                  <c:pt idx="12">
                    <c:v>NIFPS</c:v>
                  </c:pt>
                  <c:pt idx="14">
                    <c:v>HF</c:v>
                  </c:pt>
                </c:lvl>
              </c:multiLvlStrCache>
            </c:multiLvlStrRef>
          </c:cat>
          <c:val>
            <c:numRef>
              <c:f>('PPT PSS-09'!$J$3:$J$8,'PPT PSS-09'!$J$10:$J$19)</c:f>
              <c:numCache>
                <c:formatCode>0%</c:formatCode>
                <c:ptCount val="16"/>
                <c:pt idx="0">
                  <c:v>1</c:v>
                </c:pt>
                <c:pt idx="1">
                  <c:v>0.44666666666666666</c:v>
                </c:pt>
                <c:pt idx="2">
                  <c:v>1</c:v>
                </c:pt>
                <c:pt idx="3">
                  <c:v>0.38666666666666666</c:v>
                </c:pt>
                <c:pt idx="4">
                  <c:v>1</c:v>
                </c:pt>
                <c:pt idx="5">
                  <c:v>0.57333333333333336</c:v>
                </c:pt>
                <c:pt idx="6">
                  <c:v>1</c:v>
                </c:pt>
                <c:pt idx="7">
                  <c:v>0.70925925925925926</c:v>
                </c:pt>
                <c:pt idx="8">
                  <c:v>1</c:v>
                </c:pt>
                <c:pt idx="9">
                  <c:v>0.4622222222222222</c:v>
                </c:pt>
                <c:pt idx="10">
                  <c:v>0.99999999999999989</c:v>
                </c:pt>
                <c:pt idx="11">
                  <c:v>0.83148148148148138</c:v>
                </c:pt>
                <c:pt idx="12">
                  <c:v>1</c:v>
                </c:pt>
                <c:pt idx="13">
                  <c:v>0.19259259259259259</c:v>
                </c:pt>
                <c:pt idx="14">
                  <c:v>1</c:v>
                </c:pt>
                <c:pt idx="15">
                  <c:v>0.17499999999999999</c:v>
                </c:pt>
              </c:numCache>
            </c:numRef>
          </c:val>
          <c:extLst>
            <c:ext xmlns:c16="http://schemas.microsoft.com/office/drawing/2014/chart" uri="{C3380CC4-5D6E-409C-BE32-E72D297353CC}">
              <c16:uniqueId val="{0000001C-728C-419C-A8CF-F51BE656506F}"/>
            </c:ext>
          </c:extLst>
        </c:ser>
        <c:dLbls>
          <c:showLegendKey val="0"/>
          <c:showVal val="0"/>
          <c:showCatName val="0"/>
          <c:showSerName val="0"/>
          <c:showPercent val="0"/>
          <c:showBubbleSize val="0"/>
        </c:dLbls>
        <c:gapWidth val="164"/>
        <c:overlap val="-22"/>
        <c:axId val="520753280"/>
        <c:axId val="520769120"/>
      </c:barChart>
      <c:catAx>
        <c:axId val="520753280"/>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69120"/>
        <c:crosses val="autoZero"/>
        <c:auto val="1"/>
        <c:lblAlgn val="ctr"/>
        <c:lblOffset val="100"/>
        <c:noMultiLvlLbl val="0"/>
      </c:catAx>
      <c:valAx>
        <c:axId val="520769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53280"/>
        <c:crosses val="autoZero"/>
        <c:crossBetween val="between"/>
      </c:valAx>
      <c:spPr>
        <a:noFill/>
        <a:ln>
          <a:noFill/>
        </a:ln>
        <a:effectLst/>
      </c:spPr>
    </c:plotArea>
    <c:plotVisOnly val="1"/>
    <c:dispBlanksAs val="gap"/>
    <c:showDLblsOverMax val="0"/>
  </c:chart>
  <c:spPr>
    <a:solidFill>
      <a:schemeClr val="bg1"/>
    </a:solidFill>
    <a:ln w="19050" cap="flat" cmpd="sng" algn="ctr">
      <a:solidFill>
        <a:schemeClr val="tx1"/>
      </a:solidFill>
      <a:round/>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400">
                <a:latin typeface="Adani Light" panose="02000503000000020004" pitchFamily="2" charset="0"/>
              </a:rPr>
              <a:t>BCF Progress-PSS-09</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PSS-09'!$J$32</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solidFill>
                  <a:srgbClr val="0070C0"/>
                </a:solidFill>
              </a:ln>
              <a:effectLst>
                <a:innerShdw blurRad="114300">
                  <a:schemeClr val="accent1"/>
                </a:innerShdw>
              </a:effectLst>
            </c:spPr>
            <c:extLst>
              <c:ext xmlns:c16="http://schemas.microsoft.com/office/drawing/2014/chart" uri="{C3380CC4-5D6E-409C-BE32-E72D297353CC}">
                <c16:uniqueId val="{00000001-9B63-4FF8-9393-8FCE7305D2A0}"/>
              </c:ext>
            </c:extLst>
          </c:dPt>
          <c:dPt>
            <c:idx val="1"/>
            <c:invertIfNegative val="0"/>
            <c:bubble3D val="0"/>
            <c:spPr>
              <a:solidFill>
                <a:srgbClr val="FFFF00"/>
              </a:solidFill>
              <a:ln>
                <a:noFill/>
              </a:ln>
              <a:effectLst>
                <a:innerShdw blurRad="114300">
                  <a:schemeClr val="accent1"/>
                </a:innerShdw>
              </a:effectLst>
            </c:spPr>
            <c:extLst>
              <c:ext xmlns:c16="http://schemas.microsoft.com/office/drawing/2014/chart" uri="{C3380CC4-5D6E-409C-BE32-E72D297353CC}">
                <c16:uniqueId val="{00000003-9B63-4FF8-9393-8FCE7305D2A0}"/>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PSS-09'!$B$33:$C$34,'PPT PSS-09'!$J$33:$J$34)</c:f>
              <c:multiLvlStrCache>
                <c:ptCount val="4"/>
                <c:lvl>
                  <c:pt idx="0">
                    <c:v>Plan</c:v>
                  </c:pt>
                  <c:pt idx="1">
                    <c:v>Actual</c:v>
                  </c:pt>
                  <c:pt idx="2">
                    <c:v>100%</c:v>
                  </c:pt>
                  <c:pt idx="3">
                    <c:v>86%</c:v>
                  </c:pt>
                </c:lvl>
                <c:lvl>
                  <c:pt idx="0">
                    <c:v>BCF</c:v>
                  </c:pt>
                </c:lvl>
              </c:multiLvlStrCache>
            </c:multiLvlStrRef>
          </c:cat>
          <c:val>
            <c:numRef>
              <c:f>'PPT PSS-09'!$J$33:$J$34</c:f>
              <c:numCache>
                <c:formatCode>0%</c:formatCode>
                <c:ptCount val="2"/>
                <c:pt idx="0">
                  <c:v>1</c:v>
                </c:pt>
                <c:pt idx="1">
                  <c:v>0.85740740740740751</c:v>
                </c:pt>
              </c:numCache>
            </c:numRef>
          </c:val>
          <c:extLst>
            <c:ext xmlns:c16="http://schemas.microsoft.com/office/drawing/2014/chart" uri="{C3380CC4-5D6E-409C-BE32-E72D297353CC}">
              <c16:uniqueId val="{00000004-9B63-4FF8-9393-8FCE7305D2A0}"/>
            </c:ext>
          </c:extLst>
        </c:ser>
        <c:dLbls>
          <c:dLblPos val="outEnd"/>
          <c:showLegendKey val="0"/>
          <c:showVal val="1"/>
          <c:showCatName val="0"/>
          <c:showSerName val="0"/>
          <c:showPercent val="0"/>
          <c:showBubbleSize val="0"/>
        </c:dLbls>
        <c:gapWidth val="164"/>
        <c:overlap val="-22"/>
        <c:axId val="1105330784"/>
        <c:axId val="1105326464"/>
      </c:barChart>
      <c:catAx>
        <c:axId val="1105330784"/>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26464"/>
        <c:crosses val="autoZero"/>
        <c:auto val="1"/>
        <c:lblAlgn val="ctr"/>
        <c:lblOffset val="100"/>
        <c:noMultiLvlLbl val="0"/>
      </c:catAx>
      <c:valAx>
        <c:axId val="1105326464"/>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30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solidFill>
      <a:round/>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Electrical Progress PSS-09</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PSS-09'!$G$42</c:f>
              <c:strCache>
                <c:ptCount val="1"/>
                <c:pt idx="0">
                  <c:v>Plan %</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'PPT PSS-09'!$B$43:$B$52</c:f>
              <c:strCache>
                <c:ptCount val="10"/>
                <c:pt idx="0">
                  <c:v>HT Cable Laying</c:v>
                </c:pt>
                <c:pt idx="1">
                  <c:v>FO Cable Laying</c:v>
                </c:pt>
                <c:pt idx="2">
                  <c:v> DC Cable Laying</c:v>
                </c:pt>
                <c:pt idx="3">
                  <c:v>LT Cable Laying</c:v>
                </c:pt>
                <c:pt idx="4">
                  <c:v>Aux Cable Laying</c:v>
                </c:pt>
                <c:pt idx="5">
                  <c:v>Control Cable Laying</c:v>
                </c:pt>
                <c:pt idx="6">
                  <c:v>Battery Container Erection</c:v>
                </c:pt>
                <c:pt idx="7">
                  <c:v>PCS Erection</c:v>
                </c:pt>
                <c:pt idx="8">
                  <c:v>CT Erection</c:v>
                </c:pt>
                <c:pt idx="9">
                  <c:v>CSS Erection</c:v>
                </c:pt>
              </c:strCache>
            </c:strRef>
          </c:cat>
          <c:val>
            <c:numRef>
              <c:f>'PPT PSS-09'!$G$43:$G$52</c:f>
              <c:numCache>
                <c:formatCode>0%</c:formatCode>
                <c:ptCount val="10"/>
                <c:pt idx="0">
                  <c:v>1</c:v>
                </c:pt>
                <c:pt idx="1">
                  <c:v>1</c:v>
                </c:pt>
                <c:pt idx="2">
                  <c:v>1</c:v>
                </c:pt>
                <c:pt idx="3">
                  <c:v>1</c:v>
                </c:pt>
                <c:pt idx="4">
                  <c:v>1</c:v>
                </c:pt>
                <c:pt idx="5">
                  <c:v>1</c:v>
                </c:pt>
                <c:pt idx="6">
                  <c:v>1</c:v>
                </c:pt>
                <c:pt idx="7">
                  <c:v>1</c:v>
                </c:pt>
                <c:pt idx="8">
                  <c:v>1</c:v>
                </c:pt>
                <c:pt idx="9">
                  <c:v>1</c:v>
                </c:pt>
              </c:numCache>
            </c:numRef>
          </c:val>
          <c:extLst>
            <c:ext xmlns:c16="http://schemas.microsoft.com/office/drawing/2014/chart" uri="{C3380CC4-5D6E-409C-BE32-E72D297353CC}">
              <c16:uniqueId val="{00000000-299A-4DD2-97B4-74A6F7C01CD1}"/>
            </c:ext>
          </c:extLst>
        </c:ser>
        <c:ser>
          <c:idx val="1"/>
          <c:order val="1"/>
          <c:tx>
            <c:strRef>
              <c:f>'PPT PSS-09'!$H$42</c:f>
              <c:strCache>
                <c:ptCount val="1"/>
                <c:pt idx="0">
                  <c:v>Actual %</c:v>
                </c:pt>
              </c:strCache>
            </c:strRef>
          </c:tx>
          <c:spPr>
            <a:solidFill>
              <a:srgbClr val="FF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'PPT PSS-09'!$B$43:$B$52</c:f>
              <c:strCache>
                <c:ptCount val="10"/>
                <c:pt idx="0">
                  <c:v>HT Cable Laying</c:v>
                </c:pt>
                <c:pt idx="1">
                  <c:v>FO Cable Laying</c:v>
                </c:pt>
                <c:pt idx="2">
                  <c:v> DC Cable Laying</c:v>
                </c:pt>
                <c:pt idx="3">
                  <c:v>LT Cable Laying</c:v>
                </c:pt>
                <c:pt idx="4">
                  <c:v>Aux Cable Laying</c:v>
                </c:pt>
                <c:pt idx="5">
                  <c:v>Control Cable Laying</c:v>
                </c:pt>
                <c:pt idx="6">
                  <c:v>Battery Container Erection</c:v>
                </c:pt>
                <c:pt idx="7">
                  <c:v>PCS Erection</c:v>
                </c:pt>
                <c:pt idx="8">
                  <c:v>CT Erection</c:v>
                </c:pt>
                <c:pt idx="9">
                  <c:v>CSS Erection</c:v>
                </c:pt>
              </c:strCache>
            </c:strRef>
          </c:cat>
          <c:val>
            <c:numRef>
              <c:f>'PPT PSS-09'!$H$43:$H$52</c:f>
              <c:numCache>
                <c:formatCode>0%</c:formatCode>
                <c:ptCount val="10"/>
                <c:pt idx="0">
                  <c:v>0.77610679283541739</c:v>
                </c:pt>
                <c:pt idx="1">
                  <c:v>0</c:v>
                </c:pt>
                <c:pt idx="2">
                  <c:v>0.20217278525435625</c:v>
                </c:pt>
                <c:pt idx="3">
                  <c:v>0.30010255238856648</c:v>
                </c:pt>
                <c:pt idx="4">
                  <c:v>0.13179074446680081</c:v>
                </c:pt>
                <c:pt idx="5">
                  <c:v>1.0378712597990504E-2</c:v>
                </c:pt>
                <c:pt idx="6">
                  <c:v>0</c:v>
                </c:pt>
                <c:pt idx="7">
                  <c:v>0</c:v>
                </c:pt>
                <c:pt idx="8">
                  <c:v>0.35185185185185186</c:v>
                </c:pt>
                <c:pt idx="9">
                  <c:v>0</c:v>
                </c:pt>
              </c:numCache>
            </c:numRef>
          </c:val>
          <c:extLst>
            <c:ext xmlns:c16="http://schemas.microsoft.com/office/drawing/2014/chart" uri="{C3380CC4-5D6E-409C-BE32-E72D297353CC}">
              <c16:uniqueId val="{00000001-299A-4DD2-97B4-74A6F7C01CD1}"/>
            </c:ext>
          </c:extLst>
        </c:ser>
        <c:dLbls>
          <c:showLegendKey val="0"/>
          <c:showVal val="0"/>
          <c:showCatName val="0"/>
          <c:showSerName val="0"/>
          <c:showPercent val="0"/>
          <c:showBubbleSize val="0"/>
        </c:dLbls>
        <c:gapWidth val="219"/>
        <c:overlap val="-27"/>
        <c:axId val="374843631"/>
        <c:axId val="374836911"/>
      </c:barChart>
      <c:catAx>
        <c:axId val="3748436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374836911"/>
        <c:crosses val="autoZero"/>
        <c:auto val="1"/>
        <c:lblAlgn val="ctr"/>
        <c:lblOffset val="100"/>
        <c:noMultiLvlLbl val="0"/>
      </c:catAx>
      <c:valAx>
        <c:axId val="374836911"/>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74843631"/>
        <c:crosses val="autoZero"/>
        <c:crossBetween val="between"/>
        <c:majorUnit val="0.2"/>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400">
                <a:latin typeface="Adani Light" panose="02000503000000020004" pitchFamily="2" charset="0"/>
              </a:rPr>
              <a:t>BCF Progress-PSS-05(B)</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PSS-05(B)'!$J$32</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solidFill>
                  <a:srgbClr val="0070C0"/>
                </a:solidFill>
              </a:ln>
              <a:effectLst>
                <a:innerShdw blurRad="114300">
                  <a:schemeClr val="accent1"/>
                </a:innerShdw>
              </a:effectLst>
            </c:spPr>
            <c:extLst>
              <c:ext xmlns:c16="http://schemas.microsoft.com/office/drawing/2014/chart" uri="{C3380CC4-5D6E-409C-BE32-E72D297353CC}">
                <c16:uniqueId val="{00000001-91E0-4504-9669-6F0A5FBE671A}"/>
              </c:ext>
            </c:extLst>
          </c:dPt>
          <c:dPt>
            <c:idx val="1"/>
            <c:invertIfNegative val="0"/>
            <c:bubble3D val="0"/>
            <c:spPr>
              <a:solidFill>
                <a:srgbClr val="FFFF00"/>
              </a:solidFill>
              <a:ln>
                <a:noFill/>
              </a:ln>
              <a:effectLst>
                <a:innerShdw blurRad="114300">
                  <a:schemeClr val="accent1"/>
                </a:innerShdw>
              </a:effectLst>
            </c:spPr>
            <c:extLst>
              <c:ext xmlns:c16="http://schemas.microsoft.com/office/drawing/2014/chart" uri="{C3380CC4-5D6E-409C-BE32-E72D297353CC}">
                <c16:uniqueId val="{00000003-91E0-4504-9669-6F0A5FBE671A}"/>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PSS-05(B)'!$B$33:$C$34,'PPT PSS-05(B)'!$J$33:$J$34)</c:f>
              <c:multiLvlStrCache>
                <c:ptCount val="4"/>
                <c:lvl>
                  <c:pt idx="0">
                    <c:v>Plan</c:v>
                  </c:pt>
                  <c:pt idx="1">
                    <c:v>Actual</c:v>
                  </c:pt>
                  <c:pt idx="2">
                    <c:v>100%</c:v>
                  </c:pt>
                  <c:pt idx="3">
                    <c:v>92%</c:v>
                  </c:pt>
                </c:lvl>
                <c:lvl>
                  <c:pt idx="0">
                    <c:v>BCF</c:v>
                  </c:pt>
                </c:lvl>
              </c:multiLvlStrCache>
            </c:multiLvlStrRef>
          </c:cat>
          <c:val>
            <c:numRef>
              <c:f>'PPT PSS-05(B)'!$J$33:$J$34</c:f>
              <c:numCache>
                <c:formatCode>0%</c:formatCode>
                <c:ptCount val="2"/>
                <c:pt idx="0">
                  <c:v>1</c:v>
                </c:pt>
                <c:pt idx="1">
                  <c:v>0.92160000000000009</c:v>
                </c:pt>
              </c:numCache>
            </c:numRef>
          </c:val>
          <c:extLst>
            <c:ext xmlns:c16="http://schemas.microsoft.com/office/drawing/2014/chart" uri="{C3380CC4-5D6E-409C-BE32-E72D297353CC}">
              <c16:uniqueId val="{00000004-91E0-4504-9669-6F0A5FBE671A}"/>
            </c:ext>
          </c:extLst>
        </c:ser>
        <c:dLbls>
          <c:dLblPos val="outEnd"/>
          <c:showLegendKey val="0"/>
          <c:showVal val="1"/>
          <c:showCatName val="0"/>
          <c:showSerName val="0"/>
          <c:showPercent val="0"/>
          <c:showBubbleSize val="0"/>
        </c:dLbls>
        <c:gapWidth val="164"/>
        <c:overlap val="-22"/>
        <c:axId val="1105330784"/>
        <c:axId val="1105326464"/>
      </c:barChart>
      <c:catAx>
        <c:axId val="1105330784"/>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26464"/>
        <c:crosses val="autoZero"/>
        <c:auto val="1"/>
        <c:lblAlgn val="ctr"/>
        <c:lblOffset val="100"/>
        <c:noMultiLvlLbl val="0"/>
      </c:catAx>
      <c:valAx>
        <c:axId val="1105326464"/>
        <c:scaling>
          <c:orientation val="minMax"/>
          <c:max val="1"/>
        </c:scaling>
        <c:delete val="0"/>
        <c:axPos val="l"/>
        <c:majorGridlines>
          <c:spPr>
            <a:ln>
              <a:solidFill>
                <a:schemeClr val="tx1">
                  <a:lumMod val="15000"/>
                  <a:lumOff val="85000"/>
                </a:schemeClr>
              </a:solidFill>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30784"/>
        <c:crosses val="autoZero"/>
        <c:crossBetween val="between"/>
        <c:majorUnit val="0.5"/>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solidFill>
      <a:round/>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200">
                <a:latin typeface="Adani Light" panose="02000503000000020004" pitchFamily="2" charset="0"/>
              </a:rPr>
              <a:t>BOP Civil Progress-PSS-05(B) </a:t>
            </a:r>
          </a:p>
        </c:rich>
      </c:tx>
      <c:layout>
        <c:manualLayout>
          <c:xMode val="edge"/>
          <c:yMode val="edge"/>
          <c:x val="0.28471071430415151"/>
          <c:y val="0"/>
        </c:manualLayout>
      </c:layout>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PSS-05(B)'!$J$2</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1-896C-404E-915B-3CF80727B166}"/>
              </c:ext>
            </c:extLst>
          </c:dPt>
          <c:dPt>
            <c:idx val="1"/>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03-896C-404E-915B-3CF80727B166}"/>
              </c:ext>
            </c:extLst>
          </c:dPt>
          <c:dPt>
            <c:idx val="2"/>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5-896C-404E-915B-3CF80727B166}"/>
              </c:ext>
            </c:extLst>
          </c:dPt>
          <c:dPt>
            <c:idx val="3"/>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07-896C-404E-915B-3CF80727B166}"/>
              </c:ext>
            </c:extLst>
          </c:dPt>
          <c:dPt>
            <c:idx val="4"/>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9-896C-404E-915B-3CF80727B166}"/>
              </c:ext>
            </c:extLst>
          </c:dPt>
          <c:dPt>
            <c:idx val="5"/>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0B-896C-404E-915B-3CF80727B166}"/>
              </c:ext>
            </c:extLst>
          </c:dPt>
          <c:dPt>
            <c:idx val="6"/>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D-896C-404E-915B-3CF80727B166}"/>
              </c:ext>
            </c:extLst>
          </c:dPt>
          <c:dPt>
            <c:idx val="7"/>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0F-896C-404E-915B-3CF80727B166}"/>
              </c:ext>
            </c:extLst>
          </c:dPt>
          <c:dPt>
            <c:idx val="8"/>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1-896C-404E-915B-3CF80727B166}"/>
              </c:ext>
            </c:extLst>
          </c:dPt>
          <c:dPt>
            <c:idx val="9"/>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13-896C-404E-915B-3CF80727B166}"/>
              </c:ext>
            </c:extLst>
          </c:dPt>
          <c:dPt>
            <c:idx val="10"/>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5-896C-404E-915B-3CF80727B166}"/>
              </c:ext>
            </c:extLst>
          </c:dPt>
          <c:dPt>
            <c:idx val="11"/>
            <c:invertIfNegative val="0"/>
            <c:bubble3D val="0"/>
            <c:spPr>
              <a:solidFill>
                <a:srgbClr val="FF0000"/>
              </a:solidFill>
              <a:ln>
                <a:solidFill>
                  <a:srgbClr val="FF0000"/>
                </a:solidFill>
              </a:ln>
              <a:effectLst>
                <a:innerShdw blurRad="114300">
                  <a:schemeClr val="accent1"/>
                </a:innerShdw>
              </a:effectLst>
            </c:spPr>
            <c:extLst>
              <c:ext xmlns:c16="http://schemas.microsoft.com/office/drawing/2014/chart" uri="{C3380CC4-5D6E-409C-BE32-E72D297353CC}">
                <c16:uniqueId val="{00000017-896C-404E-915B-3CF80727B166}"/>
              </c:ext>
            </c:extLst>
          </c:dPt>
          <c:dPt>
            <c:idx val="12"/>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9-896C-404E-915B-3CF80727B166}"/>
              </c:ext>
            </c:extLst>
          </c:dPt>
          <c:dPt>
            <c:idx val="14"/>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B-896C-404E-915B-3CF80727B166}"/>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Adani Light" panose="02000503000000020004" pitchFamily="2"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PSS-05(B)'!$B$3:$C$8,'PPT PSS-05(B)'!$B$10:$C$19)</c:f>
              <c:multiLvlStrCache>
                <c:ptCount val="16"/>
                <c:lvl>
                  <c:pt idx="0">
                    <c:v>Plan</c:v>
                  </c:pt>
                  <c:pt idx="1">
                    <c:v>Actual</c:v>
                  </c:pt>
                  <c:pt idx="2">
                    <c:v>Plan</c:v>
                  </c:pt>
                  <c:pt idx="3">
                    <c:v>Actual</c:v>
                  </c:pt>
                  <c:pt idx="4">
                    <c:v>Plan</c:v>
                  </c:pt>
                  <c:pt idx="5">
                    <c:v>Actual</c:v>
                  </c:pt>
                  <c:pt idx="6">
                    <c:v>Plan</c:v>
                  </c:pt>
                  <c:pt idx="7">
                    <c:v>Actual</c:v>
                  </c:pt>
                  <c:pt idx="8">
                    <c:v>Plan</c:v>
                  </c:pt>
                  <c:pt idx="9">
                    <c:v>Actual</c:v>
                  </c:pt>
                  <c:pt idx="10">
                    <c:v>Plan</c:v>
                  </c:pt>
                  <c:pt idx="11">
                    <c:v>Actual</c:v>
                  </c:pt>
                  <c:pt idx="12">
                    <c:v>Plan</c:v>
                  </c:pt>
                  <c:pt idx="13">
                    <c:v>Actual</c:v>
                  </c:pt>
                  <c:pt idx="14">
                    <c:v>Plan</c:v>
                  </c:pt>
                  <c:pt idx="15">
                    <c:v>Actual</c:v>
                  </c:pt>
                </c:lvl>
                <c:lvl>
                  <c:pt idx="0">
                    <c:v>PCS</c:v>
                  </c:pt>
                  <c:pt idx="2">
                    <c:v>SGR</c:v>
                  </c:pt>
                  <c:pt idx="4">
                    <c:v>MCR</c:v>
                  </c:pt>
                  <c:pt idx="6">
                    <c:v>CT</c:v>
                  </c:pt>
                  <c:pt idx="8">
                    <c:v>CSS</c:v>
                  </c:pt>
                  <c:pt idx="10">
                    <c:v>BOT </c:v>
                  </c:pt>
                  <c:pt idx="12">
                    <c:v>NIFPS</c:v>
                  </c:pt>
                  <c:pt idx="14">
                    <c:v>HF</c:v>
                  </c:pt>
                </c:lvl>
              </c:multiLvlStrCache>
            </c:multiLvlStrRef>
          </c:cat>
          <c:val>
            <c:numRef>
              <c:f>('PPT PSS-05(B)'!$J$3:$J$8,'PPT PSS-05(B)'!$J$10:$J$19)</c:f>
              <c:numCache>
                <c:formatCode>0%</c:formatCode>
                <c:ptCount val="16"/>
                <c:pt idx="0">
                  <c:v>1</c:v>
                </c:pt>
                <c:pt idx="1">
                  <c:v>0.36320000000000002</c:v>
                </c:pt>
                <c:pt idx="2">
                  <c:v>1</c:v>
                </c:pt>
                <c:pt idx="3">
                  <c:v>0.19111111111111112</c:v>
                </c:pt>
                <c:pt idx="4">
                  <c:v>1</c:v>
                </c:pt>
                <c:pt idx="5">
                  <c:v>0.20600000000000002</c:v>
                </c:pt>
                <c:pt idx="6">
                  <c:v>1</c:v>
                </c:pt>
                <c:pt idx="7">
                  <c:v>0.68840000000000001</c:v>
                </c:pt>
                <c:pt idx="8">
                  <c:v>1</c:v>
                </c:pt>
                <c:pt idx="9">
                  <c:v>0.24888888888888888</c:v>
                </c:pt>
                <c:pt idx="10">
                  <c:v>0.99999999999999989</c:v>
                </c:pt>
                <c:pt idx="11">
                  <c:v>0.53400000000000003</c:v>
                </c:pt>
                <c:pt idx="12">
                  <c:v>1</c:v>
                </c:pt>
                <c:pt idx="13">
                  <c:v>0</c:v>
                </c:pt>
                <c:pt idx="14">
                  <c:v>1</c:v>
                </c:pt>
                <c:pt idx="15">
                  <c:v>0</c:v>
                </c:pt>
              </c:numCache>
            </c:numRef>
          </c:val>
          <c:extLst>
            <c:ext xmlns:c16="http://schemas.microsoft.com/office/drawing/2014/chart" uri="{C3380CC4-5D6E-409C-BE32-E72D297353CC}">
              <c16:uniqueId val="{0000001C-896C-404E-915B-3CF80727B166}"/>
            </c:ext>
          </c:extLst>
        </c:ser>
        <c:dLbls>
          <c:showLegendKey val="0"/>
          <c:showVal val="0"/>
          <c:showCatName val="0"/>
          <c:showSerName val="0"/>
          <c:showPercent val="0"/>
          <c:showBubbleSize val="0"/>
        </c:dLbls>
        <c:gapWidth val="164"/>
        <c:overlap val="-22"/>
        <c:axId val="520753280"/>
        <c:axId val="520769120"/>
      </c:barChart>
      <c:catAx>
        <c:axId val="520753280"/>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69120"/>
        <c:crosses val="autoZero"/>
        <c:auto val="1"/>
        <c:lblAlgn val="ctr"/>
        <c:lblOffset val="100"/>
        <c:noMultiLvlLbl val="0"/>
      </c:catAx>
      <c:valAx>
        <c:axId val="520769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53280"/>
        <c:crosses val="autoZero"/>
        <c:crossBetween val="between"/>
      </c:valAx>
      <c:spPr>
        <a:noFill/>
        <a:ln>
          <a:noFill/>
        </a:ln>
        <a:effectLst/>
      </c:spPr>
    </c:plotArea>
    <c:plotVisOnly val="1"/>
    <c:dispBlanksAs val="gap"/>
    <c:showDLblsOverMax val="0"/>
  </c:chart>
  <c:spPr>
    <a:solidFill>
      <a:schemeClr val="bg1"/>
    </a:solidFill>
    <a:ln w="19050" cap="flat" cmpd="sng" algn="ctr">
      <a:solidFill>
        <a:schemeClr val="tx1"/>
      </a:solidFill>
      <a:round/>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Electrica</a:t>
            </a:r>
            <a:r>
              <a:rPr lang="en-US" baseline="0"/>
              <a:t>l Progress - PSS-05(B)</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PSS-05(B)'!$G$40</c:f>
              <c:strCache>
                <c:ptCount val="1"/>
                <c:pt idx="0">
                  <c:v>Plan %</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'PPT PSS-05(B)'!$B$41:$B$50</c:f>
              <c:strCache>
                <c:ptCount val="10"/>
                <c:pt idx="0">
                  <c:v>HT Cable Laying</c:v>
                </c:pt>
                <c:pt idx="1">
                  <c:v>FO Cable Laying</c:v>
                </c:pt>
                <c:pt idx="2">
                  <c:v> DC Cable Laying</c:v>
                </c:pt>
                <c:pt idx="3">
                  <c:v>LT Cable Laying</c:v>
                </c:pt>
                <c:pt idx="4">
                  <c:v>Aux Cable Laying</c:v>
                </c:pt>
                <c:pt idx="5">
                  <c:v>Control Cable Laying</c:v>
                </c:pt>
                <c:pt idx="6">
                  <c:v>Battery Container Erection</c:v>
                </c:pt>
                <c:pt idx="7">
                  <c:v>PCS Erection</c:v>
                </c:pt>
                <c:pt idx="8">
                  <c:v>CT Erection</c:v>
                </c:pt>
                <c:pt idx="9">
                  <c:v>CSS Erection</c:v>
                </c:pt>
              </c:strCache>
            </c:strRef>
          </c:cat>
          <c:val>
            <c:numRef>
              <c:f>'PPT PSS-05(B)'!$G$41:$G$50</c:f>
              <c:numCache>
                <c:formatCode>0%</c:formatCode>
                <c:ptCount val="10"/>
                <c:pt idx="0">
                  <c:v>1</c:v>
                </c:pt>
                <c:pt idx="1">
                  <c:v>1</c:v>
                </c:pt>
                <c:pt idx="2">
                  <c:v>1</c:v>
                </c:pt>
                <c:pt idx="3">
                  <c:v>1</c:v>
                </c:pt>
                <c:pt idx="4">
                  <c:v>1</c:v>
                </c:pt>
                <c:pt idx="5">
                  <c:v>1</c:v>
                </c:pt>
                <c:pt idx="6">
                  <c:v>1</c:v>
                </c:pt>
                <c:pt idx="7">
                  <c:v>1</c:v>
                </c:pt>
                <c:pt idx="8">
                  <c:v>1</c:v>
                </c:pt>
                <c:pt idx="9">
                  <c:v>1</c:v>
                </c:pt>
              </c:numCache>
            </c:numRef>
          </c:val>
          <c:extLst>
            <c:ext xmlns:c16="http://schemas.microsoft.com/office/drawing/2014/chart" uri="{C3380CC4-5D6E-409C-BE32-E72D297353CC}">
              <c16:uniqueId val="{00000000-69A7-4F27-90B0-6975279DED15}"/>
            </c:ext>
          </c:extLst>
        </c:ser>
        <c:ser>
          <c:idx val="1"/>
          <c:order val="1"/>
          <c:tx>
            <c:strRef>
              <c:f>'PPT PSS-05(B)'!$H$40</c:f>
              <c:strCache>
                <c:ptCount val="1"/>
                <c:pt idx="0">
                  <c:v>Actual %</c:v>
                </c:pt>
              </c:strCache>
            </c:strRef>
          </c:tx>
          <c:spPr>
            <a:solidFill>
              <a:srgbClr val="FF0000"/>
            </a:solidFill>
            <a:ln>
              <a:noFill/>
            </a:ln>
            <a:effectLst/>
          </c:spPr>
          <c:invertIfNegative val="0"/>
          <c:cat>
            <c:strRef>
              <c:f>'PPT PSS-05(B)'!$B$41:$B$50</c:f>
              <c:strCache>
                <c:ptCount val="10"/>
                <c:pt idx="0">
                  <c:v>HT Cable Laying</c:v>
                </c:pt>
                <c:pt idx="1">
                  <c:v>FO Cable Laying</c:v>
                </c:pt>
                <c:pt idx="2">
                  <c:v> DC Cable Laying</c:v>
                </c:pt>
                <c:pt idx="3">
                  <c:v>LT Cable Laying</c:v>
                </c:pt>
                <c:pt idx="4">
                  <c:v>Aux Cable Laying</c:v>
                </c:pt>
                <c:pt idx="5">
                  <c:v>Control Cable Laying</c:v>
                </c:pt>
                <c:pt idx="6">
                  <c:v>Battery Container Erection</c:v>
                </c:pt>
                <c:pt idx="7">
                  <c:v>PCS Erection</c:v>
                </c:pt>
                <c:pt idx="8">
                  <c:v>CT Erection</c:v>
                </c:pt>
                <c:pt idx="9">
                  <c:v>CSS Erection</c:v>
                </c:pt>
              </c:strCache>
            </c:strRef>
          </c:cat>
          <c:val>
            <c:numRef>
              <c:f>'PPT PSS-05(B)'!$H$41:$H$50</c:f>
              <c:numCache>
                <c:formatCode>0%</c:formatCode>
                <c:ptCount val="10"/>
                <c:pt idx="0">
                  <c:v>0.79608176207462766</c:v>
                </c:pt>
                <c:pt idx="1">
                  <c:v>0.23188545378663841</c:v>
                </c:pt>
                <c:pt idx="2">
                  <c:v>8.6127090076643126E-2</c:v>
                </c:pt>
                <c:pt idx="3">
                  <c:v>8.2847373799820836E-2</c:v>
                </c:pt>
                <c:pt idx="4">
                  <c:v>5.7048921249065174E-2</c:v>
                </c:pt>
                <c:pt idx="5">
                  <c:v>0</c:v>
                </c:pt>
                <c:pt idx="6">
                  <c:v>0</c:v>
                </c:pt>
                <c:pt idx="7">
                  <c:v>0</c:v>
                </c:pt>
                <c:pt idx="8">
                  <c:v>0.14000000000000001</c:v>
                </c:pt>
                <c:pt idx="9">
                  <c:v>0</c:v>
                </c:pt>
              </c:numCache>
            </c:numRef>
          </c:val>
          <c:extLst>
            <c:ext xmlns:c16="http://schemas.microsoft.com/office/drawing/2014/chart" uri="{C3380CC4-5D6E-409C-BE32-E72D297353CC}">
              <c16:uniqueId val="{00000001-69A7-4F27-90B0-6975279DED15}"/>
            </c:ext>
          </c:extLst>
        </c:ser>
        <c:dLbls>
          <c:showLegendKey val="0"/>
          <c:showVal val="0"/>
          <c:showCatName val="0"/>
          <c:showSerName val="0"/>
          <c:showPercent val="0"/>
          <c:showBubbleSize val="0"/>
        </c:dLbls>
        <c:gapWidth val="219"/>
        <c:overlap val="-27"/>
        <c:axId val="220360623"/>
        <c:axId val="220355823"/>
      </c:barChart>
      <c:catAx>
        <c:axId val="2203606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220355823"/>
        <c:crosses val="autoZero"/>
        <c:auto val="1"/>
        <c:lblAlgn val="ctr"/>
        <c:lblOffset val="100"/>
        <c:noMultiLvlLbl val="0"/>
      </c:catAx>
      <c:valAx>
        <c:axId val="220355823"/>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0360623"/>
        <c:crosses val="autoZero"/>
        <c:crossBetween val="between"/>
        <c:majorUnit val="0.2"/>
        <c:minorUnit val="4.0000000000000008E-2"/>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200">
                <a:latin typeface="Adani Light" panose="02000503000000020004" pitchFamily="2" charset="0"/>
              </a:rPr>
              <a:t>BOP Civil Progress-PSS-08(B) </a:t>
            </a:r>
          </a:p>
        </c:rich>
      </c:tx>
      <c:layout>
        <c:manualLayout>
          <c:xMode val="edge"/>
          <c:yMode val="edge"/>
          <c:x val="0.28471071430415151"/>
          <c:y val="0"/>
        </c:manualLayout>
      </c:layout>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PSS-08(B)'!$J$2</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1-BFAC-454B-A1C2-A56AD5C7AEB1}"/>
              </c:ext>
            </c:extLst>
          </c:dPt>
          <c:dPt>
            <c:idx val="1"/>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03-BFAC-454B-A1C2-A56AD5C7AEB1}"/>
              </c:ext>
            </c:extLst>
          </c:dPt>
          <c:dPt>
            <c:idx val="2"/>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5-BFAC-454B-A1C2-A56AD5C7AEB1}"/>
              </c:ext>
            </c:extLst>
          </c:dPt>
          <c:dPt>
            <c:idx val="3"/>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07-BFAC-454B-A1C2-A56AD5C7AEB1}"/>
              </c:ext>
            </c:extLst>
          </c:dPt>
          <c:dPt>
            <c:idx val="4"/>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9-BFAC-454B-A1C2-A56AD5C7AEB1}"/>
              </c:ext>
            </c:extLst>
          </c:dPt>
          <c:dPt>
            <c:idx val="5"/>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0B-BFAC-454B-A1C2-A56AD5C7AEB1}"/>
              </c:ext>
            </c:extLst>
          </c:dPt>
          <c:dPt>
            <c:idx val="6"/>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D-BFAC-454B-A1C2-A56AD5C7AEB1}"/>
              </c:ext>
            </c:extLst>
          </c:dPt>
          <c:dPt>
            <c:idx val="7"/>
            <c:invertIfNegative val="0"/>
            <c:bubble3D val="0"/>
            <c:spPr>
              <a:solidFill>
                <a:srgbClr val="FFFF00"/>
              </a:solidFill>
              <a:ln>
                <a:noFill/>
              </a:ln>
              <a:effectLst>
                <a:innerShdw blurRad="114300">
                  <a:schemeClr val="accent1"/>
                </a:innerShdw>
              </a:effectLst>
            </c:spPr>
            <c:extLst>
              <c:ext xmlns:c16="http://schemas.microsoft.com/office/drawing/2014/chart" uri="{C3380CC4-5D6E-409C-BE32-E72D297353CC}">
                <c16:uniqueId val="{0000000F-BFAC-454B-A1C2-A56AD5C7AEB1}"/>
              </c:ext>
            </c:extLst>
          </c:dPt>
          <c:dPt>
            <c:idx val="8"/>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1-BFAC-454B-A1C2-A56AD5C7AEB1}"/>
              </c:ext>
            </c:extLst>
          </c:dPt>
          <c:dPt>
            <c:idx val="9"/>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13-BFAC-454B-A1C2-A56AD5C7AEB1}"/>
              </c:ext>
            </c:extLst>
          </c:dPt>
          <c:dPt>
            <c:idx val="10"/>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5-BFAC-454B-A1C2-A56AD5C7AEB1}"/>
              </c:ext>
            </c:extLst>
          </c:dPt>
          <c:dPt>
            <c:idx val="11"/>
            <c:invertIfNegative val="0"/>
            <c:bubble3D val="0"/>
            <c:spPr>
              <a:solidFill>
                <a:srgbClr val="FF0000"/>
              </a:solidFill>
              <a:ln>
                <a:solidFill>
                  <a:srgbClr val="FF0000"/>
                </a:solidFill>
              </a:ln>
              <a:effectLst>
                <a:innerShdw blurRad="114300">
                  <a:schemeClr val="accent1"/>
                </a:innerShdw>
              </a:effectLst>
            </c:spPr>
            <c:extLst>
              <c:ext xmlns:c16="http://schemas.microsoft.com/office/drawing/2014/chart" uri="{C3380CC4-5D6E-409C-BE32-E72D297353CC}">
                <c16:uniqueId val="{00000017-BFAC-454B-A1C2-A56AD5C7AEB1}"/>
              </c:ext>
            </c:extLst>
          </c:dPt>
          <c:dPt>
            <c:idx val="12"/>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9-BFAC-454B-A1C2-A56AD5C7AEB1}"/>
              </c:ext>
            </c:extLst>
          </c:dPt>
          <c:dPt>
            <c:idx val="14"/>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B-BFAC-454B-A1C2-A56AD5C7AEB1}"/>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Adani Light" panose="02000503000000020004" pitchFamily="2"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PSS-08(B)'!$B$3:$C$8,'PPT PSS-08(B)'!$B$10:$C$19)</c:f>
              <c:multiLvlStrCache>
                <c:ptCount val="16"/>
                <c:lvl>
                  <c:pt idx="0">
                    <c:v>Plan</c:v>
                  </c:pt>
                  <c:pt idx="1">
                    <c:v>Actual</c:v>
                  </c:pt>
                  <c:pt idx="2">
                    <c:v>Plan</c:v>
                  </c:pt>
                  <c:pt idx="3">
                    <c:v>Actual</c:v>
                  </c:pt>
                  <c:pt idx="4">
                    <c:v>Plan</c:v>
                  </c:pt>
                  <c:pt idx="5">
                    <c:v>Actual</c:v>
                  </c:pt>
                  <c:pt idx="6">
                    <c:v>Plan</c:v>
                  </c:pt>
                  <c:pt idx="7">
                    <c:v>Actual</c:v>
                  </c:pt>
                  <c:pt idx="8">
                    <c:v>Plan</c:v>
                  </c:pt>
                  <c:pt idx="9">
                    <c:v>Actual</c:v>
                  </c:pt>
                  <c:pt idx="10">
                    <c:v>Plan</c:v>
                  </c:pt>
                  <c:pt idx="11">
                    <c:v>Actual</c:v>
                  </c:pt>
                  <c:pt idx="12">
                    <c:v>Plan</c:v>
                  </c:pt>
                  <c:pt idx="13">
                    <c:v>Actual</c:v>
                  </c:pt>
                  <c:pt idx="14">
                    <c:v>Plan</c:v>
                  </c:pt>
                  <c:pt idx="15">
                    <c:v>Actual</c:v>
                  </c:pt>
                </c:lvl>
                <c:lvl>
                  <c:pt idx="0">
                    <c:v>PCS</c:v>
                  </c:pt>
                  <c:pt idx="2">
                    <c:v>SGR</c:v>
                  </c:pt>
                  <c:pt idx="4">
                    <c:v>MCR</c:v>
                  </c:pt>
                  <c:pt idx="6">
                    <c:v>CT</c:v>
                  </c:pt>
                  <c:pt idx="8">
                    <c:v>CSS</c:v>
                  </c:pt>
                  <c:pt idx="10">
                    <c:v>BOT </c:v>
                  </c:pt>
                  <c:pt idx="12">
                    <c:v>NIFPS</c:v>
                  </c:pt>
                  <c:pt idx="14">
                    <c:v>HF</c:v>
                  </c:pt>
                </c:lvl>
              </c:multiLvlStrCache>
            </c:multiLvlStrRef>
          </c:cat>
          <c:val>
            <c:numRef>
              <c:f>('PPT PSS-08(B)'!$J$3:$J$8,'PPT PSS-08(B)'!$J$10:$J$19)</c:f>
              <c:numCache>
                <c:formatCode>0%</c:formatCode>
                <c:ptCount val="16"/>
                <c:pt idx="0">
                  <c:v>1</c:v>
                </c:pt>
                <c:pt idx="1">
                  <c:v>0.67809523809523808</c:v>
                </c:pt>
                <c:pt idx="2">
                  <c:v>1</c:v>
                </c:pt>
                <c:pt idx="3">
                  <c:v>0.75</c:v>
                </c:pt>
                <c:pt idx="4">
                  <c:v>1</c:v>
                </c:pt>
                <c:pt idx="5">
                  <c:v>0.96</c:v>
                </c:pt>
                <c:pt idx="6">
                  <c:v>1</c:v>
                </c:pt>
                <c:pt idx="7">
                  <c:v>0.91714285714285715</c:v>
                </c:pt>
                <c:pt idx="8">
                  <c:v>1</c:v>
                </c:pt>
                <c:pt idx="9">
                  <c:v>1</c:v>
                </c:pt>
                <c:pt idx="10">
                  <c:v>0.99999999999999989</c:v>
                </c:pt>
                <c:pt idx="11">
                  <c:v>0.39545454545454539</c:v>
                </c:pt>
                <c:pt idx="12">
                  <c:v>1</c:v>
                </c:pt>
                <c:pt idx="13">
                  <c:v>0</c:v>
                </c:pt>
                <c:pt idx="14">
                  <c:v>1</c:v>
                </c:pt>
                <c:pt idx="15">
                  <c:v>0</c:v>
                </c:pt>
              </c:numCache>
            </c:numRef>
          </c:val>
          <c:extLst>
            <c:ext xmlns:c16="http://schemas.microsoft.com/office/drawing/2014/chart" uri="{C3380CC4-5D6E-409C-BE32-E72D297353CC}">
              <c16:uniqueId val="{0000001C-BFAC-454B-A1C2-A56AD5C7AEB1}"/>
            </c:ext>
          </c:extLst>
        </c:ser>
        <c:dLbls>
          <c:showLegendKey val="0"/>
          <c:showVal val="0"/>
          <c:showCatName val="0"/>
          <c:showSerName val="0"/>
          <c:showPercent val="0"/>
          <c:showBubbleSize val="0"/>
        </c:dLbls>
        <c:gapWidth val="164"/>
        <c:overlap val="-22"/>
        <c:axId val="520753280"/>
        <c:axId val="520769120"/>
      </c:barChart>
      <c:catAx>
        <c:axId val="520753280"/>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69120"/>
        <c:crosses val="autoZero"/>
        <c:auto val="1"/>
        <c:lblAlgn val="ctr"/>
        <c:lblOffset val="100"/>
        <c:noMultiLvlLbl val="0"/>
      </c:catAx>
      <c:valAx>
        <c:axId val="520769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53280"/>
        <c:crosses val="autoZero"/>
        <c:crossBetween val="between"/>
      </c:valAx>
      <c:spPr>
        <a:noFill/>
        <a:ln>
          <a:noFill/>
        </a:ln>
        <a:effectLst/>
      </c:spPr>
    </c:plotArea>
    <c:plotVisOnly val="1"/>
    <c:dispBlanksAs val="gap"/>
    <c:showDLblsOverMax val="0"/>
  </c:chart>
  <c:spPr>
    <a:solidFill>
      <a:schemeClr val="bg1"/>
    </a:solidFill>
    <a:ln w="19050" cap="flat" cmpd="sng" algn="ctr">
      <a:solidFill>
        <a:schemeClr val="tx1"/>
      </a:solidFill>
      <a:round/>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400">
                <a:latin typeface="Adani Light" panose="02000503000000020004" pitchFamily="2" charset="0"/>
              </a:rPr>
              <a:t>BCF Progress-PSS-08(B)</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PSS-08(B)'!$J$32</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solidFill>
                  <a:srgbClr val="0070C0"/>
                </a:solidFill>
              </a:ln>
              <a:effectLst>
                <a:innerShdw blurRad="114300">
                  <a:schemeClr val="accent1"/>
                </a:innerShdw>
              </a:effectLst>
            </c:spPr>
            <c:extLst>
              <c:ext xmlns:c16="http://schemas.microsoft.com/office/drawing/2014/chart" uri="{C3380CC4-5D6E-409C-BE32-E72D297353CC}">
                <c16:uniqueId val="{00000001-EA85-4B78-9599-232B1510AE69}"/>
              </c:ext>
            </c:extLst>
          </c:dPt>
          <c:dPt>
            <c:idx val="1"/>
            <c:invertIfNegative val="0"/>
            <c:bubble3D val="0"/>
            <c:spPr>
              <a:solidFill>
                <a:srgbClr val="FFFF00"/>
              </a:solidFill>
              <a:ln>
                <a:noFill/>
              </a:ln>
              <a:effectLst>
                <a:innerShdw blurRad="114300">
                  <a:schemeClr val="accent1"/>
                </a:innerShdw>
              </a:effectLst>
            </c:spPr>
            <c:extLst>
              <c:ext xmlns:c16="http://schemas.microsoft.com/office/drawing/2014/chart" uri="{C3380CC4-5D6E-409C-BE32-E72D297353CC}">
                <c16:uniqueId val="{00000003-EA85-4B78-9599-232B1510AE69}"/>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PSS-08(B)'!$B$33:$C$34,'PPT PSS-08(B)'!$J$33:$J$34)</c:f>
              <c:multiLvlStrCache>
                <c:ptCount val="4"/>
                <c:lvl>
                  <c:pt idx="0">
                    <c:v>Plan</c:v>
                  </c:pt>
                  <c:pt idx="1">
                    <c:v>Actual</c:v>
                  </c:pt>
                  <c:pt idx="2">
                    <c:v>100%</c:v>
                  </c:pt>
                  <c:pt idx="3">
                    <c:v>83%</c:v>
                  </c:pt>
                </c:lvl>
                <c:lvl>
                  <c:pt idx="0">
                    <c:v>BCF</c:v>
                  </c:pt>
                </c:lvl>
              </c:multiLvlStrCache>
            </c:multiLvlStrRef>
          </c:cat>
          <c:val>
            <c:numRef>
              <c:f>'PPT PSS-08(B)'!$J$33:$J$34</c:f>
              <c:numCache>
                <c:formatCode>0%</c:formatCode>
                <c:ptCount val="2"/>
                <c:pt idx="0">
                  <c:v>1</c:v>
                </c:pt>
                <c:pt idx="1">
                  <c:v>0.83000000000000018</c:v>
                </c:pt>
              </c:numCache>
            </c:numRef>
          </c:val>
          <c:extLst>
            <c:ext xmlns:c16="http://schemas.microsoft.com/office/drawing/2014/chart" uri="{C3380CC4-5D6E-409C-BE32-E72D297353CC}">
              <c16:uniqueId val="{00000004-EA85-4B78-9599-232B1510AE69}"/>
            </c:ext>
          </c:extLst>
        </c:ser>
        <c:dLbls>
          <c:dLblPos val="outEnd"/>
          <c:showLegendKey val="0"/>
          <c:showVal val="1"/>
          <c:showCatName val="0"/>
          <c:showSerName val="0"/>
          <c:showPercent val="0"/>
          <c:showBubbleSize val="0"/>
        </c:dLbls>
        <c:gapWidth val="164"/>
        <c:overlap val="-22"/>
        <c:axId val="1105330784"/>
        <c:axId val="1105326464"/>
      </c:barChart>
      <c:catAx>
        <c:axId val="1105330784"/>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26464"/>
        <c:crosses val="autoZero"/>
        <c:auto val="0"/>
        <c:lblAlgn val="ctr"/>
        <c:lblOffset val="100"/>
        <c:noMultiLvlLbl val="0"/>
      </c:catAx>
      <c:valAx>
        <c:axId val="1105326464"/>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30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solidFill>
      <a:round/>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Electrical</a:t>
            </a:r>
            <a:r>
              <a:rPr lang="en-US" baseline="0"/>
              <a:t> Progress PSS-08(B)</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PSS-08(B)'!$H$42</c:f>
              <c:strCache>
                <c:ptCount val="1"/>
                <c:pt idx="0">
                  <c:v>Plan %</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'PPT PSS-08(B)'!$C$43:$C$52</c:f>
              <c:strCache>
                <c:ptCount val="10"/>
                <c:pt idx="0">
                  <c:v>HT Cable Laying</c:v>
                </c:pt>
                <c:pt idx="1">
                  <c:v>FO Cable Laying</c:v>
                </c:pt>
                <c:pt idx="2">
                  <c:v> DC Cable Laying</c:v>
                </c:pt>
                <c:pt idx="3">
                  <c:v>LT Cable Laying</c:v>
                </c:pt>
                <c:pt idx="4">
                  <c:v>Aux Cable Laying</c:v>
                </c:pt>
                <c:pt idx="5">
                  <c:v>Control Cable Laying</c:v>
                </c:pt>
                <c:pt idx="6">
                  <c:v>Battery Container Erection</c:v>
                </c:pt>
                <c:pt idx="7">
                  <c:v>PCS Erection</c:v>
                </c:pt>
                <c:pt idx="8">
                  <c:v>CT Erection</c:v>
                </c:pt>
                <c:pt idx="9">
                  <c:v>CSS Erection</c:v>
                </c:pt>
              </c:strCache>
            </c:strRef>
          </c:cat>
          <c:val>
            <c:numRef>
              <c:f>'PPT PSS-08(B)'!$H$43:$H$52</c:f>
              <c:numCache>
                <c:formatCode>0%</c:formatCode>
                <c:ptCount val="10"/>
                <c:pt idx="0">
                  <c:v>1</c:v>
                </c:pt>
                <c:pt idx="1">
                  <c:v>1</c:v>
                </c:pt>
                <c:pt idx="2">
                  <c:v>1</c:v>
                </c:pt>
                <c:pt idx="3">
                  <c:v>1</c:v>
                </c:pt>
                <c:pt idx="4">
                  <c:v>1</c:v>
                </c:pt>
                <c:pt idx="5">
                  <c:v>1</c:v>
                </c:pt>
                <c:pt idx="6">
                  <c:v>1</c:v>
                </c:pt>
                <c:pt idx="7">
                  <c:v>1</c:v>
                </c:pt>
                <c:pt idx="8">
                  <c:v>1</c:v>
                </c:pt>
                <c:pt idx="9">
                  <c:v>1</c:v>
                </c:pt>
              </c:numCache>
            </c:numRef>
          </c:val>
          <c:extLst>
            <c:ext xmlns:c16="http://schemas.microsoft.com/office/drawing/2014/chart" uri="{C3380CC4-5D6E-409C-BE32-E72D297353CC}">
              <c16:uniqueId val="{00000000-CAF6-4EC4-A4B5-94127194923C}"/>
            </c:ext>
          </c:extLst>
        </c:ser>
        <c:ser>
          <c:idx val="1"/>
          <c:order val="1"/>
          <c:tx>
            <c:strRef>
              <c:f>'PPT PSS-08(B)'!$I$42</c:f>
              <c:strCache>
                <c:ptCount val="1"/>
                <c:pt idx="0">
                  <c:v>Actual %</c:v>
                </c:pt>
              </c:strCache>
            </c:strRef>
          </c:tx>
          <c:spPr>
            <a:solidFill>
              <a:srgbClr val="FF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'PPT PSS-08(B)'!$C$43:$C$52</c:f>
              <c:strCache>
                <c:ptCount val="10"/>
                <c:pt idx="0">
                  <c:v>HT Cable Laying</c:v>
                </c:pt>
                <c:pt idx="1">
                  <c:v>FO Cable Laying</c:v>
                </c:pt>
                <c:pt idx="2">
                  <c:v> DC Cable Laying</c:v>
                </c:pt>
                <c:pt idx="3">
                  <c:v>LT Cable Laying</c:v>
                </c:pt>
                <c:pt idx="4">
                  <c:v>Aux Cable Laying</c:v>
                </c:pt>
                <c:pt idx="5">
                  <c:v>Control Cable Laying</c:v>
                </c:pt>
                <c:pt idx="6">
                  <c:v>Battery Container Erection</c:v>
                </c:pt>
                <c:pt idx="7">
                  <c:v>PCS Erection</c:v>
                </c:pt>
                <c:pt idx="8">
                  <c:v>CT Erection</c:v>
                </c:pt>
                <c:pt idx="9">
                  <c:v>CSS Erection</c:v>
                </c:pt>
              </c:strCache>
            </c:strRef>
          </c:cat>
          <c:val>
            <c:numRef>
              <c:f>'PPT PSS-08(B)'!$I$43:$I$52</c:f>
              <c:numCache>
                <c:formatCode>0%</c:formatCode>
                <c:ptCount val="10"/>
                <c:pt idx="0">
                  <c:v>0.64902617431920329</c:v>
                </c:pt>
                <c:pt idx="1">
                  <c:v>0</c:v>
                </c:pt>
                <c:pt idx="2">
                  <c:v>0.2860045542126467</c:v>
                </c:pt>
                <c:pt idx="3">
                  <c:v>0.15797256519073324</c:v>
                </c:pt>
                <c:pt idx="4">
                  <c:v>0.16070735807577913</c:v>
                </c:pt>
                <c:pt idx="5">
                  <c:v>0</c:v>
                </c:pt>
                <c:pt idx="6">
                  <c:v>0</c:v>
                </c:pt>
                <c:pt idx="7">
                  <c:v>0</c:v>
                </c:pt>
                <c:pt idx="8">
                  <c:v>0.66666666666666663</c:v>
                </c:pt>
                <c:pt idx="9">
                  <c:v>0.25</c:v>
                </c:pt>
              </c:numCache>
            </c:numRef>
          </c:val>
          <c:extLst>
            <c:ext xmlns:c16="http://schemas.microsoft.com/office/drawing/2014/chart" uri="{C3380CC4-5D6E-409C-BE32-E72D297353CC}">
              <c16:uniqueId val="{00000001-CAF6-4EC4-A4B5-94127194923C}"/>
            </c:ext>
          </c:extLst>
        </c:ser>
        <c:dLbls>
          <c:showLegendKey val="0"/>
          <c:showVal val="0"/>
          <c:showCatName val="0"/>
          <c:showSerName val="0"/>
          <c:showPercent val="0"/>
          <c:showBubbleSize val="0"/>
        </c:dLbls>
        <c:gapWidth val="219"/>
        <c:overlap val="-27"/>
        <c:axId val="220362543"/>
        <c:axId val="220354863"/>
      </c:barChart>
      <c:catAx>
        <c:axId val="2203625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220354863"/>
        <c:crosses val="autoZero"/>
        <c:auto val="1"/>
        <c:lblAlgn val="ctr"/>
        <c:lblOffset val="100"/>
        <c:noMultiLvlLbl val="0"/>
      </c:catAx>
      <c:valAx>
        <c:axId val="220354863"/>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0362543"/>
        <c:crosses val="autoZero"/>
        <c:crossBetween val="between"/>
        <c:majorUnit val="0.2"/>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1715338884056499E-2"/>
          <c:y val="2.6911911169502659E-2"/>
          <c:w val="0.91780711632450918"/>
          <c:h val="0.78088558048296131"/>
        </c:manualLayout>
      </c:layout>
      <c:barChart>
        <c:barDir val="col"/>
        <c:grouping val="clustered"/>
        <c:varyColors val="0"/>
        <c:ser>
          <c:idx val="1"/>
          <c:order val="1"/>
          <c:tx>
            <c:strRef>
              <c:f>'Final Sheet (2)'!$A$3</c:f>
              <c:strCache>
                <c:ptCount val="1"/>
                <c:pt idx="0">
                  <c:v>Monthly Budgeted</c:v>
                </c:pt>
              </c:strCache>
            </c:strRef>
          </c:tx>
          <c:spPr>
            <a:solidFill>
              <a:srgbClr val="00B0F0"/>
            </a:solidFill>
            <a:ln>
              <a:noFill/>
            </a:ln>
            <a:effectLst/>
          </c:spPr>
          <c:invertIfNegative val="0"/>
          <c:cat>
            <c:strRef>
              <c:f>'Final Sheet (2)'!$B$1:$O$1</c:f>
              <c:strCache>
                <c:ptCount val="14"/>
                <c:pt idx="0">
                  <c:v>FY-26</c:v>
                </c:pt>
                <c:pt idx="1">
                  <c:v>Apr-26</c:v>
                </c:pt>
                <c:pt idx="2">
                  <c:v>May-26</c:v>
                </c:pt>
                <c:pt idx="3">
                  <c:v>Jun-26</c:v>
                </c:pt>
                <c:pt idx="4">
                  <c:v>Jul-26</c:v>
                </c:pt>
                <c:pt idx="5">
                  <c:v>Aug-26</c:v>
                </c:pt>
                <c:pt idx="6">
                  <c:v>Sep-26</c:v>
                </c:pt>
                <c:pt idx="7">
                  <c:v>Oct-26</c:v>
                </c:pt>
                <c:pt idx="8">
                  <c:v>Nov-26</c:v>
                </c:pt>
                <c:pt idx="9">
                  <c:v>Dec-26</c:v>
                </c:pt>
                <c:pt idx="10">
                  <c:v>Jan-27</c:v>
                </c:pt>
                <c:pt idx="11">
                  <c:v>Feb-27</c:v>
                </c:pt>
                <c:pt idx="12">
                  <c:v>Mar-27</c:v>
                </c:pt>
                <c:pt idx="13">
                  <c:v>Apr-27</c:v>
                </c:pt>
              </c:strCache>
            </c:strRef>
          </c:cat>
          <c:val>
            <c:numRef>
              <c:f>'Final Sheet (2)'!$B$3:$O$3</c:f>
              <c:numCache>
                <c:formatCode>_ * #,##0_ ;_ * \-#,##0_ ;_ * "-"??_ ;_ @_ </c:formatCode>
                <c:ptCount val="14"/>
                <c:pt idx="0">
                  <c:v>0</c:v>
                </c:pt>
                <c:pt idx="1">
                  <c:v>485.1726253528318</c:v>
                </c:pt>
                <c:pt idx="2">
                  <c:v>660.06598591026841</c:v>
                </c:pt>
                <c:pt idx="3">
                  <c:v>1704.5290440302474</c:v>
                </c:pt>
                <c:pt idx="4">
                  <c:v>863.14398747554787</c:v>
                </c:pt>
                <c:pt idx="5">
                  <c:v>742.7320925427548</c:v>
                </c:pt>
                <c:pt idx="6">
                  <c:v>955.89708289642567</c:v>
                </c:pt>
                <c:pt idx="7">
                  <c:v>1743.4709212951911</c:v>
                </c:pt>
                <c:pt idx="8">
                  <c:v>2516.0622337518598</c:v>
                </c:pt>
                <c:pt idx="9">
                  <c:v>2108.4044803614324</c:v>
                </c:pt>
                <c:pt idx="10">
                  <c:v>1368.6362453590918</c:v>
                </c:pt>
                <c:pt idx="11">
                  <c:v>1359.4788522723647</c:v>
                </c:pt>
                <c:pt idx="12">
                  <c:v>214.88109715640894</c:v>
                </c:pt>
                <c:pt idx="13">
                  <c:v>10.735116650355849</c:v>
                </c:pt>
              </c:numCache>
            </c:numRef>
          </c:val>
          <c:extLst>
            <c:ext xmlns:c16="http://schemas.microsoft.com/office/drawing/2014/chart" uri="{C3380CC4-5D6E-409C-BE32-E72D297353CC}">
              <c16:uniqueId val="{00000001-B54D-4E18-A1E2-955FD56D5956}"/>
            </c:ext>
          </c:extLst>
        </c:ser>
        <c:ser>
          <c:idx val="3"/>
          <c:order val="3"/>
          <c:tx>
            <c:strRef>
              <c:f>'Final Sheet (2)'!$A$5</c:f>
              <c:strCache>
                <c:ptCount val="1"/>
                <c:pt idx="0">
                  <c:v>Monthly Actual</c:v>
                </c:pt>
              </c:strCache>
            </c:strRef>
          </c:tx>
          <c:spPr>
            <a:solidFill>
              <a:srgbClr val="92D050"/>
            </a:solidFill>
            <a:ln>
              <a:noFill/>
            </a:ln>
            <a:effectLst/>
          </c:spPr>
          <c:invertIfNegative val="0"/>
          <c:dLbls>
            <c:dLbl>
              <c:idx val="5"/>
              <c:spPr>
                <a:noFill/>
                <a:ln>
                  <a:solidFill>
                    <a:sysClr val="windowText" lastClr="000000"/>
                  </a:solidFill>
                </a:ln>
                <a:effectLst/>
              </c:spPr>
              <c:txPr>
                <a:bodyPr rot="0" spcFirstLastPara="1" vertOverflow="ellipsis" vert="horz" wrap="square" lIns="38100" tIns="19050" rIns="38100" bIns="19050" anchor="ctr" anchorCtr="1">
                  <a:noAutofit/>
                </a:bodyPr>
                <a:lstStyle/>
                <a:p>
                  <a:pPr>
                    <a:defRPr sz="105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3.6851450471626156E-2"/>
                      <c:h val="4.6077187841507307E-2"/>
                    </c:manualLayout>
                  </c15:layout>
                </c:ext>
                <c:ext xmlns:c16="http://schemas.microsoft.com/office/drawing/2014/chart" uri="{C3380CC4-5D6E-409C-BE32-E72D297353CC}">
                  <c16:uniqueId val="{00000001-4B54-40FC-B807-F14B882A5CA2}"/>
                </c:ext>
              </c:extLst>
            </c:dLbl>
            <c:spPr>
              <a:noFill/>
              <a:ln>
                <a:solidFill>
                  <a:sysClr val="windowText" lastClr="000000"/>
                </a:solid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'Final Sheet (2)'!$B$1:$O$1</c:f>
              <c:strCache>
                <c:ptCount val="14"/>
                <c:pt idx="0">
                  <c:v>FY-26</c:v>
                </c:pt>
                <c:pt idx="1">
                  <c:v>Apr-26</c:v>
                </c:pt>
                <c:pt idx="2">
                  <c:v>May-26</c:v>
                </c:pt>
                <c:pt idx="3">
                  <c:v>Jun-26</c:v>
                </c:pt>
                <c:pt idx="4">
                  <c:v>Jul-26</c:v>
                </c:pt>
                <c:pt idx="5">
                  <c:v>Aug-26</c:v>
                </c:pt>
                <c:pt idx="6">
                  <c:v>Sep-26</c:v>
                </c:pt>
                <c:pt idx="7">
                  <c:v>Oct-26</c:v>
                </c:pt>
                <c:pt idx="8">
                  <c:v>Nov-26</c:v>
                </c:pt>
                <c:pt idx="9">
                  <c:v>Dec-26</c:v>
                </c:pt>
                <c:pt idx="10">
                  <c:v>Jan-27</c:v>
                </c:pt>
                <c:pt idx="11">
                  <c:v>Feb-27</c:v>
                </c:pt>
                <c:pt idx="12">
                  <c:v>Mar-27</c:v>
                </c:pt>
                <c:pt idx="13">
                  <c:v>Apr-27</c:v>
                </c:pt>
              </c:strCache>
            </c:strRef>
          </c:cat>
          <c:val>
            <c:numRef>
              <c:f>'Final Sheet (2)'!$B$5:$O$5</c:f>
              <c:numCache>
                <c:formatCode>0.00</c:formatCode>
                <c:ptCount val="14"/>
                <c:pt idx="0" formatCode="General">
                  <c:v>0</c:v>
                </c:pt>
                <c:pt idx="1">
                  <c:v>253.8210508542</c:v>
                </c:pt>
                <c:pt idx="2">
                  <c:v>217.77303262814007</c:v>
                </c:pt>
                <c:pt idx="3" formatCode="General">
                  <c:v>1774.88</c:v>
                </c:pt>
                <c:pt idx="4" formatCode="General">
                  <c:v>1994.6</c:v>
                </c:pt>
                <c:pt idx="5" formatCode="General">
                  <c:v>1425</c:v>
                </c:pt>
              </c:numCache>
            </c:numRef>
          </c:val>
          <c:extLst>
            <c:ext xmlns:c16="http://schemas.microsoft.com/office/drawing/2014/chart" uri="{C3380CC4-5D6E-409C-BE32-E72D297353CC}">
              <c16:uniqueId val="{00000003-B54D-4E18-A1E2-955FD56D5956}"/>
            </c:ext>
          </c:extLst>
        </c:ser>
        <c:dLbls>
          <c:showLegendKey val="0"/>
          <c:showVal val="0"/>
          <c:showCatName val="0"/>
          <c:showSerName val="0"/>
          <c:showPercent val="0"/>
          <c:showBubbleSize val="0"/>
        </c:dLbls>
        <c:gapWidth val="219"/>
        <c:axId val="747523584"/>
        <c:axId val="747527904"/>
      </c:barChart>
      <c:lineChart>
        <c:grouping val="standard"/>
        <c:varyColors val="0"/>
        <c:ser>
          <c:idx val="0"/>
          <c:order val="0"/>
          <c:tx>
            <c:strRef>
              <c:f>'Final Sheet (2)'!$A$2</c:f>
              <c:strCache>
                <c:ptCount val="1"/>
                <c:pt idx="0">
                  <c:v>Budgeted- cumulative</c:v>
                </c:pt>
              </c:strCache>
            </c:strRef>
          </c:tx>
          <c:spPr>
            <a:ln w="28575" cap="rnd">
              <a:solidFill>
                <a:srgbClr val="00B0F0"/>
              </a:solidFill>
              <a:round/>
            </a:ln>
            <a:effectLst/>
          </c:spPr>
          <c:marker>
            <c:symbol val="none"/>
          </c:marker>
          <c:cat>
            <c:strRef>
              <c:f>'Final Sheet (2)'!$B$1:$O$1</c:f>
              <c:strCache>
                <c:ptCount val="14"/>
                <c:pt idx="0">
                  <c:v>FY-26</c:v>
                </c:pt>
                <c:pt idx="1">
                  <c:v>Apr-26</c:v>
                </c:pt>
                <c:pt idx="2">
                  <c:v>May-26</c:v>
                </c:pt>
                <c:pt idx="3">
                  <c:v>Jun-26</c:v>
                </c:pt>
                <c:pt idx="4">
                  <c:v>Jul-26</c:v>
                </c:pt>
                <c:pt idx="5">
                  <c:v>Aug-26</c:v>
                </c:pt>
                <c:pt idx="6">
                  <c:v>Sep-26</c:v>
                </c:pt>
                <c:pt idx="7">
                  <c:v>Oct-26</c:v>
                </c:pt>
                <c:pt idx="8">
                  <c:v>Nov-26</c:v>
                </c:pt>
                <c:pt idx="9">
                  <c:v>Dec-26</c:v>
                </c:pt>
                <c:pt idx="10">
                  <c:v>Jan-27</c:v>
                </c:pt>
                <c:pt idx="11">
                  <c:v>Feb-27</c:v>
                </c:pt>
                <c:pt idx="12">
                  <c:v>Mar-27</c:v>
                </c:pt>
                <c:pt idx="13">
                  <c:v>Apr-27</c:v>
                </c:pt>
              </c:strCache>
            </c:strRef>
          </c:cat>
          <c:val>
            <c:numRef>
              <c:f>'Final Sheet (2)'!$B$2:$O$2</c:f>
              <c:numCache>
                <c:formatCode>0</c:formatCode>
                <c:ptCount val="14"/>
                <c:pt idx="0">
                  <c:v>1624.6702349452221</c:v>
                </c:pt>
                <c:pt idx="1">
                  <c:v>2109.8428602980539</c:v>
                </c:pt>
                <c:pt idx="2">
                  <c:v>2769.9088462083223</c:v>
                </c:pt>
                <c:pt idx="3">
                  <c:v>4474.4378902385697</c:v>
                </c:pt>
                <c:pt idx="4">
                  <c:v>5337.5818777141176</c:v>
                </c:pt>
                <c:pt idx="5">
                  <c:v>6080.3139702568724</c:v>
                </c:pt>
                <c:pt idx="6">
                  <c:v>7036.2110531532981</c:v>
                </c:pt>
                <c:pt idx="7">
                  <c:v>8779.6819744484892</c:v>
                </c:pt>
                <c:pt idx="8">
                  <c:v>11295.744208200349</c:v>
                </c:pt>
                <c:pt idx="9">
                  <c:v>13404.148688561781</c:v>
                </c:pt>
                <c:pt idx="10">
                  <c:v>14772.784933920873</c:v>
                </c:pt>
                <c:pt idx="11">
                  <c:v>16132.263786193238</c:v>
                </c:pt>
                <c:pt idx="12">
                  <c:v>16347.144883349647</c:v>
                </c:pt>
                <c:pt idx="13">
                  <c:v>16357.880000000003</c:v>
                </c:pt>
              </c:numCache>
            </c:numRef>
          </c:val>
          <c:smooth val="0"/>
          <c:extLst>
            <c:ext xmlns:c16="http://schemas.microsoft.com/office/drawing/2014/chart" uri="{C3380CC4-5D6E-409C-BE32-E72D297353CC}">
              <c16:uniqueId val="{00000000-B54D-4E18-A1E2-955FD56D5956}"/>
            </c:ext>
          </c:extLst>
        </c:ser>
        <c:ser>
          <c:idx val="2"/>
          <c:order val="2"/>
          <c:tx>
            <c:strRef>
              <c:f>'Final Sheet (2)'!$A$4</c:f>
              <c:strCache>
                <c:ptCount val="1"/>
                <c:pt idx="0">
                  <c:v>Actual Cumulative</c:v>
                </c:pt>
              </c:strCache>
            </c:strRef>
          </c:tx>
          <c:spPr>
            <a:ln w="28575" cap="rnd">
              <a:solidFill>
                <a:srgbClr val="92D050"/>
              </a:solidFill>
              <a:round/>
            </a:ln>
            <a:effectLst/>
          </c:spPr>
          <c:marker>
            <c:symbol val="none"/>
          </c:marker>
          <c:dLbls>
            <c:dLbl>
              <c:idx val="5"/>
              <c:layout>
                <c:manualLayout>
                  <c:x val="2.0449110950960778E-2"/>
                  <c:y val="-0.11533676215501147"/>
                </c:manualLayout>
              </c:layout>
              <c:spPr>
                <a:noFill/>
                <a:ln>
                  <a:solidFill>
                    <a:sysClr val="windowText" lastClr="000000"/>
                  </a:solid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Adani Regular" panose="02000503000000020004" pitchFamily="2"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B54-40FC-B807-F14B882A5CA2}"/>
                </c:ext>
              </c:extLst>
            </c:dLbl>
            <c:spPr>
              <a:noFill/>
              <a:ln>
                <a:solidFill>
                  <a:sysClr val="windowText" lastClr="000000"/>
                </a:solid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'Final Sheet (2)'!$B$1:$O$1</c:f>
              <c:strCache>
                <c:ptCount val="14"/>
                <c:pt idx="0">
                  <c:v>FY-26</c:v>
                </c:pt>
                <c:pt idx="1">
                  <c:v>Apr-26</c:v>
                </c:pt>
                <c:pt idx="2">
                  <c:v>May-26</c:v>
                </c:pt>
                <c:pt idx="3">
                  <c:v>Jun-26</c:v>
                </c:pt>
                <c:pt idx="4">
                  <c:v>Jul-26</c:v>
                </c:pt>
                <c:pt idx="5">
                  <c:v>Aug-26</c:v>
                </c:pt>
                <c:pt idx="6">
                  <c:v>Sep-26</c:v>
                </c:pt>
                <c:pt idx="7">
                  <c:v>Oct-26</c:v>
                </c:pt>
                <c:pt idx="8">
                  <c:v>Nov-26</c:v>
                </c:pt>
                <c:pt idx="9">
                  <c:v>Dec-26</c:v>
                </c:pt>
                <c:pt idx="10">
                  <c:v>Jan-27</c:v>
                </c:pt>
                <c:pt idx="11">
                  <c:v>Feb-27</c:v>
                </c:pt>
                <c:pt idx="12">
                  <c:v>Mar-27</c:v>
                </c:pt>
                <c:pt idx="13">
                  <c:v>Apr-27</c:v>
                </c:pt>
              </c:strCache>
            </c:strRef>
          </c:cat>
          <c:val>
            <c:numRef>
              <c:f>'Final Sheet (2)'!$B$4:$O$4</c:f>
              <c:numCache>
                <c:formatCode>0.00</c:formatCode>
                <c:ptCount val="14"/>
                <c:pt idx="0" formatCode="General">
                  <c:v>284.91000000000003</c:v>
                </c:pt>
                <c:pt idx="1">
                  <c:v>538.73105085420002</c:v>
                </c:pt>
                <c:pt idx="2">
                  <c:v>756.50408348234009</c:v>
                </c:pt>
                <c:pt idx="3" formatCode="General">
                  <c:v>2531.38</c:v>
                </c:pt>
                <c:pt idx="4" formatCode="General">
                  <c:v>4526</c:v>
                </c:pt>
                <c:pt idx="5" formatCode="General">
                  <c:v>5951</c:v>
                </c:pt>
              </c:numCache>
            </c:numRef>
          </c:val>
          <c:smooth val="0"/>
          <c:extLst>
            <c:ext xmlns:c16="http://schemas.microsoft.com/office/drawing/2014/chart" uri="{C3380CC4-5D6E-409C-BE32-E72D297353CC}">
              <c16:uniqueId val="{00000002-B54D-4E18-A1E2-955FD56D5956}"/>
            </c:ext>
          </c:extLst>
        </c:ser>
        <c:dLbls>
          <c:showLegendKey val="0"/>
          <c:showVal val="0"/>
          <c:showCatName val="0"/>
          <c:showSerName val="0"/>
          <c:showPercent val="0"/>
          <c:showBubbleSize val="0"/>
        </c:dLbls>
        <c:marker val="1"/>
        <c:smooth val="0"/>
        <c:axId val="747518304"/>
        <c:axId val="747524544"/>
      </c:lineChart>
      <c:catAx>
        <c:axId val="7475235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47527904"/>
        <c:crosses val="autoZero"/>
        <c:auto val="1"/>
        <c:lblAlgn val="ctr"/>
        <c:lblOffset val="100"/>
        <c:noMultiLvlLbl val="0"/>
      </c:catAx>
      <c:valAx>
        <c:axId val="747527904"/>
        <c:scaling>
          <c:orientation val="minMax"/>
        </c:scaling>
        <c:delete val="0"/>
        <c:axPos val="l"/>
        <c:majorGridlines>
          <c:spPr>
            <a:ln w="9525" cap="flat" cmpd="sng" algn="ctr">
              <a:solidFill>
                <a:schemeClr val="tx1">
                  <a:lumMod val="15000"/>
                  <a:lumOff val="85000"/>
                </a:schemeClr>
              </a:solidFill>
              <a:round/>
            </a:ln>
            <a:effectLst/>
          </c:spPr>
        </c:majorGridlines>
        <c:numFmt formatCode="_ * #,##0_ ;_ * \-#,##0_ ;_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47523584"/>
        <c:crosses val="autoZero"/>
        <c:crossBetween val="between"/>
      </c:valAx>
      <c:valAx>
        <c:axId val="747524544"/>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47518304"/>
        <c:crosses val="max"/>
        <c:crossBetween val="between"/>
      </c:valAx>
      <c:catAx>
        <c:axId val="747518304"/>
        <c:scaling>
          <c:orientation val="minMax"/>
        </c:scaling>
        <c:delete val="1"/>
        <c:axPos val="b"/>
        <c:numFmt formatCode="General" sourceLinked="1"/>
        <c:majorTickMark val="out"/>
        <c:minorTickMark val="none"/>
        <c:tickLblPos val="nextTo"/>
        <c:crossAx val="747524544"/>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1.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4.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7.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7FFE5E60_19B2D8C8.xml><?xml version="1.0" encoding="utf-8"?>
<p188:cmLst xmlns:a="http://schemas.openxmlformats.org/drawingml/2006/main" xmlns:r="http://schemas.openxmlformats.org/officeDocument/2006/relationships" xmlns:p188="http://schemas.microsoft.com/office/powerpoint/2018/8/main">
  <p188:cm id="{1111CECA-3879-4499-9714-ABBA9059B4C6}" authorId="{65EA8ECA-A78B-6A56-D09B-8E2A6B4E6D1F}" created="2026-09-22T12:26:36.588">
    <pc:sldMkLst xmlns:pc="http://schemas.microsoft.com/office/powerpoint/2013/main/command">
      <pc:docMk/>
      <pc:sldMk cId="431151304" sldId="2147376736"/>
    </pc:sldMkLst>
    <p188:txBody>
      <a:bodyPr/>
      <a:lstStyle/>
      <a:p>
        <a:r>
          <a:rPr lang="en-US"/>
          <a:t>From EAC</a:t>
        </a:r>
      </a:p>
    </p188:txBody>
  </p188:cm>
</p188:cmLst>
</file>

<file path=ppt/comments/modernComment_7FFFFB96_78B82721.xml><?xml version="1.0" encoding="utf-8"?>
<p188:cmLst xmlns:a="http://schemas.openxmlformats.org/drawingml/2006/main" xmlns:r="http://schemas.openxmlformats.org/officeDocument/2006/relationships" xmlns:p188="http://schemas.microsoft.com/office/powerpoint/2018/8/main">
  <p188:cm id="{683E04F6-8E75-4885-BEDD-49174B5A35AE}" authorId="{65EA8ECA-A78B-6A56-D09B-8E2A6B4E6D1F}" created="2026-09-22T12:23:38.401">
    <pc:sldMkLst xmlns:pc="http://schemas.microsoft.com/office/powerpoint/2013/main/command">
      <pc:docMk/>
      <pc:sldMk cId="2025334561" sldId="2147482518"/>
    </pc:sldMkLst>
    <p188:txBody>
      <a:bodyPr/>
      <a:lstStyle/>
      <a:p>
        <a:r>
          <a:rPr lang="en-US"/>
          <a:t>1. Forecast: Manual Provision ( editable) 
2. Actual : From DPR (Excel will be shared)
3. Shortfall: Formula based.</a:t>
        </a:r>
      </a:p>
    </p188:txBody>
  </p188:cm>
</p188:cmLst>
</file>

<file path=ppt/comments/modernComment_7FFFFC79_4D431C06.xml><?xml version="1.0" encoding="utf-8"?>
<p188:cmLst xmlns:a="http://schemas.openxmlformats.org/drawingml/2006/main" xmlns:r="http://schemas.openxmlformats.org/officeDocument/2006/relationships" xmlns:p188="http://schemas.microsoft.com/office/powerpoint/2018/8/main">
  <p188:cm id="{FF4D8082-FD47-4AB0-B904-5FFBDB46629C}" authorId="{65EA8ECA-A78B-6A56-D09B-8E2A6B4E6D1F}" created="2026-09-22T12:13:38.251">
    <pc:sldMkLst xmlns:pc="http://schemas.microsoft.com/office/powerpoint/2013/main/command">
      <pc:docMk/>
      <pc:sldMk cId="1296243718" sldId="2147482745"/>
    </pc:sldMkLst>
    <p188:txBody>
      <a:bodyPr/>
      <a:lstStyle/>
      <a:p>
        <a:r>
          <a:rPr lang="en-US"/>
          <a:t>MDL excel will be shared .</a:t>
        </a:r>
      </a:p>
    </p188:txBody>
  </p188:cm>
</p188:cmLst>
</file>

<file path=ppt/comments/modernComment_7FFFFCC1_B005C827.xml><?xml version="1.0" encoding="utf-8"?>
<p188:cmLst xmlns:a="http://schemas.openxmlformats.org/drawingml/2006/main" xmlns:r="http://schemas.openxmlformats.org/officeDocument/2006/relationships" xmlns:p188="http://schemas.microsoft.com/office/powerpoint/2018/8/main">
  <p188:cm id="{CD87C852-593E-4C31-8618-AB2723FDF8CD}" authorId="{65EA8ECA-A78B-6A56-D09B-8E2A6B4E6D1F}" created="2026-09-22T12:10:01.266">
    <pc:sldMkLst xmlns:pc="http://schemas.microsoft.com/office/powerpoint/2013/main/command">
      <pc:docMk/>
      <pc:sldMk cId="2953168935" sldId="2147482817"/>
    </pc:sldMkLst>
    <p188:txBody>
      <a:bodyPr/>
      <a:lstStyle/>
      <a:p>
        <a:r>
          <a:rPr lang="en-US"/>
          <a:t>Manual Provision (editable) to be provided</a:t>
        </a:r>
      </a:p>
    </p188:txBody>
  </p188:cm>
</p188:cmLst>
</file>

<file path=ppt/comments/modernComment_7FFFFCC4_C35E61AF.xml><?xml version="1.0" encoding="utf-8"?>
<p188:cmLst xmlns:a="http://schemas.openxmlformats.org/drawingml/2006/main" xmlns:r="http://schemas.openxmlformats.org/officeDocument/2006/relationships" xmlns:p188="http://schemas.microsoft.com/office/powerpoint/2018/8/main">
  <p188:cm id="{06165137-73F4-4BCC-8F38-B056F0DC23AF}" authorId="{65EA8ECA-A78B-6A56-D09B-8E2A6B4E6D1F}" created="2026-09-22T12:27:11.719">
    <pc:sldMkLst xmlns:pc="http://schemas.microsoft.com/office/powerpoint/2013/main/command">
      <pc:docMk/>
      <pc:sldMk cId="3277742511" sldId="2147482820"/>
    </pc:sldMkLst>
    <p188:txBody>
      <a:bodyPr/>
      <a:lstStyle/>
      <a:p>
        <a:r>
          <a:rPr lang="en-US"/>
          <a:t>Manual Provision (editable)</a:t>
        </a:r>
      </a:p>
    </p188:txBody>
  </p188:cm>
</p188:cmLst>
</file>

<file path=ppt/comments/modernComment_7FFFFCE4_DB8308FC.xml><?xml version="1.0" encoding="utf-8"?>
<p188:cmLst xmlns:a="http://schemas.openxmlformats.org/drawingml/2006/main" xmlns:r="http://schemas.openxmlformats.org/officeDocument/2006/relationships" xmlns:p188="http://schemas.microsoft.com/office/powerpoint/2018/8/main">
  <p188:cm id="{8C8E128C-1310-43CC-81A1-5F705D919986}" authorId="{65EA8ECA-A78B-6A56-D09B-8E2A6B4E6D1F}" created="2026-09-22T12:26:17.463">
    <pc:sldMkLst xmlns:pc="http://schemas.microsoft.com/office/powerpoint/2013/main/command">
      <pc:docMk/>
      <pc:sldMk cId="3682797820" sldId="2147482852"/>
    </pc:sldMkLst>
    <p188:txBody>
      <a:bodyPr/>
      <a:lstStyle/>
      <a:p>
        <a:r>
          <a:rPr lang="en-US"/>
          <a:t>Manual Provision (Editable)</a:t>
        </a:r>
      </a:p>
    </p188:txBody>
  </p188:cm>
</p188:cmLst>
</file>

<file path=ppt/comments/modernComment_7FFFFD5E_197E665A.xml><?xml version="1.0" encoding="utf-8"?>
<p188:cmLst xmlns:a="http://schemas.openxmlformats.org/drawingml/2006/main" xmlns:r="http://schemas.openxmlformats.org/officeDocument/2006/relationships" xmlns:p188="http://schemas.microsoft.com/office/powerpoint/2018/8/main">
  <p188:cm id="{3307A981-281A-4DCD-BD3F-51210B942DFA}" authorId="{65EA8ECA-A78B-6A56-D09B-8E2A6B4E6D1F}" created="2026-09-22T12:20:31.062">
    <pc:sldMkLst xmlns:pc="http://schemas.microsoft.com/office/powerpoint/2013/main/command">
      <pc:docMk/>
      <pc:sldMk cId="427714138" sldId="2147482974"/>
    </pc:sldMkLst>
    <p188:txBody>
      <a:bodyPr/>
      <a:lstStyle/>
      <a:p>
        <a:r>
          <a:rPr lang="en-US"/>
          <a:t>Kindly fetch electrical data from DPR as similar as Civil data</a:t>
        </a:r>
      </a:p>
    </p188:txBody>
  </p188:cm>
</p188:cmLst>
</file>

<file path=ppt/comments/modernComment_7FFFFD31_B83952CE.xml><?xml version="1.0" encoding="utf-8"?>
<p188:cmLst xmlns:a="http://schemas.openxmlformats.org/drawingml/2006/main" xmlns:r="http://schemas.openxmlformats.org/officeDocument/2006/relationships" xmlns:p188="http://schemas.microsoft.com/office/powerpoint/2018/8/main">
  <p188:cm id="{AFD3FB82-B20E-424C-A559-645B8E16A8FC}" authorId="{65EA8ECA-A78B-6A56-D09B-8E2A6B4E6D1F}" created="2026-09-22T12:15:05.524">
    <pc:sldMkLst xmlns:pc="http://schemas.microsoft.com/office/powerpoint/2013/main/command">
      <pc:docMk/>
      <pc:sldMk cId="3090764494" sldId="2147482929"/>
    </pc:sldMkLst>
    <p188:txBody>
      <a:bodyPr/>
      <a:lstStyle/>
      <a:p>
        <a:r>
          <a:rPr lang="en-US"/>
          <a:t>1. QAP Acceptance column needs to be deleted.
2. New column named CDD (Commercial delivery dates) needs to be added ( SAP is the source - From PO) after PO date column.
3. Columns till PO dates can be fetched from SAP directly (WBS list will be shared).
4. Rest columns can be fetched from P6.
5. Remarks column: User defined.
6. Forecast Delivery Schedule Column: Will be checked &amp; to be updated shortly.</a:t>
        </a:r>
      </a:p>
    </p188:txBody>
  </p188:cm>
</p188:cmLst>
</file>

<file path=ppt/comments/modernComment_7FFFFD42_EA4EDC26.xml><?xml version="1.0" encoding="utf-8"?>
<p188:cmLst xmlns:a="http://schemas.openxmlformats.org/drawingml/2006/main" xmlns:r="http://schemas.openxmlformats.org/officeDocument/2006/relationships" xmlns:p188="http://schemas.microsoft.com/office/powerpoint/2018/8/main">
  <p188:cm id="{C61318CD-4FE4-4FE6-A0C4-3A96ED9CA326}" authorId="{65EA8ECA-A78B-6A56-D09B-8E2A6B4E6D1F}" created="2026-09-22T12:09:52.821">
    <pc:sldMkLst xmlns:pc="http://schemas.microsoft.com/office/powerpoint/2013/main/command">
      <pc:docMk/>
      <pc:sldMk cId="3931036710" sldId="2147482946"/>
    </pc:sldMkLst>
    <p188:txBody>
      <a:bodyPr/>
      <a:lstStyle/>
      <a:p>
        <a:r>
          <a:rPr lang="en-US"/>
          <a:t>Manual Provision (editable) to be provided</a:t>
        </a:r>
      </a:p>
    </p188:txBody>
  </p188:cm>
</p188:cmLst>
</file>

<file path=ppt/comments/modernComment_7FFFFD46_6DEDA17B.xml><?xml version="1.0" encoding="utf-8"?>
<p188:cmLst xmlns:a="http://schemas.openxmlformats.org/drawingml/2006/main" xmlns:r="http://schemas.openxmlformats.org/officeDocument/2006/relationships" xmlns:p188="http://schemas.microsoft.com/office/powerpoint/2018/8/main">
  <p188:cm id="{8E87F312-0368-4C08-B239-743DD2FDD5EA}" authorId="{65EA8ECA-A78B-6A56-D09B-8E2A6B4E6D1F}" created="2026-09-22T12:10:11.545">
    <pc:sldMkLst xmlns:pc="http://schemas.microsoft.com/office/powerpoint/2013/main/command">
      <pc:docMk/>
      <pc:sldMk cId="1844289915" sldId="2147482950"/>
    </pc:sldMkLst>
    <p188:txBody>
      <a:bodyPr/>
      <a:lstStyle/>
      <a:p>
        <a:r>
          <a:rPr lang="en-US"/>
          <a:t>Manual Provision (editable) to be provided</a:t>
        </a:r>
      </a:p>
    </p188:txBody>
  </p188:cm>
</p188:cmLst>
</file>

<file path=ppt/comments/modernComment_7FFFFD56_CECE764.xml><?xml version="1.0" encoding="utf-8"?>
<p188:cmLst xmlns:a="http://schemas.openxmlformats.org/drawingml/2006/main" xmlns:r="http://schemas.openxmlformats.org/officeDocument/2006/relationships" xmlns:p188="http://schemas.microsoft.com/office/powerpoint/2018/8/main">
  <p188:cm id="{599E14CC-A83B-43F4-9891-3F2914B6D551}" authorId="{65EA8ECA-A78B-6A56-D09B-8E2A6B4E6D1F}" created="2026-09-22T12:11:17.987">
    <pc:sldMkLst xmlns:pc="http://schemas.microsoft.com/office/powerpoint/2013/main/command">
      <pc:docMk/>
      <pc:sldMk cId="216852324" sldId="2147482966"/>
    </pc:sldMkLst>
    <p188:txBody>
      <a:bodyPr/>
      <a:lstStyle/>
      <a:p>
        <a:r>
          <a:rPr lang="en-US"/>
          <a:t>Table activities to be fetched from P6 milestones. Currently Construction (Civil), Electrical,
Integration &amp; Commissioning data is coming from DPR which needs to be linked to P6.</a:t>
        </a:r>
      </a:p>
    </p188:txBody>
  </p188:cm>
</p188:cmLst>
</file>

<file path=ppt/comments/modernComment_7FFFFD60_8A02D845.xml><?xml version="1.0" encoding="utf-8"?>
<p188:cmLst xmlns:a="http://schemas.openxmlformats.org/drawingml/2006/main" xmlns:r="http://schemas.openxmlformats.org/officeDocument/2006/relationships" xmlns:p188="http://schemas.microsoft.com/office/powerpoint/2018/8/main">
  <p188:cm id="{B87BC0AC-59D3-441E-BC5B-E52CF7DB0F04}" authorId="{BEAE4888-9D79-ED70-E402-CA363C25E157}" created="2026-09-05T09:09:51.842">
    <ac:deMkLst xmlns:ac="http://schemas.microsoft.com/office/drawing/2013/main/command">
      <pc:docMk xmlns:pc="http://schemas.microsoft.com/office/powerpoint/2013/main/command"/>
      <pc:sldMk xmlns:pc="http://schemas.microsoft.com/office/powerpoint/2013/main/command" cId="2315442245" sldId="2147482976"/>
      <ac:picMk id="7" creationId="{4D2FF0C6-2F83-682C-97E4-496329E5E23D}"/>
    </ac:deMkLst>
    <p188:txBody>
      <a:bodyPr/>
      <a:lstStyle/>
      <a:p>
        <a:r>
          <a:rPr lang="en-US"/>
          <a:t>Table</a:t>
        </a:r>
      </a:p>
    </p188:txBody>
  </p188:cm>
</p188:cmLst>
</file>

<file path=ppt/comments/modernComment_124_674DBD05.xml><?xml version="1.0" encoding="utf-8"?>
<p188:cmLst xmlns:a="http://schemas.openxmlformats.org/drawingml/2006/main" xmlns:r="http://schemas.openxmlformats.org/officeDocument/2006/relationships" xmlns:p188="http://schemas.microsoft.com/office/powerpoint/2018/8/main">
  <p188:cm id="{062184CB-F5EB-4B4B-9000-BD1BFC5F61B8}" authorId="{65EA8ECA-A78B-6A56-D09B-8E2A6B4E6D1F}" created="2026-09-22T12:09:08.650">
    <pc:sldMkLst xmlns:pc="http://schemas.microsoft.com/office/powerpoint/2013/main/command">
      <pc:docMk/>
      <pc:sldMk cId="1733147909" sldId="292"/>
    </pc:sldMkLst>
    <p188:txBody>
      <a:bodyPr/>
      <a:lstStyle/>
      <a:p>
        <a:r>
          <a:rPr lang="en-US"/>
          <a:t>Manual Provision (editable) to be provided</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5FC32EF-7F26-FBF5-A4DB-863788E1EBFC}"/>
              </a:ext>
            </a:extLst>
          </p:cNvPr>
          <p:cNvSpPr>
            <a:spLocks noGrp="1"/>
          </p:cNvSpPr>
          <p:nvPr>
            <p:ph type="hdr" sz="quarter"/>
          </p:nvPr>
        </p:nvSpPr>
        <p:spPr>
          <a:xfrm>
            <a:off x="2" y="1"/>
            <a:ext cx="2945659" cy="49805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2C12DA0-A275-7762-DFB4-275780D204F8}"/>
              </a:ext>
            </a:extLst>
          </p:cNvPr>
          <p:cNvSpPr>
            <a:spLocks noGrp="1"/>
          </p:cNvSpPr>
          <p:nvPr>
            <p:ph type="dt" sz="quarter" idx="1"/>
          </p:nvPr>
        </p:nvSpPr>
        <p:spPr>
          <a:xfrm>
            <a:off x="3850445" y="1"/>
            <a:ext cx="2945659" cy="498055"/>
          </a:xfrm>
          <a:prstGeom prst="rect">
            <a:avLst/>
          </a:prstGeom>
        </p:spPr>
        <p:txBody>
          <a:bodyPr vert="horz" lIns="91440" tIns="45720" rIns="91440" bIns="45720" rtlCol="0"/>
          <a:lstStyle>
            <a:lvl1pPr algn="r">
              <a:defRPr sz="1200"/>
            </a:lvl1pPr>
          </a:lstStyle>
          <a:p>
            <a:fld id="{0313A120-FA9F-4253-8750-ADEFC14124A8}" type="datetimeFigureOut">
              <a:rPr lang="en-US" smtClean="0"/>
              <a:t>9/22/2026</a:t>
            </a:fld>
            <a:endParaRPr lang="en-US"/>
          </a:p>
        </p:txBody>
      </p:sp>
      <p:sp>
        <p:nvSpPr>
          <p:cNvPr id="4" name="Footer Placeholder 3">
            <a:extLst>
              <a:ext uri="{FF2B5EF4-FFF2-40B4-BE49-F238E27FC236}">
                <a16:creationId xmlns:a16="http://schemas.microsoft.com/office/drawing/2014/main" id="{F7EAD6E7-5E67-2263-9B48-8C92DBC77264}"/>
              </a:ext>
            </a:extLst>
          </p:cNvPr>
          <p:cNvSpPr>
            <a:spLocks noGrp="1"/>
          </p:cNvSpPr>
          <p:nvPr>
            <p:ph type="ftr" sz="quarter" idx="2"/>
          </p:nvPr>
        </p:nvSpPr>
        <p:spPr>
          <a:xfrm>
            <a:off x="2" y="9428586"/>
            <a:ext cx="2945659" cy="49805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1426CE1-A1EF-C59D-1EAF-966039A4BEE1}"/>
              </a:ext>
            </a:extLst>
          </p:cNvPr>
          <p:cNvSpPr>
            <a:spLocks noGrp="1"/>
          </p:cNvSpPr>
          <p:nvPr>
            <p:ph type="sldNum" sz="quarter" idx="3"/>
          </p:nvPr>
        </p:nvSpPr>
        <p:spPr>
          <a:xfrm>
            <a:off x="3850445" y="9428586"/>
            <a:ext cx="2945659" cy="498055"/>
          </a:xfrm>
          <a:prstGeom prst="rect">
            <a:avLst/>
          </a:prstGeom>
        </p:spPr>
        <p:txBody>
          <a:bodyPr vert="horz" lIns="91440" tIns="45720" rIns="91440" bIns="45720" rtlCol="0" anchor="b"/>
          <a:lstStyle>
            <a:lvl1pPr algn="r">
              <a:defRPr sz="1200"/>
            </a:lvl1pPr>
          </a:lstStyle>
          <a:p>
            <a:fld id="{50EA9303-E99E-4461-883B-BF5028EA1DF8}" type="slidenum">
              <a:rPr lang="en-US" smtClean="0"/>
              <a:t>‹#›</a:t>
            </a:fld>
            <a:endParaRPr lang="en-US"/>
          </a:p>
        </p:txBody>
      </p:sp>
    </p:spTree>
    <p:extLst>
      <p:ext uri="{BB962C8B-B14F-4D97-AF65-F5344CB8AC3E}">
        <p14:creationId xmlns:p14="http://schemas.microsoft.com/office/powerpoint/2010/main" val="265858300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2946400" cy="496889"/>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9" y="2"/>
            <a:ext cx="2946400" cy="496889"/>
          </a:xfrm>
          <a:prstGeom prst="rect">
            <a:avLst/>
          </a:prstGeom>
        </p:spPr>
        <p:txBody>
          <a:bodyPr vert="horz" lIns="91440" tIns="45720" rIns="91440" bIns="45720" rtlCol="0"/>
          <a:lstStyle>
            <a:lvl1pPr algn="r">
              <a:defRPr sz="1200"/>
            </a:lvl1pPr>
          </a:lstStyle>
          <a:p>
            <a:fld id="{E8809B9A-C4C1-4AD2-8C55-4EDBAF27EF72}" type="datetimeFigureOut">
              <a:rPr lang="en-US" smtClean="0"/>
              <a:t>9/22/2026</a:t>
            </a:fld>
            <a:endParaRPr lang="en-US"/>
          </a:p>
        </p:txBody>
      </p:sp>
      <p:sp>
        <p:nvSpPr>
          <p:cNvPr id="4" name="Slide Image Placeholder 3"/>
          <p:cNvSpPr>
            <a:spLocks noGrp="1" noRot="1" noChangeAspect="1"/>
          </p:cNvSpPr>
          <p:nvPr>
            <p:ph type="sldImg" idx="2"/>
          </p:nvPr>
        </p:nvSpPr>
        <p:spPr>
          <a:xfrm>
            <a:off x="425450" y="1243013"/>
            <a:ext cx="5946775" cy="33464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3" y="4776791"/>
            <a:ext cx="5438775" cy="39084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9753"/>
            <a:ext cx="2946400" cy="496889"/>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9" y="9429753"/>
            <a:ext cx="2946400" cy="496889"/>
          </a:xfrm>
          <a:prstGeom prst="rect">
            <a:avLst/>
          </a:prstGeom>
        </p:spPr>
        <p:txBody>
          <a:bodyPr vert="horz" lIns="91440" tIns="45720" rIns="91440" bIns="45720" rtlCol="0" anchor="b"/>
          <a:lstStyle>
            <a:lvl1pPr algn="r">
              <a:defRPr sz="1200"/>
            </a:lvl1pPr>
          </a:lstStyle>
          <a:p>
            <a:fld id="{8DBD3562-5CE4-49E3-A698-59ED55762543}" type="slidenum">
              <a:rPr lang="en-US" smtClean="0"/>
              <a:t>‹#›</a:t>
            </a:fld>
            <a:endParaRPr lang="en-US"/>
          </a:p>
        </p:txBody>
      </p:sp>
    </p:spTree>
    <p:extLst>
      <p:ext uri="{BB962C8B-B14F-4D97-AF65-F5344CB8AC3E}">
        <p14:creationId xmlns:p14="http://schemas.microsoft.com/office/powerpoint/2010/main" val="352445750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C876D784-30E8-1456-E47D-98F83162DC84}"/>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7374942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09968-89A7-74EA-4652-B98D040BCE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E6D935-5DC6-65A3-ED89-EBD041B6DB1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BDCBB87-20EA-90CD-D122-F42AEA5AD6F8}"/>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659832CF-8C54-8D01-B10B-D212A998EBB1}"/>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6468440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886573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958E7-74E0-7E56-07A9-20D5563E5B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1221B4-EFF1-B20E-C5B4-6E6DC52BC6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516B50D-F31B-B837-3969-1F32D2E1C05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7803EB4-3118-0CFA-27E3-367F823054FB}"/>
              </a:ext>
            </a:extLst>
          </p:cNvPr>
          <p:cNvSpPr>
            <a:spLocks noGrp="1"/>
          </p:cNvSpPr>
          <p:nvPr>
            <p:ph type="sldNum" sz="quarter" idx="5"/>
          </p:nvPr>
        </p:nvSpPr>
        <p:spPr/>
        <p:txBody>
          <a:bodyPr/>
          <a:lstStyle/>
          <a:p>
            <a:fld id="{8DBD3562-5CE4-49E3-A698-59ED55762543}" type="slidenum">
              <a:rPr lang="en-US" smtClean="0"/>
              <a:t>12</a:t>
            </a:fld>
            <a:endParaRPr lang="en-US"/>
          </a:p>
        </p:txBody>
      </p:sp>
      <p:sp>
        <p:nvSpPr>
          <p:cNvPr id="5" name="Footer Placeholder 4">
            <a:extLst>
              <a:ext uri="{FF2B5EF4-FFF2-40B4-BE49-F238E27FC236}">
                <a16:creationId xmlns:a16="http://schemas.microsoft.com/office/drawing/2014/main" id="{4B718B43-11E2-DC5C-FF3E-231E4D90DD21}"/>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867681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BEC0F-EBEF-9282-2E88-B9D18113EE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998B73-3D66-239B-45A9-29949BE3081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E57E087-1017-22C8-9DD1-680AE76D525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155126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8BB56-B086-A9E4-EF98-06E2566ED4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65146D-F3A3-6C7F-08FB-28B535C53EB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AE5118C-585F-4283-E58C-62E378A234D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55597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456F1-7DC6-53C7-19A1-ACC152421D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CCC88F-CF0E-27C9-86B9-AEF89AA626F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F4271F0-1EEA-8D33-D066-9644E166D0E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314632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D0F51-69B6-8AAC-007D-B876B38DCE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6EE495-FAE5-B070-9C3B-C58EFAFCDD6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2D7A433-C16D-A79D-3CAD-DD8D2615DE1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857445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67746-28AC-C8EA-996F-135BBF0AD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30B10-AEF8-6C41-F0E3-4FFCB486FE0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E3D218B-BAB5-87AC-C4A9-F029105DE44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217963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A00EA-A98F-E2DF-A7C6-1EDEE2BE03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CD0127-8468-5746-DD11-1CA075B2914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1E0483F-0D5F-AA66-EC07-D3E558AEEA4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565609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72E15-5A1D-CB7A-8AD5-FCA707D44C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0C776D-74C8-9758-CB8E-4C6064D8B9F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2719EC4-ADAA-3388-7A46-BCE13354254D}"/>
              </a:ext>
            </a:extLst>
          </p:cNvPr>
          <p:cNvSpPr>
            <a:spLocks noGrp="1"/>
          </p:cNvSpPr>
          <p:nvPr>
            <p:ph type="body" idx="1"/>
          </p:nvPr>
        </p:nvSpPr>
        <p:spPr/>
        <p:txBody>
          <a:bodyPr/>
          <a:lstStyle/>
          <a:p>
            <a:endParaRPr lang="en-US"/>
          </a:p>
        </p:txBody>
      </p:sp>
      <p:sp>
        <p:nvSpPr>
          <p:cNvPr id="6" name="Header Placeholder 5">
            <a:extLst>
              <a:ext uri="{FF2B5EF4-FFF2-40B4-BE49-F238E27FC236}">
                <a16:creationId xmlns:a16="http://schemas.microsoft.com/office/drawing/2014/main" id="{A7FA3DF2-6C40-8AF7-C31E-3419513E45C9}"/>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38159032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2902189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25C6F-0CA5-DC2D-CA62-F5D2C1644C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7ACE94-DF51-CF73-1FF8-639A6EC2C74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9A17A5E-2099-12C3-4FB5-E2B9E96E9AED}"/>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B0D877D6-8BD1-225F-EB02-66BE8310FECD}"/>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13534924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IN"/>
          </a:p>
        </p:txBody>
      </p:sp>
    </p:spTree>
    <p:extLst>
      <p:ext uri="{BB962C8B-B14F-4D97-AF65-F5344CB8AC3E}">
        <p14:creationId xmlns:p14="http://schemas.microsoft.com/office/powerpoint/2010/main" val="41644934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E0320-EB63-31F6-7524-D0CEF2DCE3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50B9A0-F4C6-C7EC-EF2D-B650CDCE6DE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48EEE1E-2147-639D-9FA7-7217F21645BD}"/>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5546E26D-E2EB-3431-EA6B-FB6ACF5EA03F}"/>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42414282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8B149-2793-9639-66C4-255243A471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5DCAF1-A275-4585-E44D-5E4CEAAC889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70EA3DC-B831-A004-B003-3EB18E2DEE2E}"/>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F86E5E00-C85C-C527-2BAE-708D43CAADC4}"/>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30062643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807D4-62B1-73D3-27BA-511839019D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9726DE-2874-0450-AD39-642ABBADCB7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799F3FA-EA7C-0714-7E05-489FE107B48F}"/>
              </a:ext>
            </a:extLst>
          </p:cNvPr>
          <p:cNvSpPr>
            <a:spLocks noGrp="1"/>
          </p:cNvSpPr>
          <p:nvPr>
            <p:ph type="body" idx="1"/>
          </p:nvPr>
        </p:nvSpPr>
        <p:spPr/>
        <p:txBody>
          <a:bodyPr/>
          <a:lstStyle/>
          <a:p>
            <a:endParaRPr lang="en-US"/>
          </a:p>
        </p:txBody>
      </p:sp>
      <p:sp>
        <p:nvSpPr>
          <p:cNvPr id="6" name="Header Placeholder 5">
            <a:extLst>
              <a:ext uri="{FF2B5EF4-FFF2-40B4-BE49-F238E27FC236}">
                <a16:creationId xmlns:a16="http://schemas.microsoft.com/office/drawing/2014/main" id="{9024C089-9876-EE9F-C759-6B4D93E7857F}"/>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10233123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C079F-E24F-3B19-EBCF-30818E8282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AC9D4F-88E9-8713-9D11-16354EAF822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2C6E5D-8022-300C-A879-2FC1EFCA3894}"/>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426E65BE-86FF-0096-730D-3DD6667AACE8}"/>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20185501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38C93-450B-5F43-41E8-5F8C144A47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3B162A-77D1-392F-7AF6-8C885B81225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A9D6779-9297-91F8-F70B-7715C0C5DBA4}"/>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FFF02B54-FFD1-F62D-87BF-F5CAE5FD2340}"/>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21611621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029A9-07F5-C506-BCEF-6FA37577F5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1145B2-905B-67B4-D36A-056E376FBE7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6ED0EA5-8A70-5838-151B-5942E48773EA}"/>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437ACC67-B041-F76C-56D6-CD5097E4DD88}"/>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35393855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98BB4-85D8-9876-8C36-69B7D6AA94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A1E5E-6ADB-4113-92B7-3E0BC124C23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6C10DBF-1E03-F756-7A3F-E8F997F70B6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091B8FF-FD78-CDE5-FEFF-DCFFEDA4FE3D}"/>
              </a:ext>
            </a:extLst>
          </p:cNvPr>
          <p:cNvSpPr>
            <a:spLocks noGrp="1"/>
          </p:cNvSpPr>
          <p:nvPr>
            <p:ph type="sldNum" sz="quarter" idx="5"/>
          </p:nvPr>
        </p:nvSpPr>
        <p:spPr/>
        <p:txBody>
          <a:bodyPr/>
          <a:lstStyle/>
          <a:p>
            <a:fld id="{8DBD3562-5CE4-49E3-A698-59ED55762543}" type="slidenum">
              <a:rPr lang="en-US" smtClean="0"/>
              <a:t>35</a:t>
            </a:fld>
            <a:endParaRPr lang="en-US"/>
          </a:p>
        </p:txBody>
      </p:sp>
    </p:spTree>
    <p:extLst>
      <p:ext uri="{BB962C8B-B14F-4D97-AF65-F5344CB8AC3E}">
        <p14:creationId xmlns:p14="http://schemas.microsoft.com/office/powerpoint/2010/main" val="16374985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479E9-F3B9-A441-2431-803A14175B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ED4615-86C6-C6B1-6030-FEBD6E0B7B5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DF3A3AE-B9A1-1766-7FF2-53DC7496923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18A0027-3ABC-A4E7-DAAB-23A792D91BC8}"/>
              </a:ext>
            </a:extLst>
          </p:cNvPr>
          <p:cNvSpPr>
            <a:spLocks noGrp="1"/>
          </p:cNvSpPr>
          <p:nvPr>
            <p:ph type="sldNum" sz="quarter" idx="5"/>
          </p:nvPr>
        </p:nvSpPr>
        <p:spPr/>
        <p:txBody>
          <a:bodyPr/>
          <a:lstStyle/>
          <a:p>
            <a:fld id="{8DBD3562-5CE4-49E3-A698-59ED55762543}" type="slidenum">
              <a:rPr lang="en-US" smtClean="0"/>
              <a:t>36</a:t>
            </a:fld>
            <a:endParaRPr lang="en-US"/>
          </a:p>
        </p:txBody>
      </p:sp>
    </p:spTree>
    <p:extLst>
      <p:ext uri="{BB962C8B-B14F-4D97-AF65-F5344CB8AC3E}">
        <p14:creationId xmlns:p14="http://schemas.microsoft.com/office/powerpoint/2010/main" val="23596355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D7DE5-1A29-479D-4C75-6374642F4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7C195-5BD6-B7B0-3940-7CE9ECE26D8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DC5226E-0DF7-10D0-69E7-4610F68F3E59}"/>
              </a:ext>
            </a:extLst>
          </p:cNvPr>
          <p:cNvSpPr>
            <a:spLocks noGrp="1"/>
          </p:cNvSpPr>
          <p:nvPr>
            <p:ph type="body" idx="1"/>
          </p:nvPr>
        </p:nvSpPr>
        <p:spPr/>
        <p:txBody>
          <a:bodyPr/>
          <a:lstStyle/>
          <a:p>
            <a:endParaRPr lang="en-IN"/>
          </a:p>
        </p:txBody>
      </p:sp>
      <p:sp>
        <p:nvSpPr>
          <p:cNvPr id="5" name="Header Placeholder 4">
            <a:extLst>
              <a:ext uri="{FF2B5EF4-FFF2-40B4-BE49-F238E27FC236}">
                <a16:creationId xmlns:a16="http://schemas.microsoft.com/office/drawing/2014/main" id="{927CF910-8994-9D40-C2B1-4122D59E08AF}"/>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32611235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5FC40-19E7-1922-D8CE-86C554F97F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8DFD46-36F1-C786-2D7F-F62BF5B45EE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E8384E1-82B9-5DF8-0018-239BDDD7FB09}"/>
              </a:ext>
            </a:extLst>
          </p:cNvPr>
          <p:cNvSpPr>
            <a:spLocks noGrp="1"/>
          </p:cNvSpPr>
          <p:nvPr>
            <p:ph type="body" idx="1"/>
          </p:nvPr>
        </p:nvSpPr>
        <p:spPr/>
        <p:txBody>
          <a:bodyPr/>
          <a:lstStyle/>
          <a:p>
            <a:endParaRPr lang="en-IN"/>
          </a:p>
        </p:txBody>
      </p:sp>
      <p:sp>
        <p:nvSpPr>
          <p:cNvPr id="5" name="Header Placeholder 4">
            <a:extLst>
              <a:ext uri="{FF2B5EF4-FFF2-40B4-BE49-F238E27FC236}">
                <a16:creationId xmlns:a16="http://schemas.microsoft.com/office/drawing/2014/main" id="{23B16B64-6965-69E4-E8FC-814CFF66C518}"/>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22144622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C490A-A2E2-E08C-9E2D-8373916D99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E9CBA-590E-84FA-6190-350255592E9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669FC12-F4CB-6CD5-12DB-799AFA456DD4}"/>
              </a:ext>
            </a:extLst>
          </p:cNvPr>
          <p:cNvSpPr>
            <a:spLocks noGrp="1"/>
          </p:cNvSpPr>
          <p:nvPr>
            <p:ph type="body" idx="1"/>
          </p:nvPr>
        </p:nvSpPr>
        <p:spPr/>
        <p:txBody>
          <a:bodyPr/>
          <a:lstStyle/>
          <a:p>
            <a:endParaRPr lang="en-IN"/>
          </a:p>
        </p:txBody>
      </p:sp>
      <p:sp>
        <p:nvSpPr>
          <p:cNvPr id="5" name="Header Placeholder 4">
            <a:extLst>
              <a:ext uri="{FF2B5EF4-FFF2-40B4-BE49-F238E27FC236}">
                <a16:creationId xmlns:a16="http://schemas.microsoft.com/office/drawing/2014/main" id="{85A20E6D-26AE-868B-36F5-A419CD922415}"/>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20014520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7452A-E0C8-6856-1139-FF3CEB0469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4D556B-5735-AB0A-4912-7E9237DAFD7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57F4F84-30C1-C1E8-77C7-7C27C1781007}"/>
              </a:ext>
            </a:extLst>
          </p:cNvPr>
          <p:cNvSpPr>
            <a:spLocks noGrp="1"/>
          </p:cNvSpPr>
          <p:nvPr>
            <p:ph type="body" idx="1"/>
          </p:nvPr>
        </p:nvSpPr>
        <p:spPr/>
        <p:txBody>
          <a:bodyPr/>
          <a:lstStyle/>
          <a:p>
            <a:endParaRPr lang="en-IN"/>
          </a:p>
        </p:txBody>
      </p:sp>
      <p:sp>
        <p:nvSpPr>
          <p:cNvPr id="5" name="Header Placeholder 4">
            <a:extLst>
              <a:ext uri="{FF2B5EF4-FFF2-40B4-BE49-F238E27FC236}">
                <a16:creationId xmlns:a16="http://schemas.microsoft.com/office/drawing/2014/main" id="{3F935082-3388-70BE-1E51-203EB433AFBB}"/>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31283402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C482B-8B2C-98E1-54D5-CA0A327EC9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C97D6D-BF63-FA25-17E1-BBA8F897CE3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E85E0A7-6481-A63F-9A7D-D77BBE5BEF23}"/>
              </a:ext>
            </a:extLst>
          </p:cNvPr>
          <p:cNvSpPr>
            <a:spLocks noGrp="1"/>
          </p:cNvSpPr>
          <p:nvPr>
            <p:ph type="body" idx="1"/>
          </p:nvPr>
        </p:nvSpPr>
        <p:spPr/>
        <p:txBody>
          <a:bodyPr/>
          <a:lstStyle/>
          <a:p>
            <a:endParaRPr lang="en-IN"/>
          </a:p>
        </p:txBody>
      </p:sp>
      <p:sp>
        <p:nvSpPr>
          <p:cNvPr id="5" name="Header Placeholder 4">
            <a:extLst>
              <a:ext uri="{FF2B5EF4-FFF2-40B4-BE49-F238E27FC236}">
                <a16:creationId xmlns:a16="http://schemas.microsoft.com/office/drawing/2014/main" id="{0A675FF7-C3D5-FB57-8F75-9AA29EB3E839}"/>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15289227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75C03-F296-C7F7-6EBC-798AC1AB45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4CAD6C-A53B-3EDE-1870-F06DD42AAB9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B07A814-FD11-E837-700A-8BDEBE15091E}"/>
              </a:ext>
            </a:extLst>
          </p:cNvPr>
          <p:cNvSpPr>
            <a:spLocks noGrp="1"/>
          </p:cNvSpPr>
          <p:nvPr>
            <p:ph type="body" idx="1"/>
          </p:nvPr>
        </p:nvSpPr>
        <p:spPr/>
        <p:txBody>
          <a:bodyPr/>
          <a:lstStyle/>
          <a:p>
            <a:endParaRPr lang="en-IN"/>
          </a:p>
        </p:txBody>
      </p:sp>
      <p:sp>
        <p:nvSpPr>
          <p:cNvPr id="5" name="Header Placeholder 4">
            <a:extLst>
              <a:ext uri="{FF2B5EF4-FFF2-40B4-BE49-F238E27FC236}">
                <a16:creationId xmlns:a16="http://schemas.microsoft.com/office/drawing/2014/main" id="{1352D443-0C52-3111-B3FE-658BA9A074D3}"/>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20538247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7B92E-C513-540C-6263-4B864C2D0A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8B2A12-4426-109A-FAFF-6398D38C741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81F8F93-2732-DCC8-DF58-39E57AA2CA2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526758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AAE9A-5EC5-A947-ADBE-F902B41F84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B96ADA-2455-020F-D823-F673E268CE0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7810495-4AD0-EC22-CA9F-512003D4B62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457410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06159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A8CDE-9666-19B2-8B61-D29FD92145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F73C4A-6A5B-F426-D1B8-51E0F0447E7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2EC34C6-0901-683E-920D-B8A6B8198CC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42359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7C24B-0200-4222-16D8-5C0CB361FA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240672-BF3D-EF6A-3269-6E51B342BAE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F2F5088-9FDF-7580-5C4A-A48F28624634}"/>
              </a:ext>
            </a:extLst>
          </p:cNvPr>
          <p:cNvSpPr>
            <a:spLocks noGrp="1"/>
          </p:cNvSpPr>
          <p:nvPr>
            <p:ph type="body" idx="1"/>
          </p:nvPr>
        </p:nvSpPr>
        <p:spPr/>
        <p:txBody>
          <a:bodyPr/>
          <a:lstStyle/>
          <a:p>
            <a:endParaRPr lang="en-US"/>
          </a:p>
        </p:txBody>
      </p:sp>
      <p:sp>
        <p:nvSpPr>
          <p:cNvPr id="6" name="Header Placeholder 5">
            <a:extLst>
              <a:ext uri="{FF2B5EF4-FFF2-40B4-BE49-F238E27FC236}">
                <a16:creationId xmlns:a16="http://schemas.microsoft.com/office/drawing/2014/main" id="{569D1B05-FB9D-DBBE-1075-24D60D3CBC57}"/>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38584832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667D4-0BA5-69C5-E812-F78707156B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5740B8-C6A4-C8C1-D34A-2AF899B1F85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EDEE8F7-5FFB-E2C8-4CBC-4CAA84C86A4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D1EF920-F933-2BC4-4A63-B432D9E15483}"/>
              </a:ext>
            </a:extLst>
          </p:cNvPr>
          <p:cNvSpPr>
            <a:spLocks noGrp="1"/>
          </p:cNvSpPr>
          <p:nvPr>
            <p:ph type="sldNum" sz="quarter" idx="5"/>
          </p:nvPr>
        </p:nvSpPr>
        <p:spPr/>
        <p:txBody>
          <a:bodyPr/>
          <a:lstStyle/>
          <a:p>
            <a:fld id="{DD6BAD34-B45B-407E-A1B8-52C038A48D05}" type="slidenum">
              <a:rPr lang="en-IN" smtClean="0"/>
              <a:t>48</a:t>
            </a:fld>
            <a:endParaRPr lang="en-IN"/>
          </a:p>
        </p:txBody>
      </p:sp>
    </p:spTree>
    <p:extLst>
      <p:ext uri="{BB962C8B-B14F-4D97-AF65-F5344CB8AC3E}">
        <p14:creationId xmlns:p14="http://schemas.microsoft.com/office/powerpoint/2010/main" val="10461277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8108D-DEB8-B998-6451-0774B5E5D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2AC414-77C8-EFC4-CFD3-335EC77C3D0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E40F6D5-F2DA-C160-8C49-B19427EFDB5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50D0A6F-AD50-2DD9-62CF-CBD37FAF83F1}"/>
              </a:ext>
            </a:extLst>
          </p:cNvPr>
          <p:cNvSpPr>
            <a:spLocks noGrp="1"/>
          </p:cNvSpPr>
          <p:nvPr>
            <p:ph type="sldNum" sz="quarter" idx="5"/>
          </p:nvPr>
        </p:nvSpPr>
        <p:spPr/>
        <p:txBody>
          <a:bodyPr/>
          <a:lstStyle/>
          <a:p>
            <a:fld id="{DD6BAD34-B45B-407E-A1B8-52C038A48D05}" type="slidenum">
              <a:rPr lang="en-IN" smtClean="0"/>
              <a:t>49</a:t>
            </a:fld>
            <a:endParaRPr lang="en-IN"/>
          </a:p>
        </p:txBody>
      </p:sp>
    </p:spTree>
    <p:extLst>
      <p:ext uri="{BB962C8B-B14F-4D97-AF65-F5344CB8AC3E}">
        <p14:creationId xmlns:p14="http://schemas.microsoft.com/office/powerpoint/2010/main" val="15865984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C2A2A-73F6-A4E9-3781-317558EF50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D0DA48-95E8-5915-858F-F2DDCE4CA36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1D05C92-5A3B-3790-9B9D-2223FA6F437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6C751CC-2740-A4B2-3916-1F30AC31A570}"/>
              </a:ext>
            </a:extLst>
          </p:cNvPr>
          <p:cNvSpPr>
            <a:spLocks noGrp="1"/>
          </p:cNvSpPr>
          <p:nvPr>
            <p:ph type="sldNum" sz="quarter" idx="5"/>
          </p:nvPr>
        </p:nvSpPr>
        <p:spPr/>
        <p:txBody>
          <a:bodyPr/>
          <a:lstStyle/>
          <a:p>
            <a:fld id="{DD6BAD34-B45B-407E-A1B8-52C038A48D05}" type="slidenum">
              <a:rPr lang="en-IN" smtClean="0"/>
              <a:t>50</a:t>
            </a:fld>
            <a:endParaRPr lang="en-IN"/>
          </a:p>
        </p:txBody>
      </p:sp>
    </p:spTree>
    <p:extLst>
      <p:ext uri="{BB962C8B-B14F-4D97-AF65-F5344CB8AC3E}">
        <p14:creationId xmlns:p14="http://schemas.microsoft.com/office/powerpoint/2010/main" val="664893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E14CF-6AD2-F18D-7390-A8C4D1ADE2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F1E1D5-E9E1-F0E8-9909-CF0806BB3DF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C24F17D-96D0-254C-C750-BA6DD352966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2882D98-6462-5625-6A6E-54DD57D062DB}"/>
              </a:ext>
            </a:extLst>
          </p:cNvPr>
          <p:cNvSpPr>
            <a:spLocks noGrp="1"/>
          </p:cNvSpPr>
          <p:nvPr>
            <p:ph type="sldNum" sz="quarter" idx="5"/>
          </p:nvPr>
        </p:nvSpPr>
        <p:spPr/>
        <p:txBody>
          <a:bodyPr/>
          <a:lstStyle/>
          <a:p>
            <a:fld id="{DD6BAD34-B45B-407E-A1B8-52C038A48D05}" type="slidenum">
              <a:rPr lang="en-IN" smtClean="0"/>
              <a:t>51</a:t>
            </a:fld>
            <a:endParaRPr lang="en-IN"/>
          </a:p>
        </p:txBody>
      </p:sp>
    </p:spTree>
    <p:extLst>
      <p:ext uri="{BB962C8B-B14F-4D97-AF65-F5344CB8AC3E}">
        <p14:creationId xmlns:p14="http://schemas.microsoft.com/office/powerpoint/2010/main" val="35855316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BE269-DF2E-E803-27C5-1B6563DCE0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EFC7F0-2965-FE9E-0F91-2CBD879199C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85A280-3526-590D-B932-E6D243A52CD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D769531-4F84-2877-5526-F449D47F26D9}"/>
              </a:ext>
            </a:extLst>
          </p:cNvPr>
          <p:cNvSpPr>
            <a:spLocks noGrp="1"/>
          </p:cNvSpPr>
          <p:nvPr>
            <p:ph type="sldNum" sz="quarter" idx="5"/>
          </p:nvPr>
        </p:nvSpPr>
        <p:spPr/>
        <p:txBody>
          <a:bodyPr/>
          <a:lstStyle/>
          <a:p>
            <a:fld id="{DD6BAD34-B45B-407E-A1B8-52C038A48D05}" type="slidenum">
              <a:rPr lang="en-IN" smtClean="0"/>
              <a:t>52</a:t>
            </a:fld>
            <a:endParaRPr lang="en-IN"/>
          </a:p>
        </p:txBody>
      </p:sp>
    </p:spTree>
    <p:extLst>
      <p:ext uri="{BB962C8B-B14F-4D97-AF65-F5344CB8AC3E}">
        <p14:creationId xmlns:p14="http://schemas.microsoft.com/office/powerpoint/2010/main" val="22898133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C2B0B-3113-1DB0-11E5-5E125FB67C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83E47F-FAC2-C83D-5F0C-68275DF6D7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1ECB37E-6449-354B-93F6-A73B92C06E3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1DADBF6-1359-00D1-778F-3FFA05884E98}"/>
              </a:ext>
            </a:extLst>
          </p:cNvPr>
          <p:cNvSpPr>
            <a:spLocks noGrp="1"/>
          </p:cNvSpPr>
          <p:nvPr>
            <p:ph type="sldNum" sz="quarter" idx="5"/>
          </p:nvPr>
        </p:nvSpPr>
        <p:spPr/>
        <p:txBody>
          <a:bodyPr/>
          <a:lstStyle/>
          <a:p>
            <a:fld id="{DD6BAD34-B45B-407E-A1B8-52C038A48D05}" type="slidenum">
              <a:rPr lang="en-IN" smtClean="0"/>
              <a:t>53</a:t>
            </a:fld>
            <a:endParaRPr lang="en-IN"/>
          </a:p>
        </p:txBody>
      </p:sp>
    </p:spTree>
    <p:extLst>
      <p:ext uri="{BB962C8B-B14F-4D97-AF65-F5344CB8AC3E}">
        <p14:creationId xmlns:p14="http://schemas.microsoft.com/office/powerpoint/2010/main" val="23767893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C7B98-5D19-7759-B228-D2740A7457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18FD43-C196-A1E1-A2BE-6E89CDAA2D3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32DE34E-33D8-0616-25F6-CDD109745E88}"/>
              </a:ext>
            </a:extLst>
          </p:cNvPr>
          <p:cNvSpPr>
            <a:spLocks noGrp="1"/>
          </p:cNvSpPr>
          <p:nvPr>
            <p:ph type="body" idx="1"/>
          </p:nvPr>
        </p:nvSpPr>
        <p:spPr/>
        <p:txBody>
          <a:bodyPr/>
          <a:lstStyle/>
          <a:p>
            <a:endParaRPr lang="en-US"/>
          </a:p>
        </p:txBody>
      </p:sp>
      <p:sp>
        <p:nvSpPr>
          <p:cNvPr id="6" name="Header Placeholder 5">
            <a:extLst>
              <a:ext uri="{FF2B5EF4-FFF2-40B4-BE49-F238E27FC236}">
                <a16:creationId xmlns:a16="http://schemas.microsoft.com/office/drawing/2014/main" id="{4310D1AD-512C-6584-5B55-202DB1F8CA40}"/>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42255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B21D7-E668-EDBC-6BCA-4263D0D95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C4A32A-EB87-6B1A-944E-16F0A32F108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1F491C8-679E-3706-9E4D-0A8CEC70746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51F9CDE-E0B5-2758-CE03-24274DBC6A66}"/>
              </a:ext>
            </a:extLst>
          </p:cNvPr>
          <p:cNvSpPr>
            <a:spLocks noGrp="1"/>
          </p:cNvSpPr>
          <p:nvPr>
            <p:ph type="sldNum" sz="quarter" idx="5"/>
          </p:nvPr>
        </p:nvSpPr>
        <p:spPr/>
        <p:txBody>
          <a:bodyPr/>
          <a:lstStyle/>
          <a:p>
            <a:fld id="{DD6BAD34-B45B-407E-A1B8-52C038A48D05}" type="slidenum">
              <a:rPr lang="en-IN" smtClean="0"/>
              <a:t>55</a:t>
            </a:fld>
            <a:endParaRPr lang="en-IN"/>
          </a:p>
        </p:txBody>
      </p:sp>
    </p:spTree>
    <p:extLst>
      <p:ext uri="{BB962C8B-B14F-4D97-AF65-F5344CB8AC3E}">
        <p14:creationId xmlns:p14="http://schemas.microsoft.com/office/powerpoint/2010/main" val="314717872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A0A1A-9E0C-FC0B-71CD-17C4119777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22D4A2-5189-B120-05F3-3F6C1A0E701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A8E03E7-5C89-9F02-0560-574E239635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DD6683D-D4EA-72FC-650C-F6ABBCE79FAC}"/>
              </a:ext>
            </a:extLst>
          </p:cNvPr>
          <p:cNvSpPr>
            <a:spLocks noGrp="1"/>
          </p:cNvSpPr>
          <p:nvPr>
            <p:ph type="sldNum" sz="quarter" idx="5"/>
          </p:nvPr>
        </p:nvSpPr>
        <p:spPr/>
        <p:txBody>
          <a:bodyPr/>
          <a:lstStyle/>
          <a:p>
            <a:fld id="{DD6BAD34-B45B-407E-A1B8-52C038A48D05}" type="slidenum">
              <a:rPr lang="en-IN" smtClean="0"/>
              <a:t>56</a:t>
            </a:fld>
            <a:endParaRPr lang="en-IN"/>
          </a:p>
        </p:txBody>
      </p:sp>
    </p:spTree>
    <p:extLst>
      <p:ext uri="{BB962C8B-B14F-4D97-AF65-F5344CB8AC3E}">
        <p14:creationId xmlns:p14="http://schemas.microsoft.com/office/powerpoint/2010/main" val="29445961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C36C5-7265-C112-55F0-8D87F913DD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43C5B5-6EAB-F81B-DFFA-B207C169564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73C339-C261-D9FC-4016-4AF89867D13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951FEAA-D21A-86CF-A605-2972681AA827}"/>
              </a:ext>
            </a:extLst>
          </p:cNvPr>
          <p:cNvSpPr>
            <a:spLocks noGrp="1"/>
          </p:cNvSpPr>
          <p:nvPr>
            <p:ph type="sldNum" sz="quarter" idx="5"/>
          </p:nvPr>
        </p:nvSpPr>
        <p:spPr/>
        <p:txBody>
          <a:bodyPr/>
          <a:lstStyle/>
          <a:p>
            <a:fld id="{DD6BAD34-B45B-407E-A1B8-52C038A48D05}" type="slidenum">
              <a:rPr lang="en-IN" smtClean="0"/>
              <a:t>57</a:t>
            </a:fld>
            <a:endParaRPr lang="en-IN"/>
          </a:p>
        </p:txBody>
      </p:sp>
    </p:spTree>
    <p:extLst>
      <p:ext uri="{BB962C8B-B14F-4D97-AF65-F5344CB8AC3E}">
        <p14:creationId xmlns:p14="http://schemas.microsoft.com/office/powerpoint/2010/main" val="19101572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84C5E-6451-C406-9C86-C93F9C9097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BB4493-4B32-7BF7-E11E-3B0C3642718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31AE070-74B3-DA0E-CBD1-EB2F4990F1A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FA720BF-9563-FAA0-F986-91C9D1C38C67}"/>
              </a:ext>
            </a:extLst>
          </p:cNvPr>
          <p:cNvSpPr>
            <a:spLocks noGrp="1"/>
          </p:cNvSpPr>
          <p:nvPr>
            <p:ph type="sldNum" sz="quarter" idx="5"/>
          </p:nvPr>
        </p:nvSpPr>
        <p:spPr/>
        <p:txBody>
          <a:bodyPr/>
          <a:lstStyle/>
          <a:p>
            <a:fld id="{DD6BAD34-B45B-407E-A1B8-52C038A48D05}" type="slidenum">
              <a:rPr lang="en-IN" smtClean="0"/>
              <a:t>58</a:t>
            </a:fld>
            <a:endParaRPr lang="en-IN"/>
          </a:p>
        </p:txBody>
      </p:sp>
    </p:spTree>
    <p:extLst>
      <p:ext uri="{BB962C8B-B14F-4D97-AF65-F5344CB8AC3E}">
        <p14:creationId xmlns:p14="http://schemas.microsoft.com/office/powerpoint/2010/main" val="4389980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2A44D-FF1F-3AA0-A43A-FF59644DDA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7222F9-D082-7BA5-BFB4-50C313024A2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124155F-98AC-DB9B-3C38-E8B4152889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54E1627-503B-11E6-B99A-EC603909215D}"/>
              </a:ext>
            </a:extLst>
          </p:cNvPr>
          <p:cNvSpPr>
            <a:spLocks noGrp="1"/>
          </p:cNvSpPr>
          <p:nvPr>
            <p:ph type="sldNum" sz="quarter" idx="5"/>
          </p:nvPr>
        </p:nvSpPr>
        <p:spPr/>
        <p:txBody>
          <a:bodyPr/>
          <a:lstStyle/>
          <a:p>
            <a:fld id="{DD6BAD34-B45B-407E-A1B8-52C038A48D05}" type="slidenum">
              <a:rPr lang="en-IN" smtClean="0"/>
              <a:t>59</a:t>
            </a:fld>
            <a:endParaRPr lang="en-IN"/>
          </a:p>
        </p:txBody>
      </p:sp>
    </p:spTree>
    <p:extLst>
      <p:ext uri="{BB962C8B-B14F-4D97-AF65-F5344CB8AC3E}">
        <p14:creationId xmlns:p14="http://schemas.microsoft.com/office/powerpoint/2010/main" val="39023964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117B7-F6D4-2711-F90B-FF2FE474F6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54C06E-AB15-127B-4E15-1FA3609262D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92E9198-056C-4B0A-ACCB-8960169DEBB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72BFEDB-D4B2-EDF2-60AA-7AE35F38DEF5}"/>
              </a:ext>
            </a:extLst>
          </p:cNvPr>
          <p:cNvSpPr>
            <a:spLocks noGrp="1"/>
          </p:cNvSpPr>
          <p:nvPr>
            <p:ph type="sldNum" sz="quarter" idx="5"/>
          </p:nvPr>
        </p:nvSpPr>
        <p:spPr/>
        <p:txBody>
          <a:bodyPr/>
          <a:lstStyle/>
          <a:p>
            <a:fld id="{DD6BAD34-B45B-407E-A1B8-52C038A48D05}" type="slidenum">
              <a:rPr lang="en-IN" smtClean="0"/>
              <a:t>60</a:t>
            </a:fld>
            <a:endParaRPr lang="en-IN"/>
          </a:p>
        </p:txBody>
      </p:sp>
    </p:spTree>
    <p:extLst>
      <p:ext uri="{BB962C8B-B14F-4D97-AF65-F5344CB8AC3E}">
        <p14:creationId xmlns:p14="http://schemas.microsoft.com/office/powerpoint/2010/main" val="49936144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0FDB8-0B19-4953-FD39-9193BE259C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12034F-63D3-1071-E33D-21F0396F882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CA925F0-D739-A2C6-C577-01B8CA776103}"/>
              </a:ext>
            </a:extLst>
          </p:cNvPr>
          <p:cNvSpPr>
            <a:spLocks noGrp="1"/>
          </p:cNvSpPr>
          <p:nvPr>
            <p:ph type="body" idx="1"/>
          </p:nvPr>
        </p:nvSpPr>
        <p:spPr/>
        <p:txBody>
          <a:bodyPr/>
          <a:lstStyle/>
          <a:p>
            <a:endParaRPr lang="en-US"/>
          </a:p>
        </p:txBody>
      </p:sp>
      <p:sp>
        <p:nvSpPr>
          <p:cNvPr id="6" name="Header Placeholder 5">
            <a:extLst>
              <a:ext uri="{FF2B5EF4-FFF2-40B4-BE49-F238E27FC236}">
                <a16:creationId xmlns:a16="http://schemas.microsoft.com/office/drawing/2014/main" id="{1280B9FB-D12F-B355-3B4C-AEB0BFB73A96}"/>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299602322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04E92-671C-2A16-81B7-1DC70A2653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FE6D00-1BFB-FF59-002C-50071285540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0875A55-09F3-DCCD-D814-E770216367EB}"/>
              </a:ext>
            </a:extLst>
          </p:cNvPr>
          <p:cNvSpPr>
            <a:spLocks noGrp="1"/>
          </p:cNvSpPr>
          <p:nvPr>
            <p:ph type="body" idx="1"/>
          </p:nvPr>
        </p:nvSpPr>
        <p:spPr/>
        <p:txBody>
          <a:bodyPr/>
          <a:lstStyle/>
          <a:p>
            <a:endParaRPr lang="en-US"/>
          </a:p>
        </p:txBody>
      </p:sp>
      <p:sp>
        <p:nvSpPr>
          <p:cNvPr id="6" name="Header Placeholder 5">
            <a:extLst>
              <a:ext uri="{FF2B5EF4-FFF2-40B4-BE49-F238E27FC236}">
                <a16:creationId xmlns:a16="http://schemas.microsoft.com/office/drawing/2014/main" id="{17093922-680B-11B9-6481-86C5A59179E6}"/>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9438298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577FC-A035-79B1-CE9B-62DD01963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35BF1F-E4E4-2D79-9A04-1417B66370C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60C44F0-8125-52EB-CE64-51FF33C7FEF2}"/>
              </a:ext>
            </a:extLst>
          </p:cNvPr>
          <p:cNvSpPr>
            <a:spLocks noGrp="1"/>
          </p:cNvSpPr>
          <p:nvPr>
            <p:ph type="body" idx="1"/>
          </p:nvPr>
        </p:nvSpPr>
        <p:spPr/>
        <p:txBody>
          <a:bodyPr/>
          <a:lstStyle/>
          <a:p>
            <a:endParaRPr lang="en-US"/>
          </a:p>
        </p:txBody>
      </p:sp>
      <p:sp>
        <p:nvSpPr>
          <p:cNvPr id="6" name="Header Placeholder 5">
            <a:extLst>
              <a:ext uri="{FF2B5EF4-FFF2-40B4-BE49-F238E27FC236}">
                <a16:creationId xmlns:a16="http://schemas.microsoft.com/office/drawing/2014/main" id="{E7DFBD22-A5EE-A88F-FFF5-FE2015A34BC1}"/>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9486622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5570A-0AC4-AC94-738B-B1CC0DBE2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74331F-BA91-FB33-5C8B-ED8917F94E6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475BBBA-47F2-32AF-5D89-9E4AD45666B4}"/>
              </a:ext>
            </a:extLst>
          </p:cNvPr>
          <p:cNvSpPr>
            <a:spLocks noGrp="1"/>
          </p:cNvSpPr>
          <p:nvPr>
            <p:ph type="body" idx="1"/>
          </p:nvPr>
        </p:nvSpPr>
        <p:spPr/>
        <p:txBody>
          <a:bodyPr/>
          <a:lstStyle/>
          <a:p>
            <a:endParaRPr lang="en-US"/>
          </a:p>
        </p:txBody>
      </p:sp>
      <p:sp>
        <p:nvSpPr>
          <p:cNvPr id="6" name="Header Placeholder 5">
            <a:extLst>
              <a:ext uri="{FF2B5EF4-FFF2-40B4-BE49-F238E27FC236}">
                <a16:creationId xmlns:a16="http://schemas.microsoft.com/office/drawing/2014/main" id="{A2EDC6B7-204F-A9C0-B350-DE3D5FBE797C}"/>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85159871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FC756-6945-74FC-82CB-0260445038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AAA63F-062B-4530-4D09-E642B1D0351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A84ED70-4F23-23A8-D927-6BDF41AB1548}"/>
              </a:ext>
            </a:extLst>
          </p:cNvPr>
          <p:cNvSpPr>
            <a:spLocks noGrp="1"/>
          </p:cNvSpPr>
          <p:nvPr>
            <p:ph type="body" idx="1"/>
          </p:nvPr>
        </p:nvSpPr>
        <p:spPr/>
        <p:txBody>
          <a:bodyPr/>
          <a:lstStyle/>
          <a:p>
            <a:endParaRPr lang="en-US"/>
          </a:p>
        </p:txBody>
      </p:sp>
      <p:sp>
        <p:nvSpPr>
          <p:cNvPr id="6" name="Header Placeholder 5">
            <a:extLst>
              <a:ext uri="{FF2B5EF4-FFF2-40B4-BE49-F238E27FC236}">
                <a16:creationId xmlns:a16="http://schemas.microsoft.com/office/drawing/2014/main" id="{A1916A3F-9CC4-8986-E370-9BD607C31761}"/>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109693122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C0E86-5B79-133A-9A62-D696CF241E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F19089-2309-6658-B951-6E3B19567C6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C2A7349-29E8-D65C-8AC4-F8CBC7FD4911}"/>
              </a:ext>
            </a:extLst>
          </p:cNvPr>
          <p:cNvSpPr>
            <a:spLocks noGrp="1"/>
          </p:cNvSpPr>
          <p:nvPr>
            <p:ph type="body" idx="1"/>
          </p:nvPr>
        </p:nvSpPr>
        <p:spPr/>
        <p:txBody>
          <a:bodyPr/>
          <a:lstStyle/>
          <a:p>
            <a:endParaRPr lang="en-US"/>
          </a:p>
        </p:txBody>
      </p:sp>
      <p:sp>
        <p:nvSpPr>
          <p:cNvPr id="6" name="Header Placeholder 5">
            <a:extLst>
              <a:ext uri="{FF2B5EF4-FFF2-40B4-BE49-F238E27FC236}">
                <a16:creationId xmlns:a16="http://schemas.microsoft.com/office/drawing/2014/main" id="{1CA0686F-67F9-3D33-C1B1-654C9CAF1E19}"/>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15993116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589788" y="518159"/>
            <a:ext cx="7213092" cy="50291"/>
          </a:xfrm>
          <a:prstGeom prst="rect">
            <a:avLst/>
          </a:prstGeom>
        </p:spPr>
      </p:pic>
      <p:sp>
        <p:nvSpPr>
          <p:cNvPr id="17" name="bg object 17"/>
          <p:cNvSpPr/>
          <p:nvPr/>
        </p:nvSpPr>
        <p:spPr>
          <a:xfrm>
            <a:off x="589788" y="569976"/>
            <a:ext cx="11376025" cy="0"/>
          </a:xfrm>
          <a:custGeom>
            <a:avLst/>
            <a:gdLst/>
            <a:ahLst/>
            <a:cxnLst/>
            <a:rect l="l" t="t" r="r" b="b"/>
            <a:pathLst>
              <a:path w="11376025">
                <a:moveTo>
                  <a:pt x="0" y="0"/>
                </a:moveTo>
                <a:lnTo>
                  <a:pt x="11376025" y="0"/>
                </a:lnTo>
              </a:path>
            </a:pathLst>
          </a:custGeom>
          <a:ln w="6350">
            <a:solidFill>
              <a:srgbClr val="A6A6A6"/>
            </a:solidFill>
          </a:ln>
        </p:spPr>
        <p:txBody>
          <a:bodyPr wrap="square" lIns="0" tIns="0" rIns="0" bIns="0" rtlCol="0"/>
          <a:lstStyle/>
          <a:p>
            <a:endParaRPr/>
          </a:p>
        </p:txBody>
      </p:sp>
      <p:pic>
        <p:nvPicPr>
          <p:cNvPr id="18" name="bg object 18"/>
          <p:cNvPicPr/>
          <p:nvPr/>
        </p:nvPicPr>
        <p:blipFill>
          <a:blip r:embed="rId3" cstate="print"/>
          <a:stretch>
            <a:fillRect/>
          </a:stretch>
        </p:blipFill>
        <p:spPr>
          <a:xfrm>
            <a:off x="0" y="0"/>
            <a:ext cx="12191999" cy="6857997"/>
          </a:xfrm>
          <a:prstGeom prst="rect">
            <a:avLst/>
          </a:prstGeom>
        </p:spPr>
      </p:pic>
      <p:pic>
        <p:nvPicPr>
          <p:cNvPr id="19" name="bg object 19"/>
          <p:cNvPicPr/>
          <p:nvPr/>
        </p:nvPicPr>
        <p:blipFill>
          <a:blip r:embed="rId4" cstate="print"/>
          <a:stretch>
            <a:fillRect/>
          </a:stretch>
        </p:blipFill>
        <p:spPr>
          <a:xfrm>
            <a:off x="397764" y="48767"/>
            <a:ext cx="2496312" cy="1440179"/>
          </a:xfrm>
          <a:prstGeom prst="rect">
            <a:avLst/>
          </a:prstGeom>
        </p:spPr>
      </p:pic>
      <p:pic>
        <p:nvPicPr>
          <p:cNvPr id="20" name="bg object 20"/>
          <p:cNvPicPr/>
          <p:nvPr/>
        </p:nvPicPr>
        <p:blipFill>
          <a:blip r:embed="rId5" cstate="print"/>
          <a:stretch>
            <a:fillRect/>
          </a:stretch>
        </p:blipFill>
        <p:spPr>
          <a:xfrm>
            <a:off x="4940807" y="2086355"/>
            <a:ext cx="6640068" cy="99060"/>
          </a:xfrm>
          <a:prstGeom prst="rect">
            <a:avLst/>
          </a:prstGeom>
        </p:spPr>
      </p:pic>
      <p:sp>
        <p:nvSpPr>
          <p:cNvPr id="2" name="Holder 2"/>
          <p:cNvSpPr>
            <a:spLocks noGrp="1"/>
          </p:cNvSpPr>
          <p:nvPr>
            <p:ph type="ctrTitle"/>
          </p:nvPr>
        </p:nvSpPr>
        <p:spPr>
          <a:xfrm>
            <a:off x="6319520" y="1371346"/>
            <a:ext cx="5246370" cy="654025"/>
          </a:xfrm>
          <a:prstGeom prst="rect">
            <a:avLst/>
          </a:prstGeom>
        </p:spPr>
        <p:txBody>
          <a:bodyPr wrap="square" lIns="0" tIns="0" rIns="0" bIns="0">
            <a:spAutoFit/>
          </a:bodyPr>
          <a:lstStyle>
            <a:lvl1pPr>
              <a:defRPr sz="4250" b="1" i="0">
                <a:solidFill>
                  <a:srgbClr val="006FC0"/>
                </a:solidFill>
                <a:latin typeface="Adani Regular" panose="02000503000000020004" pitchFamily="2" charset="0"/>
                <a:cs typeface="Arial"/>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a:latin typeface="Adani Regular" panose="02000503000000020004" pitchFamily="2" charset="0"/>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endParaRPr lang="en-US"/>
          </a:p>
        </p:txBody>
      </p:sp>
    </p:spTree>
    <p:extLst>
      <p:ext uri="{BB962C8B-B14F-4D97-AF65-F5344CB8AC3E}">
        <p14:creationId xmlns:p14="http://schemas.microsoft.com/office/powerpoint/2010/main" val="1170504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E8EC113A-FF9F-9CE2-D97C-814E3B6DD2DD}"/>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a:t>
            </a:fld>
            <a:endParaRPr lang="en-IN"/>
          </a:p>
        </p:txBody>
      </p:sp>
    </p:spTree>
    <p:extLst>
      <p:ext uri="{BB962C8B-B14F-4D97-AF65-F5344CB8AC3E}">
        <p14:creationId xmlns:p14="http://schemas.microsoft.com/office/powerpoint/2010/main" val="743944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A3673-ED7E-D140-BEB7-45A5D72802D7}"/>
              </a:ext>
            </a:extLst>
          </p:cNvPr>
          <p:cNvSpPr>
            <a:spLocks noGrp="1"/>
          </p:cNvSpPr>
          <p:nvPr>
            <p:ph type="ctrTitle"/>
          </p:nvPr>
        </p:nvSpPr>
        <p:spPr>
          <a:xfrm>
            <a:off x="1524000" y="1663304"/>
            <a:ext cx="9144000" cy="1846659"/>
          </a:xfrm>
          <a:prstGeom prst="rect">
            <a:avLst/>
          </a:prstGeom>
        </p:spPr>
        <p:txBody>
          <a:bodyPr anchor="b"/>
          <a:lstStyle>
            <a:lvl1pPr algn="ctr">
              <a:defRPr sz="6000">
                <a:latin typeface="Adani Regular" panose="02000503000000020004" pitchFamily="2" charset="0"/>
              </a:defRPr>
            </a:lvl1pPr>
          </a:lstStyle>
          <a:p>
            <a:r>
              <a:rPr lang="en-US"/>
              <a:t>Click to edit Master title style</a:t>
            </a:r>
          </a:p>
        </p:txBody>
      </p:sp>
      <p:sp>
        <p:nvSpPr>
          <p:cNvPr id="3" name="Subtitle 2">
            <a:extLst>
              <a:ext uri="{FF2B5EF4-FFF2-40B4-BE49-F238E27FC236}">
                <a16:creationId xmlns:a16="http://schemas.microsoft.com/office/drawing/2014/main" id="{15C17888-9A6C-A7C3-9F88-C87B575D78B6}"/>
              </a:ext>
            </a:extLst>
          </p:cNvPr>
          <p:cNvSpPr>
            <a:spLocks noGrp="1"/>
          </p:cNvSpPr>
          <p:nvPr>
            <p:ph type="subTitle" idx="1"/>
          </p:nvPr>
        </p:nvSpPr>
        <p:spPr>
          <a:xfrm>
            <a:off x="1524000" y="3602038"/>
            <a:ext cx="9144000" cy="369332"/>
          </a:xfrm>
          <a:prstGeom prst="rect">
            <a:avLst/>
          </a:prstGeom>
        </p:spPr>
        <p:txBody>
          <a:bodyPr/>
          <a:lstStyle>
            <a:lvl1pPr marL="0" indent="0" algn="ctr">
              <a:buNone/>
              <a:defRPr sz="2400">
                <a:latin typeface="Adani Regular" panose="02000503000000020004"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Slide Number Placeholder 3">
            <a:extLst>
              <a:ext uri="{FF2B5EF4-FFF2-40B4-BE49-F238E27FC236}">
                <a16:creationId xmlns:a16="http://schemas.microsoft.com/office/drawing/2014/main" id="{35F5B188-284F-B4A6-A3A7-E4D364DA8020}"/>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a:t>
            </a:fld>
            <a:endParaRPr lang="en-IN"/>
          </a:p>
        </p:txBody>
      </p:sp>
    </p:spTree>
    <p:extLst>
      <p:ext uri="{BB962C8B-B14F-4D97-AF65-F5344CB8AC3E}">
        <p14:creationId xmlns:p14="http://schemas.microsoft.com/office/powerpoint/2010/main" val="2475350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2EFA596E-9C25-4B56-8825-17376C69494E}"/>
              </a:ext>
            </a:extLst>
          </p:cNvPr>
          <p:cNvCxnSpPr/>
          <p:nvPr userDrawn="1"/>
        </p:nvCxnSpPr>
        <p:spPr>
          <a:xfrm>
            <a:off x="623394" y="599259"/>
            <a:ext cx="10404231" cy="0"/>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F6BEC392-99E6-4439-9F09-DF75C16D7C3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997635" y="6337895"/>
            <a:ext cx="192925" cy="384048"/>
          </a:xfrm>
          <a:prstGeom prst="rect">
            <a:avLst/>
          </a:prstGeom>
        </p:spPr>
      </p:pic>
      <p:pic>
        <p:nvPicPr>
          <p:cNvPr id="18" name="Picture 17">
            <a:extLst>
              <a:ext uri="{FF2B5EF4-FFF2-40B4-BE49-F238E27FC236}">
                <a16:creationId xmlns:a16="http://schemas.microsoft.com/office/drawing/2014/main" id="{FE9E3304-643A-4DC4-92C5-DDC74D96CAD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161247" y="304775"/>
            <a:ext cx="669296" cy="449547"/>
          </a:xfrm>
          <a:prstGeom prst="rect">
            <a:avLst/>
          </a:prstGeom>
        </p:spPr>
      </p:pic>
      <p:cxnSp>
        <p:nvCxnSpPr>
          <p:cNvPr id="20" name="Straight Connector 19">
            <a:extLst>
              <a:ext uri="{FF2B5EF4-FFF2-40B4-BE49-F238E27FC236}">
                <a16:creationId xmlns:a16="http://schemas.microsoft.com/office/drawing/2014/main" id="{86D14F8A-0647-42E2-8F61-39C14DCBE946}"/>
              </a:ext>
            </a:extLst>
          </p:cNvPr>
          <p:cNvCxnSpPr/>
          <p:nvPr userDrawn="1"/>
        </p:nvCxnSpPr>
        <p:spPr>
          <a:xfrm>
            <a:off x="11892644" y="6532199"/>
            <a:ext cx="78544" cy="0"/>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Slide Number Placeholder 3">
            <a:extLst>
              <a:ext uri="{FF2B5EF4-FFF2-40B4-BE49-F238E27FC236}">
                <a16:creationId xmlns:a16="http://schemas.microsoft.com/office/drawing/2014/main" id="{9F2FD689-93D7-F940-D85F-C3E9E11B6F06}"/>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a:t>
            </a:fld>
            <a:endParaRPr lang="en-IN"/>
          </a:p>
        </p:txBody>
      </p:sp>
    </p:spTree>
    <p:extLst>
      <p:ext uri="{BB962C8B-B14F-4D97-AF65-F5344CB8AC3E}">
        <p14:creationId xmlns:p14="http://schemas.microsoft.com/office/powerpoint/2010/main" val="2474182394"/>
      </p:ext>
    </p:extLst>
  </p:cSld>
  <p:clrMapOvr>
    <a:masterClrMapping/>
  </p:clrMapOvr>
  <p:extLst>
    <p:ext uri="{DCECCB84-F9BA-43D5-87BE-67443E8EF086}">
      <p15:sldGuideLst xmlns:p15="http://schemas.microsoft.com/office/powerpoint/2012/main">
        <p15:guide id="1" orient="horz" pos="764" userDrawn="1">
          <p15:clr>
            <a:srgbClr val="FBAE40"/>
          </p15:clr>
        </p15:guide>
        <p15:guide id="2" pos="283" userDrawn="1">
          <p15:clr>
            <a:srgbClr val="FBAE40"/>
          </p15:clr>
        </p15:guide>
        <p15:guide id="3" pos="5120" userDrawn="1">
          <p15:clr>
            <a:srgbClr val="FBAE40"/>
          </p15:clr>
        </p15:guide>
        <p15:guide id="4" pos="9957" userDrawn="1">
          <p15:clr>
            <a:srgbClr val="FBAE40"/>
          </p15:clr>
        </p15:guide>
        <p15:guide id="5" orient="horz" pos="5299" userDrawn="1">
          <p15:clr>
            <a:srgbClr val="FBAE40"/>
          </p15:clr>
        </p15:guide>
        <p15:guide id="6" orient="horz"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6617" y="-8246"/>
            <a:ext cx="10829385" cy="769676"/>
          </a:xfrm>
        </p:spPr>
        <p:txBody>
          <a:bodyPr anchor="b">
            <a:noAutofit/>
          </a:bodyPr>
          <a:lstStyle>
            <a:lvl1pPr>
              <a:defRPr sz="2200">
                <a:solidFill>
                  <a:srgbClr val="922682"/>
                </a:solidFill>
                <a:latin typeface="Adani Medium" panose="02000503000000020004" pitchFamily="2" charset="0"/>
              </a:defRPr>
            </a:lvl1pPr>
          </a:lstStyle>
          <a:p>
            <a:r>
              <a:rPr lang="en-US"/>
              <a:t>Click to edit Master title style</a:t>
            </a:r>
            <a:endParaRPr lang="en-IN"/>
          </a:p>
        </p:txBody>
      </p:sp>
      <p:grpSp>
        <p:nvGrpSpPr>
          <p:cNvPr id="3" name="Group 2">
            <a:extLst>
              <a:ext uri="{FF2B5EF4-FFF2-40B4-BE49-F238E27FC236}">
                <a16:creationId xmlns:a16="http://schemas.microsoft.com/office/drawing/2014/main" id="{F4BD06E0-24B3-41D4-9656-42FDF4FECC35}"/>
              </a:ext>
            </a:extLst>
          </p:cNvPr>
          <p:cNvGrpSpPr/>
          <p:nvPr userDrawn="1"/>
        </p:nvGrpSpPr>
        <p:grpSpPr>
          <a:xfrm>
            <a:off x="391851" y="746818"/>
            <a:ext cx="10744149" cy="60959"/>
            <a:chOff x="391437" y="755062"/>
            <a:chExt cx="10692000" cy="60959"/>
          </a:xfrm>
        </p:grpSpPr>
        <p:cxnSp>
          <p:nvCxnSpPr>
            <p:cNvPr id="10" name="Straight Connector 9"/>
            <p:cNvCxnSpPr/>
            <p:nvPr/>
          </p:nvCxnSpPr>
          <p:spPr>
            <a:xfrm>
              <a:off x="391437" y="816021"/>
              <a:ext cx="10692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2" descr="D:\Corp Comm Department Work 2015\Brand Adani 2012\adani_gradient_master.jp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91437" y="755062"/>
              <a:ext cx="7269694" cy="60959"/>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Slide Number Placeholder 3">
            <a:extLst>
              <a:ext uri="{FF2B5EF4-FFF2-40B4-BE49-F238E27FC236}">
                <a16:creationId xmlns:a16="http://schemas.microsoft.com/office/drawing/2014/main" id="{799D2EB3-5DD5-4CC7-3B2F-850E3091AB82}"/>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a:t>
            </a:fld>
            <a:endParaRPr lang="en-IN"/>
          </a:p>
        </p:txBody>
      </p:sp>
    </p:spTree>
    <p:extLst>
      <p:ext uri="{BB962C8B-B14F-4D97-AF65-F5344CB8AC3E}">
        <p14:creationId xmlns:p14="http://schemas.microsoft.com/office/powerpoint/2010/main" val="116900280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573">
          <p15:clr>
            <a:srgbClr val="FBAE40"/>
          </p15:clr>
        </p15:guide>
        <p15:guide id="3" pos="3840">
          <p15:clr>
            <a:srgbClr val="FBAE40"/>
          </p15:clr>
        </p15:guide>
        <p15:guide id="4" pos="7468">
          <p15:clr>
            <a:srgbClr val="FBAE40"/>
          </p15:clr>
        </p15:guide>
        <p15:guide id="5" orient="horz" pos="3974">
          <p15:clr>
            <a:srgbClr val="FBAE40"/>
          </p15:clr>
        </p15:guide>
        <p15:guide id="6" orient="horz" pos="2160">
          <p15:clr>
            <a:srgbClr val="FBAE40"/>
          </p15:clr>
        </p15:guide>
        <p15:guide id="7" pos="212">
          <p15:clr>
            <a:srgbClr val="FBAE40"/>
          </p15:clr>
        </p15:guide>
        <p15:guide id="8" pos="66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A3673-ED7E-D140-BEB7-45A5D72802D7}"/>
              </a:ext>
            </a:extLst>
          </p:cNvPr>
          <p:cNvSpPr>
            <a:spLocks noGrp="1"/>
          </p:cNvSpPr>
          <p:nvPr>
            <p:ph type="ctrTitle"/>
          </p:nvPr>
        </p:nvSpPr>
        <p:spPr>
          <a:xfrm>
            <a:off x="478971" y="107818"/>
            <a:ext cx="11498943" cy="424449"/>
          </a:xfrm>
          <a:prstGeom prst="rect">
            <a:avLst/>
          </a:prstGeom>
          <a:noFill/>
        </p:spPr>
        <p:txBody>
          <a:bodyPr vert="horz" wrap="square" lIns="91157" tIns="45580" rIns="91157" bIns="45580" rtlCol="0" anchor="b">
            <a:spAutoFit/>
          </a:bodyPr>
          <a:lstStyle>
            <a:lvl1pPr>
              <a:defRPr lang="en-US" sz="2400" b="1">
                <a:gradFill>
                  <a:gsLst>
                    <a:gs pos="9735">
                      <a:schemeClr val="tx2"/>
                    </a:gs>
                    <a:gs pos="63000">
                      <a:srgbClr val="8E278F"/>
                    </a:gs>
                    <a:gs pos="38000">
                      <a:srgbClr val="57499E"/>
                    </a:gs>
                  </a:gsLst>
                  <a:lin ang="0" scaled="0"/>
                </a:gradFill>
                <a:ea typeface="+mn-ea"/>
                <a:cs typeface="+mn-cs"/>
              </a:defRPr>
            </a:lvl1pPr>
          </a:lstStyle>
          <a:p>
            <a:pPr marL="109192" lvl="0" defTabSz="911377"/>
            <a:r>
              <a:rPr lang="en-US"/>
              <a:t>Click to edit Master title style</a:t>
            </a:r>
          </a:p>
        </p:txBody>
      </p:sp>
      <p:sp>
        <p:nvSpPr>
          <p:cNvPr id="3" name="Subtitle 2">
            <a:extLst>
              <a:ext uri="{FF2B5EF4-FFF2-40B4-BE49-F238E27FC236}">
                <a16:creationId xmlns:a16="http://schemas.microsoft.com/office/drawing/2014/main" id="{15C17888-9A6C-A7C3-9F88-C87B575D78B6}"/>
              </a:ext>
            </a:extLst>
          </p:cNvPr>
          <p:cNvSpPr>
            <a:spLocks noGrp="1"/>
          </p:cNvSpPr>
          <p:nvPr>
            <p:ph type="subTitle" idx="1"/>
          </p:nvPr>
        </p:nvSpPr>
        <p:spPr>
          <a:xfrm>
            <a:off x="478970" y="655637"/>
            <a:ext cx="11498943" cy="365125"/>
          </a:xfrm>
          <a:prstGeom prst="rect">
            <a:avLst/>
          </a:prstGeom>
        </p:spPr>
        <p:txBody>
          <a:bodyPr/>
          <a:lstStyle>
            <a:lvl1pPr marL="0" indent="0" algn="l">
              <a:buNone/>
              <a:defRPr sz="2000" b="1">
                <a:solidFill>
                  <a:srgbClr val="7030A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Content Placeholder 2">
            <a:extLst>
              <a:ext uri="{FF2B5EF4-FFF2-40B4-BE49-F238E27FC236}">
                <a16:creationId xmlns:a16="http://schemas.microsoft.com/office/drawing/2014/main" id="{311FDC09-5BC8-B895-A291-B9A8024BBADF}"/>
              </a:ext>
            </a:extLst>
          </p:cNvPr>
          <p:cNvSpPr>
            <a:spLocks noGrp="1"/>
          </p:cNvSpPr>
          <p:nvPr>
            <p:ph idx="13"/>
          </p:nvPr>
        </p:nvSpPr>
        <p:spPr>
          <a:xfrm>
            <a:off x="478969" y="1144132"/>
            <a:ext cx="11498943" cy="5061860"/>
          </a:xfrm>
          <a:prstGeom prst="rect">
            <a:avLst/>
          </a:prstGeom>
        </p:spPr>
        <p:txBody>
          <a:bodyPr/>
          <a:lstStyle>
            <a:lvl1pPr marL="228600" indent="-228600">
              <a:buFont typeface="Wingdings" panose="05000000000000000000" pitchFamily="2" charset="2"/>
              <a:buChar char="§"/>
              <a:defRPr sz="2000"/>
            </a:lvl1pPr>
            <a:lvl2pPr marL="685800" indent="-228600">
              <a:buFont typeface="Wingdings" panose="05000000000000000000" pitchFamily="2" charset="2"/>
              <a:buChar char="§"/>
              <a:defRPr sz="1800"/>
            </a:lvl2pPr>
            <a:lvl3pPr marL="1143000" indent="-228600">
              <a:buFont typeface="Wingdings" panose="05000000000000000000" pitchFamily="2" charset="2"/>
              <a:buChar char="§"/>
              <a:defRPr sz="1600"/>
            </a:lvl3pPr>
            <a:lvl4pPr marL="1600200" indent="-228600">
              <a:buFont typeface="Wingdings" panose="05000000000000000000" pitchFamily="2" charset="2"/>
              <a:buChar char="§"/>
              <a:defRPr sz="1400"/>
            </a:lvl4pPr>
            <a:lvl5pPr marL="2057400" indent="-228600">
              <a:buFont typeface="Wingdings" panose="05000000000000000000" pitchFamily="2"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615FF0D2-0874-80AB-5E01-138E3F27803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997635" y="6352804"/>
            <a:ext cx="194366" cy="386917"/>
          </a:xfrm>
          <a:prstGeom prst="rect">
            <a:avLst/>
          </a:prstGeom>
        </p:spPr>
      </p:pic>
      <p:cxnSp>
        <p:nvCxnSpPr>
          <p:cNvPr id="6" name="Straight Connector 5">
            <a:extLst>
              <a:ext uri="{FF2B5EF4-FFF2-40B4-BE49-F238E27FC236}">
                <a16:creationId xmlns:a16="http://schemas.microsoft.com/office/drawing/2014/main" id="{F0D8660E-D71A-5DE1-EB36-594448D56745}"/>
              </a:ext>
            </a:extLst>
          </p:cNvPr>
          <p:cNvCxnSpPr>
            <a:cxnSpLocks/>
          </p:cNvCxnSpPr>
          <p:nvPr userDrawn="1"/>
        </p:nvCxnSpPr>
        <p:spPr>
          <a:xfrm>
            <a:off x="418264" y="6342507"/>
            <a:ext cx="10969495"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B6B356C8-C561-9F7E-9DB5-EBD7A4CFA936}"/>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a:t>
            </a:fld>
            <a:endParaRPr lang="en-IN"/>
          </a:p>
        </p:txBody>
      </p:sp>
    </p:spTree>
    <p:extLst>
      <p:ext uri="{BB962C8B-B14F-4D97-AF65-F5344CB8AC3E}">
        <p14:creationId xmlns:p14="http://schemas.microsoft.com/office/powerpoint/2010/main" val="76691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4_Section Header">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1D4B4AB-B102-4B52-9298-4FDE1139D9A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017"/>
            <a:ext cx="12192000" cy="6855967"/>
          </a:xfrm>
          <a:prstGeom prst="rect">
            <a:avLst/>
          </a:prstGeom>
        </p:spPr>
      </p:pic>
      <p:sp>
        <p:nvSpPr>
          <p:cNvPr id="2" name="Title 1"/>
          <p:cNvSpPr>
            <a:spLocks noGrp="1"/>
          </p:cNvSpPr>
          <p:nvPr>
            <p:ph type="title"/>
          </p:nvPr>
        </p:nvSpPr>
        <p:spPr>
          <a:xfrm>
            <a:off x="914400" y="4038600"/>
            <a:ext cx="10363200" cy="1362075"/>
          </a:xfrm>
        </p:spPr>
        <p:txBody>
          <a:bodyPr anchor="t">
            <a:normAutofit/>
          </a:bodyPr>
          <a:lstStyle>
            <a:lvl1pPr algn="l">
              <a:defRPr sz="3733" b="0" cap="none" baseline="0">
                <a:solidFill>
                  <a:schemeClr val="bg1"/>
                </a:solidFill>
                <a:latin typeface="Adani Regular" pitchFamily="2" charset="0"/>
              </a:defRPr>
            </a:lvl1pPr>
          </a:lstStyle>
          <a:p>
            <a:r>
              <a:rPr lang="en-GB"/>
              <a:t>Click to edit Master title style</a:t>
            </a:r>
            <a:endParaRPr lang="en-US"/>
          </a:p>
        </p:txBody>
      </p:sp>
      <p:sp>
        <p:nvSpPr>
          <p:cNvPr id="6" name="Slide Number Placeholder 5"/>
          <p:cNvSpPr>
            <a:spLocks noGrp="1"/>
          </p:cNvSpPr>
          <p:nvPr>
            <p:ph type="sldNum" sz="quarter" idx="12"/>
          </p:nvPr>
        </p:nvSpPr>
        <p:spPr/>
        <p:txBody>
          <a:bodyPr/>
          <a:lstStyle/>
          <a:p>
            <a:fld id="{9759575B-79F4-462B-BD8B-0038BD3A3767}" type="slidenum">
              <a:rPr lang="en-US" smtClean="0"/>
              <a:t>‹#›</a:t>
            </a:fld>
            <a:endParaRPr lang="en-US"/>
          </a:p>
        </p:txBody>
      </p:sp>
      <p:pic>
        <p:nvPicPr>
          <p:cNvPr id="7" name="Picture 6" descr="Logo, company name&#10;&#10;Description automatically generated">
            <a:extLst>
              <a:ext uri="{FF2B5EF4-FFF2-40B4-BE49-F238E27FC236}">
                <a16:creationId xmlns:a16="http://schemas.microsoft.com/office/drawing/2014/main" id="{B635AB5C-6398-4F97-964A-F3E7F88C50C7}"/>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t="52733"/>
          <a:stretch/>
        </p:blipFill>
        <p:spPr>
          <a:xfrm>
            <a:off x="3977928" y="2108824"/>
            <a:ext cx="4200560" cy="1632608"/>
          </a:xfrm>
          <a:prstGeom prst="rect">
            <a:avLst/>
          </a:prstGeom>
        </p:spPr>
      </p:pic>
    </p:spTree>
    <p:extLst>
      <p:ext uri="{BB962C8B-B14F-4D97-AF65-F5344CB8AC3E}">
        <p14:creationId xmlns:p14="http://schemas.microsoft.com/office/powerpoint/2010/main" val="2613953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No Image - Title Cov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5BEDE2-0E01-44E6-ACC3-05ED4931C9A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81908" y="1918905"/>
            <a:ext cx="3053323" cy="2510651"/>
          </a:xfrm>
          <a:prstGeom prst="rect">
            <a:avLst/>
          </a:prstGeom>
        </p:spPr>
      </p:pic>
      <p:sp>
        <p:nvSpPr>
          <p:cNvPr id="5" name="Subtitle 3"/>
          <p:cNvSpPr>
            <a:spLocks noGrp="1"/>
          </p:cNvSpPr>
          <p:nvPr>
            <p:ph type="subTitle" idx="1" hasCustomPrompt="1"/>
          </p:nvPr>
        </p:nvSpPr>
        <p:spPr>
          <a:xfrm>
            <a:off x="5343051" y="2108825"/>
            <a:ext cx="6840912" cy="1470671"/>
          </a:xfrm>
        </p:spPr>
        <p:txBody>
          <a:bodyPr>
            <a:normAutofit/>
          </a:bodyPr>
          <a:lstStyle>
            <a:lvl1pPr marL="0" indent="0">
              <a:buNone/>
              <a:defRPr baseline="0">
                <a:latin typeface="Adani Medium" pitchFamily="2" charset="0"/>
              </a:defRPr>
            </a:lvl1pPr>
          </a:lstStyle>
          <a:p>
            <a:pPr algn="l"/>
            <a:r>
              <a:rPr lang="en-IN">
                <a:solidFill>
                  <a:srgbClr val="000000"/>
                </a:solidFill>
              </a:rPr>
              <a:t>Click to add title</a:t>
            </a:r>
          </a:p>
        </p:txBody>
      </p:sp>
      <p:pic>
        <p:nvPicPr>
          <p:cNvPr id="6" name="Picture 2" descr="D:\Corp Comm Department Work 2015\Brand Adani 2012\adani_gradient_master.jp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5495920" y="3549017"/>
            <a:ext cx="6696080" cy="60959"/>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3">
            <a:extLst>
              <a:ext uri="{FF2B5EF4-FFF2-40B4-BE49-F238E27FC236}">
                <a16:creationId xmlns:a16="http://schemas.microsoft.com/office/drawing/2014/main" id="{BE0FA753-E354-3768-7206-BC13819FAF18}"/>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a:t>
            </a:fld>
            <a:endParaRPr lang="en-IN"/>
          </a:p>
        </p:txBody>
      </p:sp>
    </p:spTree>
    <p:extLst>
      <p:ext uri="{BB962C8B-B14F-4D97-AF65-F5344CB8AC3E}">
        <p14:creationId xmlns:p14="http://schemas.microsoft.com/office/powerpoint/2010/main" val="961537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IN"/>
          </a:p>
        </p:txBody>
      </p:sp>
      <p:sp>
        <p:nvSpPr>
          <p:cNvPr id="3" name="Content Placeholder 2"/>
          <p:cNvSpPr>
            <a:spLocks noGrp="1"/>
          </p:cNvSpPr>
          <p:nvPr>
            <p:ph idx="1"/>
          </p:nvPr>
        </p:nvSpPr>
        <p:spPr>
          <a:xfrm>
            <a:off x="609600" y="1663405"/>
            <a:ext cx="10972800" cy="4525963"/>
          </a:xfrm>
        </p:spPr>
        <p:txBody>
          <a:bodyPr>
            <a:normAutofit/>
          </a:bodyPr>
          <a:lstStyle>
            <a:lvl1pPr>
              <a:defRPr sz="3733"/>
            </a:lvl1pPr>
            <a:lvl2pPr>
              <a:defRPr sz="3200"/>
            </a:lvl2pPr>
            <a:lvl3pPr>
              <a:defRPr sz="2667"/>
            </a:lvl3pPr>
            <a:lvl4pPr>
              <a:defRPr sz="2400"/>
            </a:lvl4pPr>
            <a:lvl5pPr>
              <a:defRPr sz="2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p:cNvSpPr>
            <a:spLocks noGrp="1"/>
          </p:cNvSpPr>
          <p:nvPr>
            <p:ph type="dt" sz="half" idx="10"/>
          </p:nvPr>
        </p:nvSpPr>
        <p:spPr/>
        <p:txBody>
          <a:bodyPr/>
          <a:lstStyle/>
          <a:p>
            <a:endParaRPr lang="en-IN"/>
          </a:p>
        </p:txBody>
      </p:sp>
      <p:sp>
        <p:nvSpPr>
          <p:cNvPr id="6" name="Slide Number Placeholder 5"/>
          <p:cNvSpPr>
            <a:spLocks noGrp="1"/>
          </p:cNvSpPr>
          <p:nvPr>
            <p:ph type="sldNum" sz="quarter" idx="12"/>
          </p:nvPr>
        </p:nvSpPr>
        <p:spPr/>
        <p:txBody>
          <a:bodyPr/>
          <a:lstStyle/>
          <a:p>
            <a:fld id="{98B285C1-D8A8-4E98-B28C-1FD972D8EC54}" type="slidenum">
              <a:rPr lang="en-IN" smtClean="0"/>
              <a:t>‹#›</a:t>
            </a:fld>
            <a:endParaRPr lang="en-IN"/>
          </a:p>
        </p:txBody>
      </p:sp>
      <p:grpSp>
        <p:nvGrpSpPr>
          <p:cNvPr id="8" name="Group 7"/>
          <p:cNvGrpSpPr/>
          <p:nvPr userDrawn="1"/>
        </p:nvGrpSpPr>
        <p:grpSpPr>
          <a:xfrm>
            <a:off x="575264" y="1441757"/>
            <a:ext cx="11041472" cy="62864"/>
            <a:chOff x="521460" y="771510"/>
            <a:chExt cx="7921056" cy="47148"/>
          </a:xfrm>
        </p:grpSpPr>
        <p:pic>
          <p:nvPicPr>
            <p:cNvPr id="9" name="Picture 2" descr="D:\Corp Comm Department Work 2015\Brand Adani 2012\adani_gradient_master.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1460" y="771510"/>
              <a:ext cx="5022060" cy="45719"/>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p:cNvCxnSpPr/>
            <p:nvPr/>
          </p:nvCxnSpPr>
          <p:spPr>
            <a:xfrm>
              <a:off x="521460" y="818658"/>
              <a:ext cx="7921056"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p:cNvCxnSpPr/>
          <p:nvPr userDrawn="1"/>
        </p:nvCxnSpPr>
        <p:spPr>
          <a:xfrm>
            <a:off x="576768" y="6189368"/>
            <a:ext cx="11039968"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14" name="Picture 13" descr="Logo, company name&#10;&#10;Description automatically generated">
            <a:extLst>
              <a:ext uri="{FF2B5EF4-FFF2-40B4-BE49-F238E27FC236}">
                <a16:creationId xmlns:a16="http://schemas.microsoft.com/office/drawing/2014/main" id="{D33B6580-E0B8-43FD-B516-6E10377D5B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92566" y="6094733"/>
            <a:ext cx="928245" cy="763267"/>
          </a:xfrm>
          <a:prstGeom prst="rect">
            <a:avLst/>
          </a:prstGeom>
        </p:spPr>
      </p:pic>
    </p:spTree>
    <p:extLst>
      <p:ext uri="{BB962C8B-B14F-4D97-AF65-F5344CB8AC3E}">
        <p14:creationId xmlns:p14="http://schemas.microsoft.com/office/powerpoint/2010/main" val="1005599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11" cstate="print"/>
          <a:stretch>
            <a:fillRect/>
          </a:stretch>
        </p:blipFill>
        <p:spPr>
          <a:xfrm>
            <a:off x="589787" y="518159"/>
            <a:ext cx="7213092" cy="50291"/>
          </a:xfrm>
          <a:prstGeom prst="rect">
            <a:avLst/>
          </a:prstGeom>
        </p:spPr>
      </p:pic>
      <p:sp>
        <p:nvSpPr>
          <p:cNvPr id="17" name="bg object 17"/>
          <p:cNvSpPr/>
          <p:nvPr/>
        </p:nvSpPr>
        <p:spPr>
          <a:xfrm>
            <a:off x="589787" y="569975"/>
            <a:ext cx="11376025" cy="0"/>
          </a:xfrm>
          <a:custGeom>
            <a:avLst/>
            <a:gdLst/>
            <a:ahLst/>
            <a:cxnLst/>
            <a:rect l="l" t="t" r="r" b="b"/>
            <a:pathLst>
              <a:path w="11376025">
                <a:moveTo>
                  <a:pt x="0" y="0"/>
                </a:moveTo>
                <a:lnTo>
                  <a:pt x="11376025" y="0"/>
                </a:lnTo>
              </a:path>
            </a:pathLst>
          </a:custGeom>
          <a:ln w="6350">
            <a:solidFill>
              <a:srgbClr val="A6A6A6"/>
            </a:solidFill>
          </a:ln>
        </p:spPr>
        <p:txBody>
          <a:bodyPr wrap="square" lIns="0" tIns="0" rIns="0" bIns="0" rtlCol="0"/>
          <a:lstStyle/>
          <a:p>
            <a:endParaRPr/>
          </a:p>
        </p:txBody>
      </p:sp>
      <p:sp>
        <p:nvSpPr>
          <p:cNvPr id="2" name="Holder 2"/>
          <p:cNvSpPr>
            <a:spLocks noGrp="1"/>
          </p:cNvSpPr>
          <p:nvPr>
            <p:ph type="title"/>
          </p:nvPr>
        </p:nvSpPr>
        <p:spPr>
          <a:xfrm>
            <a:off x="1331467" y="2681427"/>
            <a:ext cx="9079865" cy="676910"/>
          </a:xfrm>
          <a:prstGeom prst="rect">
            <a:avLst/>
          </a:prstGeom>
        </p:spPr>
        <p:txBody>
          <a:bodyPr wrap="square" lIns="0" tIns="0" rIns="0" bIns="0">
            <a:spAutoFit/>
          </a:bodyPr>
          <a:lstStyle>
            <a:lvl1pPr>
              <a:defRPr sz="4250" b="1" i="0">
                <a:solidFill>
                  <a:srgbClr val="006FC0"/>
                </a:solidFill>
                <a:latin typeface="Arial"/>
                <a:cs typeface="Arial"/>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pic>
        <p:nvPicPr>
          <p:cNvPr id="6" name="Picture 5">
            <a:extLst>
              <a:ext uri="{FF2B5EF4-FFF2-40B4-BE49-F238E27FC236}">
                <a16:creationId xmlns:a16="http://schemas.microsoft.com/office/drawing/2014/main" id="{CE9A07D5-EB06-D9FA-05F8-C3843DAF095A}"/>
              </a:ext>
            </a:extLst>
          </p:cNvPr>
          <p:cNvPicPr>
            <a:picLocks noChangeAspect="1"/>
          </p:cNvPicPr>
          <p:nvPr userDrawn="1"/>
        </p:nvPicPr>
        <p:blipFill>
          <a:blip r:embed="rId12" cstate="email">
            <a:extLst>
              <a:ext uri="{28A0092B-C50C-407E-A947-70E740481C1C}">
                <a14:useLocalDpi xmlns:a14="http://schemas.microsoft.com/office/drawing/2010/main"/>
              </a:ext>
            </a:extLst>
          </a:blip>
          <a:stretch>
            <a:fillRect/>
          </a:stretch>
        </p:blipFill>
        <p:spPr>
          <a:xfrm>
            <a:off x="11997635" y="6352804"/>
            <a:ext cx="194366" cy="386917"/>
          </a:xfrm>
          <a:prstGeom prst="rect">
            <a:avLst/>
          </a:prstGeom>
        </p:spPr>
      </p:pic>
      <p:cxnSp>
        <p:nvCxnSpPr>
          <p:cNvPr id="8" name="Straight Connector 7">
            <a:extLst>
              <a:ext uri="{FF2B5EF4-FFF2-40B4-BE49-F238E27FC236}">
                <a16:creationId xmlns:a16="http://schemas.microsoft.com/office/drawing/2014/main" id="{F345D21C-D128-05A0-E723-2419FCDCC9D0}"/>
              </a:ext>
            </a:extLst>
          </p:cNvPr>
          <p:cNvCxnSpPr>
            <a:cxnSpLocks/>
          </p:cNvCxnSpPr>
          <p:nvPr userDrawn="1"/>
        </p:nvCxnSpPr>
        <p:spPr>
          <a:xfrm>
            <a:off x="418264" y="6342507"/>
            <a:ext cx="10969495"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DD2118FD-5B9D-83C4-99A9-CB685AA8E1C5}"/>
              </a:ext>
            </a:extLst>
          </p:cNvPr>
          <p:cNvSpPr>
            <a:spLocks noGrp="1"/>
          </p:cNvSpPr>
          <p:nvPr>
            <p:ph type="sldNum" sz="quarter" idx="4"/>
          </p:nvPr>
        </p:nvSpPr>
        <p:spPr>
          <a:xfrm>
            <a:off x="11683999" y="6488896"/>
            <a:ext cx="493311" cy="365125"/>
          </a:xfrm>
        </p:spPr>
        <p:txBody>
          <a:bodyPr/>
          <a:lstStyle/>
          <a:p>
            <a:fld id="{98B285C1-D8A8-4E98-B28C-1FD972D8EC54}" type="slidenum">
              <a:rPr lang="en-IN" smtClean="0"/>
              <a:t>‹#›</a:t>
            </a:fld>
            <a:endParaRPr lang="en-IN"/>
          </a:p>
        </p:txBody>
      </p:sp>
    </p:spTree>
    <p:extLst>
      <p:ext uri="{BB962C8B-B14F-4D97-AF65-F5344CB8AC3E}">
        <p14:creationId xmlns:p14="http://schemas.microsoft.com/office/powerpoint/2010/main" val="2047543468"/>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2" r:id="rId3"/>
    <p:sldLayoutId id="2147483673" r:id="rId4"/>
    <p:sldLayoutId id="2147483677" r:id="rId5"/>
    <p:sldLayoutId id="2147483678" r:id="rId6"/>
    <p:sldLayoutId id="2147483679" r:id="rId7"/>
    <p:sldLayoutId id="2147483680" r:id="rId8"/>
    <p:sldLayoutId id="2147483681" r:id="rId9"/>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6.xml"/><Relationship Id="rId4" Type="http://schemas.openxmlformats.org/officeDocument/2006/relationships/image" Target="../media/image12.jpeg"/></Relationships>
</file>

<file path=ppt/slides/_rels/slide2.xml.rels><?xml version="1.0" encoding="UTF-8" standalone="yes"?>
<Relationships xmlns="http://schemas.openxmlformats.org/package/2006/relationships"><Relationship Id="rId3" Type="http://schemas.microsoft.com/office/2018/10/relationships/comments" Target="../comments/modernComment_124_674DBD05.xm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7.jpeg"/></Relationships>
</file>

<file path=ppt/slides/_rels/slide3.xml.rels><?xml version="1.0" encoding="UTF-8" standalone="yes"?>
<Relationships xmlns="http://schemas.openxmlformats.org/package/2006/relationships"><Relationship Id="rId2" Type="http://schemas.microsoft.com/office/2018/10/relationships/comments" Target="../comments/modernComment_7FFFFD42_EA4EDC26.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microsoft.com/office/2018/10/relationships/comments" Target="../comments/modernComment_7FFFFCC1_B005C827.xml"/><Relationship Id="rId1" Type="http://schemas.openxmlformats.org/officeDocument/2006/relationships/slideLayout" Target="../slideLayouts/slideLayout9.xml"/><Relationship Id="rId4" Type="http://schemas.openxmlformats.org/officeDocument/2006/relationships/image" Target="../media/image19.jpg"/></Relationships>
</file>

<file path=ppt/slides/_rels/slide5.xml.rels><?xml version="1.0" encoding="UTF-8" standalone="yes"?>
<Relationships xmlns="http://schemas.openxmlformats.org/package/2006/relationships"><Relationship Id="rId3" Type="http://schemas.microsoft.com/office/2018/10/relationships/comments" Target="../comments/modernComment_7FFFFD46_6DEDA17B.xml"/><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microsoft.com/office/2018/10/relationships/comments" Target="../comments/modernComment_7FFFFD56_CECE764.xm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microsoft.com/office/2018/10/relationships/comments" Target="../comments/modernComment_7FFFFC79_4D431C06.xml"/><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hyperlink" Target="https://adaniltd-my.sharepoint.com/personal/30136587_adani_com/Documents/PMO%20-%20BESS%20-%20HO/CPAG%20files/Backup%20files/Engineering/Phase-II_Master%20Log%20for%20AGEL_Battery_04Aug%20data.xlsx?web=1" TargetMode="External"/><Relationship Id="rId4" Type="http://schemas.openxmlformats.org/officeDocument/2006/relationships/image" Target="../media/image26.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7FFFFD31_B83952CE.xm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6.emf"/></Relationships>
</file>

<file path=ppt/slides/_rels/slide15.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hyperlink" Target="https://adaniltd-my.sharepoint.com/personal/30136587_adani_com/Documents/PMO%20-%20BESS%20-%20HO/CPAG%20files/Backup%20files/Civil%20Progress/Progress%20Dashbord_FY26-27_06-Jul.xlsx?web=1" TargetMode="External"/><Relationship Id="rId3" Type="http://schemas.openxmlformats.org/officeDocument/2006/relationships/slide" Target="slide23.xml"/><Relationship Id="rId7"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8.emf"/><Relationship Id="rId5" Type="http://schemas.openxmlformats.org/officeDocument/2006/relationships/chart" Target="../charts/chart1.xml"/><Relationship Id="rId4" Type="http://schemas.openxmlformats.org/officeDocument/2006/relationships/image" Target="../media/image27.emf"/><Relationship Id="rId9" Type="http://schemas.openxmlformats.org/officeDocument/2006/relationships/hyperlink" Target="https://adaniltd-my.sharepoint.com/:x:/r/personal/30136587_adani_com/Documents/PMO%20-%20BESS%20-%20HO/CPAG%20files/Backup%20files/Civil%20Progress/Progress%20Dashbord_FY26-27_06-Jul.xlsx?d=w2daab19432f342bda038c12614143d2f&amp;csf=1&amp;web=1&amp;e=3Px1Oh" TargetMode="External"/></Relationships>
</file>

<file path=ppt/slides/_rels/slide22.xml.rels><?xml version="1.0" encoding="UTF-8" standalone="yes"?>
<Relationships xmlns="http://schemas.openxmlformats.org/package/2006/relationships"><Relationship Id="rId3" Type="http://schemas.microsoft.com/office/2018/10/relationships/comments" Target="../comments/modernComment_7FFFFD5E_197E665A.xml"/><Relationship Id="rId7" Type="http://schemas.openxmlformats.org/officeDocument/2006/relationships/hyperlink" Target="https://adaniltd-my.sharepoint.com/:x:/r/personal/30136587_adani_com/Documents/PMO%20-%20BESS%20-%20HO/CPAG%20files/Backup%20files/Civil%20Progress/Progress%20Dashbord_FY26-27_06-Jul.xlsx?d=w2daab19432f342bda038c12614143d2f&amp;csf=1&amp;web=1&amp;e=3Px1Oh"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hyperlink" Target="https://adaniltd-my.sharepoint.com/personal/30136587_adani_com/Documents/PMO%20-%20BESS%20-%20HO/CPAG%20files/Backup%20files/Civil%20Progress/Progress%20Dashbord_FY26-27_06-Jul.xlsx?web=1" TargetMode="External"/><Relationship Id="rId5" Type="http://schemas.openxmlformats.org/officeDocument/2006/relationships/chart" Target="../charts/chart3.xml"/><Relationship Id="rId4" Type="http://schemas.openxmlformats.org/officeDocument/2006/relationships/image" Target="../media/image29.emf"/></Relationships>
</file>

<file path=ppt/slides/_rels/slide23.xml.rels><?xml version="1.0" encoding="UTF-8" standalone="yes"?>
<Relationships xmlns="http://schemas.openxmlformats.org/package/2006/relationships"><Relationship Id="rId8" Type="http://schemas.openxmlformats.org/officeDocument/2006/relationships/chart" Target="../charts/chart5.xml"/><Relationship Id="rId3" Type="http://schemas.openxmlformats.org/officeDocument/2006/relationships/slide" Target="slide25.xml"/><Relationship Id="rId7" Type="http://schemas.openxmlformats.org/officeDocument/2006/relationships/image" Target="../media/image31.emf"/><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chart" Target="../charts/chart4.xml"/><Relationship Id="rId5" Type="http://schemas.openxmlformats.org/officeDocument/2006/relationships/image" Target="../media/image30.emf"/><Relationship Id="rId10" Type="http://schemas.openxmlformats.org/officeDocument/2006/relationships/hyperlink" Target="https://adaniltd-my.sharepoint.com/:x:/r/personal/30136587_adani_com/Documents/PMO%20-%20BESS%20-%20HO/CPAG%20files/Backup%20files/Civil%20Progress/Progress%20Dashbord_FY26-27_06-Jul.xlsx?d=w2daab19432f342bda038c12614143d2f&amp;csf=1&amp;web=1&amp;e=3Px1Oh" TargetMode="External"/><Relationship Id="rId4" Type="http://schemas.openxmlformats.org/officeDocument/2006/relationships/slide" Target="slide21.xml"/><Relationship Id="rId9" Type="http://schemas.openxmlformats.org/officeDocument/2006/relationships/hyperlink" Target="https://adaniltd-my.sharepoint.com/personal/30136587_adani_com/Documents/PMO%20-%20BESS%20-%20HO/CPAG%20files/Backup%20files/Civil%20Progress/Progress%20Dashbord_FY26-27_06-Jul.xlsx?web=1"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hyperlink" Target="https://adaniltd-my.sharepoint.com/:x:/r/personal/30136587_adani_com/Documents/PMO%20-%20BESS%20-%20HO/CPAG%20files/Backup%20files/Civil%20Progress/Progress%20Dashbord_FY26-27_06-Jul.xlsx?d=w2daab19432f342bda038c12614143d2f&amp;csf=1&amp;web=1&amp;e=3Px1Oh" TargetMode="External"/><Relationship Id="rId5" Type="http://schemas.openxmlformats.org/officeDocument/2006/relationships/hyperlink" Target="https://adaniltd-my.sharepoint.com/personal/30136587_adani_com/Documents/PMO%20-%20BESS%20-%20HO/CPAG%20files/Backup%20files/Civil%20Progress/Progress%20Dashbord_FY26-27_06-Jul.xlsx?web=1" TargetMode="External"/><Relationship Id="rId4" Type="http://schemas.openxmlformats.org/officeDocument/2006/relationships/chart" Target="../charts/chart6.xml"/></Relationships>
</file>

<file path=ppt/slides/_rels/slide25.xml.rels><?xml version="1.0" encoding="UTF-8" standalone="yes"?>
<Relationships xmlns="http://schemas.openxmlformats.org/package/2006/relationships"><Relationship Id="rId8" Type="http://schemas.openxmlformats.org/officeDocument/2006/relationships/hyperlink" Target="https://adaniltd-my.sharepoint.com/personal/30136587_adani_com/Documents/PMO%20-%20BESS%20-%20HO/CPAG%20files/Backup%20files/Civil%20Progress/Progress%20Dashbord_FY26-27_06-Jul.xlsx?web=1" TargetMode="External"/><Relationship Id="rId3" Type="http://schemas.openxmlformats.org/officeDocument/2006/relationships/slide" Target="slide28.xml"/><Relationship Id="rId7" Type="http://schemas.openxmlformats.org/officeDocument/2006/relationships/chart" Target="../charts/chart8.xml"/><Relationship Id="rId2" Type="http://schemas.openxmlformats.org/officeDocument/2006/relationships/slide" Target="slide23.xml"/><Relationship Id="rId1" Type="http://schemas.openxmlformats.org/officeDocument/2006/relationships/slideLayout" Target="../slideLayouts/slideLayout2.xml"/><Relationship Id="rId6" Type="http://schemas.openxmlformats.org/officeDocument/2006/relationships/image" Target="../media/image34.emf"/><Relationship Id="rId5" Type="http://schemas.openxmlformats.org/officeDocument/2006/relationships/chart" Target="../charts/chart7.xml"/><Relationship Id="rId4" Type="http://schemas.openxmlformats.org/officeDocument/2006/relationships/image" Target="../media/image33.emf"/><Relationship Id="rId9" Type="http://schemas.openxmlformats.org/officeDocument/2006/relationships/hyperlink" Target="https://adaniltd-my.sharepoint.com/:x:/r/personal/30136587_adani_com/Documents/PMO%20-%20BESS%20-%20HO/CPAG%20files/Backup%20files/Civil%20Progress/Progress%20Dashbord_FY26-27_06-Jul.xlsx?d=w2daab19432f342bda038c12614143d2f&amp;csf=1&amp;web=1&amp;e=3Px1Oh" TargetMode="External"/></Relationships>
</file>

<file path=ppt/slides/_rels/slide26.xml.rels><?xml version="1.0" encoding="UTF-8" standalone="yes"?>
<Relationships xmlns="http://schemas.openxmlformats.org/package/2006/relationships"><Relationship Id="rId3" Type="http://schemas.microsoft.com/office/2018/10/relationships/comments" Target="../comments/modernComment_7FFFFD60_8A02D845.xml"/><Relationship Id="rId7" Type="http://schemas.openxmlformats.org/officeDocument/2006/relationships/hyperlink" Target="https://adaniltd-my.sharepoint.com/:x:/r/personal/30136587_adani_com/Documents/PMO%20-%20BESS%20-%20HO/CPAG%20files/Backup%20files/Civil%20Progress/Progress%20Dashbord_FY26-27_06-Jul.xlsx?d=w2daab19432f342bda038c12614143d2f&amp;csf=1&amp;web=1&amp;e=3Px1Oh" TargetMode="External"/><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hyperlink" Target="https://adaniltd-my.sharepoint.com/personal/30136587_adani_com/Documents/PMO%20-%20BESS%20-%20HO/CPAG%20files/Backup%20files/Civil%20Progress/Progress%20Dashbord_FY26-27_06-Jul.xlsx?web=1" TargetMode="External"/><Relationship Id="rId5" Type="http://schemas.openxmlformats.org/officeDocument/2006/relationships/chart" Target="../charts/chart9.xml"/><Relationship Id="rId4" Type="http://schemas.openxmlformats.org/officeDocument/2006/relationships/image" Target="../media/image35.e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hyperlink" Target="https://adaniltd-my.sharepoint.com/personal/30136587_adani_com/Documents/PMO%20-%20BESS%20-%20HO/CPAG%20files/Backup%20files/Civil%20Progress/Progress%20Dashbord_FY26-27_06-Jul.xlsx?web=1" TargetMode="External"/><Relationship Id="rId3" Type="http://schemas.openxmlformats.org/officeDocument/2006/relationships/slide" Target="slide25.xml"/><Relationship Id="rId7" Type="http://schemas.openxmlformats.org/officeDocument/2006/relationships/chart" Target="../charts/chart11.xml"/><Relationship Id="rId2" Type="http://schemas.openxmlformats.org/officeDocument/2006/relationships/slide" Target="slide30.xml"/><Relationship Id="rId1" Type="http://schemas.openxmlformats.org/officeDocument/2006/relationships/slideLayout" Target="../slideLayouts/slideLayout2.xml"/><Relationship Id="rId6" Type="http://schemas.openxmlformats.org/officeDocument/2006/relationships/image" Target="../media/image37.emf"/><Relationship Id="rId5" Type="http://schemas.openxmlformats.org/officeDocument/2006/relationships/chart" Target="../charts/chart10.xml"/><Relationship Id="rId4" Type="http://schemas.openxmlformats.org/officeDocument/2006/relationships/image" Target="../media/image36.emf"/><Relationship Id="rId9" Type="http://schemas.openxmlformats.org/officeDocument/2006/relationships/hyperlink" Target="https://adaniltd-my.sharepoint.com/:x:/r/personal/30136587_adani_com/Documents/PMO%20-%20BESS%20-%20HO/CPAG%20files/Backup%20files/Civil%20Progress/Progress%20Dashbord_FY26-27_06-Jul.xlsx?d=w2daab19432f342bda038c12614143d2f&amp;csf=1&amp;web=1&amp;e=3Px1Oh"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hyperlink" Target="https://adaniltd-my.sharepoint.com/:x:/r/personal/30136587_adani_com/Documents/PMO%20-%20BESS%20-%20HO/CPAG%20files/Backup%20files/Civil%20Progress/Progress%20Dashbord_FY26-27_06-Jul.xlsx?d=w2daab19432f342bda038c12614143d2f&amp;csf=1&amp;web=1&amp;e=3Px1Oh" TargetMode="External"/><Relationship Id="rId5" Type="http://schemas.openxmlformats.org/officeDocument/2006/relationships/hyperlink" Target="https://adaniltd-my.sharepoint.com/personal/30136587_adani_com/Documents/PMO%20-%20BESS%20-%20HO/CPAG%20files/Backup%20files/Civil%20Progress/Progress%20Dashbord_FY26-27_06-Jul.xlsx?web=1" TargetMode="External"/><Relationship Id="rId4" Type="http://schemas.openxmlformats.org/officeDocument/2006/relationships/chart" Target="../charts/chart12.xml"/></Relationships>
</file>

<file path=ppt/slides/_rels/slide30.xml.rels><?xml version="1.0" encoding="UTF-8" standalone="yes"?>
<Relationships xmlns="http://schemas.openxmlformats.org/package/2006/relationships"><Relationship Id="rId8" Type="http://schemas.openxmlformats.org/officeDocument/2006/relationships/hyperlink" Target="https://adaniltd-my.sharepoint.com/personal/30136587_adani_com/Documents/PMO%20-%20BESS%20-%20HO/CPAG%20files/Backup%20files/Civil%20Progress/Progress%20Dashbord_FY26-27_06-Jul.xlsx?web=1" TargetMode="External"/><Relationship Id="rId3" Type="http://schemas.openxmlformats.org/officeDocument/2006/relationships/slide" Target="slide28.xml"/><Relationship Id="rId7" Type="http://schemas.openxmlformats.org/officeDocument/2006/relationships/chart" Target="../charts/chart14.xml"/><Relationship Id="rId2" Type="http://schemas.openxmlformats.org/officeDocument/2006/relationships/slide" Target="slide32.xml"/><Relationship Id="rId1" Type="http://schemas.openxmlformats.org/officeDocument/2006/relationships/slideLayout" Target="../slideLayouts/slideLayout2.xml"/><Relationship Id="rId6" Type="http://schemas.openxmlformats.org/officeDocument/2006/relationships/image" Target="../media/image40.emf"/><Relationship Id="rId5" Type="http://schemas.openxmlformats.org/officeDocument/2006/relationships/chart" Target="../charts/chart13.xml"/><Relationship Id="rId4" Type="http://schemas.openxmlformats.org/officeDocument/2006/relationships/image" Target="../media/image39.emf"/><Relationship Id="rId9" Type="http://schemas.openxmlformats.org/officeDocument/2006/relationships/hyperlink" Target="https://adaniltd-my.sharepoint.com/:x:/r/personal/30136587_adani_com/Documents/PMO%20-%20BESS%20-%20HO/CPAG%20files/Backup%20files/Civil%20Progress/Progress%20Dashbord_FY26-27_06-Jul.xlsx?d=w2daab19432f342bda038c12614143d2f&amp;csf=1&amp;web=1&amp;e=3Px1Oh"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hyperlink" Target="https://adaniltd-my.sharepoint.com/:x:/r/personal/30136587_adani_com/Documents/PMO%20-%20BESS%20-%20HO/CPAG%20files/Backup%20files/Civil%20Progress/Progress%20Dashbord_FY26-27_06-Jul.xlsx?d=w2daab19432f342bda038c12614143d2f&amp;csf=1&amp;web=1&amp;e=3Px1Oh" TargetMode="External"/><Relationship Id="rId5" Type="http://schemas.openxmlformats.org/officeDocument/2006/relationships/hyperlink" Target="https://adaniltd-my.sharepoint.com/personal/30136587_adani_com/Documents/PMO%20-%20BESS%20-%20HO/CPAG%20files/Backup%20files/Civil%20Progress/Progress%20Dashbord_FY26-27_06-Jul.xlsx?web=1" TargetMode="External"/><Relationship Id="rId4" Type="http://schemas.openxmlformats.org/officeDocument/2006/relationships/chart" Target="../charts/chart15.xml"/></Relationships>
</file>

<file path=ppt/slides/_rels/slide32.xml.rels><?xml version="1.0" encoding="UTF-8" standalone="yes"?>
<Relationships xmlns="http://schemas.openxmlformats.org/package/2006/relationships"><Relationship Id="rId8" Type="http://schemas.openxmlformats.org/officeDocument/2006/relationships/hyperlink" Target="https://adaniltd-my.sharepoint.com/:x:/r/personal/30136587_adani_com/Documents/PMO%20-%20BESS%20-%20HO/CPAG%20files/Backup%20files/Civil%20Progress/Progress%20Dashbord_FY26-27_06-Jul.xlsx?d=w2daab19432f342bda038c12614143d2f&amp;csf=1&amp;web=1&amp;e=3Px1Oh" TargetMode="External"/><Relationship Id="rId3" Type="http://schemas.openxmlformats.org/officeDocument/2006/relationships/image" Target="../media/image42.emf"/><Relationship Id="rId7" Type="http://schemas.openxmlformats.org/officeDocument/2006/relationships/hyperlink" Target="https://adaniltd-my.sharepoint.com/personal/30136587_adani_com/Documents/PMO%20-%20BESS%20-%20HO/CPAG%20files/Backup%20files/Civil%20Progress/Progress%20Dashbord_FY26-27_06-Jul.xlsx?web=1" TargetMode="External"/><Relationship Id="rId2" Type="http://schemas.openxmlformats.org/officeDocument/2006/relationships/slide" Target="slide30.xml"/><Relationship Id="rId1" Type="http://schemas.openxmlformats.org/officeDocument/2006/relationships/slideLayout" Target="../slideLayouts/slideLayout2.xml"/><Relationship Id="rId6" Type="http://schemas.openxmlformats.org/officeDocument/2006/relationships/chart" Target="../charts/chart17.xml"/><Relationship Id="rId5" Type="http://schemas.openxmlformats.org/officeDocument/2006/relationships/image" Target="../media/image43.emf"/><Relationship Id="rId4" Type="http://schemas.openxmlformats.org/officeDocument/2006/relationships/chart" Target="../charts/chart16.xml"/></Relationships>
</file>

<file path=ppt/slides/_rels/slide33.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hyperlink" Target="https://adaniltd-my.sharepoint.com/:x:/r/personal/30136587_adani_com/Documents/PMO%20-%20BESS%20-%20HO/CPAG%20files/Backup%20files/Civil%20Progress/Progress%20Dashbord_FY26-27_06-Jul.xlsx?d=w2daab19432f342bda038c12614143d2f&amp;csf=1&amp;web=1&amp;e=3Px1Oh" TargetMode="External"/><Relationship Id="rId5" Type="http://schemas.openxmlformats.org/officeDocument/2006/relationships/hyperlink" Target="https://adaniltd-my.sharepoint.com/personal/30136587_adani_com/Documents/PMO%20-%20BESS%20-%20HO/CPAG%20files/Backup%20files/Civil%20Progress/Progress%20Dashbord_FY26-27_06-Jul.xlsx?web=1" TargetMode="External"/><Relationship Id="rId4" Type="http://schemas.openxmlformats.org/officeDocument/2006/relationships/chart" Target="../charts/char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microsoft.com/office/2018/10/relationships/comments" Target="../comments/modernComment_7FFFFB96_78B82721.xml"/><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47.emf"/><Relationship Id="rId4" Type="http://schemas.openxmlformats.org/officeDocument/2006/relationships/slide" Target="slide38.xml"/></Relationships>
</file>

<file path=ppt/slides/_rels/slide38.xml.rels><?xml version="1.0" encoding="UTF-8" standalone="yes"?>
<Relationships xmlns="http://schemas.openxmlformats.org/package/2006/relationships"><Relationship Id="rId3" Type="http://schemas.openxmlformats.org/officeDocument/2006/relationships/slide" Target="slide39.xml"/><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8.emf"/><Relationship Id="rId4" Type="http://schemas.openxmlformats.org/officeDocument/2006/relationships/slide" Target="slide37.xml"/></Relationships>
</file>

<file path=ppt/slides/_rels/slide39.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49.emf"/><Relationship Id="rId4" Type="http://schemas.openxmlformats.org/officeDocument/2006/relationships/slide" Target="slide38.xml"/></Relationships>
</file>

<file path=ppt/slides/_rels/slide40.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50.emf"/><Relationship Id="rId4" Type="http://schemas.openxmlformats.org/officeDocument/2006/relationships/slide" Target="slide39.xml"/></Relationships>
</file>

<file path=ppt/slides/_rels/slide41.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51.emf"/><Relationship Id="rId4" Type="http://schemas.openxmlformats.org/officeDocument/2006/relationships/slide" Target="slide40.xml"/></Relationships>
</file>

<file path=ppt/slides/_rels/slide42.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52.emf"/></Relationships>
</file>

<file path=ppt/slides/_rels/slide43.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microsoft.com/office/2018/10/relationships/comments" Target="../comments/modernComment_7FFFFCE4_DB8308FC.xml"/><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microsoft.com/office/2018/10/relationships/comments" Target="../comments/modernComment_7FFE5E60_19B2D8C8.xml"/><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chart" Target="../charts/chart19.xml"/></Relationships>
</file>

<file path=ppt/slides/_rels/slide4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microsoft.com/office/2018/10/relationships/comments" Target="../comments/modernComment_7FFFFCC4_C35E61AF.xm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slide" Target="slide62.xml"/><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slide" Target="slide63.xml"/><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268DA-DCB3-D8A8-E324-29E45169DF31}"/>
            </a:ext>
          </a:extLst>
        </p:cNvPr>
        <p:cNvGrpSpPr/>
        <p:nvPr/>
      </p:nvGrpSpPr>
      <p:grpSpPr>
        <a:xfrm>
          <a:off x="0" y="0"/>
          <a:ext cx="0" cy="0"/>
          <a:chOff x="0" y="0"/>
          <a:chExt cx="0" cy="0"/>
        </a:xfrm>
      </p:grpSpPr>
      <p:pic>
        <p:nvPicPr>
          <p:cNvPr id="4" name="Picture 3" descr="A group of people sitting at a table&#10;&#10;Description generated with high confidence">
            <a:extLst>
              <a:ext uri="{FF2B5EF4-FFF2-40B4-BE49-F238E27FC236}">
                <a16:creationId xmlns:a16="http://schemas.microsoft.com/office/drawing/2014/main" id="{DCC7403D-42DA-8005-A696-897E301A1B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392"/>
            <a:ext cx="12192718" cy="6857598"/>
          </a:xfrm>
          <a:prstGeom prst="rect">
            <a:avLst/>
          </a:prstGeom>
        </p:spPr>
      </p:pic>
      <p:pic>
        <p:nvPicPr>
          <p:cNvPr id="5" name="Picture 3" descr="D:\Logos 2018\Adani logo\PNG\Adani logo _Original.png">
            <a:extLst>
              <a:ext uri="{FF2B5EF4-FFF2-40B4-BE49-F238E27FC236}">
                <a16:creationId xmlns:a16="http://schemas.microsoft.com/office/drawing/2014/main" id="{D374C364-09F8-62D6-07F5-D51615AEE99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8088" y="48778"/>
            <a:ext cx="2496474" cy="144019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D:\Corp Comm Department Work 2015\Brand Adani 2012\adani_gradient_master.jpg">
            <a:extLst>
              <a:ext uri="{FF2B5EF4-FFF2-40B4-BE49-F238E27FC236}">
                <a16:creationId xmlns:a16="http://schemas.microsoft.com/office/drawing/2014/main" id="{DBF784D5-F9C8-0296-89B3-32AC5EB08FD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75897" y="1311582"/>
            <a:ext cx="5022060" cy="4571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DC7B687-FE8E-7F4F-129D-B59B60727C89}"/>
              </a:ext>
            </a:extLst>
          </p:cNvPr>
          <p:cNvSpPr txBox="1"/>
          <p:nvPr/>
        </p:nvSpPr>
        <p:spPr>
          <a:xfrm>
            <a:off x="6569064" y="324441"/>
            <a:ext cx="5635725" cy="1600438"/>
          </a:xfrm>
          <a:prstGeom prst="rect">
            <a:avLst/>
          </a:prstGeom>
          <a:noFill/>
        </p:spPr>
        <p:txBody>
          <a:bodyPr wrap="square" lIns="91440" tIns="45720" rIns="91440" bIns="45720" rtlCol="0" anchor="t">
            <a:spAutoFit/>
          </a:bodyPr>
          <a:lstStyle/>
          <a:p>
            <a:r>
              <a:rPr lang="en-US" sz="3200" b="1" dirty="0">
                <a:latin typeface="Adani Regular"/>
              </a:rPr>
              <a:t>Battery Energy Storage Systems</a:t>
            </a:r>
          </a:p>
          <a:p>
            <a:r>
              <a:rPr lang="en-US" sz="2800" b="1" dirty="0">
                <a:solidFill>
                  <a:srgbClr val="0000FF"/>
                </a:solidFill>
                <a:latin typeface="Adani Regular"/>
              </a:rPr>
              <a:t>Projects : FY 2026 – 27</a:t>
            </a:r>
          </a:p>
          <a:p>
            <a:endParaRPr lang="en-US" sz="1400" b="1" dirty="0">
              <a:latin typeface="Adani Regular"/>
            </a:endParaRPr>
          </a:p>
          <a:p>
            <a:r>
              <a:rPr lang="en-US" sz="2400" b="1" dirty="0">
                <a:latin typeface="Adani Regular"/>
              </a:rPr>
              <a:t>10</a:t>
            </a:r>
            <a:r>
              <a:rPr lang="en-US" sz="2400" b="1" baseline="30000" dirty="0">
                <a:latin typeface="Adani Regular"/>
              </a:rPr>
              <a:t>th</a:t>
            </a:r>
            <a:r>
              <a:rPr lang="en-US" sz="2400" b="1" dirty="0">
                <a:latin typeface="Adani Regular"/>
              </a:rPr>
              <a:t> Sep 26</a:t>
            </a:r>
            <a:endParaRPr lang="en-US" sz="2400" dirty="0"/>
          </a:p>
        </p:txBody>
      </p:sp>
    </p:spTree>
    <p:extLst>
      <p:ext uri="{BB962C8B-B14F-4D97-AF65-F5344CB8AC3E}">
        <p14:creationId xmlns:p14="http://schemas.microsoft.com/office/powerpoint/2010/main" val="228516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D:\Corp Comm Department Work 2015\Brand Adani 2012\adani_gradient_master.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35872" y="3549017"/>
            <a:ext cx="7056128" cy="6423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a:extLst>
              <a:ext uri="{FF2B5EF4-FFF2-40B4-BE49-F238E27FC236}">
                <a16:creationId xmlns:a16="http://schemas.microsoft.com/office/drawing/2014/main" id="{C0D18BC8-4E1E-3429-B3B8-CD8DA25B6583}"/>
              </a:ext>
            </a:extLst>
          </p:cNvPr>
          <p:cNvGraphicFramePr>
            <a:graphicFrameLocks noGrp="1"/>
          </p:cNvGraphicFramePr>
          <p:nvPr>
            <p:extLst>
              <p:ext uri="{D42A27DB-BD31-4B8C-83A1-F6EECF244321}">
                <p14:modId xmlns:p14="http://schemas.microsoft.com/office/powerpoint/2010/main" val="2983815925"/>
              </p:ext>
            </p:extLst>
          </p:nvPr>
        </p:nvGraphicFramePr>
        <p:xfrm>
          <a:off x="5121182" y="2345519"/>
          <a:ext cx="7056128" cy="3486638"/>
        </p:xfrm>
        <a:graphic>
          <a:graphicData uri="http://schemas.openxmlformats.org/drawingml/2006/table">
            <a:tbl>
              <a:tblPr/>
              <a:tblGrid>
                <a:gridCol w="1665303">
                  <a:extLst>
                    <a:ext uri="{9D8B030D-6E8A-4147-A177-3AD203B41FA5}">
                      <a16:colId xmlns:a16="http://schemas.microsoft.com/office/drawing/2014/main" val="1664107268"/>
                    </a:ext>
                  </a:extLst>
                </a:gridCol>
                <a:gridCol w="1806430">
                  <a:extLst>
                    <a:ext uri="{9D8B030D-6E8A-4147-A177-3AD203B41FA5}">
                      <a16:colId xmlns:a16="http://schemas.microsoft.com/office/drawing/2014/main" val="3298588687"/>
                    </a:ext>
                  </a:extLst>
                </a:gridCol>
                <a:gridCol w="1792317">
                  <a:extLst>
                    <a:ext uri="{9D8B030D-6E8A-4147-A177-3AD203B41FA5}">
                      <a16:colId xmlns:a16="http://schemas.microsoft.com/office/drawing/2014/main" val="541101217"/>
                    </a:ext>
                  </a:extLst>
                </a:gridCol>
                <a:gridCol w="1792078">
                  <a:extLst>
                    <a:ext uri="{9D8B030D-6E8A-4147-A177-3AD203B41FA5}">
                      <a16:colId xmlns:a16="http://schemas.microsoft.com/office/drawing/2014/main" val="3152189265"/>
                    </a:ext>
                  </a:extLst>
                </a:gridCol>
              </a:tblGrid>
              <a:tr h="765178">
                <a:tc>
                  <a:txBody>
                    <a:bodyPr/>
                    <a:lstStyle/>
                    <a:p>
                      <a:pPr marL="72000" algn="ctr" rtl="0" fontAlgn="ctr">
                        <a:buNone/>
                      </a:pPr>
                      <a:r>
                        <a:rPr lang="en-US" sz="1800" b="1" i="0" u="none" strike="noStrike">
                          <a:solidFill>
                            <a:srgbClr val="000000"/>
                          </a:solidFill>
                          <a:effectLst/>
                          <a:latin typeface="Adani Light" panose="02000503000000020004" pitchFamily="2" charset="0"/>
                        </a:rPr>
                        <a:t>PSS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64A2"/>
                    </a:solidFill>
                  </a:tcPr>
                </a:tc>
                <a:tc>
                  <a:txBody>
                    <a:bodyPr/>
                    <a:lstStyle/>
                    <a:p>
                      <a:pPr marL="72000" algn="ctr" rtl="0" fontAlgn="ctr">
                        <a:buNone/>
                      </a:pPr>
                      <a:r>
                        <a:rPr lang="en-US" sz="1800" b="1" i="0" u="none" strike="noStrike">
                          <a:solidFill>
                            <a:srgbClr val="000000"/>
                          </a:solidFill>
                          <a:effectLst/>
                          <a:latin typeface="Adani Light" panose="02000503000000020004" pitchFamily="2" charset="0"/>
                        </a:rPr>
                        <a:t>Power</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64A2"/>
                    </a:solidFill>
                  </a:tcPr>
                </a:tc>
                <a:tc>
                  <a:txBody>
                    <a:bodyPr/>
                    <a:lstStyle/>
                    <a:p>
                      <a:pPr marL="72000" algn="ctr" rtl="0" fontAlgn="ctr">
                        <a:buNone/>
                      </a:pPr>
                      <a:r>
                        <a:rPr lang="en-US" sz="1800" b="1" i="0" u="none" strike="noStrike">
                          <a:solidFill>
                            <a:srgbClr val="000000"/>
                          </a:solidFill>
                          <a:effectLst/>
                          <a:latin typeface="Adani Light" panose="02000503000000020004" pitchFamily="2" charset="0"/>
                        </a:rPr>
                        <a:t>Energy</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64A2"/>
                    </a:solidFill>
                  </a:tcPr>
                </a:tc>
                <a:tc>
                  <a:txBody>
                    <a:bodyPr/>
                    <a:lstStyle/>
                    <a:p>
                      <a:pPr marL="71755" algn="ctr" rtl="0" fontAlgn="ctr">
                        <a:buNone/>
                      </a:pPr>
                      <a:r>
                        <a:rPr lang="en-US" sz="1800" b="1" i="0" u="none" strike="noStrike">
                          <a:solidFill>
                            <a:srgbClr val="000000"/>
                          </a:solidFill>
                          <a:effectLst/>
                          <a:latin typeface="Adani Light"/>
                        </a:rPr>
                        <a:t>Dispatchable Energy</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64A2"/>
                    </a:solidFill>
                  </a:tcPr>
                </a:tc>
                <a:extLst>
                  <a:ext uri="{0D108BD9-81ED-4DB2-BD59-A6C34878D82A}">
                    <a16:rowId xmlns:a16="http://schemas.microsoft.com/office/drawing/2014/main" val="3693080176"/>
                  </a:ext>
                </a:extLst>
              </a:tr>
              <a:tr h="388780">
                <a:tc>
                  <a:txBody>
                    <a:bodyPr/>
                    <a:lstStyle/>
                    <a:p>
                      <a:pPr marL="72000" algn="ctr" rtl="0" fontAlgn="ctr">
                        <a:buNone/>
                      </a:pPr>
                      <a:r>
                        <a:rPr lang="en-US" sz="1800" b="0" i="0" u="none" strike="noStrike">
                          <a:solidFill>
                            <a:srgbClr val="000000"/>
                          </a:solidFill>
                          <a:effectLst/>
                          <a:latin typeface="Adani Light" panose="02000503000000020004" pitchFamily="2" charset="0"/>
                        </a:rPr>
                        <a:t>PSS-11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2000" algn="ctr" rtl="0" fontAlgn="ctr">
                        <a:buNone/>
                      </a:pPr>
                      <a:r>
                        <a:rPr lang="en-US" sz="1800" b="0" i="0" u="none" strike="noStrike">
                          <a:solidFill>
                            <a:srgbClr val="000000"/>
                          </a:solidFill>
                          <a:effectLst/>
                          <a:latin typeface="Adani Light" panose="02000503000000020004" pitchFamily="2" charset="0"/>
                        </a:rPr>
                        <a:t>1080 MW</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2000" algn="ctr" rtl="0" fontAlgn="ctr">
                        <a:buNone/>
                      </a:pPr>
                      <a:r>
                        <a:rPr lang="en-US" sz="1800" b="0" i="0" u="none" strike="noStrike">
                          <a:solidFill>
                            <a:srgbClr val="000000"/>
                          </a:solidFill>
                          <a:effectLst/>
                          <a:latin typeface="Adani Light" panose="02000503000000020004" pitchFamily="2" charset="0"/>
                        </a:rPr>
                        <a:t>2438 MWh</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1755" algn="ctr" rtl="0" fontAlgn="ctr">
                        <a:buNone/>
                      </a:pPr>
                      <a:r>
                        <a:rPr lang="en-US" sz="1800" b="0" i="0" u="none" strike="noStrike">
                          <a:solidFill>
                            <a:schemeClr val="tx1"/>
                          </a:solidFill>
                          <a:effectLst/>
                          <a:latin typeface="Adani Light"/>
                        </a:rPr>
                        <a:t>2211 MWh</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extLst>
                  <a:ext uri="{0D108BD9-81ED-4DB2-BD59-A6C34878D82A}">
                    <a16:rowId xmlns:a16="http://schemas.microsoft.com/office/drawing/2014/main" val="2472785048"/>
                  </a:ext>
                </a:extLst>
              </a:tr>
              <a:tr h="388780">
                <a:tc>
                  <a:txBody>
                    <a:bodyPr/>
                    <a:lstStyle/>
                    <a:p>
                      <a:pPr marL="72000" algn="ctr" rtl="0" fontAlgn="ctr">
                        <a:buNone/>
                      </a:pPr>
                      <a:r>
                        <a:rPr lang="en-US" sz="1800" b="0" i="0" u="none" strike="noStrike">
                          <a:solidFill>
                            <a:srgbClr val="000000"/>
                          </a:solidFill>
                          <a:effectLst/>
                          <a:latin typeface="Adani Light" panose="02000503000000020004" pitchFamily="2" charset="0"/>
                        </a:rPr>
                        <a:t>PSS-12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2000" algn="ctr" rtl="0" fontAlgn="ctr">
                        <a:buNone/>
                      </a:pPr>
                      <a:r>
                        <a:rPr lang="en-US" sz="1800" b="0" i="0" u="none" strike="noStrike">
                          <a:solidFill>
                            <a:srgbClr val="000000"/>
                          </a:solidFill>
                          <a:effectLst/>
                          <a:latin typeface="Adani Light" panose="02000503000000020004" pitchFamily="2" charset="0"/>
                        </a:rPr>
                        <a:t>960 MW</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2000" algn="ctr" rtl="0" fontAlgn="ctr">
                        <a:buNone/>
                      </a:pPr>
                      <a:r>
                        <a:rPr lang="en-US" sz="1800" b="0" i="0" u="none" strike="noStrike" dirty="0">
                          <a:solidFill>
                            <a:srgbClr val="000000"/>
                          </a:solidFill>
                          <a:effectLst/>
                          <a:latin typeface="Adani Light" panose="02000503000000020004" pitchFamily="2" charset="0"/>
                        </a:rPr>
                        <a:t>2167 MWh</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1755" marR="0" lvl="0" indent="0" algn="ctr" defTabSz="1219170" rtl="0" eaLnBrk="1" fontAlgn="ctr" latinLnBrk="0" hangingPunct="1">
                        <a:lnSpc>
                          <a:spcPct val="100000"/>
                        </a:lnSpc>
                        <a:spcBef>
                          <a:spcPts val="0"/>
                        </a:spcBef>
                        <a:spcAft>
                          <a:spcPts val="0"/>
                        </a:spcAft>
                        <a:buClrTx/>
                        <a:buSzTx/>
                        <a:buFontTx/>
                        <a:buNone/>
                        <a:tabLst/>
                        <a:defRPr/>
                      </a:pPr>
                      <a:r>
                        <a:rPr lang="en-US" sz="1800" b="0" i="0" u="none" strike="noStrike">
                          <a:solidFill>
                            <a:schemeClr val="tx1"/>
                          </a:solidFill>
                          <a:effectLst/>
                          <a:latin typeface="Adani Light"/>
                        </a:rPr>
                        <a:t>1965 MWh</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extLst>
                  <a:ext uri="{0D108BD9-81ED-4DB2-BD59-A6C34878D82A}">
                    <a16:rowId xmlns:a16="http://schemas.microsoft.com/office/drawing/2014/main" val="764867426"/>
                  </a:ext>
                </a:extLst>
              </a:tr>
              <a:tr h="388780">
                <a:tc>
                  <a:txBody>
                    <a:bodyPr/>
                    <a:lstStyle/>
                    <a:p>
                      <a:pPr marL="72000" algn="ctr" rtl="0" fontAlgn="ctr">
                        <a:buNone/>
                      </a:pPr>
                      <a:r>
                        <a:rPr lang="en-US" sz="1800" b="0" i="0" u="none" strike="noStrike">
                          <a:solidFill>
                            <a:srgbClr val="000000"/>
                          </a:solidFill>
                          <a:effectLst/>
                          <a:latin typeface="Adani Light" panose="02000503000000020004" pitchFamily="2" charset="0"/>
                        </a:rPr>
                        <a:t>PSS-10(B)</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2000" algn="ctr" rtl="0" fontAlgn="ctr">
                        <a:buNone/>
                      </a:pPr>
                      <a:r>
                        <a:rPr lang="en-US" sz="1800" b="0" i="0" u="none" strike="noStrike">
                          <a:solidFill>
                            <a:srgbClr val="000000"/>
                          </a:solidFill>
                          <a:effectLst/>
                          <a:latin typeface="Adani Light" panose="02000503000000020004" pitchFamily="2" charset="0"/>
                        </a:rPr>
                        <a:t>600 MW</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2000" algn="ctr" rtl="0" fontAlgn="ctr">
                        <a:buNone/>
                      </a:pPr>
                      <a:r>
                        <a:rPr lang="en-US" sz="1800" b="0" i="0" u="none" strike="noStrike">
                          <a:solidFill>
                            <a:srgbClr val="000000"/>
                          </a:solidFill>
                          <a:effectLst/>
                          <a:latin typeface="Adani Light" panose="02000503000000020004" pitchFamily="2" charset="0"/>
                        </a:rPr>
                        <a:t>1204 MWh</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1755" marR="0" lvl="0" indent="0" algn="ctr" defTabSz="1219170" rtl="0" eaLnBrk="1" fontAlgn="ctr" latinLnBrk="0" hangingPunct="1">
                        <a:lnSpc>
                          <a:spcPct val="100000"/>
                        </a:lnSpc>
                        <a:spcBef>
                          <a:spcPts val="0"/>
                        </a:spcBef>
                        <a:spcAft>
                          <a:spcPts val="0"/>
                        </a:spcAft>
                        <a:buClrTx/>
                        <a:buSzTx/>
                        <a:buFontTx/>
                        <a:buNone/>
                        <a:tabLst/>
                        <a:defRPr/>
                      </a:pPr>
                      <a:r>
                        <a:rPr lang="en-US" sz="1800" b="0" i="0" u="none" strike="noStrike">
                          <a:solidFill>
                            <a:schemeClr val="tx1"/>
                          </a:solidFill>
                          <a:effectLst/>
                          <a:latin typeface="Adani Light"/>
                        </a:rPr>
                        <a:t>1078 MWh</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extLst>
                  <a:ext uri="{0D108BD9-81ED-4DB2-BD59-A6C34878D82A}">
                    <a16:rowId xmlns:a16="http://schemas.microsoft.com/office/drawing/2014/main" val="2874132325"/>
                  </a:ext>
                </a:extLst>
              </a:tr>
              <a:tr h="388780">
                <a:tc>
                  <a:txBody>
                    <a:bodyPr/>
                    <a:lstStyle/>
                    <a:p>
                      <a:pPr marL="72000" algn="ctr" rtl="0" fontAlgn="ctr">
                        <a:buNone/>
                      </a:pPr>
                      <a:r>
                        <a:rPr lang="en-US" sz="1800" b="0" i="0" u="none" strike="noStrike">
                          <a:solidFill>
                            <a:srgbClr val="000000"/>
                          </a:solidFill>
                          <a:effectLst/>
                          <a:latin typeface="Adani Light" panose="02000503000000020004" pitchFamily="2" charset="0"/>
                        </a:rPr>
                        <a:t>PSS-09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2000" algn="ctr" rtl="0" fontAlgn="ctr">
                        <a:buNone/>
                      </a:pPr>
                      <a:r>
                        <a:rPr lang="en-US" sz="1800" b="0" i="0" u="none" strike="noStrike">
                          <a:solidFill>
                            <a:srgbClr val="000000"/>
                          </a:solidFill>
                          <a:effectLst/>
                          <a:latin typeface="Adani Light" panose="02000503000000020004" pitchFamily="2" charset="0"/>
                        </a:rPr>
                        <a:t>1080 MW</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2000" algn="ctr" rtl="0" fontAlgn="ctr">
                        <a:buNone/>
                      </a:pPr>
                      <a:r>
                        <a:rPr kumimoji="0" lang="en-US" sz="1800" b="0" i="0" u="none" strike="noStrike" kern="1200" cap="none" spc="0" normalizeH="0" baseline="0" noProof="0">
                          <a:ln>
                            <a:noFill/>
                          </a:ln>
                          <a:solidFill>
                            <a:srgbClr val="000000"/>
                          </a:solidFill>
                          <a:effectLst/>
                          <a:uLnTx/>
                          <a:uFillTx/>
                          <a:latin typeface="Adani Light" panose="02000503000000020004" pitchFamily="2" charset="0"/>
                          <a:ea typeface="+mn-ea"/>
                          <a:cs typeface="+mn-cs"/>
                        </a:rPr>
                        <a:t>2438 MWh</a:t>
                      </a:r>
                      <a:endParaRPr lang="en-US" sz="1800" b="0" i="0" u="none" strike="noStrike">
                        <a:solidFill>
                          <a:srgbClr val="000000"/>
                        </a:solidFill>
                        <a:effectLst/>
                        <a:latin typeface="Adani Light" panose="02000503000000020004" pitchFamily="2"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1755" marR="0" lvl="0" indent="0" algn="ctr" defTabSz="1219170" rtl="0" eaLnBrk="1" fontAlgn="ctr"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dani Light"/>
                          <a:ea typeface="+mn-ea"/>
                          <a:cs typeface="+mn-cs"/>
                        </a:rPr>
                        <a:t>2211 MWh</a:t>
                      </a:r>
                      <a:endParaRPr lang="en-US" sz="1800" b="0" i="0" u="none" strike="noStrike">
                        <a:solidFill>
                          <a:schemeClr val="tx1"/>
                        </a:solidFill>
                        <a:effectLst/>
                        <a:latin typeface="Adani Light"/>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extLst>
                  <a:ext uri="{0D108BD9-81ED-4DB2-BD59-A6C34878D82A}">
                    <a16:rowId xmlns:a16="http://schemas.microsoft.com/office/drawing/2014/main" val="4120032120"/>
                  </a:ext>
                </a:extLst>
              </a:tr>
              <a:tr h="388780">
                <a:tc>
                  <a:txBody>
                    <a:bodyPr/>
                    <a:lstStyle/>
                    <a:p>
                      <a:pPr marL="72000" algn="ctr" rtl="0" fontAlgn="ctr">
                        <a:buNone/>
                      </a:pPr>
                      <a:r>
                        <a:rPr lang="en-US" sz="1800" b="0" i="0" u="none" strike="noStrike" dirty="0">
                          <a:solidFill>
                            <a:srgbClr val="000000"/>
                          </a:solidFill>
                          <a:effectLst/>
                          <a:latin typeface="Adani Light" panose="02000503000000020004" pitchFamily="2" charset="0"/>
                        </a:rPr>
                        <a:t>PSS-05(B)*</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2000" algn="ctr" rtl="0" fontAlgn="ctr">
                        <a:buNone/>
                      </a:pPr>
                      <a:r>
                        <a:rPr lang="en-US" sz="1800" b="0" i="0" u="none" strike="noStrike">
                          <a:solidFill>
                            <a:srgbClr val="000000"/>
                          </a:solidFill>
                          <a:effectLst/>
                          <a:latin typeface="Adani Light" panose="02000503000000020004" pitchFamily="2" charset="0"/>
                        </a:rPr>
                        <a:t>1000 MW</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2000" algn="ctr" rtl="0" fontAlgn="ctr">
                        <a:buNone/>
                      </a:pPr>
                      <a:r>
                        <a:rPr lang="en-US" sz="1800" b="0" i="0" u="none" strike="noStrike" dirty="0">
                          <a:solidFill>
                            <a:srgbClr val="000000"/>
                          </a:solidFill>
                          <a:effectLst/>
                          <a:latin typeface="Adani Light" panose="02000503000000020004" pitchFamily="2" charset="0"/>
                        </a:rPr>
                        <a:t>2258 MWh</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1755" marR="0" lvl="0" indent="0" algn="ctr" defTabSz="1219170" rtl="0" eaLnBrk="1" fontAlgn="ctr" latinLnBrk="0" hangingPunct="1">
                        <a:lnSpc>
                          <a:spcPct val="100000"/>
                        </a:lnSpc>
                        <a:spcBef>
                          <a:spcPts val="0"/>
                        </a:spcBef>
                        <a:spcAft>
                          <a:spcPts val="0"/>
                        </a:spcAft>
                        <a:buClrTx/>
                        <a:buSzTx/>
                        <a:buFontTx/>
                        <a:buNone/>
                        <a:tabLst/>
                        <a:defRPr/>
                      </a:pPr>
                      <a:r>
                        <a:rPr lang="en-US" sz="1800" b="0" i="0" u="none" strike="noStrike">
                          <a:solidFill>
                            <a:schemeClr val="tx1"/>
                          </a:solidFill>
                          <a:effectLst/>
                          <a:latin typeface="Adani Light"/>
                        </a:rPr>
                        <a:t>2041 MWh</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extLst>
                  <a:ext uri="{0D108BD9-81ED-4DB2-BD59-A6C34878D82A}">
                    <a16:rowId xmlns:a16="http://schemas.microsoft.com/office/drawing/2014/main" val="50738570"/>
                  </a:ext>
                </a:extLst>
              </a:tr>
              <a:tr h="388780">
                <a:tc>
                  <a:txBody>
                    <a:bodyPr/>
                    <a:lstStyle/>
                    <a:p>
                      <a:pPr marL="72000" algn="ctr" rtl="0" fontAlgn="ctr">
                        <a:buNone/>
                      </a:pPr>
                      <a:r>
                        <a:rPr lang="en-US" sz="1800" b="0" i="0" u="none" strike="noStrike">
                          <a:solidFill>
                            <a:srgbClr val="000000"/>
                          </a:solidFill>
                          <a:effectLst/>
                          <a:latin typeface="Adani Light" panose="02000503000000020004" pitchFamily="2" charset="0"/>
                        </a:rPr>
                        <a:t>PSS-08(B)</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2000" algn="ctr" rtl="0" fontAlgn="ctr">
                        <a:buNone/>
                      </a:pPr>
                      <a:r>
                        <a:rPr lang="en-US" sz="1800" b="0" i="0" u="none" strike="noStrike">
                          <a:solidFill>
                            <a:srgbClr val="000000"/>
                          </a:solidFill>
                          <a:effectLst/>
                          <a:latin typeface="Adani Light" panose="02000503000000020004" pitchFamily="2" charset="0"/>
                        </a:rPr>
                        <a:t>420 MW</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2000" algn="ctr" rtl="0" fontAlgn="ctr">
                        <a:buNone/>
                      </a:pPr>
                      <a:r>
                        <a:rPr lang="en-US" sz="1800" b="0" i="0" u="none" strike="noStrike">
                          <a:solidFill>
                            <a:srgbClr val="000000"/>
                          </a:solidFill>
                          <a:effectLst/>
                          <a:latin typeface="Adani Light" panose="02000503000000020004" pitchFamily="2" charset="0"/>
                        </a:rPr>
                        <a:t>843 MWh</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2000" marR="0" lvl="0" indent="0" algn="ctr" defTabSz="1219170" rtl="0" eaLnBrk="1" fontAlgn="ctr" latinLnBrk="0" hangingPunct="1">
                        <a:lnSpc>
                          <a:spcPct val="100000"/>
                        </a:lnSpc>
                        <a:spcBef>
                          <a:spcPts val="0"/>
                        </a:spcBef>
                        <a:spcAft>
                          <a:spcPts val="0"/>
                        </a:spcAft>
                        <a:buClrTx/>
                        <a:buSzTx/>
                        <a:buFontTx/>
                        <a:buNone/>
                        <a:tabLst/>
                        <a:defRPr/>
                      </a:pPr>
                      <a:r>
                        <a:rPr lang="en-US" sz="1800" b="0" i="0" u="none" strike="noStrike">
                          <a:solidFill>
                            <a:schemeClr val="tx1"/>
                          </a:solidFill>
                          <a:effectLst/>
                          <a:latin typeface="Adani Light" panose="02000503000000020004" pitchFamily="2" charset="0"/>
                        </a:rPr>
                        <a:t>758 MWh</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extLst>
                  <a:ext uri="{0D108BD9-81ED-4DB2-BD59-A6C34878D82A}">
                    <a16:rowId xmlns:a16="http://schemas.microsoft.com/office/drawing/2014/main" val="2380340560"/>
                  </a:ext>
                </a:extLst>
              </a:tr>
              <a:tr h="388780">
                <a:tc>
                  <a:txBody>
                    <a:bodyPr/>
                    <a:lstStyle/>
                    <a:p>
                      <a:pPr marL="72000" algn="ctr" defTabSz="1219170" rtl="0" eaLnBrk="1" fontAlgn="ctr" latinLnBrk="0" hangingPunct="1">
                        <a:buNone/>
                      </a:pPr>
                      <a:r>
                        <a:rPr lang="en-US" sz="1800" b="1" i="0" u="none" strike="noStrike" kern="1200">
                          <a:solidFill>
                            <a:srgbClr val="000000"/>
                          </a:solidFill>
                          <a:effectLst/>
                          <a:latin typeface="Adani Regular" panose="02000503000000020004" pitchFamily="2" charset="0"/>
                          <a:ea typeface="+mn-ea"/>
                          <a:cs typeface="+mn-cs"/>
                        </a:rPr>
                        <a:t>Total</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3E0"/>
                    </a:solidFill>
                  </a:tcPr>
                </a:tc>
                <a:tc>
                  <a:txBody>
                    <a:bodyPr/>
                    <a:lstStyle/>
                    <a:p>
                      <a:pPr marL="72000" algn="ctr" defTabSz="1219170" rtl="0" eaLnBrk="1" fontAlgn="ctr" latinLnBrk="0" hangingPunct="1">
                        <a:buNone/>
                      </a:pPr>
                      <a:r>
                        <a:rPr lang="en-US" sz="1800" b="1" i="0" u="none" strike="noStrike" kern="1200">
                          <a:solidFill>
                            <a:srgbClr val="000000"/>
                          </a:solidFill>
                          <a:effectLst/>
                          <a:latin typeface="Adani Regular" panose="02000503000000020004" pitchFamily="2" charset="0"/>
                          <a:ea typeface="+mn-ea"/>
                          <a:cs typeface="+mn-cs"/>
                        </a:rPr>
                        <a:t>5140 MW</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3E0"/>
                    </a:solidFill>
                  </a:tcPr>
                </a:tc>
                <a:tc>
                  <a:txBody>
                    <a:bodyPr/>
                    <a:lstStyle/>
                    <a:p>
                      <a:pPr marL="72000" algn="ctr" defTabSz="1219170" rtl="0" eaLnBrk="1" fontAlgn="ctr" latinLnBrk="0" hangingPunct="1">
                        <a:buNone/>
                      </a:pPr>
                      <a:r>
                        <a:rPr lang="en-US" sz="1800" b="1" i="0" u="none" strike="noStrike" kern="1200">
                          <a:solidFill>
                            <a:srgbClr val="000000"/>
                          </a:solidFill>
                          <a:effectLst/>
                          <a:latin typeface="Adani Regular" panose="02000503000000020004" pitchFamily="2" charset="0"/>
                          <a:ea typeface="+mn-ea"/>
                          <a:cs typeface="+mn-cs"/>
                        </a:rPr>
                        <a:t>11348 MWh</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3E0"/>
                    </a:solidFill>
                  </a:tcPr>
                </a:tc>
                <a:tc>
                  <a:txBody>
                    <a:bodyPr/>
                    <a:lstStyle/>
                    <a:p>
                      <a:pPr marL="72000" marR="0" lvl="0" indent="0" algn="ctr" defTabSz="1219170" rtl="0" eaLnBrk="1" fontAlgn="ctr" latinLnBrk="0" hangingPunct="1">
                        <a:lnSpc>
                          <a:spcPct val="100000"/>
                        </a:lnSpc>
                        <a:spcBef>
                          <a:spcPts val="0"/>
                        </a:spcBef>
                        <a:spcAft>
                          <a:spcPts val="0"/>
                        </a:spcAft>
                        <a:buClrTx/>
                        <a:buSzTx/>
                        <a:buFontTx/>
                        <a:buNone/>
                        <a:tabLst/>
                        <a:defRPr/>
                      </a:pPr>
                      <a:r>
                        <a:rPr lang="en-US" sz="1800" b="1" i="0" u="none" strike="noStrike" kern="1200" dirty="0">
                          <a:solidFill>
                            <a:srgbClr val="000000"/>
                          </a:solidFill>
                          <a:effectLst/>
                          <a:latin typeface="Adani Regular" panose="02000503000000020004" pitchFamily="2" charset="0"/>
                          <a:ea typeface="+mn-ea"/>
                          <a:cs typeface="+mn-cs"/>
                        </a:rPr>
                        <a:t>10264 MWh</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3E0"/>
                    </a:solidFill>
                  </a:tcPr>
                </a:tc>
                <a:extLst>
                  <a:ext uri="{0D108BD9-81ED-4DB2-BD59-A6C34878D82A}">
                    <a16:rowId xmlns:a16="http://schemas.microsoft.com/office/drawing/2014/main" val="2253787281"/>
                  </a:ext>
                </a:extLst>
              </a:tr>
            </a:tbl>
          </a:graphicData>
        </a:graphic>
      </p:graphicFrame>
      <p:sp>
        <p:nvSpPr>
          <p:cNvPr id="2" name="Slide Number Placeholder 2">
            <a:extLst>
              <a:ext uri="{FF2B5EF4-FFF2-40B4-BE49-F238E27FC236}">
                <a16:creationId xmlns:a16="http://schemas.microsoft.com/office/drawing/2014/main" id="{CAFB423B-C17F-99A8-C3B3-DCF746C19922}"/>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2</a:t>
            </a:fld>
            <a:endParaRPr lang="en-IN"/>
          </a:p>
        </p:txBody>
      </p:sp>
      <p:sp>
        <p:nvSpPr>
          <p:cNvPr id="3" name="TextBox 2">
            <a:extLst>
              <a:ext uri="{FF2B5EF4-FFF2-40B4-BE49-F238E27FC236}">
                <a16:creationId xmlns:a16="http://schemas.microsoft.com/office/drawing/2014/main" id="{523D1C58-3924-14D6-BD55-1E189CB55312}"/>
              </a:ext>
            </a:extLst>
          </p:cNvPr>
          <p:cNvSpPr txBox="1"/>
          <p:nvPr/>
        </p:nvSpPr>
        <p:spPr>
          <a:xfrm>
            <a:off x="314325" y="6358091"/>
            <a:ext cx="9677400" cy="415498"/>
          </a:xfrm>
          <a:prstGeom prst="rect">
            <a:avLst/>
          </a:prstGeom>
          <a:noFill/>
        </p:spPr>
        <p:txBody>
          <a:bodyPr wrap="square" rtlCol="0">
            <a:spAutoFit/>
          </a:bodyPr>
          <a:lstStyle/>
          <a:p>
            <a:r>
              <a:rPr lang="en-US" sz="1050" dirty="0">
                <a:latin typeface="Adani Regular" panose="02000503000000020004" pitchFamily="2" charset="0"/>
              </a:rPr>
              <a:t>Note: * 06 IDT’s descoped (06*20MW = 120 MW reduced) Earlier Power: 1120 MW, Energy: 2529 MWh &amp; Dispatchable Energy :2286 MWh.</a:t>
            </a:r>
          </a:p>
          <a:p>
            <a:r>
              <a:rPr lang="en-US" sz="1050" dirty="0">
                <a:latin typeface="Adani Regular" panose="02000503000000020004" pitchFamily="2" charset="0"/>
              </a:rPr>
              <a:t>Reduced capacities: Power: 120MW, Energy: 271 MW &amp; Dispatchable Energy: 245 MWh</a:t>
            </a:r>
          </a:p>
        </p:txBody>
      </p:sp>
    </p:spTree>
    <p:extLst>
      <p:ext uri="{BB962C8B-B14F-4D97-AF65-F5344CB8AC3E}">
        <p14:creationId xmlns:p14="http://schemas.microsoft.com/office/powerpoint/2010/main" val="1733147909"/>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995D829-A873-3AC8-81D5-BE3837B78385}"/>
              </a:ext>
            </a:extLst>
          </p:cNvPr>
          <p:cNvSpPr txBox="1"/>
          <p:nvPr/>
        </p:nvSpPr>
        <p:spPr>
          <a:xfrm>
            <a:off x="316993" y="667699"/>
            <a:ext cx="9811746" cy="1892826"/>
          </a:xfrm>
          <a:prstGeom prst="rect">
            <a:avLst/>
          </a:prstGeom>
          <a:solidFill>
            <a:schemeClr val="bg1"/>
          </a:solidFill>
        </p:spPr>
        <p:txBody>
          <a:bodyPr wrap="square" lIns="91440" tIns="45720" rIns="91440" bIns="45720" rtlCol="0" anchor="t">
            <a:spAutoFit/>
          </a:bodyPr>
          <a:lstStyle/>
          <a:p>
            <a:pPr defTabSz="1219170" fontAlgn="b">
              <a:spcAft>
                <a:spcPts val="100"/>
              </a:spcAft>
            </a:pPr>
            <a:r>
              <a:rPr lang="en-US" sz="1600">
                <a:solidFill>
                  <a:prstClr val="black"/>
                </a:solidFill>
                <a:latin typeface="Adani Regular"/>
              </a:rPr>
              <a:t>Project Capacity</a:t>
            </a:r>
            <a:r>
              <a:rPr lang="en-US" sz="1600" b="1">
                <a:solidFill>
                  <a:prstClr val="black"/>
                </a:solidFill>
                <a:latin typeface="Adani Regular"/>
              </a:rPr>
              <a:t>	</a:t>
            </a:r>
            <a:r>
              <a:rPr lang="en-US" sz="1600">
                <a:solidFill>
                  <a:prstClr val="black"/>
                </a:solidFill>
                <a:latin typeface="Adani Regular"/>
              </a:rPr>
              <a:t>: 5140</a:t>
            </a:r>
            <a:r>
              <a:rPr lang="en-IN" sz="1600">
                <a:solidFill>
                  <a:prstClr val="black"/>
                </a:solidFill>
                <a:latin typeface="Adani Regular"/>
                <a:ea typeface="Calibri"/>
                <a:cs typeface="Calibri"/>
              </a:rPr>
              <a:t> MW / 11348 </a:t>
            </a:r>
            <a:r>
              <a:rPr lang="en-US" sz="1600">
                <a:solidFill>
                  <a:prstClr val="black"/>
                </a:solidFill>
                <a:latin typeface="Adani Regular"/>
              </a:rPr>
              <a:t>MWh (Dispatchable Power : 10263 MWh)</a:t>
            </a:r>
          </a:p>
          <a:p>
            <a:pPr defTabSz="1219170" fontAlgn="b">
              <a:spcAft>
                <a:spcPts val="100"/>
              </a:spcAft>
            </a:pPr>
            <a:r>
              <a:rPr lang="en-US" sz="1600">
                <a:solidFill>
                  <a:prstClr val="black"/>
                </a:solidFill>
                <a:latin typeface="Adani Regular"/>
              </a:rPr>
              <a:t>Capex NFA 		: Capex NFA cost INR </a:t>
            </a:r>
            <a:r>
              <a:rPr lang="en-US" sz="1600" strike="sngStrike">
                <a:solidFill>
                  <a:prstClr val="black"/>
                </a:solidFill>
                <a:latin typeface="Adani Regular"/>
              </a:rPr>
              <a:t>14758</a:t>
            </a:r>
            <a:r>
              <a:rPr lang="en-US" sz="1600">
                <a:solidFill>
                  <a:prstClr val="black"/>
                </a:solidFill>
                <a:latin typeface="Adani Regular"/>
              </a:rPr>
              <a:t> 16358 Cr. Initial proposal approved by CMN on </a:t>
            </a:r>
          </a:p>
          <a:p>
            <a:pPr defTabSz="1219170" fontAlgn="b">
              <a:spcAft>
                <a:spcPts val="100"/>
              </a:spcAft>
            </a:pPr>
            <a:r>
              <a:rPr lang="en-US" sz="1600">
                <a:solidFill>
                  <a:prstClr val="black"/>
                </a:solidFill>
                <a:latin typeface="Adani Regular"/>
              </a:rPr>
              <a:t>		  08-Dec-25 for PSS-11, 12, 10(B) &amp; 03-Jan-26 for PSS-09, 05(B) &amp; 08(B).</a:t>
            </a:r>
          </a:p>
          <a:p>
            <a:pPr defTabSz="1219170" fontAlgn="b">
              <a:spcAft>
                <a:spcPts val="100"/>
              </a:spcAft>
            </a:pPr>
            <a:r>
              <a:rPr lang="en-US" sz="1600">
                <a:solidFill>
                  <a:prstClr val="black"/>
                </a:solidFill>
                <a:latin typeface="Adani Regular"/>
              </a:rPr>
              <a:t>		  Revised NFAs approved on 04-Apr-26.</a:t>
            </a:r>
          </a:p>
          <a:p>
            <a:pPr defTabSz="1219170" fontAlgn="b">
              <a:spcAft>
                <a:spcPts val="100"/>
              </a:spcAft>
            </a:pPr>
            <a:r>
              <a:rPr lang="en-US" sz="1600">
                <a:solidFill>
                  <a:prstClr val="black"/>
                </a:solidFill>
                <a:latin typeface="Adani Regular"/>
              </a:rPr>
              <a:t>PPA Effective Date 	: Not applicable </a:t>
            </a:r>
          </a:p>
          <a:p>
            <a:pPr defTabSz="1219170" fontAlgn="b">
              <a:spcAft>
                <a:spcPts val="100"/>
              </a:spcAft>
            </a:pPr>
            <a:r>
              <a:rPr lang="en-US" sz="1600">
                <a:solidFill>
                  <a:prstClr val="black"/>
                </a:solidFill>
                <a:latin typeface="Adani Regular"/>
              </a:rPr>
              <a:t>Tariff		: Merchant Capacity only</a:t>
            </a:r>
          </a:p>
          <a:p>
            <a:pPr defTabSz="1219170" fontAlgn="b">
              <a:spcAft>
                <a:spcPts val="100"/>
              </a:spcAft>
            </a:pPr>
            <a:r>
              <a:rPr lang="en-US" sz="1600">
                <a:solidFill>
                  <a:prstClr val="black"/>
                </a:solidFill>
                <a:latin typeface="Adani Regular"/>
              </a:rPr>
              <a:t>Project Location	: Khavda RE Park, Gujarat</a:t>
            </a:r>
          </a:p>
        </p:txBody>
      </p:sp>
      <p:graphicFrame>
        <p:nvGraphicFramePr>
          <p:cNvPr id="6" name="Table 5">
            <a:extLst>
              <a:ext uri="{FF2B5EF4-FFF2-40B4-BE49-F238E27FC236}">
                <a16:creationId xmlns:a16="http://schemas.microsoft.com/office/drawing/2014/main" id="{8E1C6ED1-B5C4-C305-BBEB-1592C7E113D6}"/>
              </a:ext>
            </a:extLst>
          </p:cNvPr>
          <p:cNvGraphicFramePr>
            <a:graphicFrameLocks noGrp="1"/>
          </p:cNvGraphicFramePr>
          <p:nvPr/>
        </p:nvGraphicFramePr>
        <p:xfrm>
          <a:off x="137877" y="3498721"/>
          <a:ext cx="3757848" cy="2680524"/>
        </p:xfrm>
        <a:graphic>
          <a:graphicData uri="http://schemas.openxmlformats.org/drawingml/2006/table">
            <a:tbl>
              <a:tblPr firstRow="1" bandRow="1">
                <a:tableStyleId>{D27102A9-8310-4765-A935-A1911B00CA55}</a:tableStyleId>
              </a:tblPr>
              <a:tblGrid>
                <a:gridCol w="2357673">
                  <a:extLst>
                    <a:ext uri="{9D8B030D-6E8A-4147-A177-3AD203B41FA5}">
                      <a16:colId xmlns:a16="http://schemas.microsoft.com/office/drawing/2014/main" val="2343902777"/>
                    </a:ext>
                  </a:extLst>
                </a:gridCol>
                <a:gridCol w="1400175">
                  <a:extLst>
                    <a:ext uri="{9D8B030D-6E8A-4147-A177-3AD203B41FA5}">
                      <a16:colId xmlns:a16="http://schemas.microsoft.com/office/drawing/2014/main" val="3425991869"/>
                    </a:ext>
                  </a:extLst>
                </a:gridCol>
              </a:tblGrid>
              <a:tr h="432883">
                <a:tc>
                  <a:txBody>
                    <a:bodyPr/>
                    <a:lstStyle/>
                    <a:p>
                      <a:pPr algn="ctr"/>
                      <a:r>
                        <a:rPr lang="en-US" sz="1200">
                          <a:latin typeface="Adani Regular" panose="02000503000000020004" pitchFamily="2" charset="0"/>
                        </a:rPr>
                        <a:t>As per approved NFA_R1</a:t>
                      </a:r>
                    </a:p>
                    <a:p>
                      <a:pPr algn="ctr"/>
                      <a:r>
                        <a:rPr lang="en-US" sz="1200">
                          <a:latin typeface="Adani Regular" panose="02000503000000020004" pitchFamily="2" charset="0"/>
                        </a:rPr>
                        <a:t>(04-Apr-26)</a:t>
                      </a:r>
                    </a:p>
                  </a:txBody>
                  <a:tcPr marL="121920" marR="121920" marT="60960" marB="6096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sz="1200">
                          <a:latin typeface="Adani Regular" panose="02000503000000020004" pitchFamily="2" charset="0"/>
                        </a:rPr>
                        <a:t>INR (Crores)</a:t>
                      </a:r>
                    </a:p>
                  </a:txBody>
                  <a:tcPr marL="121920" marR="121920" marT="60960" marB="6096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169944626"/>
                  </a:ext>
                </a:extLst>
              </a:tr>
              <a:tr h="405828">
                <a:tc>
                  <a:txBody>
                    <a:bodyPr/>
                    <a:lstStyle/>
                    <a:p>
                      <a:r>
                        <a:rPr lang="en-US" sz="1200" b="1">
                          <a:latin typeface="Adani Regular" panose="02000503000000020004" pitchFamily="2" charset="0"/>
                        </a:rPr>
                        <a:t>Total </a:t>
                      </a:r>
                    </a:p>
                  </a:txBody>
                  <a:tcPr marL="121920" marR="121920" marT="60960" marB="60960" anchor="ctr">
                    <a:lnL w="12700" cap="flat" cmpd="sng" algn="ctr">
                      <a:solidFill>
                        <a:schemeClr val="tx1"/>
                      </a:solidFill>
                      <a:prstDash val="solid"/>
                      <a:round/>
                      <a:headEnd type="none" w="med" len="med"/>
                      <a:tailEnd type="none" w="med" len="med"/>
                    </a:lnL>
                  </a:tcPr>
                </a:tc>
                <a:tc>
                  <a:txBody>
                    <a:bodyPr/>
                    <a:lstStyle/>
                    <a:p>
                      <a:pPr algn="ctr"/>
                      <a:r>
                        <a:rPr lang="en-US" sz="1200" b="1">
                          <a:latin typeface="Adani Regular" panose="02000503000000020004" pitchFamily="2" charset="0"/>
                        </a:rPr>
                        <a:t>16358 </a:t>
                      </a:r>
                    </a:p>
                  </a:txBody>
                  <a:tcPr marL="121920" marR="121920" marT="60960" marB="6096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355507847"/>
                  </a:ext>
                </a:extLst>
              </a:tr>
              <a:tr h="405828">
                <a:tc>
                  <a:txBody>
                    <a:bodyPr/>
                    <a:lstStyle/>
                    <a:p>
                      <a:r>
                        <a:rPr lang="en-US" sz="1200" b="0">
                          <a:latin typeface="Adani Regular" panose="02000503000000020004" pitchFamily="2" charset="0"/>
                        </a:rPr>
                        <a:t>Hard Cost (Supply, Services &amp; PMC)</a:t>
                      </a:r>
                    </a:p>
                  </a:txBody>
                  <a:tcPr marL="121920" marR="121920" marT="60960" marB="60960" anchor="ctr">
                    <a:lnL w="12700" cap="flat" cmpd="sng" algn="ctr">
                      <a:solidFill>
                        <a:schemeClr val="tx1"/>
                      </a:solidFill>
                      <a:prstDash val="solid"/>
                      <a:round/>
                      <a:headEnd type="none" w="med" len="med"/>
                      <a:tailEnd type="none" w="med" len="med"/>
                    </a:lnL>
                  </a:tcPr>
                </a:tc>
                <a:tc>
                  <a:txBody>
                    <a:bodyPr/>
                    <a:lstStyle/>
                    <a:p>
                      <a:pPr algn="ctr"/>
                      <a:r>
                        <a:rPr lang="en-US" sz="1200" b="0">
                          <a:latin typeface="Adani Regular" panose="02000503000000020004" pitchFamily="2" charset="0"/>
                        </a:rPr>
                        <a:t>14090</a:t>
                      </a:r>
                    </a:p>
                  </a:txBody>
                  <a:tcPr marL="121920" marR="121920" marT="60960" marB="6096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346072759"/>
                  </a:ext>
                </a:extLst>
              </a:tr>
              <a:tr h="405828">
                <a:tc>
                  <a:txBody>
                    <a:bodyPr/>
                    <a:lstStyle/>
                    <a:p>
                      <a:r>
                        <a:rPr lang="en-US" sz="1200" b="0">
                          <a:latin typeface="Adani Regular" panose="02000503000000020004" pitchFamily="2" charset="0"/>
                        </a:rPr>
                        <a:t>Soft Cost (Pre-Ops, Financials &amp; IDC) </a:t>
                      </a:r>
                    </a:p>
                  </a:txBody>
                  <a:tcPr marL="121920" marR="121920" marT="60960" marB="60960" anchor="ctr">
                    <a:lnL w="12700" cap="flat" cmpd="sng" algn="ctr">
                      <a:solidFill>
                        <a:schemeClr val="tx1"/>
                      </a:solidFill>
                      <a:prstDash val="solid"/>
                      <a:round/>
                      <a:headEnd type="none" w="med" len="med"/>
                      <a:tailEnd type="none" w="med" len="med"/>
                    </a:lnL>
                  </a:tcPr>
                </a:tc>
                <a:tc>
                  <a:txBody>
                    <a:bodyPr/>
                    <a:lstStyle/>
                    <a:p>
                      <a:pPr algn="ctr"/>
                      <a:r>
                        <a:rPr lang="en-US" sz="1200" b="0">
                          <a:latin typeface="Adani Regular" panose="02000503000000020004" pitchFamily="2" charset="0"/>
                        </a:rPr>
                        <a:t>647</a:t>
                      </a:r>
                    </a:p>
                  </a:txBody>
                  <a:tcPr marL="121920" marR="121920" marT="60960" marB="6096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482853007"/>
                  </a:ext>
                </a:extLst>
              </a:tr>
              <a:tr h="405828">
                <a:tc>
                  <a:txBody>
                    <a:bodyPr/>
                    <a:lstStyle/>
                    <a:p>
                      <a:r>
                        <a:rPr lang="en-US" sz="1200" b="0">
                          <a:latin typeface="Adani Regular" panose="02000503000000020004" pitchFamily="2" charset="0"/>
                        </a:rPr>
                        <a:t>Land Cost</a:t>
                      </a:r>
                    </a:p>
                  </a:txBody>
                  <a:tcPr marL="121920" marR="121920" marT="60960" marB="60960" anchor="ctr">
                    <a:lnL w="12700" cap="flat" cmpd="sng" algn="ctr">
                      <a:solidFill>
                        <a:schemeClr val="tx1"/>
                      </a:solidFill>
                      <a:prstDash val="solid"/>
                      <a:round/>
                      <a:headEnd type="none" w="med" len="med"/>
                      <a:tailEnd type="none" w="med" len="med"/>
                    </a:lnL>
                  </a:tcPr>
                </a:tc>
                <a:tc>
                  <a:txBody>
                    <a:bodyPr/>
                    <a:lstStyle/>
                    <a:p>
                      <a:pPr algn="ctr"/>
                      <a:r>
                        <a:rPr lang="en-US" sz="1200" b="0">
                          <a:latin typeface="Adani Regular" panose="02000503000000020004" pitchFamily="2" charset="0"/>
                        </a:rPr>
                        <a:t>1190</a:t>
                      </a:r>
                    </a:p>
                  </a:txBody>
                  <a:tcPr marL="121920" marR="121920" marT="60960" marB="6096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448304774"/>
                  </a:ext>
                </a:extLst>
              </a:tr>
              <a:tr h="405828">
                <a:tc>
                  <a:txBody>
                    <a:bodyPr/>
                    <a:lstStyle/>
                    <a:p>
                      <a:r>
                        <a:rPr lang="en-US" sz="1200" b="0">
                          <a:latin typeface="Adani Regular" panose="02000503000000020004" pitchFamily="2" charset="0"/>
                        </a:rPr>
                        <a:t>Contingency</a:t>
                      </a:r>
                    </a:p>
                  </a:txBody>
                  <a:tcPr marL="121920" marR="121920" marT="60960" marB="6096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1200" b="0">
                          <a:latin typeface="Adani Regular" panose="02000503000000020004" pitchFamily="2" charset="0"/>
                        </a:rPr>
                        <a:t>431</a:t>
                      </a:r>
                    </a:p>
                  </a:txBody>
                  <a:tcPr marL="121920" marR="121920" marT="60960" marB="6096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0011349"/>
                  </a:ext>
                </a:extLst>
              </a:tr>
            </a:tbl>
          </a:graphicData>
        </a:graphic>
      </p:graphicFrame>
      <p:graphicFrame>
        <p:nvGraphicFramePr>
          <p:cNvPr id="8" name="Table 7">
            <a:extLst>
              <a:ext uri="{FF2B5EF4-FFF2-40B4-BE49-F238E27FC236}">
                <a16:creationId xmlns:a16="http://schemas.microsoft.com/office/drawing/2014/main" id="{07CF737D-D8DB-051C-A69F-6C3E7665852F}"/>
              </a:ext>
            </a:extLst>
          </p:cNvPr>
          <p:cNvGraphicFramePr>
            <a:graphicFrameLocks noGrp="1"/>
          </p:cNvGraphicFramePr>
          <p:nvPr>
            <p:extLst>
              <p:ext uri="{D42A27DB-BD31-4B8C-83A1-F6EECF244321}">
                <p14:modId xmlns:p14="http://schemas.microsoft.com/office/powerpoint/2010/main" val="1786441605"/>
              </p:ext>
            </p:extLst>
          </p:nvPr>
        </p:nvGraphicFramePr>
        <p:xfrm>
          <a:off x="4038600" y="3498722"/>
          <a:ext cx="8003508" cy="2691264"/>
        </p:xfrm>
        <a:graphic>
          <a:graphicData uri="http://schemas.openxmlformats.org/drawingml/2006/table">
            <a:tbl>
              <a:tblPr/>
              <a:tblGrid>
                <a:gridCol w="864000">
                  <a:extLst>
                    <a:ext uri="{9D8B030D-6E8A-4147-A177-3AD203B41FA5}">
                      <a16:colId xmlns:a16="http://schemas.microsoft.com/office/drawing/2014/main" val="1389407341"/>
                    </a:ext>
                  </a:extLst>
                </a:gridCol>
                <a:gridCol w="1189918">
                  <a:extLst>
                    <a:ext uri="{9D8B030D-6E8A-4147-A177-3AD203B41FA5}">
                      <a16:colId xmlns:a16="http://schemas.microsoft.com/office/drawing/2014/main" val="3336941397"/>
                    </a:ext>
                  </a:extLst>
                </a:gridCol>
                <a:gridCol w="1189918">
                  <a:extLst>
                    <a:ext uri="{9D8B030D-6E8A-4147-A177-3AD203B41FA5}">
                      <a16:colId xmlns:a16="http://schemas.microsoft.com/office/drawing/2014/main" val="1393304784"/>
                    </a:ext>
                  </a:extLst>
                </a:gridCol>
                <a:gridCol w="1189918">
                  <a:extLst>
                    <a:ext uri="{9D8B030D-6E8A-4147-A177-3AD203B41FA5}">
                      <a16:colId xmlns:a16="http://schemas.microsoft.com/office/drawing/2014/main" val="1740343018"/>
                    </a:ext>
                  </a:extLst>
                </a:gridCol>
                <a:gridCol w="1189918">
                  <a:extLst>
                    <a:ext uri="{9D8B030D-6E8A-4147-A177-3AD203B41FA5}">
                      <a16:colId xmlns:a16="http://schemas.microsoft.com/office/drawing/2014/main" val="2813543144"/>
                    </a:ext>
                  </a:extLst>
                </a:gridCol>
                <a:gridCol w="1189918">
                  <a:extLst>
                    <a:ext uri="{9D8B030D-6E8A-4147-A177-3AD203B41FA5}">
                      <a16:colId xmlns:a16="http://schemas.microsoft.com/office/drawing/2014/main" val="1462746344"/>
                    </a:ext>
                  </a:extLst>
                </a:gridCol>
                <a:gridCol w="1189918">
                  <a:extLst>
                    <a:ext uri="{9D8B030D-6E8A-4147-A177-3AD203B41FA5}">
                      <a16:colId xmlns:a16="http://schemas.microsoft.com/office/drawing/2014/main" val="1860194288"/>
                    </a:ext>
                  </a:extLst>
                </a:gridCol>
              </a:tblGrid>
              <a:tr h="448903">
                <a:tc>
                  <a:txBody>
                    <a:bodyPr/>
                    <a:lstStyle/>
                    <a:p>
                      <a:pPr algn="ctr" rtl="0" fontAlgn="ctr">
                        <a:buNone/>
                      </a:pPr>
                      <a:r>
                        <a:rPr lang="en-US" sz="1100" b="1" i="0" u="none" strike="noStrike">
                          <a:solidFill>
                            <a:srgbClr val="000000"/>
                          </a:solidFill>
                          <a:effectLst/>
                          <a:latin typeface="Adani Regular" panose="02000503000000020004" pitchFamily="2" charset="0"/>
                        </a:rPr>
                        <a:t>SPV</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rgbClr val="8064A2"/>
                      </a:solidFill>
                      <a:prstDash val="solid"/>
                      <a:round/>
                      <a:headEnd type="none" w="med" len="med"/>
                      <a:tailEnd type="none" w="med" len="med"/>
                    </a:lnB>
                    <a:noFill/>
                  </a:tcPr>
                </a:tc>
                <a:tc>
                  <a:txBody>
                    <a:bodyPr/>
                    <a:lstStyle/>
                    <a:p>
                      <a:pPr algn="ctr" rtl="0" fontAlgn="ctr">
                        <a:buNone/>
                      </a:pPr>
                      <a:r>
                        <a:rPr lang="en-US" sz="1100" b="1" i="0" u="none" strike="noStrike">
                          <a:solidFill>
                            <a:srgbClr val="000000"/>
                          </a:solidFill>
                          <a:effectLst/>
                          <a:latin typeface="Adani Regular" panose="02000503000000020004" pitchFamily="2" charset="0"/>
                        </a:rPr>
                        <a:t>AGE27BL</a:t>
                      </a: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rgbClr val="8064A2"/>
                      </a:solidFill>
                      <a:prstDash val="solid"/>
                      <a:round/>
                      <a:headEnd type="none" w="med" len="med"/>
                      <a:tailEnd type="none" w="med" len="med"/>
                    </a:lnB>
                    <a:noFill/>
                  </a:tcPr>
                </a:tc>
                <a:tc>
                  <a:txBody>
                    <a:bodyPr/>
                    <a:lstStyle/>
                    <a:p>
                      <a:pPr algn="ctr" rtl="0" fontAlgn="ctr">
                        <a:buNone/>
                      </a:pPr>
                      <a:r>
                        <a:rPr lang="en-US" sz="1100" b="1" i="0" u="none" strike="noStrike">
                          <a:solidFill>
                            <a:srgbClr val="000000"/>
                          </a:solidFill>
                          <a:effectLst/>
                          <a:latin typeface="Adani Regular" panose="02000503000000020004" pitchFamily="2" charset="0"/>
                        </a:rPr>
                        <a:t>AGE27CL</a:t>
                      </a: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rgbClr val="8064A2"/>
                      </a:solidFill>
                      <a:prstDash val="solid"/>
                      <a:round/>
                      <a:headEnd type="none" w="med" len="med"/>
                      <a:tailEnd type="none" w="med" len="med"/>
                    </a:lnB>
                    <a:noFill/>
                  </a:tcPr>
                </a:tc>
                <a:tc>
                  <a:txBody>
                    <a:bodyPr/>
                    <a:lstStyle/>
                    <a:p>
                      <a:pPr algn="ctr" rtl="0" fontAlgn="ctr">
                        <a:buNone/>
                      </a:pPr>
                      <a:r>
                        <a:rPr lang="en-US" sz="1100" b="1" i="0" u="none" strike="noStrike">
                          <a:solidFill>
                            <a:srgbClr val="000000"/>
                          </a:solidFill>
                          <a:effectLst/>
                          <a:latin typeface="Adani Regular" panose="02000503000000020004" pitchFamily="2" charset="0"/>
                        </a:rPr>
                        <a:t>ARE35L</a:t>
                      </a: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8064A2"/>
                      </a:solidFill>
                      <a:prstDash val="solid"/>
                      <a:round/>
                      <a:headEnd type="none" w="med" len="med"/>
                      <a:tailEnd type="none" w="med" len="med"/>
                    </a:lnB>
                    <a:noFill/>
                  </a:tcPr>
                </a:tc>
                <a:tc>
                  <a:txBody>
                    <a:bodyPr/>
                    <a:lstStyle/>
                    <a:p>
                      <a:pPr algn="ctr" rtl="0" fontAlgn="ctr">
                        <a:buNone/>
                      </a:pPr>
                      <a:r>
                        <a:rPr lang="en-US" sz="1100" b="1" i="0" u="none" strike="noStrike">
                          <a:solidFill>
                            <a:srgbClr val="000000"/>
                          </a:solidFill>
                          <a:effectLst/>
                          <a:latin typeface="Adani Regular" panose="02000503000000020004" pitchFamily="2" charset="0"/>
                        </a:rPr>
                        <a:t>AGE27AL</a:t>
                      </a: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8064A2"/>
                      </a:solidFill>
                      <a:prstDash val="solid"/>
                      <a:round/>
                      <a:headEnd type="none" w="med" len="med"/>
                      <a:tailEnd type="none" w="med" len="med"/>
                    </a:lnB>
                    <a:noFill/>
                  </a:tcPr>
                </a:tc>
                <a:tc>
                  <a:txBody>
                    <a:bodyPr/>
                    <a:lstStyle/>
                    <a:p>
                      <a:pPr algn="ctr" rtl="0" fontAlgn="ctr">
                        <a:buNone/>
                      </a:pPr>
                      <a:r>
                        <a:rPr lang="en-US" sz="1100" b="1" i="0" u="none" strike="noStrike">
                          <a:solidFill>
                            <a:srgbClr val="000000"/>
                          </a:solidFill>
                          <a:effectLst/>
                          <a:latin typeface="Adani Regular" panose="02000503000000020004" pitchFamily="2" charset="0"/>
                        </a:rPr>
                        <a:t>ARE44L</a:t>
                      </a: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8064A2"/>
                      </a:solidFill>
                      <a:prstDash val="solid"/>
                      <a:round/>
                      <a:headEnd type="none" w="med" len="med"/>
                      <a:tailEnd type="none" w="med" len="med"/>
                    </a:lnB>
                    <a:noFill/>
                  </a:tcPr>
                </a:tc>
                <a:tc>
                  <a:txBody>
                    <a:bodyPr/>
                    <a:lstStyle/>
                    <a:p>
                      <a:pPr algn="ctr" rtl="0" fontAlgn="ctr">
                        <a:buNone/>
                      </a:pPr>
                      <a:r>
                        <a:rPr lang="en-US" sz="1100" b="1" i="0" u="none" strike="noStrike">
                          <a:solidFill>
                            <a:srgbClr val="000000"/>
                          </a:solidFill>
                          <a:effectLst/>
                          <a:latin typeface="Adani Regular" panose="02000503000000020004" pitchFamily="2" charset="0"/>
                        </a:rPr>
                        <a:t>ARE35L</a:t>
                      </a: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8064A2"/>
                      </a:solidFill>
                      <a:prstDash val="solid"/>
                      <a:round/>
                      <a:headEnd type="none" w="med" len="med"/>
                      <a:tailEnd type="none" w="med" len="med"/>
                    </a:lnB>
                    <a:noFill/>
                  </a:tcPr>
                </a:tc>
                <a:extLst>
                  <a:ext uri="{0D108BD9-81ED-4DB2-BD59-A6C34878D82A}">
                    <a16:rowId xmlns:a16="http://schemas.microsoft.com/office/drawing/2014/main" val="1905388603"/>
                  </a:ext>
                </a:extLst>
              </a:tr>
              <a:tr h="285310">
                <a:tc>
                  <a:txBody>
                    <a:bodyPr/>
                    <a:lstStyle/>
                    <a:p>
                      <a:pPr algn="ctr" rtl="0" fontAlgn="ctr">
                        <a:buNone/>
                      </a:pPr>
                      <a:r>
                        <a:rPr lang="en-US" sz="1100" b="0" i="0" u="none" strike="noStrike">
                          <a:solidFill>
                            <a:srgbClr val="000000"/>
                          </a:solidFill>
                          <a:effectLst/>
                          <a:latin typeface="Adani Regular" panose="02000503000000020004" pitchFamily="2" charset="0"/>
                        </a:rPr>
                        <a:t>PSS</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rgbClr val="8064A2"/>
                      </a:solidFill>
                      <a:prstDash val="solid"/>
                      <a:round/>
                      <a:headEnd type="none" w="med" len="med"/>
                      <a:tailEnd type="none" w="med" len="med"/>
                    </a:lnT>
                    <a:lnB>
                      <a:noFill/>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11</a:t>
                      </a:r>
                    </a:p>
                  </a:txBody>
                  <a:tcPr marL="9525" marR="9525" marT="9525" marB="0" anchor="ctr">
                    <a:lnL>
                      <a:noFill/>
                    </a:lnL>
                    <a:lnR>
                      <a:noFill/>
                    </a:lnR>
                    <a:lnT w="12700" cap="flat" cmpd="sng" algn="ctr">
                      <a:solidFill>
                        <a:srgbClr val="8064A2"/>
                      </a:solidFill>
                      <a:prstDash val="solid"/>
                      <a:round/>
                      <a:headEnd type="none" w="med" len="med"/>
                      <a:tailEnd type="none" w="med" len="med"/>
                    </a:lnT>
                    <a:lnB>
                      <a:noFill/>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12</a:t>
                      </a:r>
                    </a:p>
                  </a:txBody>
                  <a:tcPr marL="9525" marR="9525" marT="9525" marB="0" anchor="ctr">
                    <a:lnL>
                      <a:noFill/>
                    </a:lnL>
                    <a:lnR>
                      <a:noFill/>
                    </a:lnR>
                    <a:lnT w="12700" cap="flat" cmpd="sng" algn="ctr">
                      <a:solidFill>
                        <a:srgbClr val="8064A2"/>
                      </a:solidFill>
                      <a:prstDash val="solid"/>
                      <a:round/>
                      <a:headEnd type="none" w="med" len="med"/>
                      <a:tailEnd type="none" w="med" len="med"/>
                    </a:lnT>
                    <a:lnB>
                      <a:noFill/>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10(B)</a:t>
                      </a:r>
                    </a:p>
                  </a:txBody>
                  <a:tcPr marL="9525" marR="9525" marT="9525" marB="0" anchor="ctr">
                    <a:lnL>
                      <a:noFill/>
                    </a:lnL>
                    <a:lnR w="12700" cap="flat" cmpd="sng" algn="ctr">
                      <a:noFill/>
                      <a:prstDash val="solid"/>
                      <a:round/>
                      <a:headEnd type="none" w="med" len="med"/>
                      <a:tailEnd type="none" w="med" len="med"/>
                    </a:lnR>
                    <a:lnT w="12700" cap="flat" cmpd="sng" algn="ctr">
                      <a:solidFill>
                        <a:srgbClr val="8064A2"/>
                      </a:solidFill>
                      <a:prstDash val="solid"/>
                      <a:round/>
                      <a:headEnd type="none" w="med" len="med"/>
                      <a:tailEnd type="none" w="med" len="med"/>
                    </a:lnT>
                    <a:lnB>
                      <a:noFill/>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09</a:t>
                      </a:r>
                    </a:p>
                  </a:txBody>
                  <a:tcPr marL="9525" marR="9525" marT="9525" marB="0" anchor="ctr">
                    <a:lnL>
                      <a:noFill/>
                    </a:lnL>
                    <a:lnR w="12700" cap="flat" cmpd="sng" algn="ctr">
                      <a:noFill/>
                      <a:prstDash val="solid"/>
                      <a:round/>
                      <a:headEnd type="none" w="med" len="med"/>
                      <a:tailEnd type="none" w="med" len="med"/>
                    </a:lnR>
                    <a:lnT w="12700" cap="flat" cmpd="sng" algn="ctr">
                      <a:solidFill>
                        <a:srgbClr val="8064A2"/>
                      </a:solidFill>
                      <a:prstDash val="solid"/>
                      <a:round/>
                      <a:headEnd type="none" w="med" len="med"/>
                      <a:tailEnd type="none" w="med" len="med"/>
                    </a:lnT>
                    <a:lnB>
                      <a:noFill/>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05(B)</a:t>
                      </a:r>
                    </a:p>
                  </a:txBody>
                  <a:tcPr marL="9525" marR="9525" marT="9525" marB="0" anchor="ctr">
                    <a:lnL>
                      <a:noFill/>
                    </a:lnL>
                    <a:lnR w="12700" cap="flat" cmpd="sng" algn="ctr">
                      <a:noFill/>
                      <a:prstDash val="solid"/>
                      <a:round/>
                      <a:headEnd type="none" w="med" len="med"/>
                      <a:tailEnd type="none" w="med" len="med"/>
                    </a:lnR>
                    <a:lnT w="12700" cap="flat" cmpd="sng" algn="ctr">
                      <a:solidFill>
                        <a:srgbClr val="8064A2"/>
                      </a:solidFill>
                      <a:prstDash val="solid"/>
                      <a:round/>
                      <a:headEnd type="none" w="med" len="med"/>
                      <a:tailEnd type="none" w="med" len="med"/>
                    </a:lnT>
                    <a:lnB>
                      <a:noFill/>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08(B)</a:t>
                      </a: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rgbClr val="8064A2"/>
                      </a:solidFill>
                      <a:prstDash val="solid"/>
                      <a:round/>
                      <a:headEnd type="none" w="med" len="med"/>
                      <a:tailEnd type="none" w="med" len="med"/>
                    </a:lnT>
                    <a:lnB>
                      <a:noFill/>
                    </a:lnB>
                    <a:solidFill>
                      <a:srgbClr val="E6E0EC"/>
                    </a:solidFill>
                  </a:tcPr>
                </a:tc>
                <a:extLst>
                  <a:ext uri="{0D108BD9-81ED-4DB2-BD59-A6C34878D82A}">
                    <a16:rowId xmlns:a16="http://schemas.microsoft.com/office/drawing/2014/main" val="369299541"/>
                  </a:ext>
                </a:extLst>
              </a:tr>
              <a:tr h="272341">
                <a:tc>
                  <a:txBody>
                    <a:bodyPr/>
                    <a:lstStyle/>
                    <a:p>
                      <a:pPr algn="ctr" rtl="0" fontAlgn="ctr">
                        <a:buNone/>
                      </a:pPr>
                      <a:r>
                        <a:rPr lang="en-US" sz="1100" b="0" i="0" u="none" strike="noStrike">
                          <a:solidFill>
                            <a:srgbClr val="000000"/>
                          </a:solidFill>
                          <a:effectLst/>
                          <a:latin typeface="Adani Regular" panose="02000503000000020004" pitchFamily="2" charset="0"/>
                        </a:rPr>
                        <a:t>Connectivity</a:t>
                      </a:r>
                    </a:p>
                  </a:txBody>
                  <a:tcPr marL="9525" marR="9525" marT="9525" marB="0" anchor="ctr">
                    <a:lnL w="12700" cap="flat" cmpd="sng" algn="ctr">
                      <a:solidFill>
                        <a:schemeClr val="tx1"/>
                      </a:solidFill>
                      <a:prstDash val="solid"/>
                      <a:round/>
                      <a:headEnd type="none" w="med" len="med"/>
                      <a:tailEnd type="none" w="med" len="med"/>
                    </a:lnL>
                    <a:lnR>
                      <a:noFill/>
                    </a:lnR>
                    <a:lnT>
                      <a:noFill/>
                    </a:lnT>
                    <a:lnB>
                      <a:noFill/>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1060</a:t>
                      </a:r>
                    </a:p>
                  </a:txBody>
                  <a:tcPr marL="9525" marR="9525" marT="9525" marB="0" anchor="ctr">
                    <a:lnL>
                      <a:noFill/>
                    </a:lnL>
                    <a:lnR>
                      <a:noFill/>
                    </a:lnR>
                    <a:lnT>
                      <a:noFill/>
                    </a:lnT>
                    <a:lnB>
                      <a:noFill/>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950</a:t>
                      </a:r>
                    </a:p>
                  </a:txBody>
                  <a:tcPr marL="9525" marR="9525" marT="9525" marB="0" anchor="ctr">
                    <a:lnL>
                      <a:noFill/>
                    </a:lnL>
                    <a:lnR>
                      <a:noFill/>
                    </a:lnR>
                    <a:lnT>
                      <a:noFill/>
                    </a:lnT>
                    <a:lnB>
                      <a:noFill/>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600</a:t>
                      </a:r>
                    </a:p>
                  </a:txBody>
                  <a:tcPr marL="9525" marR="9525" marT="9525" marB="0" anchor="ctr">
                    <a:lnL>
                      <a:noFill/>
                    </a:lnL>
                    <a:lnR w="12700" cap="flat" cmpd="sng" algn="ctr">
                      <a:noFill/>
                      <a:prstDash val="solid"/>
                      <a:round/>
                      <a:headEnd type="none" w="med" len="med"/>
                      <a:tailEnd type="none" w="med" len="med"/>
                    </a:lnR>
                    <a:lnT>
                      <a:noFill/>
                    </a:lnT>
                    <a:lnB>
                      <a:noFill/>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1060</a:t>
                      </a:r>
                    </a:p>
                  </a:txBody>
                  <a:tcPr marL="9525" marR="9525" marT="9525" marB="0" anchor="ctr">
                    <a:lnL>
                      <a:noFill/>
                    </a:lnL>
                    <a:lnR w="12700" cap="flat" cmpd="sng" algn="ctr">
                      <a:noFill/>
                      <a:prstDash val="solid"/>
                      <a:round/>
                      <a:headEnd type="none" w="med" len="med"/>
                      <a:tailEnd type="none" w="med" len="med"/>
                    </a:lnR>
                    <a:lnT>
                      <a:noFill/>
                    </a:lnT>
                    <a:lnB>
                      <a:noFill/>
                    </a:lnB>
                    <a:solidFill>
                      <a:srgbClr val="E6E0EC"/>
                    </a:solidFill>
                  </a:tcPr>
                </a:tc>
                <a:tc>
                  <a:txBody>
                    <a:bodyPr/>
                    <a:lstStyle/>
                    <a:p>
                      <a:pPr algn="ctr" rtl="0" fontAlgn="ctr">
                        <a:buNone/>
                      </a:pPr>
                      <a:r>
                        <a:rPr lang="en-US" sz="1100" b="0" i="0" u="none" strike="noStrike" dirty="0">
                          <a:solidFill>
                            <a:srgbClr val="000000"/>
                          </a:solidFill>
                          <a:effectLst/>
                          <a:latin typeface="Adani Regular" panose="02000503000000020004" pitchFamily="2" charset="0"/>
                        </a:rPr>
                        <a:t>942.2</a:t>
                      </a:r>
                    </a:p>
                  </a:txBody>
                  <a:tcPr marL="9525" marR="9525" marT="9525" marB="0" anchor="ctr">
                    <a:lnL>
                      <a:noFill/>
                    </a:lnL>
                    <a:lnR w="12700" cap="flat" cmpd="sng" algn="ctr">
                      <a:noFill/>
                      <a:prstDash val="solid"/>
                      <a:round/>
                      <a:headEnd type="none" w="med" len="med"/>
                      <a:tailEnd type="none" w="med" len="med"/>
                    </a:lnR>
                    <a:lnT>
                      <a:noFill/>
                    </a:lnT>
                    <a:lnB>
                      <a:noFill/>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410</a:t>
                      </a:r>
                    </a:p>
                  </a:txBody>
                  <a:tcPr marL="9525" marR="9525" marT="9525" marB="0" anchor="ctr">
                    <a:lnL>
                      <a:noFill/>
                    </a:lnL>
                    <a:lnR w="12700" cap="flat" cmpd="sng" algn="ctr">
                      <a:solidFill>
                        <a:schemeClr val="tx1"/>
                      </a:solidFill>
                      <a:prstDash val="solid"/>
                      <a:round/>
                      <a:headEnd type="none" w="med" len="med"/>
                      <a:tailEnd type="none" w="med" len="med"/>
                    </a:lnR>
                    <a:lnT>
                      <a:noFill/>
                    </a:lnT>
                    <a:lnB>
                      <a:noFill/>
                    </a:lnB>
                    <a:solidFill>
                      <a:srgbClr val="E6E0EC"/>
                    </a:solidFill>
                  </a:tcPr>
                </a:tc>
                <a:extLst>
                  <a:ext uri="{0D108BD9-81ED-4DB2-BD59-A6C34878D82A}">
                    <a16:rowId xmlns:a16="http://schemas.microsoft.com/office/drawing/2014/main" val="3816106730"/>
                  </a:ext>
                </a:extLst>
              </a:tr>
              <a:tr h="836985">
                <a:tc>
                  <a:txBody>
                    <a:bodyPr/>
                    <a:lstStyle/>
                    <a:p>
                      <a:pPr algn="ctr" rtl="0" fontAlgn="ctr">
                        <a:buNone/>
                      </a:pPr>
                      <a:r>
                        <a:rPr lang="en-US" sz="1100" b="0" i="0" u="none" strike="noStrike">
                          <a:solidFill>
                            <a:srgbClr val="000000"/>
                          </a:solidFill>
                          <a:effectLst/>
                          <a:latin typeface="Adani Regular" panose="02000503000000020004" pitchFamily="2" charset="0"/>
                        </a:rPr>
                        <a:t>Land Lease (Years)</a:t>
                      </a:r>
                    </a:p>
                  </a:txBody>
                  <a:tcPr marL="9525" marR="9525" marT="9525" marB="0"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Lease: 40 Years</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Sub-lease: 29 Yr 11 Mo (SRPL)</a:t>
                      </a:r>
                      <a:endParaRPr lang="en-US" sz="1100" b="0" i="0" u="none" strike="noStrike">
                        <a:solidFill>
                          <a:srgbClr val="000000"/>
                        </a:solidFill>
                        <a:effectLst/>
                        <a:latin typeface="Adani Regular" panose="02000503000000020004" pitchFamily="2" charset="0"/>
                      </a:endParaRPr>
                    </a:p>
                  </a:txBody>
                  <a:tcPr marL="9525" marR="9525" marT="9525" marB="0" anchor="ctr">
                    <a:lnL>
                      <a:noFill/>
                    </a:lnL>
                    <a:lnR>
                      <a:noFill/>
                    </a:lnR>
                    <a:lnT>
                      <a:noFill/>
                    </a:lnT>
                    <a:lnB>
                      <a:noFill/>
                    </a:lnB>
                    <a:no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Lease: 40 Years</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Sub-lease: 29 Yr 11 Mo (SRPL)</a:t>
                      </a:r>
                    </a:p>
                  </a:txBody>
                  <a:tcPr marL="9525" marR="9525" marT="9525" marB="0" anchor="ctr">
                    <a:lnL>
                      <a:noFill/>
                    </a:lnL>
                    <a:lnR>
                      <a:noFill/>
                    </a:lnR>
                    <a:lnT>
                      <a:noFill/>
                    </a:lnT>
                    <a:lnB>
                      <a:noFill/>
                    </a:lnB>
                    <a:no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Lease: 40 Years</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Sub-lease: 29 Yr 11 Mo (SRPL)</a:t>
                      </a:r>
                    </a:p>
                  </a:txBody>
                  <a:tcPr marL="9525" marR="9525" marT="9525" marB="0" anchor="ctr">
                    <a:lnL>
                      <a:noFill/>
                    </a:lnL>
                    <a:lnR w="12700" cap="flat" cmpd="sng" algn="ctr">
                      <a:noFill/>
                      <a:prstDash val="solid"/>
                      <a:round/>
                      <a:headEnd type="none" w="med" len="med"/>
                      <a:tailEnd type="none" w="med" len="med"/>
                    </a:lnR>
                    <a:lnT>
                      <a:noFill/>
                    </a:lnT>
                    <a:lnB>
                      <a:noFill/>
                    </a:lnB>
                    <a:noFill/>
                  </a:tcPr>
                </a:tc>
                <a:tc>
                  <a:txBody>
                    <a:bodyPr/>
                    <a:lstStyle/>
                    <a:p>
                      <a:pPr algn="ctr" rtl="0" fontAlgn="ctr">
                        <a:buNone/>
                      </a:pPr>
                      <a:r>
                        <a:rPr lang="en-US" sz="1100" b="0" i="0" u="none" strike="noStrike">
                          <a:solidFill>
                            <a:srgbClr val="000000"/>
                          </a:solidFill>
                          <a:effectLst/>
                          <a:latin typeface="Adani Regular" panose="02000503000000020004" pitchFamily="2" charset="0"/>
                        </a:rPr>
                        <a:t>Lease: 40 Years</a:t>
                      </a:r>
                    </a:p>
                    <a:p>
                      <a:pPr algn="ctr" rtl="0" fontAlgn="ctr">
                        <a:buNone/>
                      </a:pPr>
                      <a:r>
                        <a:rPr lang="en-US" sz="1100" b="0" i="0" u="none" strike="noStrike">
                          <a:solidFill>
                            <a:srgbClr val="000000"/>
                          </a:solidFill>
                          <a:effectLst/>
                          <a:latin typeface="Adani Regular" panose="02000503000000020004" pitchFamily="2" charset="0"/>
                        </a:rPr>
                        <a:t>Sub-lease: 29 Yr 11 Mo (AGEL)</a:t>
                      </a:r>
                    </a:p>
                  </a:txBody>
                  <a:tcPr marL="9525" marR="9525" marT="9525" marB="0" anchor="ctr">
                    <a:lnL>
                      <a:noFill/>
                    </a:lnL>
                    <a:lnR w="12700" cap="flat" cmpd="sng" algn="ctr">
                      <a:noFill/>
                      <a:prstDash val="solid"/>
                      <a:round/>
                      <a:headEnd type="none" w="med" len="med"/>
                      <a:tailEnd type="none" w="med" len="med"/>
                    </a:lnR>
                    <a:lnT>
                      <a:noFill/>
                    </a:lnT>
                    <a:lnB>
                      <a:noFill/>
                    </a:lnB>
                    <a:noFill/>
                  </a:tcPr>
                </a:tc>
                <a:tc>
                  <a:txBody>
                    <a:bodyPr/>
                    <a:lstStyle/>
                    <a:p>
                      <a:pPr algn="ctr" rtl="0" fontAlgn="ctr">
                        <a:buNone/>
                      </a:pPr>
                      <a:r>
                        <a:rPr lang="en-US" sz="1100" b="0" i="0" u="none" strike="noStrike">
                          <a:solidFill>
                            <a:srgbClr val="000000"/>
                          </a:solidFill>
                          <a:effectLst/>
                          <a:latin typeface="Adani Regular" panose="02000503000000020004" pitchFamily="2" charset="0"/>
                        </a:rPr>
                        <a:t>Lease: 40 Years</a:t>
                      </a:r>
                    </a:p>
                    <a:p>
                      <a:pPr algn="ctr" rtl="0" fontAlgn="ctr">
                        <a:buNone/>
                      </a:pPr>
                      <a:r>
                        <a:rPr lang="en-US" sz="1100" b="0" i="0" u="none" strike="noStrike">
                          <a:solidFill>
                            <a:srgbClr val="000000"/>
                          </a:solidFill>
                          <a:effectLst/>
                          <a:latin typeface="Adani Regular" panose="02000503000000020004" pitchFamily="2" charset="0"/>
                        </a:rPr>
                        <a:t>Sub-lease: 29 Yr 11 Mo </a:t>
                      </a:r>
                      <a:r>
                        <a:rPr kumimoji="0" lang="en-US" sz="11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(AGEL/APL)</a:t>
                      </a:r>
                    </a:p>
                  </a:txBody>
                  <a:tcPr marL="9525" marR="9525" marT="9525" marB="0" anchor="ctr">
                    <a:lnL>
                      <a:noFill/>
                    </a:lnL>
                    <a:lnR w="12700" cap="flat" cmpd="sng" algn="ctr">
                      <a:noFill/>
                      <a:prstDash val="solid"/>
                      <a:round/>
                      <a:headEnd type="none" w="med" len="med"/>
                      <a:tailEnd type="none" w="med" len="med"/>
                    </a:lnR>
                    <a:lnT>
                      <a:noFill/>
                    </a:lnT>
                    <a:lnB>
                      <a:noFill/>
                    </a:lnB>
                    <a:noFill/>
                  </a:tcPr>
                </a:tc>
                <a:tc>
                  <a:txBody>
                    <a:bodyPr/>
                    <a:lstStyle/>
                    <a:p>
                      <a:pPr algn="ctr" rtl="0" fontAlgn="ctr">
                        <a:buNone/>
                      </a:pPr>
                      <a:r>
                        <a:rPr lang="en-US" sz="1100" b="0" i="0" u="none" strike="noStrike">
                          <a:solidFill>
                            <a:srgbClr val="000000"/>
                          </a:solidFill>
                          <a:effectLst/>
                          <a:latin typeface="Adani Regular" panose="02000503000000020004" pitchFamily="2" charset="0"/>
                        </a:rPr>
                        <a:t>Lease: 40 Years</a:t>
                      </a:r>
                    </a:p>
                    <a:p>
                      <a:pPr algn="ctr" rtl="0" fontAlgn="ctr">
                        <a:buNone/>
                      </a:pPr>
                      <a:r>
                        <a:rPr lang="en-US" sz="1100" b="0" i="0" u="none" strike="noStrike">
                          <a:solidFill>
                            <a:srgbClr val="000000"/>
                          </a:solidFill>
                          <a:effectLst/>
                          <a:latin typeface="Adani Regular" panose="02000503000000020004" pitchFamily="2" charset="0"/>
                        </a:rPr>
                        <a:t>Sub-lease: 29 Yr 11 Mo </a:t>
                      </a:r>
                      <a:r>
                        <a:rPr kumimoji="0" lang="en-US" sz="11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(AGEL)</a:t>
                      </a:r>
                    </a:p>
                  </a:txBody>
                  <a:tcPr marL="9525" marR="9525" marT="9525" marB="0"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590421340"/>
                  </a:ext>
                </a:extLst>
              </a:tr>
              <a:tr h="836985">
                <a:tc>
                  <a:txBody>
                    <a:bodyPr/>
                    <a:lstStyle/>
                    <a:p>
                      <a:pPr algn="ctr" rtl="0" fontAlgn="ctr">
                        <a:buNone/>
                      </a:pPr>
                      <a:r>
                        <a:rPr lang="en-US" sz="1100" b="0" i="0" u="none" strike="noStrike">
                          <a:solidFill>
                            <a:srgbClr val="000000"/>
                          </a:solidFill>
                          <a:effectLst/>
                          <a:latin typeface="Adani Regular" panose="02000503000000020004" pitchFamily="2" charset="0"/>
                        </a:rPr>
                        <a:t>Contractors</a:t>
                      </a:r>
                    </a:p>
                  </a:txBody>
                  <a:tcPr marL="9525" marR="9525" marT="9525" marB="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Cemindia / MSC /Akshar / Sunelec / Icecube / Synergy</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Cemindia / MSC / Akshar / DP Consteel</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Cemindia / Godhara / </a:t>
                      </a:r>
                      <a:r>
                        <a:rPr lang="en-US" sz="1100" b="0" i="0" u="none" strike="sngStrike">
                          <a:solidFill>
                            <a:srgbClr val="000000"/>
                          </a:solidFill>
                          <a:effectLst/>
                          <a:latin typeface="Adani Regular" panose="02000503000000020004" pitchFamily="2" charset="0"/>
                        </a:rPr>
                        <a:t>Green Revolution </a:t>
                      </a:r>
                      <a:r>
                        <a:rPr lang="en-US" sz="1100" b="0" i="0" u="none" strike="noStrike">
                          <a:solidFill>
                            <a:srgbClr val="000000"/>
                          </a:solidFill>
                          <a:effectLst/>
                          <a:latin typeface="Adani Regular" panose="02000503000000020004" pitchFamily="2" charset="0"/>
                        </a:rPr>
                        <a:t> MSC/ Akshar / DP Consteel</a:t>
                      </a:r>
                    </a:p>
                  </a:txBody>
                  <a:tcPr marL="9525" marR="9525" marT="9525" marB="0" anchor="ctr">
                    <a:lnL>
                      <a:noFill/>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6E0EC"/>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Cemindia/ MSC / Akshar / Synergy</a:t>
                      </a:r>
                    </a:p>
                  </a:txBody>
                  <a:tcPr marL="9525" marR="9525" marT="9525" marB="0" anchor="ctr">
                    <a:lnL>
                      <a:noFill/>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6E0EC"/>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Cemindia/ MSC / Icecube / DP Consteel</a:t>
                      </a:r>
                    </a:p>
                  </a:txBody>
                  <a:tcPr marL="9525" marR="9525" marT="9525" marB="0" anchor="ctr">
                    <a:lnL>
                      <a:noFill/>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6E0EC"/>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srgbClr val="000000"/>
                          </a:solidFill>
                          <a:effectLst/>
                          <a:uLnTx/>
                          <a:uFillTx/>
                          <a:latin typeface="Adani Regular" panose="02000503000000020004" pitchFamily="2" charset="0"/>
                          <a:ea typeface="+mn-ea"/>
                          <a:cs typeface="+mn-cs"/>
                        </a:rPr>
                        <a:t>Cemindia</a:t>
                      </a:r>
                      <a:r>
                        <a:rPr kumimoji="0" lang="en-US" sz="1100" b="0" i="0" u="none" strike="noStrike" kern="1200" cap="none" spc="0" normalizeH="0" baseline="0" noProof="0" dirty="0">
                          <a:ln>
                            <a:noFill/>
                          </a:ln>
                          <a:solidFill>
                            <a:srgbClr val="000000"/>
                          </a:solidFill>
                          <a:effectLst/>
                          <a:uLnTx/>
                          <a:uFillTx/>
                          <a:latin typeface="Adani Regular" panose="02000503000000020004" pitchFamily="2" charset="0"/>
                          <a:ea typeface="+mn-ea"/>
                          <a:cs typeface="+mn-cs"/>
                        </a:rPr>
                        <a:t>/ </a:t>
                      </a:r>
                      <a:r>
                        <a:rPr kumimoji="0" lang="en-US" sz="1100" b="0" i="0" u="none" strike="noStrike" kern="1200" cap="none" spc="0" normalizeH="0" baseline="0" noProof="0" dirty="0" err="1">
                          <a:ln>
                            <a:noFill/>
                          </a:ln>
                          <a:solidFill>
                            <a:srgbClr val="000000"/>
                          </a:solidFill>
                          <a:effectLst/>
                          <a:uLnTx/>
                          <a:uFillTx/>
                          <a:latin typeface="Adani Regular" panose="02000503000000020004" pitchFamily="2" charset="0"/>
                          <a:ea typeface="+mn-ea"/>
                          <a:cs typeface="+mn-cs"/>
                        </a:rPr>
                        <a:t>Shreeji</a:t>
                      </a:r>
                      <a:r>
                        <a:rPr kumimoji="0" lang="en-US" sz="1100" b="0" i="0" u="none" strike="noStrike" kern="1200" cap="none" spc="0" normalizeH="0" baseline="0" noProof="0" dirty="0">
                          <a:ln>
                            <a:noFill/>
                          </a:ln>
                          <a:solidFill>
                            <a:srgbClr val="000000"/>
                          </a:solidFill>
                          <a:effectLst/>
                          <a:uLnTx/>
                          <a:uFillTx/>
                          <a:latin typeface="Adani Regular" panose="02000503000000020004" pitchFamily="2" charset="0"/>
                          <a:ea typeface="+mn-ea"/>
                          <a:cs typeface="+mn-cs"/>
                        </a:rPr>
                        <a:t> / </a:t>
                      </a:r>
                      <a:r>
                        <a:rPr kumimoji="0" lang="en-US" sz="1100" b="0" i="0" u="none" strike="noStrike" kern="1200" cap="none" spc="0" normalizeH="0" baseline="0" noProof="0" dirty="0" err="1">
                          <a:ln>
                            <a:noFill/>
                          </a:ln>
                          <a:solidFill>
                            <a:srgbClr val="000000"/>
                          </a:solidFill>
                          <a:effectLst/>
                          <a:uLnTx/>
                          <a:uFillTx/>
                          <a:latin typeface="Adani Regular" panose="02000503000000020004" pitchFamily="2" charset="0"/>
                          <a:ea typeface="+mn-ea"/>
                          <a:cs typeface="+mn-cs"/>
                        </a:rPr>
                        <a:t>Sunelec</a:t>
                      </a:r>
                      <a:r>
                        <a:rPr kumimoji="0" lang="en-US" sz="1100" b="0" i="0" u="none" strike="noStrike" kern="1200" cap="none" spc="0" normalizeH="0" baseline="0" noProof="0" dirty="0">
                          <a:ln>
                            <a:noFill/>
                          </a:ln>
                          <a:solidFill>
                            <a:srgbClr val="000000"/>
                          </a:solidFill>
                          <a:effectLst/>
                          <a:uLnTx/>
                          <a:uFillTx/>
                          <a:latin typeface="Adani Regular" panose="02000503000000020004" pitchFamily="2" charset="0"/>
                          <a:ea typeface="+mn-ea"/>
                          <a:cs typeface="+mn-cs"/>
                        </a:rPr>
                        <a:t> / Synergy</a:t>
                      </a:r>
                    </a:p>
                  </a:txBody>
                  <a:tcPr marL="9525" marR="9525" marT="9525"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6E0EC"/>
                    </a:solidFill>
                  </a:tcPr>
                </a:tc>
                <a:extLst>
                  <a:ext uri="{0D108BD9-81ED-4DB2-BD59-A6C34878D82A}">
                    <a16:rowId xmlns:a16="http://schemas.microsoft.com/office/drawing/2014/main" val="1412187955"/>
                  </a:ext>
                </a:extLst>
              </a:tr>
            </a:tbl>
          </a:graphicData>
        </a:graphic>
      </p:graphicFrame>
      <p:sp>
        <p:nvSpPr>
          <p:cNvPr id="10" name="Title 1">
            <a:extLst>
              <a:ext uri="{FF2B5EF4-FFF2-40B4-BE49-F238E27FC236}">
                <a16:creationId xmlns:a16="http://schemas.microsoft.com/office/drawing/2014/main" id="{AEB965FE-55B2-E276-6FEF-2534E456E21B}"/>
              </a:ext>
            </a:extLst>
          </p:cNvPr>
          <p:cNvSpPr txBox="1">
            <a:spLocks/>
          </p:cNvSpPr>
          <p:nvPr/>
        </p:nvSpPr>
        <p:spPr>
          <a:xfrm>
            <a:off x="466163" y="-12231"/>
            <a:ext cx="10972800" cy="680246"/>
          </a:xfrm>
          <a:prstGeom prst="rect">
            <a:avLst/>
          </a:prstGeom>
        </p:spPr>
        <p:txBody>
          <a:bodyPr vert="horz" lIns="91440" tIns="45720" rIns="91440" bIns="45720" rtlCol="0" anchor="ctr">
            <a:normAutofit/>
          </a:bodyPr>
          <a:lstStyle>
            <a:lvl1pPr algn="l" defTabSz="1219170" rtl="0" eaLnBrk="1" latinLnBrk="0" hangingPunct="1">
              <a:spcBef>
                <a:spcPct val="0"/>
              </a:spcBef>
              <a:buNone/>
              <a:defRPr sz="4800" kern="1200">
                <a:solidFill>
                  <a:schemeClr val="tx1"/>
                </a:solidFill>
                <a:latin typeface="Adani Medium" pitchFamily="2" charset="0"/>
                <a:ea typeface="+mj-ea"/>
                <a:cs typeface="+mj-cs"/>
              </a:defRPr>
            </a:lvl1pPr>
          </a:lstStyle>
          <a:p>
            <a:r>
              <a:rPr lang="en-US" sz="2400" b="1">
                <a:solidFill>
                  <a:srgbClr val="912A82"/>
                </a:solidFill>
                <a:highlight>
                  <a:srgbClr val="33CC33"/>
                </a:highlight>
                <a:latin typeface="Adani Regular" panose="02000503000000020004" pitchFamily="2" charset="0"/>
              </a:rPr>
              <a:t>Salient Features</a:t>
            </a:r>
            <a:endParaRPr lang="en-US" sz="2400" b="1">
              <a:highlight>
                <a:srgbClr val="33CC33"/>
              </a:highlight>
              <a:latin typeface="Adani Regular" panose="02000503000000020004" pitchFamily="2" charset="0"/>
            </a:endParaRPr>
          </a:p>
        </p:txBody>
      </p:sp>
      <p:sp>
        <p:nvSpPr>
          <p:cNvPr id="2" name="Slide Number Placeholder 3">
            <a:extLst>
              <a:ext uri="{FF2B5EF4-FFF2-40B4-BE49-F238E27FC236}">
                <a16:creationId xmlns:a16="http://schemas.microsoft.com/office/drawing/2014/main" id="{2CE9446E-5358-11AC-8040-D99CF034F01F}"/>
              </a:ext>
            </a:extLst>
          </p:cNvPr>
          <p:cNvSpPr txBox="1">
            <a:spLocks/>
          </p:cNvSpPr>
          <p:nvPr/>
        </p:nvSpPr>
        <p:spPr>
          <a:xfrm>
            <a:off x="11770660" y="6514205"/>
            <a:ext cx="421340" cy="365125"/>
          </a:xfrm>
          <a:prstGeom prst="rect">
            <a:avLst/>
          </a:prstGeom>
        </p:spPr>
        <p:txBody>
          <a:bodyPr vert="horz" lIns="91440" tIns="45720" rIns="91440" bIns="45720" rtlCol="0" anchor="ctr"/>
          <a:lstStyle>
            <a:defPPr>
              <a:defRPr lang="en-US"/>
            </a:defPPr>
            <a:lvl1pPr marL="0" algn="r" defTabSz="914400" rtl="0" eaLnBrk="1" latinLnBrk="0" hangingPunct="1">
              <a:defRPr sz="1400" kern="1200">
                <a:solidFill>
                  <a:schemeClr val="tx1">
                    <a:tint val="75000"/>
                  </a:schemeClr>
                </a:solidFill>
                <a:latin typeface="Adani Regular"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fld id="{98B285C1-D8A8-4E98-B28C-1FD972D8EC54}" type="slidenum">
              <a:rPr lang="en-IN" smtClean="0">
                <a:solidFill>
                  <a:prstClr val="black">
                    <a:tint val="75000"/>
                  </a:prstClr>
                </a:solidFill>
              </a:rPr>
              <a:pPr defTabSz="1219170"/>
              <a:t>3</a:t>
            </a:fld>
            <a:endParaRPr lang="en-IN">
              <a:solidFill>
                <a:prstClr val="black">
                  <a:tint val="75000"/>
                </a:prstClr>
              </a:solidFill>
            </a:endParaRPr>
          </a:p>
        </p:txBody>
      </p:sp>
    </p:spTree>
    <p:extLst>
      <p:ext uri="{BB962C8B-B14F-4D97-AF65-F5344CB8AC3E}">
        <p14:creationId xmlns:p14="http://schemas.microsoft.com/office/powerpoint/2010/main" val="3931036710"/>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140C8-3C8A-8A90-5E60-6DADEDC98934}"/>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046836FF-1E92-343D-1061-CACB452147AB}"/>
              </a:ext>
            </a:extLst>
          </p:cNvPr>
          <p:cNvSpPr txBox="1"/>
          <p:nvPr/>
        </p:nvSpPr>
        <p:spPr>
          <a:xfrm>
            <a:off x="398528" y="1323975"/>
            <a:ext cx="11441047" cy="369332"/>
          </a:xfrm>
          <a:prstGeom prst="rect">
            <a:avLst/>
          </a:prstGeom>
          <a:solidFill>
            <a:schemeClr val="bg1"/>
          </a:solidFill>
        </p:spPr>
        <p:txBody>
          <a:bodyPr wrap="square" rtlCol="0">
            <a:spAutoFit/>
          </a:bodyPr>
          <a:lstStyle/>
          <a:p>
            <a:endParaRPr lang="en-IN"/>
          </a:p>
        </p:txBody>
      </p:sp>
      <p:pic>
        <p:nvPicPr>
          <p:cNvPr id="23" name="Picture 22">
            <a:extLst>
              <a:ext uri="{FF2B5EF4-FFF2-40B4-BE49-F238E27FC236}">
                <a16:creationId xmlns:a16="http://schemas.microsoft.com/office/drawing/2014/main" id="{DFAFBCFB-1D91-C4DC-705D-3996C2891108}"/>
              </a:ext>
            </a:extLst>
          </p:cNvPr>
          <p:cNvPicPr>
            <a:picLocks noChangeAspect="1"/>
          </p:cNvPicPr>
          <p:nvPr/>
        </p:nvPicPr>
        <p:blipFill>
          <a:blip r:embed="rId3"/>
          <a:stretch>
            <a:fillRect/>
          </a:stretch>
        </p:blipFill>
        <p:spPr>
          <a:xfrm>
            <a:off x="1780260" y="674848"/>
            <a:ext cx="8298358" cy="5948687"/>
          </a:xfrm>
          <a:prstGeom prst="rect">
            <a:avLst/>
          </a:prstGeom>
        </p:spPr>
      </p:pic>
      <p:sp>
        <p:nvSpPr>
          <p:cNvPr id="11" name="Oval 10">
            <a:extLst>
              <a:ext uri="{FF2B5EF4-FFF2-40B4-BE49-F238E27FC236}">
                <a16:creationId xmlns:a16="http://schemas.microsoft.com/office/drawing/2014/main" id="{4876DBDF-736A-2137-336A-B2045D9F49CA}"/>
              </a:ext>
            </a:extLst>
          </p:cNvPr>
          <p:cNvSpPr/>
          <p:nvPr/>
        </p:nvSpPr>
        <p:spPr>
          <a:xfrm>
            <a:off x="6543059" y="1632665"/>
            <a:ext cx="1190171" cy="72571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prstClr val="white"/>
              </a:solidFill>
              <a:latin typeface="Calibri"/>
            </a:endParaRPr>
          </a:p>
        </p:txBody>
      </p:sp>
      <p:sp>
        <p:nvSpPr>
          <p:cNvPr id="12" name="Oval 11">
            <a:extLst>
              <a:ext uri="{FF2B5EF4-FFF2-40B4-BE49-F238E27FC236}">
                <a16:creationId xmlns:a16="http://schemas.microsoft.com/office/drawing/2014/main" id="{9A746B47-338F-F91B-3E15-4C63FE9D631A}"/>
              </a:ext>
            </a:extLst>
          </p:cNvPr>
          <p:cNvSpPr/>
          <p:nvPr/>
        </p:nvSpPr>
        <p:spPr>
          <a:xfrm>
            <a:off x="6543059" y="2697694"/>
            <a:ext cx="1117600" cy="72571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endParaRPr lang="en-US" sz="2400" b="1">
              <a:solidFill>
                <a:prstClr val="white"/>
              </a:solidFill>
              <a:latin typeface="Calibri"/>
            </a:endParaRPr>
          </a:p>
        </p:txBody>
      </p:sp>
      <p:sp>
        <p:nvSpPr>
          <p:cNvPr id="13" name="Oval 12">
            <a:extLst>
              <a:ext uri="{FF2B5EF4-FFF2-40B4-BE49-F238E27FC236}">
                <a16:creationId xmlns:a16="http://schemas.microsoft.com/office/drawing/2014/main" id="{91338CDA-0CE6-96A8-5F40-BE7CF7B46F74}"/>
              </a:ext>
            </a:extLst>
          </p:cNvPr>
          <p:cNvSpPr/>
          <p:nvPr/>
        </p:nvSpPr>
        <p:spPr>
          <a:xfrm>
            <a:off x="6698741" y="3808417"/>
            <a:ext cx="1117600" cy="72571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endParaRPr lang="en-US" sz="2400" b="1">
              <a:solidFill>
                <a:prstClr val="white"/>
              </a:solidFill>
              <a:latin typeface="Calibri"/>
            </a:endParaRPr>
          </a:p>
        </p:txBody>
      </p:sp>
      <p:cxnSp>
        <p:nvCxnSpPr>
          <p:cNvPr id="15" name="Straight Arrow Connector 14">
            <a:extLst>
              <a:ext uri="{FF2B5EF4-FFF2-40B4-BE49-F238E27FC236}">
                <a16:creationId xmlns:a16="http://schemas.microsoft.com/office/drawing/2014/main" id="{56FFB429-5AAA-ECEC-B997-4C293A1CD848}"/>
              </a:ext>
            </a:extLst>
          </p:cNvPr>
          <p:cNvCxnSpPr>
            <a:cxnSpLocks/>
            <a:stCxn id="11" idx="7"/>
          </p:cNvCxnSpPr>
          <p:nvPr/>
        </p:nvCxnSpPr>
        <p:spPr>
          <a:xfrm flipV="1">
            <a:off x="7558933" y="1283294"/>
            <a:ext cx="574419" cy="45565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Arrow: Bent 26">
            <a:extLst>
              <a:ext uri="{FF2B5EF4-FFF2-40B4-BE49-F238E27FC236}">
                <a16:creationId xmlns:a16="http://schemas.microsoft.com/office/drawing/2014/main" id="{4EB6D1BA-AB1D-30DE-4D3C-E54ED3327F67}"/>
              </a:ext>
            </a:extLst>
          </p:cNvPr>
          <p:cNvSpPr/>
          <p:nvPr/>
        </p:nvSpPr>
        <p:spPr>
          <a:xfrm rot="1933565">
            <a:off x="8032828" y="3297533"/>
            <a:ext cx="79823" cy="837355"/>
          </a:xfrm>
          <a:prstGeom prst="bentArrow">
            <a:avLst>
              <a:gd name="adj1" fmla="val 15828"/>
              <a:gd name="adj2" fmla="val 34822"/>
              <a:gd name="adj3" fmla="val 25000"/>
              <a:gd name="adj4" fmla="val 77678"/>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prstClr val="black"/>
              </a:solidFill>
              <a:latin typeface="Calibri"/>
            </a:endParaRPr>
          </a:p>
        </p:txBody>
      </p:sp>
      <p:sp>
        <p:nvSpPr>
          <p:cNvPr id="29" name="Arrow: Bent 28">
            <a:extLst>
              <a:ext uri="{FF2B5EF4-FFF2-40B4-BE49-F238E27FC236}">
                <a16:creationId xmlns:a16="http://schemas.microsoft.com/office/drawing/2014/main" id="{FC26F38B-B414-9DF9-CBAA-EF0E6D3974B9}"/>
              </a:ext>
            </a:extLst>
          </p:cNvPr>
          <p:cNvSpPr/>
          <p:nvPr/>
        </p:nvSpPr>
        <p:spPr>
          <a:xfrm rot="4661162" flipH="1" flipV="1">
            <a:off x="5271073" y="1403714"/>
            <a:ext cx="63950" cy="3296282"/>
          </a:xfrm>
          <a:prstGeom prst="bentArrow">
            <a:avLst>
              <a:gd name="adj1" fmla="val 25000"/>
              <a:gd name="adj2" fmla="val 14631"/>
              <a:gd name="adj3" fmla="val 50000"/>
              <a:gd name="adj4" fmla="val 43750"/>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prstClr val="black"/>
              </a:solidFill>
              <a:latin typeface="Calibri"/>
            </a:endParaRPr>
          </a:p>
        </p:txBody>
      </p:sp>
      <p:sp>
        <p:nvSpPr>
          <p:cNvPr id="30" name="Oval 29">
            <a:extLst>
              <a:ext uri="{FF2B5EF4-FFF2-40B4-BE49-F238E27FC236}">
                <a16:creationId xmlns:a16="http://schemas.microsoft.com/office/drawing/2014/main" id="{EA5F4D7A-7525-DAF2-CF8B-211FBB84EEE3}"/>
              </a:ext>
            </a:extLst>
          </p:cNvPr>
          <p:cNvSpPr/>
          <p:nvPr/>
        </p:nvSpPr>
        <p:spPr>
          <a:xfrm>
            <a:off x="6600866" y="5965151"/>
            <a:ext cx="1001985" cy="504496"/>
          </a:xfrm>
          <a:prstGeom prst="ellipse">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endParaRPr lang="en-US" sz="2400" b="1">
              <a:solidFill>
                <a:prstClr val="white"/>
              </a:solidFill>
              <a:latin typeface="Calibri"/>
            </a:endParaRPr>
          </a:p>
        </p:txBody>
      </p:sp>
      <p:grpSp>
        <p:nvGrpSpPr>
          <p:cNvPr id="7" name="object 2">
            <a:extLst>
              <a:ext uri="{FF2B5EF4-FFF2-40B4-BE49-F238E27FC236}">
                <a16:creationId xmlns:a16="http://schemas.microsoft.com/office/drawing/2014/main" id="{6E4EF650-AB6D-5BDE-7E04-BD9A189C6708}"/>
              </a:ext>
            </a:extLst>
          </p:cNvPr>
          <p:cNvGrpSpPr/>
          <p:nvPr/>
        </p:nvGrpSpPr>
        <p:grpSpPr>
          <a:xfrm>
            <a:off x="398528" y="689793"/>
            <a:ext cx="10744200" cy="60958"/>
            <a:chOff x="391845" y="746761"/>
            <a:chExt cx="10744200" cy="60958"/>
          </a:xfrm>
        </p:grpSpPr>
        <p:sp>
          <p:nvSpPr>
            <p:cNvPr id="8" name="object 3">
              <a:extLst>
                <a:ext uri="{FF2B5EF4-FFF2-40B4-BE49-F238E27FC236}">
                  <a16:creationId xmlns:a16="http://schemas.microsoft.com/office/drawing/2014/main" id="{BDF935CA-DC1F-A520-3961-CC01F2760367}"/>
                </a:ext>
              </a:extLst>
            </p:cNvPr>
            <p:cNvSpPr/>
            <p:nvPr/>
          </p:nvSpPr>
          <p:spPr>
            <a:xfrm>
              <a:off x="391845" y="807719"/>
              <a:ext cx="10744200" cy="0"/>
            </a:xfrm>
            <a:custGeom>
              <a:avLst/>
              <a:gdLst/>
              <a:ahLst/>
              <a:cxnLst/>
              <a:rect l="l" t="t" r="r" b="b"/>
              <a:pathLst>
                <a:path w="10744200">
                  <a:moveTo>
                    <a:pt x="0" y="0"/>
                  </a:moveTo>
                  <a:lnTo>
                    <a:pt x="10744149" y="0"/>
                  </a:lnTo>
                </a:path>
              </a:pathLst>
            </a:custGeom>
            <a:ln w="6350">
              <a:solidFill>
                <a:srgbClr val="A6A6A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9" name="object 4">
              <a:extLst>
                <a:ext uri="{FF2B5EF4-FFF2-40B4-BE49-F238E27FC236}">
                  <a16:creationId xmlns:a16="http://schemas.microsoft.com/office/drawing/2014/main" id="{36D70A9C-6430-2091-5CAC-DC19E451EA20}"/>
                </a:ext>
              </a:extLst>
            </p:cNvPr>
            <p:cNvPicPr/>
            <p:nvPr/>
          </p:nvPicPr>
          <p:blipFill>
            <a:blip r:embed="rId4" cstate="print"/>
            <a:stretch>
              <a:fillRect/>
            </a:stretch>
          </p:blipFill>
          <p:spPr>
            <a:xfrm>
              <a:off x="391845" y="746761"/>
              <a:ext cx="7305167" cy="60958"/>
            </a:xfrm>
            <a:prstGeom prst="rect">
              <a:avLst/>
            </a:prstGeom>
          </p:spPr>
        </p:pic>
      </p:grpSp>
      <p:sp>
        <p:nvSpPr>
          <p:cNvPr id="10" name="TextBox 9">
            <a:extLst>
              <a:ext uri="{FF2B5EF4-FFF2-40B4-BE49-F238E27FC236}">
                <a16:creationId xmlns:a16="http://schemas.microsoft.com/office/drawing/2014/main" id="{88FE1BA4-F251-D744-39A9-C17FB74CB15D}"/>
              </a:ext>
            </a:extLst>
          </p:cNvPr>
          <p:cNvSpPr txBox="1"/>
          <p:nvPr/>
        </p:nvSpPr>
        <p:spPr>
          <a:xfrm>
            <a:off x="509553" y="32013"/>
            <a:ext cx="9275824" cy="461665"/>
          </a:xfrm>
          <a:prstGeom prst="rect">
            <a:avLst/>
          </a:prstGeom>
          <a:noFill/>
        </p:spPr>
        <p:txBody>
          <a:bodyPr wrap="square">
            <a:spAutoFit/>
          </a:bodyPr>
          <a:lstStyle/>
          <a:p>
            <a:pPr defTabSz="1219170"/>
            <a:r>
              <a:rPr lang="en-US" sz="2400" b="1">
                <a:solidFill>
                  <a:srgbClr val="912A82"/>
                </a:solidFill>
                <a:highlight>
                  <a:srgbClr val="33CC33"/>
                </a:highlight>
                <a:latin typeface="Adani Regular" panose="02000503000000020004" pitchFamily="2" charset="0"/>
              </a:rPr>
              <a:t>Overall Layout</a:t>
            </a:r>
          </a:p>
        </p:txBody>
      </p:sp>
      <p:graphicFrame>
        <p:nvGraphicFramePr>
          <p:cNvPr id="21" name="Table 20">
            <a:extLst>
              <a:ext uri="{FF2B5EF4-FFF2-40B4-BE49-F238E27FC236}">
                <a16:creationId xmlns:a16="http://schemas.microsoft.com/office/drawing/2014/main" id="{21660941-3225-D98B-F6B4-7A4166937793}"/>
              </a:ext>
            </a:extLst>
          </p:cNvPr>
          <p:cNvGraphicFramePr>
            <a:graphicFrameLocks noGrp="1"/>
          </p:cNvGraphicFramePr>
          <p:nvPr>
            <p:extLst>
              <p:ext uri="{D42A27DB-BD31-4B8C-83A1-F6EECF244321}">
                <p14:modId xmlns:p14="http://schemas.microsoft.com/office/powerpoint/2010/main" val="18734916"/>
              </p:ext>
            </p:extLst>
          </p:nvPr>
        </p:nvGraphicFramePr>
        <p:xfrm>
          <a:off x="8133352" y="693172"/>
          <a:ext cx="3660120" cy="1691640"/>
        </p:xfrm>
        <a:graphic>
          <a:graphicData uri="http://schemas.openxmlformats.org/drawingml/2006/table">
            <a:tbl>
              <a:tblPr firstRow="1" bandRow="1">
                <a:tableStyleId>{17292A2E-F333-43FB-9621-5CBBE7FDCDCB}</a:tableStyleId>
              </a:tblPr>
              <a:tblGrid>
                <a:gridCol w="1200573">
                  <a:extLst>
                    <a:ext uri="{9D8B030D-6E8A-4147-A177-3AD203B41FA5}">
                      <a16:colId xmlns:a16="http://schemas.microsoft.com/office/drawing/2014/main" val="2076136626"/>
                    </a:ext>
                  </a:extLst>
                </a:gridCol>
                <a:gridCol w="2459547">
                  <a:extLst>
                    <a:ext uri="{9D8B030D-6E8A-4147-A177-3AD203B41FA5}">
                      <a16:colId xmlns:a16="http://schemas.microsoft.com/office/drawing/2014/main" val="2439711551"/>
                    </a:ext>
                  </a:extLst>
                </a:gridCol>
              </a:tblGrid>
              <a:tr h="345440">
                <a:tc gridSpan="2">
                  <a:txBody>
                    <a:bodyPr/>
                    <a:lstStyle/>
                    <a:p>
                      <a:pPr algn="ctr"/>
                      <a:r>
                        <a:rPr lang="en-US" sz="1500" b="0">
                          <a:latin typeface="Adani Light" panose="02000503000000020004" pitchFamily="2" charset="0"/>
                        </a:rPr>
                        <a:t>BESS-12</a:t>
                      </a:r>
                    </a:p>
                  </a:txBody>
                  <a:tcPr marL="121920" marR="121920" marT="60960" marB="60960"/>
                </a:tc>
                <a:tc hMerge="1">
                  <a:txBody>
                    <a:bodyPr/>
                    <a:lstStyle/>
                    <a:p>
                      <a:endParaRPr lang="en-US" sz="1100"/>
                    </a:p>
                  </a:txBody>
                  <a:tcPr/>
                </a:tc>
                <a:extLst>
                  <a:ext uri="{0D108BD9-81ED-4DB2-BD59-A6C34878D82A}">
                    <a16:rowId xmlns:a16="http://schemas.microsoft.com/office/drawing/2014/main" val="1435390413"/>
                  </a:ext>
                </a:extLst>
              </a:tr>
              <a:tr h="335280">
                <a:tc>
                  <a:txBody>
                    <a:bodyPr/>
                    <a:lstStyle/>
                    <a:p>
                      <a:r>
                        <a:rPr lang="en-US" sz="1400">
                          <a:latin typeface="Adani Light" panose="02000503000000020004" pitchFamily="2" charset="0"/>
                        </a:rPr>
                        <a:t>Plot No.</a:t>
                      </a:r>
                    </a:p>
                  </a:txBody>
                  <a:tcPr marL="121920" marR="121920" marT="60960" marB="60960">
                    <a:solidFill>
                      <a:schemeClr val="bg1"/>
                    </a:solidFill>
                  </a:tcPr>
                </a:tc>
                <a:tc>
                  <a:txBody>
                    <a:bodyPr/>
                    <a:lstStyle/>
                    <a:p>
                      <a:r>
                        <a:rPr lang="en-US" sz="1400">
                          <a:latin typeface="Adani Light" panose="02000503000000020004" pitchFamily="2" charset="0"/>
                        </a:rPr>
                        <a:t>S5+S6</a:t>
                      </a:r>
                    </a:p>
                  </a:txBody>
                  <a:tcPr marL="121920" marR="121920" marT="60960" marB="60960">
                    <a:solidFill>
                      <a:schemeClr val="bg1"/>
                    </a:solidFill>
                  </a:tcPr>
                </a:tc>
                <a:extLst>
                  <a:ext uri="{0D108BD9-81ED-4DB2-BD59-A6C34878D82A}">
                    <a16:rowId xmlns:a16="http://schemas.microsoft.com/office/drawing/2014/main" val="3895667008"/>
                  </a:ext>
                </a:extLst>
              </a:tr>
              <a:tr h="335280">
                <a:tc>
                  <a:txBody>
                    <a:bodyPr/>
                    <a:lstStyle/>
                    <a:p>
                      <a:r>
                        <a:rPr lang="en-US" sz="1400">
                          <a:latin typeface="Adani Light" panose="02000503000000020004" pitchFamily="2" charset="0"/>
                        </a:rPr>
                        <a:t>Capacity</a:t>
                      </a:r>
                    </a:p>
                  </a:txBody>
                  <a:tcPr marL="121920" marR="121920" marT="60960" marB="60960">
                    <a:solidFill>
                      <a:schemeClr val="bg1"/>
                    </a:solidFill>
                  </a:tcPr>
                </a:tc>
                <a:tc>
                  <a:txBody>
                    <a:bodyPr/>
                    <a:lstStyle/>
                    <a:p>
                      <a:r>
                        <a:rPr lang="en-US" sz="1400">
                          <a:latin typeface="Adani Light" panose="02000503000000020004" pitchFamily="2" charset="0"/>
                        </a:rPr>
                        <a:t>960 MW / 2167 MWh</a:t>
                      </a:r>
                    </a:p>
                  </a:txBody>
                  <a:tcPr marL="121920" marR="121920" marT="60960" marB="60960">
                    <a:solidFill>
                      <a:schemeClr val="bg1"/>
                    </a:solidFill>
                  </a:tcPr>
                </a:tc>
                <a:extLst>
                  <a:ext uri="{0D108BD9-81ED-4DB2-BD59-A6C34878D82A}">
                    <a16:rowId xmlns:a16="http://schemas.microsoft.com/office/drawing/2014/main" val="1896717730"/>
                  </a:ext>
                </a:extLst>
              </a:tr>
              <a:tr h="335280">
                <a:tc>
                  <a:txBody>
                    <a:bodyPr/>
                    <a:lstStyle/>
                    <a:p>
                      <a:r>
                        <a:rPr lang="en-US" sz="1400">
                          <a:latin typeface="Adani Light" panose="02000503000000020004" pitchFamily="2" charset="0"/>
                        </a:rPr>
                        <a:t>Containers</a:t>
                      </a:r>
                    </a:p>
                  </a:txBody>
                  <a:tcPr marL="121920" marR="121920" marT="60960" marB="60960">
                    <a:solidFill>
                      <a:schemeClr val="bg1"/>
                    </a:solidFill>
                  </a:tcPr>
                </a:tc>
                <a:tc>
                  <a:txBody>
                    <a:bodyPr/>
                    <a:lstStyle/>
                    <a:p>
                      <a:r>
                        <a:rPr lang="en-US" sz="1400">
                          <a:latin typeface="Adani Light" panose="02000503000000020004" pitchFamily="2" charset="0"/>
                        </a:rPr>
                        <a:t>384 Nos</a:t>
                      </a:r>
                    </a:p>
                  </a:txBody>
                  <a:tcPr marL="121920" marR="121920" marT="60960" marB="60960">
                    <a:solidFill>
                      <a:schemeClr val="bg1"/>
                    </a:solidFill>
                  </a:tcPr>
                </a:tc>
                <a:extLst>
                  <a:ext uri="{0D108BD9-81ED-4DB2-BD59-A6C34878D82A}">
                    <a16:rowId xmlns:a16="http://schemas.microsoft.com/office/drawing/2014/main" val="1973652270"/>
                  </a:ext>
                </a:extLst>
              </a:tr>
              <a:tr h="335280">
                <a:tc>
                  <a:txBody>
                    <a:bodyPr/>
                    <a:lstStyle/>
                    <a:p>
                      <a:r>
                        <a:rPr lang="en-US" sz="1400">
                          <a:latin typeface="Adani Light" panose="02000503000000020004" pitchFamily="2" charset="0"/>
                        </a:rPr>
                        <a:t>Land</a:t>
                      </a:r>
                    </a:p>
                  </a:txBody>
                  <a:tcPr marL="121920" marR="121920" marT="60960" marB="60960">
                    <a:solidFill>
                      <a:schemeClr val="bg1"/>
                    </a:solidFill>
                  </a:tcPr>
                </a:tc>
                <a:tc>
                  <a:txBody>
                    <a:bodyPr/>
                    <a:lstStyle/>
                    <a:p>
                      <a:r>
                        <a:rPr lang="en-US" sz="1400">
                          <a:latin typeface="Adani Light" panose="02000503000000020004" pitchFamily="2" charset="0"/>
                        </a:rPr>
                        <a:t>70.22 Acres (In 2 parcel)</a:t>
                      </a:r>
                    </a:p>
                  </a:txBody>
                  <a:tcPr marL="121920" marR="121920" marT="60960" marB="60960">
                    <a:solidFill>
                      <a:schemeClr val="bg1"/>
                    </a:solidFill>
                  </a:tcPr>
                </a:tc>
                <a:extLst>
                  <a:ext uri="{0D108BD9-81ED-4DB2-BD59-A6C34878D82A}">
                    <a16:rowId xmlns:a16="http://schemas.microsoft.com/office/drawing/2014/main" val="2836138700"/>
                  </a:ext>
                </a:extLst>
              </a:tr>
            </a:tbl>
          </a:graphicData>
        </a:graphic>
      </p:graphicFrame>
      <p:graphicFrame>
        <p:nvGraphicFramePr>
          <p:cNvPr id="3" name="Table 2">
            <a:extLst>
              <a:ext uri="{FF2B5EF4-FFF2-40B4-BE49-F238E27FC236}">
                <a16:creationId xmlns:a16="http://schemas.microsoft.com/office/drawing/2014/main" id="{56E42EA2-C819-8B8A-B9F6-74695B02ABAD}"/>
              </a:ext>
            </a:extLst>
          </p:cNvPr>
          <p:cNvGraphicFramePr>
            <a:graphicFrameLocks noGrp="1"/>
          </p:cNvGraphicFramePr>
          <p:nvPr/>
        </p:nvGraphicFramePr>
        <p:xfrm>
          <a:off x="8329767" y="2437125"/>
          <a:ext cx="3660120" cy="1691640"/>
        </p:xfrm>
        <a:graphic>
          <a:graphicData uri="http://schemas.openxmlformats.org/drawingml/2006/table">
            <a:tbl>
              <a:tblPr firstRow="1" bandRow="1">
                <a:tableStyleId>{17292A2E-F333-43FB-9621-5CBBE7FDCDCB}</a:tableStyleId>
              </a:tblPr>
              <a:tblGrid>
                <a:gridCol w="1200573">
                  <a:extLst>
                    <a:ext uri="{9D8B030D-6E8A-4147-A177-3AD203B41FA5}">
                      <a16:colId xmlns:a16="http://schemas.microsoft.com/office/drawing/2014/main" val="2076136626"/>
                    </a:ext>
                  </a:extLst>
                </a:gridCol>
                <a:gridCol w="2459547">
                  <a:extLst>
                    <a:ext uri="{9D8B030D-6E8A-4147-A177-3AD203B41FA5}">
                      <a16:colId xmlns:a16="http://schemas.microsoft.com/office/drawing/2014/main" val="2439711551"/>
                    </a:ext>
                  </a:extLst>
                </a:gridCol>
              </a:tblGrid>
              <a:tr h="345440">
                <a:tc gridSpan="2">
                  <a:txBody>
                    <a:bodyPr/>
                    <a:lstStyle/>
                    <a:p>
                      <a:pPr algn="ctr"/>
                      <a:r>
                        <a:rPr lang="en-US" sz="1500" b="0">
                          <a:latin typeface="Adani Light" panose="02000503000000020004" pitchFamily="2" charset="0"/>
                        </a:rPr>
                        <a:t>BESS-10(B)</a:t>
                      </a:r>
                    </a:p>
                  </a:txBody>
                  <a:tcPr marL="121920" marR="121920" marT="60960" marB="60960"/>
                </a:tc>
                <a:tc hMerge="1">
                  <a:txBody>
                    <a:bodyPr/>
                    <a:lstStyle/>
                    <a:p>
                      <a:endParaRPr lang="en-US" sz="1100"/>
                    </a:p>
                  </a:txBody>
                  <a:tcPr/>
                </a:tc>
                <a:extLst>
                  <a:ext uri="{0D108BD9-81ED-4DB2-BD59-A6C34878D82A}">
                    <a16:rowId xmlns:a16="http://schemas.microsoft.com/office/drawing/2014/main" val="1435390413"/>
                  </a:ext>
                </a:extLst>
              </a:tr>
              <a:tr h="335280">
                <a:tc>
                  <a:txBody>
                    <a:bodyPr/>
                    <a:lstStyle/>
                    <a:p>
                      <a:r>
                        <a:rPr lang="en-US" sz="1400">
                          <a:latin typeface="Adani Light" panose="02000503000000020004" pitchFamily="2" charset="0"/>
                        </a:rPr>
                        <a:t>Plot No.</a:t>
                      </a:r>
                    </a:p>
                  </a:txBody>
                  <a:tcPr marL="121920" marR="121920" marT="60960" marB="60960">
                    <a:solidFill>
                      <a:schemeClr val="bg1"/>
                    </a:solidFill>
                  </a:tcPr>
                </a:tc>
                <a:tc>
                  <a:txBody>
                    <a:bodyPr/>
                    <a:lstStyle/>
                    <a:p>
                      <a:r>
                        <a:rPr lang="en-US" sz="1400">
                          <a:latin typeface="Adani Light" panose="02000503000000020004" pitchFamily="2" charset="0"/>
                        </a:rPr>
                        <a:t>S13R</a:t>
                      </a:r>
                    </a:p>
                  </a:txBody>
                  <a:tcPr marL="121920" marR="121920" marT="60960" marB="60960">
                    <a:solidFill>
                      <a:schemeClr val="bg1"/>
                    </a:solidFill>
                  </a:tcPr>
                </a:tc>
                <a:extLst>
                  <a:ext uri="{0D108BD9-81ED-4DB2-BD59-A6C34878D82A}">
                    <a16:rowId xmlns:a16="http://schemas.microsoft.com/office/drawing/2014/main" val="3895667008"/>
                  </a:ext>
                </a:extLst>
              </a:tr>
              <a:tr h="335280">
                <a:tc>
                  <a:txBody>
                    <a:bodyPr/>
                    <a:lstStyle/>
                    <a:p>
                      <a:r>
                        <a:rPr lang="en-US" sz="1400">
                          <a:latin typeface="Adani Light" panose="02000503000000020004" pitchFamily="2" charset="0"/>
                        </a:rPr>
                        <a:t>Capacity</a:t>
                      </a:r>
                    </a:p>
                  </a:txBody>
                  <a:tcPr marL="121920" marR="121920" marT="60960" marB="60960">
                    <a:solidFill>
                      <a:schemeClr val="bg1"/>
                    </a:solidFill>
                  </a:tcPr>
                </a:tc>
                <a:tc>
                  <a:txBody>
                    <a:bodyPr/>
                    <a:lstStyle/>
                    <a:p>
                      <a:r>
                        <a:rPr lang="en-US" sz="1400">
                          <a:latin typeface="Adani Light" panose="02000503000000020004" pitchFamily="2" charset="0"/>
                        </a:rPr>
                        <a:t>600 MW / 1204 MWh</a:t>
                      </a:r>
                    </a:p>
                  </a:txBody>
                  <a:tcPr marL="121920" marR="121920" marT="60960" marB="60960">
                    <a:solidFill>
                      <a:schemeClr val="bg1"/>
                    </a:solidFill>
                  </a:tcPr>
                </a:tc>
                <a:extLst>
                  <a:ext uri="{0D108BD9-81ED-4DB2-BD59-A6C34878D82A}">
                    <a16:rowId xmlns:a16="http://schemas.microsoft.com/office/drawing/2014/main" val="1896717730"/>
                  </a:ext>
                </a:extLst>
              </a:tr>
              <a:tr h="335280">
                <a:tc>
                  <a:txBody>
                    <a:bodyPr/>
                    <a:lstStyle/>
                    <a:p>
                      <a:r>
                        <a:rPr lang="en-US" sz="1400">
                          <a:latin typeface="Adani Light" panose="02000503000000020004" pitchFamily="2" charset="0"/>
                        </a:rPr>
                        <a:t>Containers</a:t>
                      </a:r>
                    </a:p>
                  </a:txBody>
                  <a:tcPr marL="121920" marR="121920" marT="60960" marB="60960">
                    <a:solidFill>
                      <a:schemeClr val="bg1"/>
                    </a:solidFill>
                  </a:tcPr>
                </a:tc>
                <a:tc>
                  <a:txBody>
                    <a:bodyPr/>
                    <a:lstStyle/>
                    <a:p>
                      <a:r>
                        <a:rPr lang="en-US" sz="1400">
                          <a:latin typeface="Adani Light" panose="02000503000000020004" pitchFamily="2" charset="0"/>
                        </a:rPr>
                        <a:t>240 Nos</a:t>
                      </a:r>
                    </a:p>
                  </a:txBody>
                  <a:tcPr marL="121920" marR="121920" marT="60960" marB="60960">
                    <a:solidFill>
                      <a:schemeClr val="bg1"/>
                    </a:solidFill>
                  </a:tcPr>
                </a:tc>
                <a:extLst>
                  <a:ext uri="{0D108BD9-81ED-4DB2-BD59-A6C34878D82A}">
                    <a16:rowId xmlns:a16="http://schemas.microsoft.com/office/drawing/2014/main" val="1973652270"/>
                  </a:ext>
                </a:extLst>
              </a:tr>
              <a:tr h="335280">
                <a:tc>
                  <a:txBody>
                    <a:bodyPr/>
                    <a:lstStyle/>
                    <a:p>
                      <a:r>
                        <a:rPr lang="en-US" sz="1400">
                          <a:latin typeface="Adani Light" panose="02000503000000020004" pitchFamily="2" charset="0"/>
                        </a:rPr>
                        <a:t>Land</a:t>
                      </a:r>
                    </a:p>
                  </a:txBody>
                  <a:tcPr marL="121920" marR="121920" marT="60960" marB="60960">
                    <a:solidFill>
                      <a:schemeClr val="bg1"/>
                    </a:solidFill>
                  </a:tcPr>
                </a:tc>
                <a:tc>
                  <a:txBody>
                    <a:bodyPr/>
                    <a:lstStyle/>
                    <a:p>
                      <a:r>
                        <a:rPr lang="en-US" sz="1400">
                          <a:latin typeface="Adani Light" panose="02000503000000020004" pitchFamily="2" charset="0"/>
                        </a:rPr>
                        <a:t>39.04 Acres</a:t>
                      </a:r>
                    </a:p>
                  </a:txBody>
                  <a:tcPr marL="121920" marR="121920" marT="60960" marB="60960">
                    <a:solidFill>
                      <a:schemeClr val="bg1"/>
                    </a:solidFill>
                  </a:tcPr>
                </a:tc>
                <a:extLst>
                  <a:ext uri="{0D108BD9-81ED-4DB2-BD59-A6C34878D82A}">
                    <a16:rowId xmlns:a16="http://schemas.microsoft.com/office/drawing/2014/main" val="2836138700"/>
                  </a:ext>
                </a:extLst>
              </a:tr>
            </a:tbl>
          </a:graphicData>
        </a:graphic>
      </p:graphicFrame>
      <p:graphicFrame>
        <p:nvGraphicFramePr>
          <p:cNvPr id="33" name="Table 32">
            <a:extLst>
              <a:ext uri="{FF2B5EF4-FFF2-40B4-BE49-F238E27FC236}">
                <a16:creationId xmlns:a16="http://schemas.microsoft.com/office/drawing/2014/main" id="{75138DE3-C5C9-52A8-4EC3-315D50A89797}"/>
              </a:ext>
            </a:extLst>
          </p:cNvPr>
          <p:cNvGraphicFramePr>
            <a:graphicFrameLocks noGrp="1"/>
          </p:cNvGraphicFramePr>
          <p:nvPr>
            <p:extLst>
              <p:ext uri="{D42A27DB-BD31-4B8C-83A1-F6EECF244321}">
                <p14:modId xmlns:p14="http://schemas.microsoft.com/office/powerpoint/2010/main" val="1362319325"/>
              </p:ext>
            </p:extLst>
          </p:nvPr>
        </p:nvGraphicFramePr>
        <p:xfrm>
          <a:off x="1" y="2581633"/>
          <a:ext cx="3699641" cy="1691640"/>
        </p:xfrm>
        <a:graphic>
          <a:graphicData uri="http://schemas.openxmlformats.org/drawingml/2006/table">
            <a:tbl>
              <a:tblPr firstRow="1" bandRow="1">
                <a:tableStyleId>{17292A2E-F333-43FB-9621-5CBBE7FDCDCB}</a:tableStyleId>
              </a:tblPr>
              <a:tblGrid>
                <a:gridCol w="1176564">
                  <a:extLst>
                    <a:ext uri="{9D8B030D-6E8A-4147-A177-3AD203B41FA5}">
                      <a16:colId xmlns:a16="http://schemas.microsoft.com/office/drawing/2014/main" val="1248849160"/>
                    </a:ext>
                  </a:extLst>
                </a:gridCol>
                <a:gridCol w="2523077">
                  <a:extLst>
                    <a:ext uri="{9D8B030D-6E8A-4147-A177-3AD203B41FA5}">
                      <a16:colId xmlns:a16="http://schemas.microsoft.com/office/drawing/2014/main" val="2639526815"/>
                    </a:ext>
                  </a:extLst>
                </a:gridCol>
              </a:tblGrid>
              <a:tr h="345440">
                <a:tc gridSpan="2">
                  <a:txBody>
                    <a:bodyPr/>
                    <a:lstStyle/>
                    <a:p>
                      <a:pPr algn="ctr"/>
                      <a:r>
                        <a:rPr lang="en-US" sz="1500" b="0">
                          <a:latin typeface="Adani Light" panose="02000503000000020004" pitchFamily="2" charset="0"/>
                        </a:rPr>
                        <a:t>BESS-11</a:t>
                      </a:r>
                    </a:p>
                  </a:txBody>
                  <a:tcPr marL="121920" marR="121920" marT="60960" marB="60960"/>
                </a:tc>
                <a:tc hMerge="1">
                  <a:txBody>
                    <a:bodyPr/>
                    <a:lstStyle/>
                    <a:p>
                      <a:endParaRPr lang="en-US" sz="1100"/>
                    </a:p>
                  </a:txBody>
                  <a:tcPr/>
                </a:tc>
                <a:extLst>
                  <a:ext uri="{0D108BD9-81ED-4DB2-BD59-A6C34878D82A}">
                    <a16:rowId xmlns:a16="http://schemas.microsoft.com/office/drawing/2014/main" val="536349362"/>
                  </a:ext>
                </a:extLst>
              </a:tr>
              <a:tr h="335280">
                <a:tc>
                  <a:txBody>
                    <a:bodyPr/>
                    <a:lstStyle/>
                    <a:p>
                      <a:r>
                        <a:rPr lang="en-US" sz="1400">
                          <a:latin typeface="Adani Light" panose="02000503000000020004" pitchFamily="2" charset="0"/>
                        </a:rPr>
                        <a:t>Plot No.</a:t>
                      </a:r>
                    </a:p>
                  </a:txBody>
                  <a:tcPr marL="121920" marR="121920" marT="60960" marB="60960">
                    <a:solidFill>
                      <a:schemeClr val="bg1"/>
                    </a:solidFill>
                  </a:tcPr>
                </a:tc>
                <a:tc>
                  <a:txBody>
                    <a:bodyPr/>
                    <a:lstStyle/>
                    <a:p>
                      <a:r>
                        <a:rPr lang="en-US" sz="1400">
                          <a:latin typeface="Adani Light" panose="02000503000000020004" pitchFamily="2" charset="0"/>
                        </a:rPr>
                        <a:t>S8+S9</a:t>
                      </a:r>
                    </a:p>
                  </a:txBody>
                  <a:tcPr marL="121920" marR="121920" marT="60960" marB="60960">
                    <a:solidFill>
                      <a:schemeClr val="bg1"/>
                    </a:solidFill>
                  </a:tcPr>
                </a:tc>
                <a:extLst>
                  <a:ext uri="{0D108BD9-81ED-4DB2-BD59-A6C34878D82A}">
                    <a16:rowId xmlns:a16="http://schemas.microsoft.com/office/drawing/2014/main" val="3646307931"/>
                  </a:ext>
                </a:extLst>
              </a:tr>
              <a:tr h="335280">
                <a:tc>
                  <a:txBody>
                    <a:bodyPr/>
                    <a:lstStyle/>
                    <a:p>
                      <a:r>
                        <a:rPr lang="en-US" sz="1400">
                          <a:latin typeface="Adani Light" panose="02000503000000020004" pitchFamily="2" charset="0"/>
                        </a:rPr>
                        <a:t>Capacity</a:t>
                      </a:r>
                    </a:p>
                  </a:txBody>
                  <a:tcPr marL="121920" marR="121920" marT="60960" marB="60960">
                    <a:solidFill>
                      <a:schemeClr val="bg1"/>
                    </a:solidFill>
                  </a:tcPr>
                </a:tc>
                <a:tc>
                  <a:txBody>
                    <a:bodyPr/>
                    <a:lstStyle/>
                    <a:p>
                      <a:r>
                        <a:rPr lang="en-US" sz="1400">
                          <a:latin typeface="Adani Light" panose="02000503000000020004" pitchFamily="2" charset="0"/>
                        </a:rPr>
                        <a:t>1080 MW / 2438 MWh</a:t>
                      </a:r>
                    </a:p>
                  </a:txBody>
                  <a:tcPr marL="121920" marR="121920" marT="60960" marB="60960">
                    <a:solidFill>
                      <a:schemeClr val="bg1"/>
                    </a:solidFill>
                  </a:tcPr>
                </a:tc>
                <a:extLst>
                  <a:ext uri="{0D108BD9-81ED-4DB2-BD59-A6C34878D82A}">
                    <a16:rowId xmlns:a16="http://schemas.microsoft.com/office/drawing/2014/main" val="353581223"/>
                  </a:ext>
                </a:extLst>
              </a:tr>
              <a:tr h="335280">
                <a:tc>
                  <a:txBody>
                    <a:bodyPr/>
                    <a:lstStyle/>
                    <a:p>
                      <a:r>
                        <a:rPr lang="en-US" sz="1400">
                          <a:latin typeface="Adani Light" panose="02000503000000020004" pitchFamily="2" charset="0"/>
                        </a:rPr>
                        <a:t>Containers</a:t>
                      </a:r>
                    </a:p>
                  </a:txBody>
                  <a:tcPr marL="121920" marR="121920" marT="60960" marB="60960">
                    <a:solidFill>
                      <a:schemeClr val="bg1"/>
                    </a:solidFill>
                  </a:tcPr>
                </a:tc>
                <a:tc>
                  <a:txBody>
                    <a:bodyPr/>
                    <a:lstStyle/>
                    <a:p>
                      <a:r>
                        <a:rPr lang="en-US" sz="1400">
                          <a:latin typeface="Adani Light" panose="02000503000000020004" pitchFamily="2" charset="0"/>
                        </a:rPr>
                        <a:t>432 Nos</a:t>
                      </a:r>
                    </a:p>
                  </a:txBody>
                  <a:tcPr marL="121920" marR="121920" marT="60960" marB="60960">
                    <a:solidFill>
                      <a:schemeClr val="bg1"/>
                    </a:solidFill>
                  </a:tcPr>
                </a:tc>
                <a:extLst>
                  <a:ext uri="{0D108BD9-81ED-4DB2-BD59-A6C34878D82A}">
                    <a16:rowId xmlns:a16="http://schemas.microsoft.com/office/drawing/2014/main" val="875174441"/>
                  </a:ext>
                </a:extLst>
              </a:tr>
              <a:tr h="335280">
                <a:tc>
                  <a:txBody>
                    <a:bodyPr/>
                    <a:lstStyle/>
                    <a:p>
                      <a:r>
                        <a:rPr lang="en-US" sz="1400">
                          <a:latin typeface="Adani Light" panose="02000503000000020004" pitchFamily="2" charset="0"/>
                        </a:rPr>
                        <a:t>Land</a:t>
                      </a:r>
                    </a:p>
                  </a:txBody>
                  <a:tcPr marL="121920" marR="121920" marT="60960" marB="60960">
                    <a:solidFill>
                      <a:schemeClr val="bg1"/>
                    </a:solidFill>
                  </a:tcPr>
                </a:tc>
                <a:tc>
                  <a:txBody>
                    <a:bodyPr/>
                    <a:lstStyle/>
                    <a:p>
                      <a:r>
                        <a:rPr lang="en-US" sz="1400">
                          <a:latin typeface="Adani Light" panose="02000503000000020004" pitchFamily="2" charset="0"/>
                        </a:rPr>
                        <a:t>69.1 Acres (In 3 Parcel)</a:t>
                      </a:r>
                    </a:p>
                  </a:txBody>
                  <a:tcPr marL="121920" marR="121920" marT="60960" marB="60960">
                    <a:solidFill>
                      <a:schemeClr val="bg1"/>
                    </a:solidFill>
                  </a:tcPr>
                </a:tc>
                <a:extLst>
                  <a:ext uri="{0D108BD9-81ED-4DB2-BD59-A6C34878D82A}">
                    <a16:rowId xmlns:a16="http://schemas.microsoft.com/office/drawing/2014/main" val="1488680870"/>
                  </a:ext>
                </a:extLst>
              </a:tr>
            </a:tbl>
          </a:graphicData>
        </a:graphic>
      </p:graphicFrame>
      <p:sp>
        <p:nvSpPr>
          <p:cNvPr id="26" name="TextBox 25">
            <a:extLst>
              <a:ext uri="{FF2B5EF4-FFF2-40B4-BE49-F238E27FC236}">
                <a16:creationId xmlns:a16="http://schemas.microsoft.com/office/drawing/2014/main" id="{BD4EC03C-5A11-1D68-3ACC-920672306FCD}"/>
              </a:ext>
            </a:extLst>
          </p:cNvPr>
          <p:cNvSpPr txBox="1"/>
          <p:nvPr/>
        </p:nvSpPr>
        <p:spPr>
          <a:xfrm>
            <a:off x="5429250" y="6469647"/>
            <a:ext cx="1269491" cy="307777"/>
          </a:xfrm>
          <a:prstGeom prst="rect">
            <a:avLst/>
          </a:prstGeom>
          <a:noFill/>
          <a:ln>
            <a:noFill/>
          </a:ln>
        </p:spPr>
        <p:txBody>
          <a:bodyPr wrap="square" rtlCol="0">
            <a:spAutoFit/>
          </a:bodyPr>
          <a:lstStyle/>
          <a:p>
            <a:r>
              <a:rPr lang="en-IN" sz="1400">
                <a:solidFill>
                  <a:srgbClr val="FF0000"/>
                </a:solidFill>
                <a:latin typeface="Adani Regular" panose="02000503000000020004" pitchFamily="2" charset="0"/>
              </a:rPr>
              <a:t>Air Strip</a:t>
            </a:r>
          </a:p>
        </p:txBody>
      </p:sp>
      <p:cxnSp>
        <p:nvCxnSpPr>
          <p:cNvPr id="28" name="Straight Arrow Connector 27">
            <a:extLst>
              <a:ext uri="{FF2B5EF4-FFF2-40B4-BE49-F238E27FC236}">
                <a16:creationId xmlns:a16="http://schemas.microsoft.com/office/drawing/2014/main" id="{4ACE54FA-3B41-5BBC-008F-3723FE16194E}"/>
              </a:ext>
            </a:extLst>
          </p:cNvPr>
          <p:cNvCxnSpPr>
            <a:cxnSpLocks/>
          </p:cNvCxnSpPr>
          <p:nvPr/>
        </p:nvCxnSpPr>
        <p:spPr>
          <a:xfrm flipH="1">
            <a:off x="6248400" y="6378058"/>
            <a:ext cx="442813" cy="245477"/>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C22C559E-395C-F70E-9C04-0852DDC27B5B}"/>
              </a:ext>
            </a:extLst>
          </p:cNvPr>
          <p:cNvSpPr/>
          <p:nvPr/>
        </p:nvSpPr>
        <p:spPr>
          <a:xfrm>
            <a:off x="5211868" y="5648961"/>
            <a:ext cx="832179" cy="461711"/>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endParaRPr lang="en-US" sz="2400" b="1">
              <a:solidFill>
                <a:prstClr val="white"/>
              </a:solidFill>
              <a:latin typeface="Calibri"/>
            </a:endParaRPr>
          </a:p>
        </p:txBody>
      </p:sp>
      <p:graphicFrame>
        <p:nvGraphicFramePr>
          <p:cNvPr id="5" name="Table 4">
            <a:extLst>
              <a:ext uri="{FF2B5EF4-FFF2-40B4-BE49-F238E27FC236}">
                <a16:creationId xmlns:a16="http://schemas.microsoft.com/office/drawing/2014/main" id="{3F184CF3-48F8-322A-EAB9-231987BB295E}"/>
              </a:ext>
            </a:extLst>
          </p:cNvPr>
          <p:cNvGraphicFramePr>
            <a:graphicFrameLocks noGrp="1"/>
          </p:cNvGraphicFramePr>
          <p:nvPr>
            <p:extLst>
              <p:ext uri="{D42A27DB-BD31-4B8C-83A1-F6EECF244321}">
                <p14:modId xmlns:p14="http://schemas.microsoft.com/office/powerpoint/2010/main" val="2211747975"/>
              </p:ext>
            </p:extLst>
          </p:nvPr>
        </p:nvGraphicFramePr>
        <p:xfrm>
          <a:off x="7955317" y="4491512"/>
          <a:ext cx="3660120" cy="1691640"/>
        </p:xfrm>
        <a:graphic>
          <a:graphicData uri="http://schemas.openxmlformats.org/drawingml/2006/table">
            <a:tbl>
              <a:tblPr firstRow="1" bandRow="1">
                <a:tableStyleId>{17292A2E-F333-43FB-9621-5CBBE7FDCDCB}</a:tableStyleId>
              </a:tblPr>
              <a:tblGrid>
                <a:gridCol w="1200573">
                  <a:extLst>
                    <a:ext uri="{9D8B030D-6E8A-4147-A177-3AD203B41FA5}">
                      <a16:colId xmlns:a16="http://schemas.microsoft.com/office/drawing/2014/main" val="2076136626"/>
                    </a:ext>
                  </a:extLst>
                </a:gridCol>
                <a:gridCol w="2459547">
                  <a:extLst>
                    <a:ext uri="{9D8B030D-6E8A-4147-A177-3AD203B41FA5}">
                      <a16:colId xmlns:a16="http://schemas.microsoft.com/office/drawing/2014/main" val="2439711551"/>
                    </a:ext>
                  </a:extLst>
                </a:gridCol>
              </a:tblGrid>
              <a:tr h="345440">
                <a:tc gridSpan="2">
                  <a:txBody>
                    <a:bodyPr/>
                    <a:lstStyle/>
                    <a:p>
                      <a:pPr algn="ctr"/>
                      <a:r>
                        <a:rPr lang="en-US" sz="1500" b="0">
                          <a:latin typeface="Adani Light" panose="02000503000000020004" pitchFamily="2" charset="0"/>
                        </a:rPr>
                        <a:t>BESS-09</a:t>
                      </a:r>
                    </a:p>
                  </a:txBody>
                  <a:tcPr marL="121920" marR="121920" marT="60960" marB="60960"/>
                </a:tc>
                <a:tc hMerge="1">
                  <a:txBody>
                    <a:bodyPr/>
                    <a:lstStyle/>
                    <a:p>
                      <a:endParaRPr lang="en-US" sz="1100"/>
                    </a:p>
                  </a:txBody>
                  <a:tcPr/>
                </a:tc>
                <a:extLst>
                  <a:ext uri="{0D108BD9-81ED-4DB2-BD59-A6C34878D82A}">
                    <a16:rowId xmlns:a16="http://schemas.microsoft.com/office/drawing/2014/main" val="1435390413"/>
                  </a:ext>
                </a:extLst>
              </a:tr>
              <a:tr h="335280">
                <a:tc>
                  <a:txBody>
                    <a:bodyPr/>
                    <a:lstStyle/>
                    <a:p>
                      <a:r>
                        <a:rPr lang="en-US" sz="1400">
                          <a:latin typeface="Adani Light" panose="02000503000000020004" pitchFamily="2" charset="0"/>
                        </a:rPr>
                        <a:t>Plot No.</a:t>
                      </a:r>
                    </a:p>
                  </a:txBody>
                  <a:tcPr marL="121920" marR="121920" marT="60960" marB="60960">
                    <a:solidFill>
                      <a:schemeClr val="bg1"/>
                    </a:solidFill>
                  </a:tcPr>
                </a:tc>
                <a:tc>
                  <a:txBody>
                    <a:bodyPr/>
                    <a:lstStyle/>
                    <a:p>
                      <a:r>
                        <a:rPr lang="en-US" sz="1400">
                          <a:latin typeface="Adani Light" panose="02000503000000020004" pitchFamily="2" charset="0"/>
                        </a:rPr>
                        <a:t>A17</a:t>
                      </a:r>
                    </a:p>
                  </a:txBody>
                  <a:tcPr marL="121920" marR="121920" marT="60960" marB="60960">
                    <a:solidFill>
                      <a:schemeClr val="bg1"/>
                    </a:solidFill>
                  </a:tcPr>
                </a:tc>
                <a:extLst>
                  <a:ext uri="{0D108BD9-81ED-4DB2-BD59-A6C34878D82A}">
                    <a16:rowId xmlns:a16="http://schemas.microsoft.com/office/drawing/2014/main" val="3895667008"/>
                  </a:ext>
                </a:extLst>
              </a:tr>
              <a:tr h="335280">
                <a:tc>
                  <a:txBody>
                    <a:bodyPr/>
                    <a:lstStyle/>
                    <a:p>
                      <a:r>
                        <a:rPr lang="en-US" sz="1400">
                          <a:latin typeface="Adani Light" panose="02000503000000020004" pitchFamily="2" charset="0"/>
                        </a:rPr>
                        <a:t>Capacity</a:t>
                      </a:r>
                    </a:p>
                  </a:txBody>
                  <a:tcPr marL="121920" marR="121920" marT="60960" marB="60960">
                    <a:solidFill>
                      <a:schemeClr val="bg1"/>
                    </a:solidFill>
                  </a:tcPr>
                </a:tc>
                <a:tc>
                  <a:txBody>
                    <a:bodyPr/>
                    <a:lstStyle/>
                    <a:p>
                      <a:r>
                        <a:rPr lang="en-US" sz="1400">
                          <a:latin typeface="Adani Light" panose="02000503000000020004" pitchFamily="2" charset="0"/>
                        </a:rPr>
                        <a:t>1080 MW / 2438 MWh</a:t>
                      </a:r>
                    </a:p>
                  </a:txBody>
                  <a:tcPr marL="121920" marR="121920" marT="60960" marB="60960">
                    <a:solidFill>
                      <a:schemeClr val="bg1"/>
                    </a:solidFill>
                  </a:tcPr>
                </a:tc>
                <a:extLst>
                  <a:ext uri="{0D108BD9-81ED-4DB2-BD59-A6C34878D82A}">
                    <a16:rowId xmlns:a16="http://schemas.microsoft.com/office/drawing/2014/main" val="1896717730"/>
                  </a:ext>
                </a:extLst>
              </a:tr>
              <a:tr h="335280">
                <a:tc>
                  <a:txBody>
                    <a:bodyPr/>
                    <a:lstStyle/>
                    <a:p>
                      <a:r>
                        <a:rPr lang="en-US" sz="1400">
                          <a:latin typeface="Adani Light" panose="02000503000000020004" pitchFamily="2" charset="0"/>
                        </a:rPr>
                        <a:t>Containers</a:t>
                      </a:r>
                    </a:p>
                  </a:txBody>
                  <a:tcPr marL="121920" marR="121920" marT="60960" marB="60960">
                    <a:solidFill>
                      <a:schemeClr val="bg1"/>
                    </a:solidFill>
                  </a:tcPr>
                </a:tc>
                <a:tc>
                  <a:txBody>
                    <a:bodyPr/>
                    <a:lstStyle/>
                    <a:p>
                      <a:r>
                        <a:rPr lang="en-US" sz="1400">
                          <a:latin typeface="Adani Light" panose="02000503000000020004" pitchFamily="2" charset="0"/>
                        </a:rPr>
                        <a:t>432 Nos</a:t>
                      </a:r>
                    </a:p>
                  </a:txBody>
                  <a:tcPr marL="121920" marR="121920" marT="60960" marB="60960">
                    <a:solidFill>
                      <a:schemeClr val="bg1"/>
                    </a:solidFill>
                  </a:tcPr>
                </a:tc>
                <a:extLst>
                  <a:ext uri="{0D108BD9-81ED-4DB2-BD59-A6C34878D82A}">
                    <a16:rowId xmlns:a16="http://schemas.microsoft.com/office/drawing/2014/main" val="1973652270"/>
                  </a:ext>
                </a:extLst>
              </a:tr>
              <a:tr h="335280">
                <a:tc>
                  <a:txBody>
                    <a:bodyPr/>
                    <a:lstStyle/>
                    <a:p>
                      <a:r>
                        <a:rPr lang="en-US" sz="1400">
                          <a:latin typeface="Adani Light" panose="02000503000000020004" pitchFamily="2" charset="0"/>
                        </a:rPr>
                        <a:t>Land</a:t>
                      </a:r>
                    </a:p>
                  </a:txBody>
                  <a:tcPr marL="121920" marR="121920" marT="60960" marB="60960">
                    <a:solidFill>
                      <a:schemeClr val="bg1"/>
                    </a:solidFill>
                  </a:tcPr>
                </a:tc>
                <a:tc>
                  <a:txBody>
                    <a:bodyPr/>
                    <a:lstStyle/>
                    <a:p>
                      <a:r>
                        <a:rPr lang="en-US" sz="1400">
                          <a:latin typeface="Adani Light" panose="02000503000000020004" pitchFamily="2" charset="0"/>
                        </a:rPr>
                        <a:t>70 Acres</a:t>
                      </a:r>
                    </a:p>
                  </a:txBody>
                  <a:tcPr marL="121920" marR="121920" marT="60960" marB="60960">
                    <a:solidFill>
                      <a:schemeClr val="bg1"/>
                    </a:solidFill>
                  </a:tcPr>
                </a:tc>
                <a:extLst>
                  <a:ext uri="{0D108BD9-81ED-4DB2-BD59-A6C34878D82A}">
                    <a16:rowId xmlns:a16="http://schemas.microsoft.com/office/drawing/2014/main" val="2836138700"/>
                  </a:ext>
                </a:extLst>
              </a:tr>
            </a:tbl>
          </a:graphicData>
        </a:graphic>
      </p:graphicFrame>
      <p:graphicFrame>
        <p:nvGraphicFramePr>
          <p:cNvPr id="6" name="Table 5">
            <a:extLst>
              <a:ext uri="{FF2B5EF4-FFF2-40B4-BE49-F238E27FC236}">
                <a16:creationId xmlns:a16="http://schemas.microsoft.com/office/drawing/2014/main" id="{EC381AD7-2B52-75D6-65A0-D948647BC0F4}"/>
              </a:ext>
            </a:extLst>
          </p:cNvPr>
          <p:cNvGraphicFramePr>
            <a:graphicFrameLocks noGrp="1"/>
          </p:cNvGraphicFramePr>
          <p:nvPr>
            <p:extLst>
              <p:ext uri="{D42A27DB-BD31-4B8C-83A1-F6EECF244321}">
                <p14:modId xmlns:p14="http://schemas.microsoft.com/office/powerpoint/2010/main" val="3423271130"/>
              </p:ext>
            </p:extLst>
          </p:nvPr>
        </p:nvGraphicFramePr>
        <p:xfrm>
          <a:off x="25885" y="656997"/>
          <a:ext cx="3699641" cy="1691640"/>
        </p:xfrm>
        <a:graphic>
          <a:graphicData uri="http://schemas.openxmlformats.org/drawingml/2006/table">
            <a:tbl>
              <a:tblPr firstRow="1" bandRow="1">
                <a:tableStyleId>{17292A2E-F333-43FB-9621-5CBBE7FDCDCB}</a:tableStyleId>
              </a:tblPr>
              <a:tblGrid>
                <a:gridCol w="1176564">
                  <a:extLst>
                    <a:ext uri="{9D8B030D-6E8A-4147-A177-3AD203B41FA5}">
                      <a16:colId xmlns:a16="http://schemas.microsoft.com/office/drawing/2014/main" val="1248849160"/>
                    </a:ext>
                  </a:extLst>
                </a:gridCol>
                <a:gridCol w="2523077">
                  <a:extLst>
                    <a:ext uri="{9D8B030D-6E8A-4147-A177-3AD203B41FA5}">
                      <a16:colId xmlns:a16="http://schemas.microsoft.com/office/drawing/2014/main" val="2639526815"/>
                    </a:ext>
                  </a:extLst>
                </a:gridCol>
              </a:tblGrid>
              <a:tr h="345440">
                <a:tc gridSpan="2">
                  <a:txBody>
                    <a:bodyPr/>
                    <a:lstStyle/>
                    <a:p>
                      <a:pPr algn="ctr"/>
                      <a:r>
                        <a:rPr lang="en-US" sz="1500" b="0">
                          <a:latin typeface="Adani Light" panose="02000503000000020004" pitchFamily="2" charset="0"/>
                        </a:rPr>
                        <a:t>BESS-08(B)</a:t>
                      </a:r>
                    </a:p>
                  </a:txBody>
                  <a:tcPr marL="121920" marR="121920" marT="60960" marB="60960"/>
                </a:tc>
                <a:tc hMerge="1">
                  <a:txBody>
                    <a:bodyPr/>
                    <a:lstStyle/>
                    <a:p>
                      <a:endParaRPr lang="en-US" sz="1100"/>
                    </a:p>
                  </a:txBody>
                  <a:tcPr/>
                </a:tc>
                <a:extLst>
                  <a:ext uri="{0D108BD9-81ED-4DB2-BD59-A6C34878D82A}">
                    <a16:rowId xmlns:a16="http://schemas.microsoft.com/office/drawing/2014/main" val="536349362"/>
                  </a:ext>
                </a:extLst>
              </a:tr>
              <a:tr h="335280">
                <a:tc>
                  <a:txBody>
                    <a:bodyPr/>
                    <a:lstStyle/>
                    <a:p>
                      <a:r>
                        <a:rPr lang="en-US" sz="1400">
                          <a:latin typeface="Adani Light" panose="02000503000000020004" pitchFamily="2" charset="0"/>
                        </a:rPr>
                        <a:t>Plot No.</a:t>
                      </a:r>
                    </a:p>
                  </a:txBody>
                  <a:tcPr marL="121920" marR="121920" marT="60960" marB="60960">
                    <a:solidFill>
                      <a:schemeClr val="bg1"/>
                    </a:solidFill>
                  </a:tcPr>
                </a:tc>
                <a:tc>
                  <a:txBody>
                    <a:bodyPr/>
                    <a:lstStyle/>
                    <a:p>
                      <a:r>
                        <a:rPr lang="en-US" sz="1400">
                          <a:latin typeface="Adani Light" panose="02000503000000020004" pitchFamily="2" charset="0"/>
                        </a:rPr>
                        <a:t>A18</a:t>
                      </a:r>
                    </a:p>
                  </a:txBody>
                  <a:tcPr marL="121920" marR="121920" marT="60960" marB="60960">
                    <a:solidFill>
                      <a:schemeClr val="bg1"/>
                    </a:solidFill>
                  </a:tcPr>
                </a:tc>
                <a:extLst>
                  <a:ext uri="{0D108BD9-81ED-4DB2-BD59-A6C34878D82A}">
                    <a16:rowId xmlns:a16="http://schemas.microsoft.com/office/drawing/2014/main" val="3646307931"/>
                  </a:ext>
                </a:extLst>
              </a:tr>
              <a:tr h="335280">
                <a:tc>
                  <a:txBody>
                    <a:bodyPr/>
                    <a:lstStyle/>
                    <a:p>
                      <a:r>
                        <a:rPr lang="en-US" sz="1400">
                          <a:latin typeface="Adani Light" panose="02000503000000020004" pitchFamily="2" charset="0"/>
                        </a:rPr>
                        <a:t>Capacity</a:t>
                      </a:r>
                    </a:p>
                  </a:txBody>
                  <a:tcPr marL="121920" marR="121920" marT="60960" marB="60960">
                    <a:solidFill>
                      <a:schemeClr val="bg1"/>
                    </a:solidFill>
                  </a:tcPr>
                </a:tc>
                <a:tc>
                  <a:txBody>
                    <a:bodyPr/>
                    <a:lstStyle/>
                    <a:p>
                      <a:r>
                        <a:rPr lang="en-US" sz="1400">
                          <a:latin typeface="Adani Light" panose="02000503000000020004" pitchFamily="2" charset="0"/>
                        </a:rPr>
                        <a:t>420 MW / 843 MWh</a:t>
                      </a:r>
                    </a:p>
                  </a:txBody>
                  <a:tcPr marL="121920" marR="121920" marT="60960" marB="60960">
                    <a:solidFill>
                      <a:schemeClr val="bg1"/>
                    </a:solidFill>
                  </a:tcPr>
                </a:tc>
                <a:extLst>
                  <a:ext uri="{0D108BD9-81ED-4DB2-BD59-A6C34878D82A}">
                    <a16:rowId xmlns:a16="http://schemas.microsoft.com/office/drawing/2014/main" val="353581223"/>
                  </a:ext>
                </a:extLst>
              </a:tr>
              <a:tr h="335280">
                <a:tc>
                  <a:txBody>
                    <a:bodyPr/>
                    <a:lstStyle/>
                    <a:p>
                      <a:r>
                        <a:rPr lang="en-US" sz="1400">
                          <a:latin typeface="Adani Light" panose="02000503000000020004" pitchFamily="2" charset="0"/>
                        </a:rPr>
                        <a:t>Containers</a:t>
                      </a:r>
                    </a:p>
                  </a:txBody>
                  <a:tcPr marL="121920" marR="121920" marT="60960" marB="60960">
                    <a:solidFill>
                      <a:schemeClr val="bg1"/>
                    </a:solidFill>
                  </a:tcPr>
                </a:tc>
                <a:tc>
                  <a:txBody>
                    <a:bodyPr/>
                    <a:lstStyle/>
                    <a:p>
                      <a:r>
                        <a:rPr lang="en-US" sz="1400">
                          <a:latin typeface="Adani Light" panose="02000503000000020004" pitchFamily="2" charset="0"/>
                        </a:rPr>
                        <a:t>168 Nos</a:t>
                      </a:r>
                    </a:p>
                  </a:txBody>
                  <a:tcPr marL="121920" marR="121920" marT="60960" marB="60960">
                    <a:solidFill>
                      <a:schemeClr val="bg1"/>
                    </a:solidFill>
                  </a:tcPr>
                </a:tc>
                <a:extLst>
                  <a:ext uri="{0D108BD9-81ED-4DB2-BD59-A6C34878D82A}">
                    <a16:rowId xmlns:a16="http://schemas.microsoft.com/office/drawing/2014/main" val="875174441"/>
                  </a:ext>
                </a:extLst>
              </a:tr>
              <a:tr h="335280">
                <a:tc>
                  <a:txBody>
                    <a:bodyPr/>
                    <a:lstStyle/>
                    <a:p>
                      <a:r>
                        <a:rPr lang="en-US" sz="1400">
                          <a:latin typeface="Adani Light" panose="02000503000000020004" pitchFamily="2" charset="0"/>
                        </a:rPr>
                        <a:t>Land</a:t>
                      </a:r>
                    </a:p>
                  </a:txBody>
                  <a:tcPr marL="121920" marR="121920" marT="60960" marB="60960">
                    <a:solidFill>
                      <a:schemeClr val="bg1"/>
                    </a:solidFill>
                  </a:tcPr>
                </a:tc>
                <a:tc>
                  <a:txBody>
                    <a:bodyPr/>
                    <a:lstStyle/>
                    <a:p>
                      <a:r>
                        <a:rPr lang="en-US" sz="1400">
                          <a:latin typeface="Adani Light" panose="02000503000000020004" pitchFamily="2" charset="0"/>
                        </a:rPr>
                        <a:t>31.3 Acres</a:t>
                      </a:r>
                    </a:p>
                  </a:txBody>
                  <a:tcPr marL="121920" marR="121920" marT="60960" marB="60960">
                    <a:solidFill>
                      <a:schemeClr val="bg1"/>
                    </a:solidFill>
                  </a:tcPr>
                </a:tc>
                <a:extLst>
                  <a:ext uri="{0D108BD9-81ED-4DB2-BD59-A6C34878D82A}">
                    <a16:rowId xmlns:a16="http://schemas.microsoft.com/office/drawing/2014/main" val="1488680870"/>
                  </a:ext>
                </a:extLst>
              </a:tr>
            </a:tbl>
          </a:graphicData>
        </a:graphic>
      </p:graphicFrame>
      <p:sp>
        <p:nvSpPr>
          <p:cNvPr id="14" name="Oval 13">
            <a:extLst>
              <a:ext uri="{FF2B5EF4-FFF2-40B4-BE49-F238E27FC236}">
                <a16:creationId xmlns:a16="http://schemas.microsoft.com/office/drawing/2014/main" id="{73C22FFC-834A-BB78-4BC6-D0A85E65EC48}"/>
              </a:ext>
            </a:extLst>
          </p:cNvPr>
          <p:cNvSpPr/>
          <p:nvPr/>
        </p:nvSpPr>
        <p:spPr>
          <a:xfrm>
            <a:off x="4155183" y="1263301"/>
            <a:ext cx="837607" cy="56710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endParaRPr lang="en-US" sz="2400" b="1">
              <a:solidFill>
                <a:prstClr val="white"/>
              </a:solidFill>
              <a:latin typeface="Calibri"/>
            </a:endParaRPr>
          </a:p>
        </p:txBody>
      </p:sp>
      <p:cxnSp>
        <p:nvCxnSpPr>
          <p:cNvPr id="22" name="Straight Arrow Connector 21">
            <a:extLst>
              <a:ext uri="{FF2B5EF4-FFF2-40B4-BE49-F238E27FC236}">
                <a16:creationId xmlns:a16="http://schemas.microsoft.com/office/drawing/2014/main" id="{3020FC91-8D2D-482D-33CB-D06B0D2DAFFB}"/>
              </a:ext>
            </a:extLst>
          </p:cNvPr>
          <p:cNvCxnSpPr>
            <a:cxnSpLocks/>
            <a:stCxn id="2" idx="6"/>
          </p:cNvCxnSpPr>
          <p:nvPr/>
        </p:nvCxnSpPr>
        <p:spPr>
          <a:xfrm flipV="1">
            <a:off x="6044047" y="5183443"/>
            <a:ext cx="1911270" cy="69637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4" name="Table 23">
            <a:extLst>
              <a:ext uri="{FF2B5EF4-FFF2-40B4-BE49-F238E27FC236}">
                <a16:creationId xmlns:a16="http://schemas.microsoft.com/office/drawing/2014/main" id="{1D9AB8C3-E641-EE76-C83B-10646C5FC89B}"/>
              </a:ext>
            </a:extLst>
          </p:cNvPr>
          <p:cNvGraphicFramePr>
            <a:graphicFrameLocks noGrp="1"/>
          </p:cNvGraphicFramePr>
          <p:nvPr>
            <p:extLst>
              <p:ext uri="{D42A27DB-BD31-4B8C-83A1-F6EECF244321}">
                <p14:modId xmlns:p14="http://schemas.microsoft.com/office/powerpoint/2010/main" val="3617615564"/>
              </p:ext>
            </p:extLst>
          </p:nvPr>
        </p:nvGraphicFramePr>
        <p:xfrm>
          <a:off x="1" y="5001260"/>
          <a:ext cx="3699641" cy="1691640"/>
        </p:xfrm>
        <a:graphic>
          <a:graphicData uri="http://schemas.openxmlformats.org/drawingml/2006/table">
            <a:tbl>
              <a:tblPr firstRow="1" bandRow="1">
                <a:tableStyleId>{17292A2E-F333-43FB-9621-5CBBE7FDCDCB}</a:tableStyleId>
              </a:tblPr>
              <a:tblGrid>
                <a:gridCol w="1176564">
                  <a:extLst>
                    <a:ext uri="{9D8B030D-6E8A-4147-A177-3AD203B41FA5}">
                      <a16:colId xmlns:a16="http://schemas.microsoft.com/office/drawing/2014/main" val="1248849160"/>
                    </a:ext>
                  </a:extLst>
                </a:gridCol>
                <a:gridCol w="2523077">
                  <a:extLst>
                    <a:ext uri="{9D8B030D-6E8A-4147-A177-3AD203B41FA5}">
                      <a16:colId xmlns:a16="http://schemas.microsoft.com/office/drawing/2014/main" val="2639526815"/>
                    </a:ext>
                  </a:extLst>
                </a:gridCol>
              </a:tblGrid>
              <a:tr h="345440">
                <a:tc gridSpan="2">
                  <a:txBody>
                    <a:bodyPr/>
                    <a:lstStyle/>
                    <a:p>
                      <a:pPr algn="ctr"/>
                      <a:r>
                        <a:rPr lang="en-US" sz="1500" b="0">
                          <a:latin typeface="Adani Light" panose="02000503000000020004" pitchFamily="2" charset="0"/>
                        </a:rPr>
                        <a:t>BESS-05(B)</a:t>
                      </a:r>
                    </a:p>
                  </a:txBody>
                  <a:tcPr marL="121920" marR="121920" marT="60960" marB="60960"/>
                </a:tc>
                <a:tc hMerge="1">
                  <a:txBody>
                    <a:bodyPr/>
                    <a:lstStyle/>
                    <a:p>
                      <a:endParaRPr lang="en-US" sz="1100"/>
                    </a:p>
                  </a:txBody>
                  <a:tcPr/>
                </a:tc>
                <a:extLst>
                  <a:ext uri="{0D108BD9-81ED-4DB2-BD59-A6C34878D82A}">
                    <a16:rowId xmlns:a16="http://schemas.microsoft.com/office/drawing/2014/main" val="536349362"/>
                  </a:ext>
                </a:extLst>
              </a:tr>
              <a:tr h="335280">
                <a:tc>
                  <a:txBody>
                    <a:bodyPr/>
                    <a:lstStyle/>
                    <a:p>
                      <a:r>
                        <a:rPr lang="en-US" sz="1400">
                          <a:latin typeface="Adani Light" panose="02000503000000020004" pitchFamily="2" charset="0"/>
                        </a:rPr>
                        <a:t>Plot No.</a:t>
                      </a:r>
                    </a:p>
                  </a:txBody>
                  <a:tcPr marL="121920" marR="121920" marT="60960" marB="60960">
                    <a:solidFill>
                      <a:schemeClr val="bg1"/>
                    </a:solidFill>
                  </a:tcPr>
                </a:tc>
                <a:tc>
                  <a:txBody>
                    <a:bodyPr/>
                    <a:lstStyle/>
                    <a:p>
                      <a:r>
                        <a:rPr lang="en-US" sz="1400">
                          <a:latin typeface="Adani Light" panose="02000503000000020004" pitchFamily="2" charset="0"/>
                        </a:rPr>
                        <a:t>A17</a:t>
                      </a:r>
                    </a:p>
                  </a:txBody>
                  <a:tcPr marL="121920" marR="121920" marT="60960" marB="60960">
                    <a:solidFill>
                      <a:schemeClr val="bg1"/>
                    </a:solidFill>
                  </a:tcPr>
                </a:tc>
                <a:extLst>
                  <a:ext uri="{0D108BD9-81ED-4DB2-BD59-A6C34878D82A}">
                    <a16:rowId xmlns:a16="http://schemas.microsoft.com/office/drawing/2014/main" val="3646307931"/>
                  </a:ext>
                </a:extLst>
              </a:tr>
              <a:tr h="335280">
                <a:tc>
                  <a:txBody>
                    <a:bodyPr/>
                    <a:lstStyle/>
                    <a:p>
                      <a:r>
                        <a:rPr lang="en-US" sz="1400">
                          <a:latin typeface="Adani Light" panose="02000503000000020004" pitchFamily="2" charset="0"/>
                        </a:rPr>
                        <a:t>Capacity</a:t>
                      </a:r>
                    </a:p>
                  </a:txBody>
                  <a:tcPr marL="121920" marR="121920" marT="60960" marB="60960">
                    <a:solidFill>
                      <a:schemeClr val="bg1"/>
                    </a:solidFill>
                  </a:tcPr>
                </a:tc>
                <a:tc>
                  <a:txBody>
                    <a:bodyPr/>
                    <a:lstStyle/>
                    <a:p>
                      <a:r>
                        <a:rPr lang="en-US" sz="1400">
                          <a:latin typeface="Adani Light" panose="02000503000000020004" pitchFamily="2" charset="0"/>
                        </a:rPr>
                        <a:t>1000 MW / 2258 MWh</a:t>
                      </a:r>
                    </a:p>
                  </a:txBody>
                  <a:tcPr marL="121920" marR="121920" marT="60960" marB="60960">
                    <a:solidFill>
                      <a:schemeClr val="bg1"/>
                    </a:solidFill>
                  </a:tcPr>
                </a:tc>
                <a:extLst>
                  <a:ext uri="{0D108BD9-81ED-4DB2-BD59-A6C34878D82A}">
                    <a16:rowId xmlns:a16="http://schemas.microsoft.com/office/drawing/2014/main" val="353581223"/>
                  </a:ext>
                </a:extLst>
              </a:tr>
              <a:tr h="335280">
                <a:tc>
                  <a:txBody>
                    <a:bodyPr/>
                    <a:lstStyle/>
                    <a:p>
                      <a:r>
                        <a:rPr lang="en-US" sz="1400">
                          <a:latin typeface="Adani Light" panose="02000503000000020004" pitchFamily="2" charset="0"/>
                        </a:rPr>
                        <a:t>Containers</a:t>
                      </a:r>
                    </a:p>
                  </a:txBody>
                  <a:tcPr marL="121920" marR="121920" marT="60960" marB="60960">
                    <a:solidFill>
                      <a:schemeClr val="bg1"/>
                    </a:solidFill>
                  </a:tcPr>
                </a:tc>
                <a:tc>
                  <a:txBody>
                    <a:bodyPr/>
                    <a:lstStyle/>
                    <a:p>
                      <a:r>
                        <a:rPr lang="en-US" sz="1400">
                          <a:latin typeface="Adani Light" panose="02000503000000020004" pitchFamily="2" charset="0"/>
                        </a:rPr>
                        <a:t>400 Nos</a:t>
                      </a:r>
                    </a:p>
                  </a:txBody>
                  <a:tcPr marL="121920" marR="121920" marT="60960" marB="60960">
                    <a:solidFill>
                      <a:schemeClr val="bg1"/>
                    </a:solidFill>
                  </a:tcPr>
                </a:tc>
                <a:extLst>
                  <a:ext uri="{0D108BD9-81ED-4DB2-BD59-A6C34878D82A}">
                    <a16:rowId xmlns:a16="http://schemas.microsoft.com/office/drawing/2014/main" val="875174441"/>
                  </a:ext>
                </a:extLst>
              </a:tr>
              <a:tr h="335280">
                <a:tc>
                  <a:txBody>
                    <a:bodyPr/>
                    <a:lstStyle/>
                    <a:p>
                      <a:r>
                        <a:rPr lang="en-US" sz="1400">
                          <a:latin typeface="Adani Light" panose="02000503000000020004" pitchFamily="2" charset="0"/>
                        </a:rPr>
                        <a:t>Land</a:t>
                      </a:r>
                    </a:p>
                  </a:txBody>
                  <a:tcPr marL="121920" marR="121920" marT="60960" marB="60960">
                    <a:solidFill>
                      <a:schemeClr val="bg1"/>
                    </a:solidFill>
                  </a:tcPr>
                </a:tc>
                <a:tc>
                  <a:txBody>
                    <a:bodyPr/>
                    <a:lstStyle/>
                    <a:p>
                      <a:r>
                        <a:rPr lang="en-US" sz="1400">
                          <a:latin typeface="Adani Light" panose="02000503000000020004" pitchFamily="2" charset="0"/>
                        </a:rPr>
                        <a:t>68.81 Acres (In 2 Parcel)</a:t>
                      </a:r>
                    </a:p>
                  </a:txBody>
                  <a:tcPr marL="121920" marR="121920" marT="60960" marB="60960">
                    <a:solidFill>
                      <a:schemeClr val="bg1"/>
                    </a:solidFill>
                  </a:tcPr>
                </a:tc>
                <a:extLst>
                  <a:ext uri="{0D108BD9-81ED-4DB2-BD59-A6C34878D82A}">
                    <a16:rowId xmlns:a16="http://schemas.microsoft.com/office/drawing/2014/main" val="1488680870"/>
                  </a:ext>
                </a:extLst>
              </a:tr>
            </a:tbl>
          </a:graphicData>
        </a:graphic>
      </p:graphicFrame>
      <p:sp>
        <p:nvSpPr>
          <p:cNvPr id="25" name="Oval 24">
            <a:extLst>
              <a:ext uri="{FF2B5EF4-FFF2-40B4-BE49-F238E27FC236}">
                <a16:creationId xmlns:a16="http://schemas.microsoft.com/office/drawing/2014/main" id="{95367D2A-5CFE-E9C7-30E1-F89E29256866}"/>
              </a:ext>
            </a:extLst>
          </p:cNvPr>
          <p:cNvSpPr/>
          <p:nvPr/>
        </p:nvSpPr>
        <p:spPr>
          <a:xfrm>
            <a:off x="4192638" y="5001260"/>
            <a:ext cx="712737" cy="53276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endParaRPr lang="en-US" sz="2400" b="1">
              <a:solidFill>
                <a:prstClr val="white"/>
              </a:solidFill>
              <a:latin typeface="Calibri"/>
            </a:endParaRPr>
          </a:p>
        </p:txBody>
      </p:sp>
      <p:cxnSp>
        <p:nvCxnSpPr>
          <p:cNvPr id="31" name="Straight Arrow Connector 30">
            <a:extLst>
              <a:ext uri="{FF2B5EF4-FFF2-40B4-BE49-F238E27FC236}">
                <a16:creationId xmlns:a16="http://schemas.microsoft.com/office/drawing/2014/main" id="{73025F5F-6895-D112-24F9-0F5BFF4A54FF}"/>
              </a:ext>
            </a:extLst>
          </p:cNvPr>
          <p:cNvCxnSpPr>
            <a:cxnSpLocks/>
            <a:stCxn id="25" idx="2"/>
          </p:cNvCxnSpPr>
          <p:nvPr/>
        </p:nvCxnSpPr>
        <p:spPr>
          <a:xfrm flipH="1">
            <a:off x="3699642" y="5267643"/>
            <a:ext cx="492996" cy="21670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BA6440C-9635-51D4-2FC8-F48C2794A106}"/>
              </a:ext>
            </a:extLst>
          </p:cNvPr>
          <p:cNvCxnSpPr>
            <a:cxnSpLocks/>
            <a:stCxn id="14" idx="2"/>
          </p:cNvCxnSpPr>
          <p:nvPr/>
        </p:nvCxnSpPr>
        <p:spPr>
          <a:xfrm flipH="1">
            <a:off x="3718827" y="1546856"/>
            <a:ext cx="436356" cy="14450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85A0D950-88EB-0321-149D-A37E562E129A}"/>
              </a:ext>
            </a:extLst>
          </p:cNvPr>
          <p:cNvSpPr txBox="1"/>
          <p:nvPr/>
        </p:nvSpPr>
        <p:spPr>
          <a:xfrm>
            <a:off x="3725526" y="6183152"/>
            <a:ext cx="986055" cy="440383"/>
          </a:xfrm>
          <a:prstGeom prst="rect">
            <a:avLst/>
          </a:prstGeom>
          <a:solidFill>
            <a:schemeClr val="bg1"/>
          </a:solidFill>
        </p:spPr>
        <p:txBody>
          <a:bodyPr wrap="square" rtlCol="0">
            <a:spAutoFit/>
          </a:bodyPr>
          <a:lstStyle/>
          <a:p>
            <a:endParaRPr lang="en-IN"/>
          </a:p>
        </p:txBody>
      </p:sp>
      <p:sp>
        <p:nvSpPr>
          <p:cNvPr id="39" name="TextBox 38">
            <a:extLst>
              <a:ext uri="{FF2B5EF4-FFF2-40B4-BE49-F238E27FC236}">
                <a16:creationId xmlns:a16="http://schemas.microsoft.com/office/drawing/2014/main" id="{FECBFE14-5454-A988-4FE6-400A8BD5EF8C}"/>
              </a:ext>
            </a:extLst>
          </p:cNvPr>
          <p:cNvSpPr txBox="1"/>
          <p:nvPr/>
        </p:nvSpPr>
        <p:spPr>
          <a:xfrm>
            <a:off x="9208578" y="6200000"/>
            <a:ext cx="986055" cy="440383"/>
          </a:xfrm>
          <a:prstGeom prst="rect">
            <a:avLst/>
          </a:prstGeom>
          <a:solidFill>
            <a:schemeClr val="bg1"/>
          </a:solidFill>
        </p:spPr>
        <p:txBody>
          <a:bodyPr wrap="square" rtlCol="0">
            <a:spAutoFit/>
          </a:bodyPr>
          <a:lstStyle/>
          <a:p>
            <a:endParaRPr lang="en-IN"/>
          </a:p>
        </p:txBody>
      </p:sp>
      <p:sp>
        <p:nvSpPr>
          <p:cNvPr id="4" name="Slide Number Placeholder 2">
            <a:extLst>
              <a:ext uri="{FF2B5EF4-FFF2-40B4-BE49-F238E27FC236}">
                <a16:creationId xmlns:a16="http://schemas.microsoft.com/office/drawing/2014/main" id="{F8C4B0A9-C7F1-5076-F865-F5F07D5C793B}"/>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4</a:t>
            </a:fld>
            <a:endParaRPr lang="en-IN"/>
          </a:p>
        </p:txBody>
      </p:sp>
    </p:spTree>
    <p:extLst>
      <p:ext uri="{BB962C8B-B14F-4D97-AF65-F5344CB8AC3E}">
        <p14:creationId xmlns:p14="http://schemas.microsoft.com/office/powerpoint/2010/main" val="2953168935"/>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5D5DE-ED8E-E1DC-FFED-DB9BFA5707A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206C545-E10B-9E1E-E8AE-4D6EF410E6E6}"/>
              </a:ext>
            </a:extLst>
          </p:cNvPr>
          <p:cNvSpPr txBox="1">
            <a:spLocks noChangeArrowheads="1"/>
          </p:cNvSpPr>
          <p:nvPr/>
        </p:nvSpPr>
        <p:spPr>
          <a:xfrm>
            <a:off x="490505" y="63999"/>
            <a:ext cx="10807487" cy="476833"/>
          </a:xfrm>
          <a:prstGeom prst="rect">
            <a:avLst/>
          </a:prstGeom>
        </p:spPr>
        <p:txBody>
          <a:bodyPr lIns="91440" tIns="45720" rIns="91440" bIns="4572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US" sz="2400" b="1" dirty="0">
                <a:solidFill>
                  <a:srgbClr val="912A82"/>
                </a:solidFill>
                <a:highlight>
                  <a:srgbClr val="33CC33"/>
                </a:highlight>
                <a:latin typeface="Adani Regular" panose="02000503000000020004" pitchFamily="2" charset="0"/>
              </a:rPr>
              <a:t>Commissioning Plan</a:t>
            </a:r>
          </a:p>
        </p:txBody>
      </p:sp>
      <p:graphicFrame>
        <p:nvGraphicFramePr>
          <p:cNvPr id="7" name="Table 6">
            <a:extLst>
              <a:ext uri="{FF2B5EF4-FFF2-40B4-BE49-F238E27FC236}">
                <a16:creationId xmlns:a16="http://schemas.microsoft.com/office/drawing/2014/main" id="{3B0F8598-8D69-F888-F1D2-6F40665E1171}"/>
              </a:ext>
            </a:extLst>
          </p:cNvPr>
          <p:cNvGraphicFramePr>
            <a:graphicFrameLocks noGrp="1"/>
          </p:cNvGraphicFramePr>
          <p:nvPr>
            <p:extLst>
              <p:ext uri="{D42A27DB-BD31-4B8C-83A1-F6EECF244321}">
                <p14:modId xmlns:p14="http://schemas.microsoft.com/office/powerpoint/2010/main" val="534045673"/>
              </p:ext>
            </p:extLst>
          </p:nvPr>
        </p:nvGraphicFramePr>
        <p:xfrm>
          <a:off x="223283" y="808073"/>
          <a:ext cx="11642655" cy="5465136"/>
        </p:xfrm>
        <a:graphic>
          <a:graphicData uri="http://schemas.openxmlformats.org/drawingml/2006/table">
            <a:tbl>
              <a:tblPr/>
              <a:tblGrid>
                <a:gridCol w="776177">
                  <a:extLst>
                    <a:ext uri="{9D8B030D-6E8A-4147-A177-3AD203B41FA5}">
                      <a16:colId xmlns:a16="http://schemas.microsoft.com/office/drawing/2014/main" val="1945906714"/>
                    </a:ext>
                  </a:extLst>
                </a:gridCol>
                <a:gridCol w="776177">
                  <a:extLst>
                    <a:ext uri="{9D8B030D-6E8A-4147-A177-3AD203B41FA5}">
                      <a16:colId xmlns:a16="http://schemas.microsoft.com/office/drawing/2014/main" val="1538292229"/>
                    </a:ext>
                  </a:extLst>
                </a:gridCol>
                <a:gridCol w="776177">
                  <a:extLst>
                    <a:ext uri="{9D8B030D-6E8A-4147-A177-3AD203B41FA5}">
                      <a16:colId xmlns:a16="http://schemas.microsoft.com/office/drawing/2014/main" val="2854866077"/>
                    </a:ext>
                  </a:extLst>
                </a:gridCol>
                <a:gridCol w="776177">
                  <a:extLst>
                    <a:ext uri="{9D8B030D-6E8A-4147-A177-3AD203B41FA5}">
                      <a16:colId xmlns:a16="http://schemas.microsoft.com/office/drawing/2014/main" val="1197520247"/>
                    </a:ext>
                  </a:extLst>
                </a:gridCol>
                <a:gridCol w="776177">
                  <a:extLst>
                    <a:ext uri="{9D8B030D-6E8A-4147-A177-3AD203B41FA5}">
                      <a16:colId xmlns:a16="http://schemas.microsoft.com/office/drawing/2014/main" val="1201095350"/>
                    </a:ext>
                  </a:extLst>
                </a:gridCol>
                <a:gridCol w="776177">
                  <a:extLst>
                    <a:ext uri="{9D8B030D-6E8A-4147-A177-3AD203B41FA5}">
                      <a16:colId xmlns:a16="http://schemas.microsoft.com/office/drawing/2014/main" val="1949169654"/>
                    </a:ext>
                  </a:extLst>
                </a:gridCol>
                <a:gridCol w="776177">
                  <a:extLst>
                    <a:ext uri="{9D8B030D-6E8A-4147-A177-3AD203B41FA5}">
                      <a16:colId xmlns:a16="http://schemas.microsoft.com/office/drawing/2014/main" val="1847836988"/>
                    </a:ext>
                  </a:extLst>
                </a:gridCol>
                <a:gridCol w="776177">
                  <a:extLst>
                    <a:ext uri="{9D8B030D-6E8A-4147-A177-3AD203B41FA5}">
                      <a16:colId xmlns:a16="http://schemas.microsoft.com/office/drawing/2014/main" val="136855469"/>
                    </a:ext>
                  </a:extLst>
                </a:gridCol>
                <a:gridCol w="776177">
                  <a:extLst>
                    <a:ext uri="{9D8B030D-6E8A-4147-A177-3AD203B41FA5}">
                      <a16:colId xmlns:a16="http://schemas.microsoft.com/office/drawing/2014/main" val="1372594765"/>
                    </a:ext>
                  </a:extLst>
                </a:gridCol>
                <a:gridCol w="776177">
                  <a:extLst>
                    <a:ext uri="{9D8B030D-6E8A-4147-A177-3AD203B41FA5}">
                      <a16:colId xmlns:a16="http://schemas.microsoft.com/office/drawing/2014/main" val="405195794"/>
                    </a:ext>
                  </a:extLst>
                </a:gridCol>
                <a:gridCol w="776177">
                  <a:extLst>
                    <a:ext uri="{9D8B030D-6E8A-4147-A177-3AD203B41FA5}">
                      <a16:colId xmlns:a16="http://schemas.microsoft.com/office/drawing/2014/main" val="3110438523"/>
                    </a:ext>
                  </a:extLst>
                </a:gridCol>
                <a:gridCol w="776177">
                  <a:extLst>
                    <a:ext uri="{9D8B030D-6E8A-4147-A177-3AD203B41FA5}">
                      <a16:colId xmlns:a16="http://schemas.microsoft.com/office/drawing/2014/main" val="3034225434"/>
                    </a:ext>
                  </a:extLst>
                </a:gridCol>
                <a:gridCol w="776177">
                  <a:extLst>
                    <a:ext uri="{9D8B030D-6E8A-4147-A177-3AD203B41FA5}">
                      <a16:colId xmlns:a16="http://schemas.microsoft.com/office/drawing/2014/main" val="2780722393"/>
                    </a:ext>
                  </a:extLst>
                </a:gridCol>
                <a:gridCol w="776177">
                  <a:extLst>
                    <a:ext uri="{9D8B030D-6E8A-4147-A177-3AD203B41FA5}">
                      <a16:colId xmlns:a16="http://schemas.microsoft.com/office/drawing/2014/main" val="1464700970"/>
                    </a:ext>
                  </a:extLst>
                </a:gridCol>
                <a:gridCol w="776177">
                  <a:extLst>
                    <a:ext uri="{9D8B030D-6E8A-4147-A177-3AD203B41FA5}">
                      <a16:colId xmlns:a16="http://schemas.microsoft.com/office/drawing/2014/main" val="1980348457"/>
                    </a:ext>
                  </a:extLst>
                </a:gridCol>
              </a:tblGrid>
              <a:tr h="285268">
                <a:tc rowSpan="3">
                  <a:txBody>
                    <a:bodyPr/>
                    <a:lstStyle/>
                    <a:p>
                      <a:pPr algn="ctr" rtl="0" fontAlgn="ctr">
                        <a:buNone/>
                      </a:pPr>
                      <a:r>
                        <a:rPr lang="en-US" sz="900" b="1" i="0" u="none" strike="noStrike">
                          <a:solidFill>
                            <a:srgbClr val="FFFFFF"/>
                          </a:solidFill>
                          <a:effectLst/>
                          <a:latin typeface="Adani Regular" panose="02000503000000020004" pitchFamily="2" charset="0"/>
                        </a:rPr>
                        <a:t>COD</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gridSpan="2">
                  <a:txBody>
                    <a:bodyPr/>
                    <a:lstStyle/>
                    <a:p>
                      <a:pPr algn="ctr" rtl="0" fontAlgn="ctr">
                        <a:buNone/>
                      </a:pPr>
                      <a:r>
                        <a:rPr lang="en-US" sz="900" b="1" i="0" u="none" strike="noStrike">
                          <a:solidFill>
                            <a:srgbClr val="FFFFFF"/>
                          </a:solidFill>
                          <a:effectLst/>
                          <a:latin typeface="Adani Regular" panose="02000503000000020004" pitchFamily="2" charset="0"/>
                        </a:rPr>
                        <a:t>PSS-11 in MWh</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hMerge="1">
                  <a:txBody>
                    <a:bodyPr/>
                    <a:lstStyle/>
                    <a:p>
                      <a:endParaRPr lang="en-US"/>
                    </a:p>
                  </a:txBody>
                  <a:tcPr/>
                </a:tc>
                <a:tc gridSpan="2">
                  <a:txBody>
                    <a:bodyPr/>
                    <a:lstStyle/>
                    <a:p>
                      <a:pPr algn="ctr" rtl="0" fontAlgn="ctr">
                        <a:buNone/>
                      </a:pPr>
                      <a:r>
                        <a:rPr lang="en-US" sz="900" b="1" i="0" u="none" strike="noStrike">
                          <a:solidFill>
                            <a:srgbClr val="FFFFFF"/>
                          </a:solidFill>
                          <a:effectLst/>
                          <a:latin typeface="Adani Regular" panose="02000503000000020004" pitchFamily="2" charset="0"/>
                        </a:rPr>
                        <a:t>PSS-12 in MWh</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hMerge="1">
                  <a:txBody>
                    <a:bodyPr/>
                    <a:lstStyle/>
                    <a:p>
                      <a:endParaRPr lang="en-US"/>
                    </a:p>
                  </a:txBody>
                  <a:tcPr/>
                </a:tc>
                <a:tc gridSpan="2">
                  <a:txBody>
                    <a:bodyPr/>
                    <a:lstStyle/>
                    <a:p>
                      <a:pPr algn="ctr" rtl="0" fontAlgn="ctr">
                        <a:buNone/>
                      </a:pPr>
                      <a:r>
                        <a:rPr lang="en-US" sz="900" b="1" i="0" u="none" strike="noStrike">
                          <a:solidFill>
                            <a:srgbClr val="FFFFFF"/>
                          </a:solidFill>
                          <a:effectLst/>
                          <a:latin typeface="Adani Regular" panose="02000503000000020004" pitchFamily="2" charset="0"/>
                        </a:rPr>
                        <a:t>PSS-10(B) in MWh</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hMerge="1">
                  <a:txBody>
                    <a:bodyPr/>
                    <a:lstStyle/>
                    <a:p>
                      <a:endParaRPr lang="en-US"/>
                    </a:p>
                  </a:txBody>
                  <a:tcPr/>
                </a:tc>
                <a:tc gridSpan="2">
                  <a:txBody>
                    <a:bodyPr/>
                    <a:lstStyle/>
                    <a:p>
                      <a:pPr algn="ctr" rtl="0" fontAlgn="ctr">
                        <a:buNone/>
                      </a:pPr>
                      <a:r>
                        <a:rPr lang="en-US" sz="900" b="1" i="0" u="none" strike="noStrike">
                          <a:solidFill>
                            <a:srgbClr val="FFFFFF"/>
                          </a:solidFill>
                          <a:effectLst/>
                          <a:latin typeface="Adani Regular" panose="02000503000000020004" pitchFamily="2" charset="0"/>
                        </a:rPr>
                        <a:t>PSS-09 in MWh</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hMerge="1">
                  <a:txBody>
                    <a:bodyPr/>
                    <a:lstStyle/>
                    <a:p>
                      <a:endParaRPr lang="en-US"/>
                    </a:p>
                  </a:txBody>
                  <a:tcPr/>
                </a:tc>
                <a:tc gridSpan="2">
                  <a:txBody>
                    <a:bodyPr/>
                    <a:lstStyle/>
                    <a:p>
                      <a:pPr algn="ctr" rtl="0" fontAlgn="ctr">
                        <a:buNone/>
                      </a:pPr>
                      <a:r>
                        <a:rPr lang="en-US" sz="900" b="1" i="0" u="none" strike="noStrike">
                          <a:solidFill>
                            <a:srgbClr val="FFFFFF"/>
                          </a:solidFill>
                          <a:effectLst/>
                          <a:latin typeface="Adani Regular" panose="02000503000000020004" pitchFamily="2" charset="0"/>
                        </a:rPr>
                        <a:t>PSS-05(B) in MWh</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hMerge="1">
                  <a:txBody>
                    <a:bodyPr/>
                    <a:lstStyle/>
                    <a:p>
                      <a:endParaRPr lang="en-US"/>
                    </a:p>
                  </a:txBody>
                  <a:tcPr/>
                </a:tc>
                <a:tc gridSpan="2">
                  <a:txBody>
                    <a:bodyPr/>
                    <a:lstStyle/>
                    <a:p>
                      <a:pPr algn="ctr" rtl="0" fontAlgn="ctr">
                        <a:buNone/>
                      </a:pPr>
                      <a:r>
                        <a:rPr lang="en-US" sz="900" b="1" i="0" u="none" strike="noStrike">
                          <a:solidFill>
                            <a:srgbClr val="FFFFFF"/>
                          </a:solidFill>
                          <a:effectLst/>
                          <a:latin typeface="Adani Regular" panose="02000503000000020004" pitchFamily="2" charset="0"/>
                        </a:rPr>
                        <a:t>PSS-08(B) in MWh</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hMerge="1">
                  <a:txBody>
                    <a:bodyPr/>
                    <a:lstStyle/>
                    <a:p>
                      <a:endParaRPr lang="en-US"/>
                    </a:p>
                  </a:txBody>
                  <a:tcPr/>
                </a:tc>
                <a:tc rowSpan="2" gridSpan="2">
                  <a:txBody>
                    <a:bodyPr/>
                    <a:lstStyle/>
                    <a:p>
                      <a:pPr algn="ctr" rtl="0" fontAlgn="ctr">
                        <a:buNone/>
                      </a:pPr>
                      <a:r>
                        <a:rPr lang="en-US" sz="900" b="1" i="0" u="none" strike="noStrike">
                          <a:solidFill>
                            <a:srgbClr val="FFFFFF"/>
                          </a:solidFill>
                          <a:effectLst/>
                          <a:latin typeface="Adani Regular" panose="02000503000000020004" pitchFamily="2" charset="0"/>
                        </a:rPr>
                        <a:t>Total Capacity (MWh)</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rowSpan="2" hMerge="1">
                  <a:txBody>
                    <a:bodyPr/>
                    <a:lstStyle/>
                    <a:p>
                      <a:endParaRPr lang="en-US"/>
                    </a:p>
                  </a:txBody>
                  <a:tcPr/>
                </a:tc>
                <a:extLst>
                  <a:ext uri="{0D108BD9-81ED-4DB2-BD59-A6C34878D82A}">
                    <a16:rowId xmlns:a16="http://schemas.microsoft.com/office/drawing/2014/main" val="2418276766"/>
                  </a:ext>
                </a:extLst>
              </a:tr>
              <a:tr h="285268">
                <a:tc vMerge="1">
                  <a:txBody>
                    <a:bodyPr/>
                    <a:lstStyle/>
                    <a:p>
                      <a:endParaRPr lang="en-US"/>
                    </a:p>
                  </a:txBody>
                  <a:tcPr/>
                </a:tc>
                <a:tc gridSpan="2">
                  <a:txBody>
                    <a:bodyPr/>
                    <a:lstStyle/>
                    <a:p>
                      <a:pPr algn="ctr" rtl="0" fontAlgn="ctr">
                        <a:buNone/>
                      </a:pPr>
                      <a:r>
                        <a:rPr lang="en-US" sz="900" b="1" i="0" u="none" strike="noStrike">
                          <a:solidFill>
                            <a:srgbClr val="FFFFFF"/>
                          </a:solidFill>
                          <a:effectLst/>
                          <a:latin typeface="Adani Regular" panose="02000503000000020004" pitchFamily="2" charset="0"/>
                        </a:rPr>
                        <a:t>(CATL)</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hMerge="1">
                  <a:txBody>
                    <a:bodyPr/>
                    <a:lstStyle/>
                    <a:p>
                      <a:endParaRPr lang="en-US"/>
                    </a:p>
                  </a:txBody>
                  <a:tcPr/>
                </a:tc>
                <a:tc gridSpan="2">
                  <a:txBody>
                    <a:bodyPr/>
                    <a:lstStyle/>
                    <a:p>
                      <a:pPr algn="ctr" rtl="0" fontAlgn="ctr">
                        <a:buNone/>
                      </a:pPr>
                      <a:r>
                        <a:rPr lang="en-US" sz="900" b="1" i="0" u="none" strike="noStrike">
                          <a:solidFill>
                            <a:srgbClr val="FFFFFF"/>
                          </a:solidFill>
                          <a:effectLst/>
                          <a:latin typeface="Adani Regular" panose="02000503000000020004" pitchFamily="2" charset="0"/>
                        </a:rPr>
                        <a:t>(CATL)</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hMerge="1">
                  <a:txBody>
                    <a:bodyPr/>
                    <a:lstStyle/>
                    <a:p>
                      <a:endParaRPr lang="en-US"/>
                    </a:p>
                  </a:txBody>
                  <a:tcPr/>
                </a:tc>
                <a:tc gridSpan="2">
                  <a:txBody>
                    <a:bodyPr/>
                    <a:lstStyle/>
                    <a:p>
                      <a:pPr algn="ctr" rtl="0" fontAlgn="ctr">
                        <a:buNone/>
                      </a:pPr>
                      <a:r>
                        <a:rPr lang="en-US" sz="900" b="1" i="0" u="none" strike="noStrike">
                          <a:solidFill>
                            <a:srgbClr val="FFFFFF"/>
                          </a:solidFill>
                          <a:effectLst/>
                          <a:latin typeface="Adani Regular" panose="02000503000000020004" pitchFamily="2" charset="0"/>
                        </a:rPr>
                        <a:t>(Jinko)</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hMerge="1">
                  <a:txBody>
                    <a:bodyPr/>
                    <a:lstStyle/>
                    <a:p>
                      <a:endParaRPr lang="en-US"/>
                    </a:p>
                  </a:txBody>
                  <a:tcPr/>
                </a:tc>
                <a:tc gridSpan="2">
                  <a:txBody>
                    <a:bodyPr/>
                    <a:lstStyle/>
                    <a:p>
                      <a:pPr algn="ctr" rtl="0" fontAlgn="ctr">
                        <a:buNone/>
                      </a:pPr>
                      <a:r>
                        <a:rPr lang="en-US" sz="900" b="1" i="0" u="none" strike="noStrike">
                          <a:solidFill>
                            <a:srgbClr val="FFFFFF"/>
                          </a:solidFill>
                          <a:effectLst/>
                          <a:latin typeface="Adani Regular" panose="02000503000000020004" pitchFamily="2" charset="0"/>
                        </a:rPr>
                        <a:t>(CATL)</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hMerge="1">
                  <a:txBody>
                    <a:bodyPr/>
                    <a:lstStyle/>
                    <a:p>
                      <a:endParaRPr lang="en-US"/>
                    </a:p>
                  </a:txBody>
                  <a:tcPr/>
                </a:tc>
                <a:tc gridSpan="2">
                  <a:txBody>
                    <a:bodyPr/>
                    <a:lstStyle/>
                    <a:p>
                      <a:pPr algn="ctr" rtl="0" fontAlgn="ctr">
                        <a:buNone/>
                      </a:pPr>
                      <a:r>
                        <a:rPr lang="en-US" sz="900" b="1" i="0" u="none" strike="noStrike">
                          <a:solidFill>
                            <a:srgbClr val="FFFFFF"/>
                          </a:solidFill>
                          <a:effectLst/>
                          <a:latin typeface="Adani Regular" panose="02000503000000020004" pitchFamily="2" charset="0"/>
                        </a:rPr>
                        <a:t>(CATL)</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hMerge="1">
                  <a:txBody>
                    <a:bodyPr/>
                    <a:lstStyle/>
                    <a:p>
                      <a:endParaRPr lang="en-US"/>
                    </a:p>
                  </a:txBody>
                  <a:tcPr/>
                </a:tc>
                <a:tc gridSpan="2">
                  <a:txBody>
                    <a:bodyPr/>
                    <a:lstStyle/>
                    <a:p>
                      <a:pPr algn="ctr" rtl="0" fontAlgn="ctr">
                        <a:buNone/>
                      </a:pPr>
                      <a:r>
                        <a:rPr lang="en-US" sz="900" b="1" i="0" u="none" strike="noStrike">
                          <a:solidFill>
                            <a:srgbClr val="FFFFFF"/>
                          </a:solidFill>
                          <a:effectLst/>
                          <a:latin typeface="Adani Regular" panose="02000503000000020004" pitchFamily="2" charset="0"/>
                        </a:rPr>
                        <a:t>(Greatpower)</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hMerge="1">
                  <a:txBody>
                    <a:bodyPr/>
                    <a:lstStyle/>
                    <a:p>
                      <a:endParaRPr lang="en-US"/>
                    </a:p>
                  </a:txBody>
                  <a:tcPr/>
                </a:tc>
                <a:tc gridSpan="2"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2434642867"/>
                  </a:ext>
                </a:extLst>
              </a:tr>
              <a:tr h="285268">
                <a:tc vMerge="1">
                  <a:txBody>
                    <a:bodyPr/>
                    <a:lstStyle/>
                    <a:p>
                      <a:endParaRPr lang="en-US"/>
                    </a:p>
                  </a:txBody>
                  <a:tcPr/>
                </a:tc>
                <a:tc>
                  <a:txBody>
                    <a:bodyPr/>
                    <a:lstStyle/>
                    <a:p>
                      <a:pPr algn="ctr" rtl="0" fontAlgn="ctr">
                        <a:buNone/>
                      </a:pPr>
                      <a:r>
                        <a:rPr lang="en-US" sz="900" b="1" i="0" u="none" strike="noStrike">
                          <a:solidFill>
                            <a:srgbClr val="FFFFFF"/>
                          </a:solidFill>
                          <a:effectLst/>
                          <a:latin typeface="Adani Regular" panose="02000503000000020004" pitchFamily="2" charset="0"/>
                        </a:rPr>
                        <a:t>MWh</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a:txBody>
                    <a:bodyPr/>
                    <a:lstStyle/>
                    <a:p>
                      <a:pPr algn="ctr" rtl="0" fontAlgn="ctr">
                        <a:buNone/>
                      </a:pPr>
                      <a:r>
                        <a:rPr lang="en-US" sz="900" b="1" i="0" u="none" strike="noStrike">
                          <a:solidFill>
                            <a:srgbClr val="FFFFFF"/>
                          </a:solidFill>
                          <a:effectLst/>
                          <a:latin typeface="Adani Regular" panose="02000503000000020004" pitchFamily="2" charset="0"/>
                        </a:rPr>
                        <a:t>Container</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a:txBody>
                    <a:bodyPr/>
                    <a:lstStyle/>
                    <a:p>
                      <a:pPr algn="ctr" rtl="0" fontAlgn="ctr">
                        <a:buNone/>
                      </a:pPr>
                      <a:r>
                        <a:rPr lang="en-US" sz="900" b="1" i="0" u="none" strike="noStrike">
                          <a:solidFill>
                            <a:srgbClr val="FFFFFF"/>
                          </a:solidFill>
                          <a:effectLst/>
                          <a:latin typeface="Adani Regular" panose="02000503000000020004" pitchFamily="2" charset="0"/>
                        </a:rPr>
                        <a:t>MWh</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a:txBody>
                    <a:bodyPr/>
                    <a:lstStyle/>
                    <a:p>
                      <a:pPr algn="ctr" rtl="0" fontAlgn="ctr">
                        <a:buNone/>
                      </a:pPr>
                      <a:r>
                        <a:rPr lang="en-US" sz="900" b="1" i="0" u="none" strike="noStrike">
                          <a:solidFill>
                            <a:srgbClr val="FFFFFF"/>
                          </a:solidFill>
                          <a:effectLst/>
                          <a:latin typeface="Adani Regular" panose="02000503000000020004" pitchFamily="2" charset="0"/>
                        </a:rPr>
                        <a:t>Container</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a:txBody>
                    <a:bodyPr/>
                    <a:lstStyle/>
                    <a:p>
                      <a:pPr algn="ctr" rtl="0" fontAlgn="ctr">
                        <a:buNone/>
                      </a:pPr>
                      <a:r>
                        <a:rPr lang="en-US" sz="900" b="1" i="0" u="none" strike="noStrike">
                          <a:solidFill>
                            <a:srgbClr val="FFFFFF"/>
                          </a:solidFill>
                          <a:effectLst/>
                          <a:latin typeface="Adani Regular" panose="02000503000000020004" pitchFamily="2" charset="0"/>
                        </a:rPr>
                        <a:t>MWh</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a:txBody>
                    <a:bodyPr/>
                    <a:lstStyle/>
                    <a:p>
                      <a:pPr algn="ctr" rtl="0" fontAlgn="ctr">
                        <a:buNone/>
                      </a:pPr>
                      <a:r>
                        <a:rPr lang="en-US" sz="900" b="1" i="0" u="none" strike="noStrike">
                          <a:solidFill>
                            <a:srgbClr val="FFFFFF"/>
                          </a:solidFill>
                          <a:effectLst/>
                          <a:latin typeface="Adani Regular" panose="02000503000000020004" pitchFamily="2" charset="0"/>
                        </a:rPr>
                        <a:t>Container</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a:txBody>
                    <a:bodyPr/>
                    <a:lstStyle/>
                    <a:p>
                      <a:pPr algn="ctr" rtl="0" fontAlgn="ctr">
                        <a:buNone/>
                      </a:pPr>
                      <a:r>
                        <a:rPr lang="en-US" sz="900" b="1" i="0" u="none" strike="noStrike">
                          <a:solidFill>
                            <a:srgbClr val="FFFFFF"/>
                          </a:solidFill>
                          <a:effectLst/>
                          <a:latin typeface="Adani Regular" panose="02000503000000020004" pitchFamily="2" charset="0"/>
                        </a:rPr>
                        <a:t>MWh</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a:txBody>
                    <a:bodyPr/>
                    <a:lstStyle/>
                    <a:p>
                      <a:pPr algn="ctr" rtl="0" fontAlgn="ctr">
                        <a:buNone/>
                      </a:pPr>
                      <a:r>
                        <a:rPr lang="en-US" sz="900" b="1" i="0" u="none" strike="noStrike">
                          <a:solidFill>
                            <a:srgbClr val="FFFFFF"/>
                          </a:solidFill>
                          <a:effectLst/>
                          <a:latin typeface="Adani Regular" panose="02000503000000020004" pitchFamily="2" charset="0"/>
                        </a:rPr>
                        <a:t>Container</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a:txBody>
                    <a:bodyPr/>
                    <a:lstStyle/>
                    <a:p>
                      <a:pPr algn="ctr" rtl="0" fontAlgn="ctr">
                        <a:buNone/>
                      </a:pPr>
                      <a:r>
                        <a:rPr lang="en-US" sz="900" b="1" i="0" u="none" strike="noStrike">
                          <a:solidFill>
                            <a:srgbClr val="FFFFFF"/>
                          </a:solidFill>
                          <a:effectLst/>
                          <a:latin typeface="Adani Regular" panose="02000503000000020004" pitchFamily="2" charset="0"/>
                        </a:rPr>
                        <a:t>MWh</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a:txBody>
                    <a:bodyPr/>
                    <a:lstStyle/>
                    <a:p>
                      <a:pPr algn="ctr" rtl="0" fontAlgn="ctr">
                        <a:buNone/>
                      </a:pPr>
                      <a:r>
                        <a:rPr lang="en-US" sz="900" b="1" i="0" u="none" strike="noStrike">
                          <a:solidFill>
                            <a:srgbClr val="FFFFFF"/>
                          </a:solidFill>
                          <a:effectLst/>
                          <a:latin typeface="Adani Regular" panose="02000503000000020004" pitchFamily="2" charset="0"/>
                        </a:rPr>
                        <a:t>Container</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a:txBody>
                    <a:bodyPr/>
                    <a:lstStyle/>
                    <a:p>
                      <a:pPr algn="ctr" rtl="0" fontAlgn="ctr">
                        <a:buNone/>
                      </a:pPr>
                      <a:r>
                        <a:rPr lang="en-US" sz="900" b="1" i="0" u="none" strike="noStrike">
                          <a:solidFill>
                            <a:srgbClr val="FFFFFF"/>
                          </a:solidFill>
                          <a:effectLst/>
                          <a:latin typeface="Adani Regular" panose="02000503000000020004" pitchFamily="2" charset="0"/>
                        </a:rPr>
                        <a:t>MWh</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a:txBody>
                    <a:bodyPr/>
                    <a:lstStyle/>
                    <a:p>
                      <a:pPr algn="ctr" rtl="0" fontAlgn="ctr">
                        <a:buNone/>
                      </a:pPr>
                      <a:r>
                        <a:rPr lang="en-US" sz="900" b="1" i="0" u="none" strike="noStrike">
                          <a:solidFill>
                            <a:srgbClr val="FFFFFF"/>
                          </a:solidFill>
                          <a:effectLst/>
                          <a:latin typeface="Adani Regular" panose="02000503000000020004" pitchFamily="2" charset="0"/>
                        </a:rPr>
                        <a:t>Container</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a:txBody>
                    <a:bodyPr/>
                    <a:lstStyle/>
                    <a:p>
                      <a:pPr algn="ctr" rtl="0" fontAlgn="ctr">
                        <a:buNone/>
                      </a:pPr>
                      <a:r>
                        <a:rPr lang="en-US" sz="900" b="1" i="0" u="none" strike="noStrike">
                          <a:solidFill>
                            <a:srgbClr val="FFFFFF"/>
                          </a:solidFill>
                          <a:effectLst/>
                          <a:latin typeface="Adani Regular" panose="02000503000000020004" pitchFamily="2" charset="0"/>
                        </a:rPr>
                        <a:t>MWh</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tc>
                  <a:txBody>
                    <a:bodyPr/>
                    <a:lstStyle/>
                    <a:p>
                      <a:pPr algn="ctr" rtl="0" fontAlgn="ctr">
                        <a:buNone/>
                      </a:pPr>
                      <a:r>
                        <a:rPr lang="en-US" sz="900" b="1" i="0" u="none" strike="noStrike">
                          <a:solidFill>
                            <a:srgbClr val="FFFFFF"/>
                          </a:solidFill>
                          <a:effectLst/>
                          <a:latin typeface="Adani Regular" panose="02000503000000020004" pitchFamily="2" charset="0"/>
                        </a:rPr>
                        <a:t>Container</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12A82"/>
                    </a:solidFill>
                  </a:tcPr>
                </a:tc>
                <a:extLst>
                  <a:ext uri="{0D108BD9-81ED-4DB2-BD59-A6C34878D82A}">
                    <a16:rowId xmlns:a16="http://schemas.microsoft.com/office/drawing/2014/main" val="2988170424"/>
                  </a:ext>
                </a:extLst>
              </a:tr>
              <a:tr h="480451">
                <a:tc>
                  <a:txBody>
                    <a:bodyPr/>
                    <a:lstStyle/>
                    <a:p>
                      <a:pPr algn="ctr" rtl="0" fontAlgn="ctr">
                        <a:buNone/>
                      </a:pPr>
                      <a:r>
                        <a:rPr lang="en-US" sz="900" b="1" i="0" u="none" strike="noStrike">
                          <a:solidFill>
                            <a:srgbClr val="000000"/>
                          </a:solidFill>
                          <a:effectLst/>
                          <a:latin typeface="Adani Regular" panose="02000503000000020004" pitchFamily="2" charset="0"/>
                        </a:rPr>
                        <a:t>Jun-26</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71731289"/>
                  </a:ext>
                </a:extLst>
              </a:tr>
              <a:tr h="480451">
                <a:tc>
                  <a:txBody>
                    <a:bodyPr/>
                    <a:lstStyle/>
                    <a:p>
                      <a:pPr algn="ctr" rtl="0" fontAlgn="ctr">
                        <a:buNone/>
                      </a:pPr>
                      <a:r>
                        <a:rPr lang="en-US" sz="900" b="1" i="0" u="none" strike="noStrike">
                          <a:solidFill>
                            <a:srgbClr val="000000"/>
                          </a:solidFill>
                          <a:effectLst/>
                          <a:latin typeface="Adani Regular" panose="02000503000000020004" pitchFamily="2" charset="0"/>
                        </a:rPr>
                        <a:t>Jul-26</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endParaRPr lang="en-US" sz="1000" b="0" i="0" u="none" strike="noStrike" dirty="0">
                        <a:solidFill>
                          <a:srgbClr val="000000"/>
                        </a:solidFill>
                        <a:effectLst/>
                        <a:latin typeface="Arial" panose="020B0604020202020204" pitchFamily="34" charset="0"/>
                      </a:endParaRP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2534411"/>
                  </a:ext>
                </a:extLst>
              </a:tr>
              <a:tr h="480451">
                <a:tc>
                  <a:txBody>
                    <a:bodyPr/>
                    <a:lstStyle/>
                    <a:p>
                      <a:pPr algn="ctr" rtl="0" fontAlgn="ctr">
                        <a:buNone/>
                      </a:pPr>
                      <a:r>
                        <a:rPr lang="en-US" sz="900" b="1" i="0" u="none" strike="noStrike">
                          <a:solidFill>
                            <a:srgbClr val="000000"/>
                          </a:solidFill>
                          <a:effectLst/>
                          <a:latin typeface="Adani Regular" panose="02000503000000020004" pitchFamily="2" charset="0"/>
                        </a:rPr>
                        <a:t>Aug-26</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1" i="0" u="none" strike="noStrike" dirty="0">
                          <a:solidFill>
                            <a:srgbClr val="00B050"/>
                          </a:solidFill>
                          <a:effectLst/>
                          <a:latin typeface="Adani Regular" panose="02000503000000020004" pitchFamily="2" charset="0"/>
                        </a:rPr>
                        <a:t>542</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1" i="0" u="none" strike="noStrike" dirty="0">
                          <a:solidFill>
                            <a:srgbClr val="00B050"/>
                          </a:solidFill>
                          <a:effectLst/>
                          <a:latin typeface="Adani Regular" panose="02000503000000020004" pitchFamily="2" charset="0"/>
                        </a:rPr>
                        <a:t>96</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dirty="0">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1" i="0" u="none" strike="noStrike" dirty="0">
                          <a:solidFill>
                            <a:srgbClr val="00B050"/>
                          </a:solidFill>
                          <a:effectLst/>
                          <a:latin typeface="Adani Regular" panose="02000503000000020004" pitchFamily="2" charset="0"/>
                        </a:rPr>
                        <a:t>542</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1" i="0" u="none" strike="noStrike" dirty="0">
                          <a:solidFill>
                            <a:srgbClr val="00B050"/>
                          </a:solidFill>
                          <a:effectLst/>
                          <a:latin typeface="Adani Regular" panose="02000503000000020004" pitchFamily="2" charset="0"/>
                        </a:rPr>
                        <a:t>96</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6019557"/>
                  </a:ext>
                </a:extLst>
              </a:tr>
              <a:tr h="480451">
                <a:tc>
                  <a:txBody>
                    <a:bodyPr/>
                    <a:lstStyle/>
                    <a:p>
                      <a:pPr algn="ctr" rtl="0" fontAlgn="ctr">
                        <a:buNone/>
                      </a:pPr>
                      <a:r>
                        <a:rPr lang="en-US" sz="900" b="1" i="0" u="none" strike="noStrike">
                          <a:solidFill>
                            <a:srgbClr val="000000"/>
                          </a:solidFill>
                          <a:effectLst/>
                          <a:latin typeface="Adani Regular" panose="02000503000000020004" pitchFamily="2" charset="0"/>
                        </a:rPr>
                        <a:t>Sep-26</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1" i="0" u="none" strike="noStrike">
                          <a:solidFill>
                            <a:srgbClr val="00B050"/>
                          </a:solidFill>
                          <a:effectLst/>
                          <a:latin typeface="Adani Regular" panose="02000503000000020004" pitchFamily="2" charset="0"/>
                        </a:rPr>
                        <a:t>542</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1" i="0" u="none" strike="noStrike" dirty="0">
                          <a:solidFill>
                            <a:srgbClr val="00B050"/>
                          </a:solidFill>
                          <a:effectLst/>
                          <a:latin typeface="Adani Regular" panose="02000503000000020004" pitchFamily="2" charset="0"/>
                        </a:rPr>
                        <a:t>96</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1" i="0" u="none" strike="noStrike">
                          <a:solidFill>
                            <a:srgbClr val="00B050"/>
                          </a:solidFill>
                          <a:effectLst/>
                          <a:latin typeface="Adani Regular" panose="02000503000000020004" pitchFamily="2" charset="0"/>
                        </a:rPr>
                        <a:t>497</a:t>
                      </a:r>
                      <a:br>
                        <a:rPr lang="en-US" sz="1000" b="1" i="0" u="none" strike="noStrike">
                          <a:solidFill>
                            <a:srgbClr val="00B050"/>
                          </a:solidFill>
                          <a:effectLst/>
                          <a:latin typeface="Adani Regular" panose="02000503000000020004" pitchFamily="2" charset="0"/>
                        </a:rPr>
                      </a:br>
                      <a:r>
                        <a:rPr lang="en-US" sz="1000" b="0" i="0" u="none" strike="noStrike">
                          <a:solidFill>
                            <a:srgbClr val="000000"/>
                          </a:solidFill>
                          <a:effectLst/>
                          <a:latin typeface="Adani Regular" panose="02000503000000020004" pitchFamily="2" charset="0"/>
                        </a:rPr>
                        <a:t>858</a:t>
                      </a:r>
                      <a:endParaRPr lang="en-US" sz="1000" b="1" i="0" u="none" strike="noStrike">
                        <a:solidFill>
                          <a:srgbClr val="00B050"/>
                        </a:solidFill>
                        <a:effectLst/>
                        <a:latin typeface="Adani Regular" panose="02000503000000020004" pitchFamily="2"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1" i="0" u="none" strike="noStrike" dirty="0">
                          <a:solidFill>
                            <a:srgbClr val="00B050"/>
                          </a:solidFill>
                          <a:effectLst/>
                          <a:latin typeface="Adani Regular" panose="02000503000000020004" pitchFamily="2" charset="0"/>
                        </a:rPr>
                        <a:t>88</a:t>
                      </a:r>
                      <a:br>
                        <a:rPr lang="en-US" sz="1000" b="1" i="0" u="none" strike="noStrike" dirty="0">
                          <a:solidFill>
                            <a:srgbClr val="00B050"/>
                          </a:solidFill>
                          <a:effectLst/>
                          <a:latin typeface="Adani Regular" panose="02000503000000020004" pitchFamily="2" charset="0"/>
                        </a:rPr>
                      </a:br>
                      <a:r>
                        <a:rPr lang="en-US" sz="1000" b="0" i="0" u="none" strike="noStrike" dirty="0">
                          <a:solidFill>
                            <a:srgbClr val="000000"/>
                          </a:solidFill>
                          <a:effectLst/>
                          <a:latin typeface="Adani Regular" panose="02000503000000020004" pitchFamily="2" charset="0"/>
                        </a:rPr>
                        <a:t>152</a:t>
                      </a:r>
                      <a:endParaRPr lang="en-US" sz="1000" b="1" i="0" u="none" strike="noStrike" dirty="0">
                        <a:solidFill>
                          <a:srgbClr val="00B050"/>
                        </a:solidFill>
                        <a:effectLst/>
                        <a:latin typeface="Adani Regular" panose="02000503000000020004" pitchFamily="2"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602</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120</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000" b="0" i="0" u="none" strike="noStrike">
                          <a:solidFill>
                            <a:srgbClr val="000000"/>
                          </a:solidFill>
                          <a:effectLst/>
                          <a:latin typeface="Adani Regular" panose="02000503000000020004" pitchFamily="2" charset="0"/>
                        </a:rPr>
                        <a:t> </a:t>
                      </a:r>
                    </a:p>
                  </a:txBody>
                  <a:tcPr marL="9144" marR="9144" marT="9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000" b="0" i="0" u="none" strike="noStrike">
                          <a:solidFill>
                            <a:srgbClr val="000000"/>
                          </a:solidFill>
                          <a:effectLst/>
                          <a:latin typeface="Adani Regular" panose="02000503000000020004" pitchFamily="2" charset="0"/>
                        </a:rPr>
                        <a:t> </a:t>
                      </a:r>
                    </a:p>
                  </a:txBody>
                  <a:tcPr marL="9144" marR="9144" marT="9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000" b="0" i="0" u="none" strike="noStrike">
                          <a:solidFill>
                            <a:srgbClr val="000000"/>
                          </a:solidFill>
                          <a:effectLst/>
                          <a:latin typeface="Adani Regular" panose="02000503000000020004" pitchFamily="2" charset="0"/>
                        </a:rPr>
                        <a:t> </a:t>
                      </a:r>
                    </a:p>
                  </a:txBody>
                  <a:tcPr marL="9144" marR="9144" marT="9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1" i="0" u="none" strike="noStrike" dirty="0">
                          <a:solidFill>
                            <a:srgbClr val="00B050"/>
                          </a:solidFill>
                          <a:effectLst/>
                          <a:latin typeface="Adani Regular" panose="02000503000000020004" pitchFamily="2" charset="0"/>
                        </a:rPr>
                        <a:t>1039</a:t>
                      </a:r>
                    </a:p>
                    <a:p>
                      <a:pPr algn="ctr" rtl="0" fontAlgn="ctr">
                        <a:buNone/>
                      </a:pPr>
                      <a:r>
                        <a:rPr lang="en-US" sz="1000" b="0" i="0" u="none" strike="noStrike" dirty="0">
                          <a:solidFill>
                            <a:schemeClr val="tx1"/>
                          </a:solidFill>
                          <a:effectLst/>
                          <a:latin typeface="Adani Regular" panose="02000503000000020004" pitchFamily="2" charset="0"/>
                        </a:rPr>
                        <a:t>1460</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1" i="0" u="none" strike="noStrike" dirty="0">
                          <a:solidFill>
                            <a:srgbClr val="00B050"/>
                          </a:solidFill>
                          <a:effectLst/>
                          <a:latin typeface="Adani Regular" panose="02000503000000020004" pitchFamily="2" charset="0"/>
                        </a:rPr>
                        <a:t>184</a:t>
                      </a:r>
                    </a:p>
                    <a:p>
                      <a:pPr algn="ctr" rtl="0" fontAlgn="ctr">
                        <a:buNone/>
                      </a:pPr>
                      <a:r>
                        <a:rPr lang="en-US" sz="1000" b="0" i="0" u="none" strike="noStrike" dirty="0">
                          <a:solidFill>
                            <a:schemeClr val="tx1"/>
                          </a:solidFill>
                          <a:effectLst/>
                          <a:latin typeface="Adani Regular" panose="02000503000000020004" pitchFamily="2" charset="0"/>
                        </a:rPr>
                        <a:t>272</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6640442"/>
                  </a:ext>
                </a:extLst>
              </a:tr>
              <a:tr h="480451">
                <a:tc>
                  <a:txBody>
                    <a:bodyPr/>
                    <a:lstStyle/>
                    <a:p>
                      <a:pPr algn="ctr" rtl="0" fontAlgn="ctr">
                        <a:buNone/>
                      </a:pPr>
                      <a:r>
                        <a:rPr lang="en-US" sz="900" b="1" i="0" u="none" strike="noStrike">
                          <a:solidFill>
                            <a:srgbClr val="000000"/>
                          </a:solidFill>
                          <a:effectLst/>
                          <a:latin typeface="Adani Regular" panose="02000503000000020004" pitchFamily="2" charset="0"/>
                        </a:rPr>
                        <a:t>Oct-26</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1355</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240</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813</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144</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602</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120</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542</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96</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dirty="0">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241</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48</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3553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648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5004715"/>
                  </a:ext>
                </a:extLst>
              </a:tr>
              <a:tr h="480451">
                <a:tc>
                  <a:txBody>
                    <a:bodyPr/>
                    <a:lstStyle/>
                    <a:p>
                      <a:pPr algn="ctr" rtl="0" fontAlgn="ctr">
                        <a:buNone/>
                      </a:pPr>
                      <a:r>
                        <a:rPr lang="en-US" sz="900" b="1" i="0" u="none" strike="noStrike">
                          <a:solidFill>
                            <a:srgbClr val="000000"/>
                          </a:solidFill>
                          <a:effectLst/>
                          <a:latin typeface="Adani Regular" panose="02000503000000020004" pitchFamily="2" charset="0"/>
                        </a:rPr>
                        <a:t>Nov-26</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1896</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336</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271</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48</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241</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48</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2408</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432</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8379558"/>
                  </a:ext>
                </a:extLst>
              </a:tr>
              <a:tr h="480451">
                <a:tc>
                  <a:txBody>
                    <a:bodyPr/>
                    <a:lstStyle/>
                    <a:p>
                      <a:pPr algn="ctr" rtl="0" fontAlgn="ctr">
                        <a:buNone/>
                      </a:pPr>
                      <a:r>
                        <a:rPr lang="en-US" sz="900" b="1" i="0" u="none" strike="noStrike" dirty="0">
                          <a:solidFill>
                            <a:srgbClr val="000000"/>
                          </a:solidFill>
                          <a:effectLst/>
                          <a:latin typeface="Adani Regular" panose="02000503000000020004" pitchFamily="2" charset="0"/>
                        </a:rPr>
                        <a:t>Dec-26</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dirty="0">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dirty="0">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000" b="0" i="0" u="none" strike="noStrike" dirty="0">
                          <a:solidFill>
                            <a:srgbClr val="000000"/>
                          </a:solidFill>
                          <a:effectLst/>
                          <a:latin typeface="Adani Regular" panose="02000503000000020004" pitchFamily="2" charset="0"/>
                        </a:rPr>
                        <a:t> </a:t>
                      </a:r>
                    </a:p>
                  </a:txBody>
                  <a:tcPr marL="9144" marR="9144" marT="9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1716</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304</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361</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72</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2077</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376</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8024317"/>
                  </a:ext>
                </a:extLst>
              </a:tr>
              <a:tr h="480451">
                <a:tc>
                  <a:txBody>
                    <a:bodyPr/>
                    <a:lstStyle/>
                    <a:p>
                      <a:pPr algn="ctr" rtl="0" fontAlgn="ctr">
                        <a:buNone/>
                      </a:pPr>
                      <a:r>
                        <a:rPr lang="en-US" sz="900" b="1" i="0" u="none" strike="noStrike">
                          <a:solidFill>
                            <a:srgbClr val="000000"/>
                          </a:solidFill>
                          <a:effectLst/>
                          <a:latin typeface="Adani Regular" panose="02000503000000020004" pitchFamily="2" charset="0"/>
                        </a:rPr>
                        <a:t>Jan-27</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dirty="0">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271</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48</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271</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48</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98463137"/>
                  </a:ext>
                </a:extLst>
              </a:tr>
              <a:tr h="361687">
                <a:tc>
                  <a:txBody>
                    <a:bodyPr/>
                    <a:lstStyle/>
                    <a:p>
                      <a:pPr algn="ctr" rtl="0" fontAlgn="ctr">
                        <a:buNone/>
                      </a:pPr>
                      <a:r>
                        <a:rPr lang="en-US" sz="900" b="1" i="0" u="none" strike="noStrike">
                          <a:solidFill>
                            <a:srgbClr val="000000"/>
                          </a:solidFill>
                          <a:effectLst/>
                          <a:latin typeface="Adani Regular" panose="02000503000000020004" pitchFamily="2" charset="0"/>
                        </a:rPr>
                        <a:t>Feb-27</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000" b="0" i="0" u="none" strike="noStrike">
                          <a:solidFill>
                            <a:srgbClr val="000000"/>
                          </a:solidFill>
                          <a:effectLst/>
                          <a:latin typeface="Adani Regular" panose="02000503000000020004" pitchFamily="2" charset="0"/>
                        </a:rPr>
                        <a:t> </a:t>
                      </a:r>
                    </a:p>
                  </a:txBody>
                  <a:tcPr marL="9144" marR="9144" marT="9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rial" panose="020B0604020202020204" pitchFamily="34"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1" i="0" u="none" strike="noStrike" dirty="0">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1" i="0" u="none" strike="noStrike" dirty="0">
                          <a:solidFill>
                            <a:srgbClr val="000000"/>
                          </a:solidFill>
                          <a:effectLst/>
                          <a:latin typeface="Adani Regular" panose="02000503000000020004" pitchFamily="2" charset="0"/>
                        </a:rPr>
                        <a:t>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0840861"/>
                  </a:ext>
                </a:extLst>
              </a:tr>
              <a:tr h="404037">
                <a:tc>
                  <a:txBody>
                    <a:bodyPr/>
                    <a:lstStyle/>
                    <a:p>
                      <a:pPr algn="ctr" rtl="0" fontAlgn="ctr">
                        <a:buNone/>
                      </a:pPr>
                      <a:r>
                        <a:rPr lang="en-US" sz="900" b="1" i="0" u="none" strike="noStrike">
                          <a:solidFill>
                            <a:srgbClr val="000000"/>
                          </a:solidFill>
                          <a:effectLst/>
                          <a:latin typeface="Adani Regular" panose="02000503000000020004" pitchFamily="2" charset="0"/>
                        </a:rPr>
                        <a:t>Total </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000" b="1" i="0" u="none" strike="noStrike" dirty="0">
                          <a:solidFill>
                            <a:srgbClr val="000000"/>
                          </a:solidFill>
                          <a:effectLst/>
                          <a:latin typeface="Adani Regular" panose="02000503000000020004" pitchFamily="2" charset="0"/>
                        </a:rPr>
                        <a:t>2438</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000" b="1" i="0" u="none" strike="noStrike">
                          <a:solidFill>
                            <a:srgbClr val="000000"/>
                          </a:solidFill>
                          <a:effectLst/>
                          <a:latin typeface="Adani Regular" panose="02000503000000020004" pitchFamily="2" charset="0"/>
                        </a:rPr>
                        <a:t>432</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000" b="1" i="0" u="none" strike="noStrike">
                          <a:solidFill>
                            <a:srgbClr val="000000"/>
                          </a:solidFill>
                          <a:effectLst/>
                          <a:latin typeface="Adani Regular" panose="02000503000000020004" pitchFamily="2" charset="0"/>
                        </a:rPr>
                        <a:t>2167</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000" b="1" i="0" u="none" strike="noStrike">
                          <a:solidFill>
                            <a:srgbClr val="000000"/>
                          </a:solidFill>
                          <a:effectLst/>
                          <a:latin typeface="Adani Regular" panose="02000503000000020004" pitchFamily="2" charset="0"/>
                        </a:rPr>
                        <a:t>384</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000" b="1" i="0" u="none" strike="noStrike">
                          <a:solidFill>
                            <a:srgbClr val="000000"/>
                          </a:solidFill>
                          <a:effectLst/>
                          <a:latin typeface="Adani Regular" panose="02000503000000020004" pitchFamily="2" charset="0"/>
                        </a:rPr>
                        <a:t>1204</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000" b="1" i="0" u="none" strike="noStrike">
                          <a:solidFill>
                            <a:srgbClr val="000000"/>
                          </a:solidFill>
                          <a:effectLst/>
                          <a:latin typeface="Adani Regular" panose="02000503000000020004" pitchFamily="2" charset="0"/>
                        </a:rPr>
                        <a:t>240</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000" b="1" i="0" u="none" strike="noStrike">
                          <a:solidFill>
                            <a:srgbClr val="000000"/>
                          </a:solidFill>
                          <a:effectLst/>
                          <a:latin typeface="Adani Regular" panose="02000503000000020004" pitchFamily="2" charset="0"/>
                        </a:rPr>
                        <a:t>2438</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000" b="1" i="0" u="none" strike="noStrike">
                          <a:solidFill>
                            <a:srgbClr val="000000"/>
                          </a:solidFill>
                          <a:effectLst/>
                          <a:latin typeface="Adani Regular" panose="02000503000000020004" pitchFamily="2" charset="0"/>
                        </a:rPr>
                        <a:t>432</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000" b="1" i="0" u="none" strike="noStrike">
                          <a:solidFill>
                            <a:srgbClr val="000000"/>
                          </a:solidFill>
                          <a:effectLst/>
                          <a:latin typeface="Adani Regular" panose="02000503000000020004" pitchFamily="2" charset="0"/>
                        </a:rPr>
                        <a:t>2258</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000" b="1" i="0" u="none" strike="noStrike">
                          <a:solidFill>
                            <a:srgbClr val="000000"/>
                          </a:solidFill>
                          <a:effectLst/>
                          <a:latin typeface="Adani Regular" panose="02000503000000020004" pitchFamily="2" charset="0"/>
                        </a:rPr>
                        <a:t>400</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000" b="1" i="0" u="none" strike="noStrike">
                          <a:solidFill>
                            <a:srgbClr val="000000"/>
                          </a:solidFill>
                          <a:effectLst/>
                          <a:latin typeface="Adani Regular" panose="02000503000000020004" pitchFamily="2" charset="0"/>
                        </a:rPr>
                        <a:t>843</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000" b="1" i="0" u="none" strike="noStrike">
                          <a:solidFill>
                            <a:srgbClr val="000000"/>
                          </a:solidFill>
                          <a:effectLst/>
                          <a:latin typeface="Adani Regular" panose="02000503000000020004" pitchFamily="2" charset="0"/>
                        </a:rPr>
                        <a:t>168</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000" b="1" i="0" u="none" strike="noStrike">
                          <a:solidFill>
                            <a:srgbClr val="000000"/>
                          </a:solidFill>
                          <a:effectLst/>
                          <a:latin typeface="Adani Regular" panose="02000503000000020004" pitchFamily="2" charset="0"/>
                        </a:rPr>
                        <a:t>11348</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000" b="1" i="0" u="none" strike="noStrike" dirty="0">
                          <a:solidFill>
                            <a:srgbClr val="000000"/>
                          </a:solidFill>
                          <a:effectLst/>
                          <a:latin typeface="Adani Regular" panose="02000503000000020004" pitchFamily="2" charset="0"/>
                        </a:rPr>
                        <a:t>2056</a:t>
                      </a:r>
                    </a:p>
                  </a:txBody>
                  <a:tcPr marL="9144" marR="9144" marT="9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0293576"/>
                  </a:ext>
                </a:extLst>
              </a:tr>
            </a:tbl>
          </a:graphicData>
        </a:graphic>
      </p:graphicFrame>
      <p:sp>
        <p:nvSpPr>
          <p:cNvPr id="2" name="TextBox 1">
            <a:extLst>
              <a:ext uri="{FF2B5EF4-FFF2-40B4-BE49-F238E27FC236}">
                <a16:creationId xmlns:a16="http://schemas.microsoft.com/office/drawing/2014/main" id="{A05FF70C-5347-E0F8-003B-F96346F933A0}"/>
              </a:ext>
            </a:extLst>
          </p:cNvPr>
          <p:cNvSpPr txBox="1"/>
          <p:nvPr/>
        </p:nvSpPr>
        <p:spPr>
          <a:xfrm>
            <a:off x="223283" y="6396094"/>
            <a:ext cx="11216242" cy="553998"/>
          </a:xfrm>
          <a:prstGeom prst="rect">
            <a:avLst/>
          </a:prstGeom>
          <a:noFill/>
        </p:spPr>
        <p:txBody>
          <a:bodyPr wrap="square" rtlCol="0">
            <a:spAutoFit/>
          </a:bodyPr>
          <a:lstStyle/>
          <a:p>
            <a:r>
              <a:rPr lang="en-US" sz="1000" b="1" dirty="0">
                <a:latin typeface="Adani Regular" panose="02000503000000020004" pitchFamily="2" charset="0"/>
              </a:rPr>
              <a:t>Note : </a:t>
            </a:r>
            <a:r>
              <a:rPr lang="en-US" sz="1000" dirty="0">
                <a:latin typeface="Adani Regular" panose="02000503000000020004" pitchFamily="2" charset="0"/>
              </a:rPr>
              <a:t>PSS11:  </a:t>
            </a:r>
          </a:p>
          <a:p>
            <a:r>
              <a:rPr lang="en-US" sz="1000" dirty="0">
                <a:latin typeface="Adani Regular" panose="02000503000000020004" pitchFamily="2" charset="0"/>
              </a:rPr>
              <a:t>PSS12:</a:t>
            </a:r>
          </a:p>
          <a:p>
            <a:r>
              <a:rPr lang="en-US" sz="1000" dirty="0">
                <a:latin typeface="Adani Regular" panose="02000503000000020004" pitchFamily="2" charset="0"/>
              </a:rPr>
              <a:t>PSS10B: </a:t>
            </a:r>
          </a:p>
        </p:txBody>
      </p:sp>
    </p:spTree>
    <p:extLst>
      <p:ext uri="{BB962C8B-B14F-4D97-AF65-F5344CB8AC3E}">
        <p14:creationId xmlns:p14="http://schemas.microsoft.com/office/powerpoint/2010/main" val="1844289915"/>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40DAE-C08F-D4FE-5ECC-20862E405E0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D79B019-996D-7D93-573C-D12BDA70E0A1}"/>
              </a:ext>
            </a:extLst>
          </p:cNvPr>
          <p:cNvSpPr txBox="1"/>
          <p:nvPr/>
        </p:nvSpPr>
        <p:spPr>
          <a:xfrm>
            <a:off x="397363" y="39971"/>
            <a:ext cx="11610974" cy="424732"/>
          </a:xfrm>
          <a:prstGeom prst="rect">
            <a:avLst/>
          </a:prstGeom>
          <a:noFill/>
        </p:spPr>
        <p:txBody>
          <a:bodyPr vert="horz" wrap="square" lIns="91440" tIns="45720" rIns="91440" bIns="45720" rtlCol="0" anchor="b" anchorCtr="0">
            <a:spAutoFit/>
          </a:bodyPr>
          <a:lstStyle>
            <a:defPPr>
              <a:defRPr lang="en-US"/>
            </a:defPPr>
            <a:lvl1pPr indent="0">
              <a:lnSpc>
                <a:spcPct val="90000"/>
              </a:lnSpc>
              <a:spcBef>
                <a:spcPts val="1000"/>
              </a:spcBef>
              <a:buFont typeface="Arial" panose="020B0604020202020204" pitchFamily="34" charset="0"/>
              <a:buNone/>
              <a:defRPr sz="2400" b="1">
                <a:gradFill flip="none" rotWithShape="1">
                  <a:gsLst>
                    <a:gs pos="0">
                      <a:srgbClr val="FF2F5C"/>
                    </a:gs>
                    <a:gs pos="100000">
                      <a:srgbClr val="0070C0"/>
                    </a:gs>
                  </a:gsLst>
                  <a:path path="circle">
                    <a:fillToRect l="100000" t="100000"/>
                  </a:path>
                  <a:tileRect r="-100000" b="-100000"/>
                </a:gradFill>
                <a:latin typeface="Adani Regular" panose="02000503000000020004" pitchFamily="2"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361950" indent="0">
              <a:lnSpc>
                <a:spcPct val="90000"/>
              </a:lnSpc>
              <a:spcBef>
                <a:spcPts val="500"/>
              </a:spcBef>
              <a:buFont typeface="Arial" panose="020B0604020202020204" pitchFamily="34" charset="0"/>
              <a:buNone/>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defRPr/>
            </a:pPr>
            <a:r>
              <a:rPr lang="en-US" dirty="0">
                <a:gradFill>
                  <a:gsLst>
                    <a:gs pos="9735">
                      <a:schemeClr val="tx2"/>
                    </a:gs>
                    <a:gs pos="63000">
                      <a:srgbClr val="8E278F"/>
                    </a:gs>
                    <a:gs pos="38000">
                      <a:srgbClr val="57499E"/>
                    </a:gs>
                  </a:gsLst>
                  <a:lin ang="0" scaled="0"/>
                </a:gradFill>
                <a:highlight>
                  <a:srgbClr val="33CC33"/>
                </a:highlight>
              </a:rPr>
              <a:t>Physical Progress : PSS 11 S-Curve</a:t>
            </a:r>
          </a:p>
        </p:txBody>
      </p:sp>
      <p:graphicFrame>
        <p:nvGraphicFramePr>
          <p:cNvPr id="12" name="object 4">
            <a:extLst>
              <a:ext uri="{FF2B5EF4-FFF2-40B4-BE49-F238E27FC236}">
                <a16:creationId xmlns:a16="http://schemas.microsoft.com/office/drawing/2014/main" id="{FF5E4AED-70DC-F0F6-816B-BAF54545E919}"/>
              </a:ext>
            </a:extLst>
          </p:cNvPr>
          <p:cNvGraphicFramePr>
            <a:graphicFrameLocks noGrp="1"/>
          </p:cNvGraphicFramePr>
          <p:nvPr>
            <p:extLst>
              <p:ext uri="{D42A27DB-BD31-4B8C-83A1-F6EECF244321}">
                <p14:modId xmlns:p14="http://schemas.microsoft.com/office/powerpoint/2010/main" val="1585908951"/>
              </p:ext>
            </p:extLst>
          </p:nvPr>
        </p:nvGraphicFramePr>
        <p:xfrm>
          <a:off x="397363" y="3904150"/>
          <a:ext cx="11507766" cy="2925436"/>
        </p:xfrm>
        <a:graphic>
          <a:graphicData uri="http://schemas.openxmlformats.org/drawingml/2006/table">
            <a:tbl>
              <a:tblPr firstRow="1" bandRow="1">
                <a:tableStyleId>{2D5ABB26-0587-4C30-8999-92F81FD0307C}</a:tableStyleId>
              </a:tblPr>
              <a:tblGrid>
                <a:gridCol w="2047248">
                  <a:extLst>
                    <a:ext uri="{9D8B030D-6E8A-4147-A177-3AD203B41FA5}">
                      <a16:colId xmlns:a16="http://schemas.microsoft.com/office/drawing/2014/main" val="20000"/>
                    </a:ext>
                  </a:extLst>
                </a:gridCol>
                <a:gridCol w="444470">
                  <a:extLst>
                    <a:ext uri="{9D8B030D-6E8A-4147-A177-3AD203B41FA5}">
                      <a16:colId xmlns:a16="http://schemas.microsoft.com/office/drawing/2014/main" val="20001"/>
                    </a:ext>
                  </a:extLst>
                </a:gridCol>
                <a:gridCol w="694006">
                  <a:extLst>
                    <a:ext uri="{9D8B030D-6E8A-4147-A177-3AD203B41FA5}">
                      <a16:colId xmlns:a16="http://schemas.microsoft.com/office/drawing/2014/main" val="1846315748"/>
                    </a:ext>
                  </a:extLst>
                </a:gridCol>
                <a:gridCol w="694006">
                  <a:extLst>
                    <a:ext uri="{9D8B030D-6E8A-4147-A177-3AD203B41FA5}">
                      <a16:colId xmlns:a16="http://schemas.microsoft.com/office/drawing/2014/main" val="1665052075"/>
                    </a:ext>
                  </a:extLst>
                </a:gridCol>
                <a:gridCol w="694006">
                  <a:extLst>
                    <a:ext uri="{9D8B030D-6E8A-4147-A177-3AD203B41FA5}">
                      <a16:colId xmlns:a16="http://schemas.microsoft.com/office/drawing/2014/main" val="861976818"/>
                    </a:ext>
                  </a:extLst>
                </a:gridCol>
                <a:gridCol w="6934030">
                  <a:extLst>
                    <a:ext uri="{9D8B030D-6E8A-4147-A177-3AD203B41FA5}">
                      <a16:colId xmlns:a16="http://schemas.microsoft.com/office/drawing/2014/main" val="20006"/>
                    </a:ext>
                  </a:extLst>
                </a:gridCol>
              </a:tblGrid>
              <a:tr h="327499">
                <a:tc rowSpan="2">
                  <a:txBody>
                    <a:bodyPr/>
                    <a:lstStyle/>
                    <a:p>
                      <a:pPr marL="45720" algn="ctr">
                        <a:lnSpc>
                          <a:spcPct val="100000"/>
                        </a:lnSpc>
                      </a:pPr>
                      <a:r>
                        <a:rPr lang="en-US" sz="1100" b="1" spc="-10">
                          <a:solidFill>
                            <a:srgbClr val="FFFFFF"/>
                          </a:solidFill>
                          <a:latin typeface="Adani Regular" panose="02000503000000020004" pitchFamily="2" charset="0"/>
                          <a:cs typeface="Adani Regular"/>
                        </a:rPr>
                        <a:t>Activity</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635" algn="ctr">
                        <a:lnSpc>
                          <a:spcPct val="100000"/>
                        </a:lnSpc>
                      </a:pPr>
                      <a:r>
                        <a:rPr lang="en-US" sz="1100" b="1" spc="-20">
                          <a:solidFill>
                            <a:srgbClr val="FFFFFF"/>
                          </a:solidFill>
                          <a:latin typeface="Adani Regular" panose="02000503000000020004" pitchFamily="2" charset="0"/>
                          <a:cs typeface="Adani Regular"/>
                        </a:rPr>
                        <a:t>Wtg.</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2">
                  <a:txBody>
                    <a:bodyPr/>
                    <a:lstStyle/>
                    <a:p>
                      <a:pPr algn="ctr">
                        <a:lnSpc>
                          <a:spcPct val="100000"/>
                        </a:lnSpc>
                        <a:spcBef>
                          <a:spcPts val="450"/>
                        </a:spcBef>
                      </a:pPr>
                      <a:r>
                        <a:rPr lang="en-US" sz="1100" b="1" spc="-25">
                          <a:solidFill>
                            <a:srgbClr val="FFFFFF"/>
                          </a:solidFill>
                          <a:latin typeface="Adani Regular"/>
                          <a:cs typeface="Adani Regular"/>
                        </a:rPr>
                        <a:t>FTM</a:t>
                      </a:r>
                      <a:endParaRPr lang="en-US" sz="1100" b="1">
                        <a:latin typeface="Adani Regular"/>
                        <a:cs typeface="Adani Regular"/>
                      </a:endParaRP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hMerge="1">
                  <a:txBody>
                    <a:bodyPr/>
                    <a:lstStyle/>
                    <a:p>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030A0"/>
                    </a:solidFill>
                  </a:tcPr>
                </a:tc>
                <a:tc rowSpan="2">
                  <a:txBody>
                    <a:bodyPr/>
                    <a:lstStyle/>
                    <a:p>
                      <a:pPr marL="0" marR="0" lvl="0" indent="0" algn="ctr" defTabSz="914400" rtl="0" eaLnBrk="1" fontAlgn="auto" latinLnBrk="0" hangingPunct="1">
                        <a:lnSpc>
                          <a:spcPct val="100000"/>
                        </a:lnSpc>
                        <a:spcBef>
                          <a:spcPts val="450"/>
                        </a:spcBef>
                        <a:spcAft>
                          <a:spcPts val="0"/>
                        </a:spcAft>
                        <a:buClrTx/>
                        <a:buSzTx/>
                        <a:buFontTx/>
                        <a:buNone/>
                        <a:tabLst/>
                        <a:defRPr/>
                      </a:pPr>
                      <a:r>
                        <a:rPr lang="en-US" sz="1100" b="1">
                          <a:solidFill>
                            <a:schemeClr val="bg1"/>
                          </a:solidFill>
                          <a:latin typeface="Adani Regular"/>
                          <a:cs typeface="Adani Regular"/>
                        </a:rPr>
                        <a:t>Variance in Plan Vs Actual</a:t>
                      </a: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1270" algn="ctr">
                        <a:lnSpc>
                          <a:spcPct val="100000"/>
                        </a:lnSpc>
                      </a:pPr>
                      <a:r>
                        <a:rPr lang="en-US" sz="1100" b="1">
                          <a:solidFill>
                            <a:schemeClr val="bg1"/>
                          </a:solidFill>
                          <a:latin typeface="Adani Regular" panose="02000503000000020004" pitchFamily="2" charset="0"/>
                          <a:cs typeface="Adani Regular"/>
                        </a:rPr>
                        <a:t>Variance Remark &amp; Mitigation/Action Plan</a:t>
                      </a: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327499">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a:txBody>
                    <a:bodyPr/>
                    <a:lstStyle/>
                    <a:p>
                      <a:pPr marL="635" algn="ctr">
                        <a:lnSpc>
                          <a:spcPct val="100000"/>
                        </a:lnSpc>
                        <a:spcBef>
                          <a:spcPts val="455"/>
                        </a:spcBef>
                      </a:pPr>
                      <a:r>
                        <a:rPr lang="en-US" sz="1100" b="1" spc="-20">
                          <a:solidFill>
                            <a:srgbClr val="FFFFFF"/>
                          </a:solidFill>
                          <a:latin typeface="Adani Regular" panose="02000503000000020004" pitchFamily="2" charset="0"/>
                          <a:cs typeface="Adani Regular"/>
                        </a:rPr>
                        <a:t>Plan</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lnSpc>
                          <a:spcPct val="100000"/>
                        </a:lnSpc>
                        <a:spcBef>
                          <a:spcPts val="455"/>
                        </a:spcBef>
                      </a:pPr>
                      <a:r>
                        <a:rPr lang="en-US" sz="1100" b="1" spc="-20">
                          <a:solidFill>
                            <a:srgbClr val="FFFFFF"/>
                          </a:solidFill>
                          <a:latin typeface="Adani Regular" panose="02000503000000020004" pitchFamily="2" charset="0"/>
                          <a:cs typeface="Adani Regular"/>
                        </a:rPr>
                        <a:t>Actual</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pPr marL="635" algn="ctr">
                        <a:lnSpc>
                          <a:spcPct val="100000"/>
                        </a:lnSpc>
                        <a:spcBef>
                          <a:spcPts val="455"/>
                        </a:spcBef>
                      </a:pPr>
                      <a:endParaRPr lang="en-US" sz="9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extLst>
                  <a:ext uri="{0D108BD9-81ED-4DB2-BD59-A6C34878D82A}">
                    <a16:rowId xmlns:a16="http://schemas.microsoft.com/office/drawing/2014/main" val="10001"/>
                  </a:ext>
                </a:extLst>
              </a:tr>
              <a:tr h="327499">
                <a:tc>
                  <a:txBody>
                    <a:bodyPr/>
                    <a:lstStyle/>
                    <a:p>
                      <a:pPr marL="45720" marR="0" lvl="0" indent="0" algn="l" rtl="0" eaLnBrk="1" fontAlgn="auto" latinLnBrk="0" hangingPunct="1">
                        <a:lnSpc>
                          <a:spcPct val="100000"/>
                        </a:lnSpc>
                        <a:spcBef>
                          <a:spcPts val="445"/>
                        </a:spcBef>
                        <a:spcAft>
                          <a:spcPts val="0"/>
                        </a:spcAft>
                        <a:buClrTx/>
                        <a:buSzTx/>
                        <a:buFontTx/>
                        <a:buNone/>
                      </a:pPr>
                      <a:r>
                        <a:rPr lang="en-IN" sz="1100" b="0" i="0" u="none" strike="noStrike">
                          <a:solidFill>
                            <a:schemeClr val="tx1"/>
                          </a:solidFill>
                          <a:effectLst/>
                          <a:latin typeface="Adani Regular" panose="02000503000000020004" pitchFamily="2" charset="0"/>
                        </a:rPr>
                        <a:t>Statutory Approvals</a:t>
                      </a:r>
                      <a:endParaRPr lang="en-US" sz="1100">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just">
                        <a:lnSpc>
                          <a:spcPct val="100000"/>
                        </a:lnSpc>
                        <a:spcBef>
                          <a:spcPts val="0"/>
                        </a:spcBef>
                        <a:spcAft>
                          <a:spcPts val="0"/>
                        </a:spcAft>
                        <a:buNone/>
                      </a:pPr>
                      <a:r>
                        <a:rPr lang="en-US" sz="1100" dirty="0">
                          <a:solidFill>
                            <a:schemeClr val="tx1"/>
                          </a:solidFill>
                          <a:latin typeface="Adani Regular" panose="02000503000000020004" pitchFamily="2" charset="0"/>
                        </a:rPr>
                        <a:t>Total approvals 18; 17 approvals are Completed; 1 post commissioning.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70133264"/>
                  </a:ext>
                </a:extLst>
              </a:tr>
              <a:tr h="327499">
                <a:tc>
                  <a:txBody>
                    <a:bodyPr/>
                    <a:lstStyle/>
                    <a:p>
                      <a:pPr marL="45720">
                        <a:lnSpc>
                          <a:spcPct val="100000"/>
                        </a:lnSpc>
                        <a:spcBef>
                          <a:spcPts val="445"/>
                        </a:spcBef>
                      </a:pPr>
                      <a:r>
                        <a:rPr lang="en-US" sz="1100" spc="-10">
                          <a:latin typeface="Adani Regular" panose="02000503000000020004" pitchFamily="2" charset="0"/>
                          <a:cs typeface="Adani Regular"/>
                        </a:rPr>
                        <a:t>Engineering</a:t>
                      </a:r>
                      <a:endParaRPr lang="en-US" sz="1100">
                        <a:latin typeface="Adani Regular" panose="02000503000000020004" pitchFamily="2" charset="0"/>
                        <a:cs typeface="Adani Regular"/>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dirty="0">
                          <a:solidFill>
                            <a:schemeClr val="tx1"/>
                          </a:solidFill>
                          <a:effectLst/>
                          <a:latin typeface="Adani Regular" panose="02000503000000020004" pitchFamily="2" charset="0"/>
                          <a:ea typeface="Aptos" panose="020B0004020202020204" pitchFamily="34" charset="0"/>
                          <a:cs typeface="Aptos" panose="020B0004020202020204" pitchFamily="34" charset="0"/>
                        </a:rPr>
                        <a:t>Refer Slide no. 12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23668">
                <a:tc>
                  <a:txBody>
                    <a:bodyPr/>
                    <a:lstStyle/>
                    <a:p>
                      <a:pPr marL="45720" marR="0" lvl="0" indent="0" algn="l" defTabSz="914400" rtl="0" eaLnBrk="1" fontAlgn="auto" latinLnBrk="0" hangingPunct="1">
                        <a:lnSpc>
                          <a:spcPct val="100000"/>
                        </a:lnSpc>
                        <a:spcBef>
                          <a:spcPts val="445"/>
                        </a:spcBef>
                        <a:spcAft>
                          <a:spcPts val="0"/>
                        </a:spcAft>
                        <a:buClrTx/>
                        <a:buSzTx/>
                        <a:buFontTx/>
                        <a:buNone/>
                      </a:pPr>
                      <a:r>
                        <a:rPr lang="en-US" sz="1100" b="0" i="0" u="none" strike="noStrike" kern="1200" noProof="0">
                          <a:solidFill>
                            <a:schemeClr val="tx1"/>
                          </a:solidFill>
                          <a:effectLst/>
                          <a:latin typeface="Adani Regular" panose="02000503000000020004" pitchFamily="2" charset="0"/>
                          <a:ea typeface="+mn-ea"/>
                          <a:cs typeface="+mn-cs"/>
                        </a:rPr>
                        <a:t>Ordering, Manufacturing &amp; Supply </a:t>
                      </a:r>
                      <a:endParaRPr lang="en-US"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37%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100" dirty="0">
                          <a:solidFill>
                            <a:schemeClr val="tx1"/>
                          </a:solidFill>
                          <a:latin typeface="Adani Regular" panose="02000503000000020004" pitchFamily="2" charset="0"/>
                          <a:ea typeface="+mn-ea"/>
                          <a:cs typeface="+mn-cs"/>
                        </a:rPr>
                        <a:t>Battery container deliveries were delayed due to logistics delay.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90109">
                <a:tc>
                  <a:txBody>
                    <a:bodyPr/>
                    <a:lstStyle/>
                    <a:p>
                      <a:r>
                        <a:rPr lang="en-US" sz="1100" b="0" i="0" u="none" strike="noStrike" kern="1200" dirty="0">
                          <a:solidFill>
                            <a:schemeClr val="tx1"/>
                          </a:solidFill>
                          <a:effectLst/>
                          <a:latin typeface="Adani Regular" panose="02000503000000020004" pitchFamily="2" charset="0"/>
                          <a:ea typeface="+mn-ea"/>
                          <a:cs typeface="+mn-cs"/>
                        </a:rPr>
                        <a:t>Construction (Civil), Electrical,</a:t>
                      </a:r>
                    </a:p>
                    <a:p>
                      <a:r>
                        <a:rPr lang="en-US" sz="1100" b="0" i="0" u="none" strike="noStrike" kern="1200" dirty="0">
                          <a:solidFill>
                            <a:schemeClr val="tx1"/>
                          </a:solidFill>
                          <a:effectLst/>
                          <a:latin typeface="Adani Regular" panose="02000503000000020004" pitchFamily="2" charset="0"/>
                          <a:ea typeface="+mn-ea"/>
                          <a:cs typeface="+mn-cs"/>
                        </a:rPr>
                        <a:t>Integration &amp; Commissioning</a:t>
                      </a:r>
                      <a:endParaRPr lang="en-IN" sz="1100" b="0" i="0" u="none" strike="noStrike" kern="1200" dirty="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24%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100" kern="1200" noProof="0" dirty="0">
                          <a:solidFill>
                            <a:schemeClr val="tx1"/>
                          </a:solidFill>
                          <a:effectLst/>
                          <a:latin typeface="Adani Regular" panose="02000503000000020004" pitchFamily="2" charset="0"/>
                        </a:rPr>
                        <a:t>The difference between ‘Plan’ and ‘Actual’ is due to insufficient / delayed deployment of manpower &amp; Container receipt at site. </a:t>
                      </a:r>
                      <a:r>
                        <a:rPr lang="en-US" sz="1100" kern="1200" dirty="0">
                          <a:solidFill>
                            <a:schemeClr val="tx1"/>
                          </a:solidFill>
                          <a:effectLst/>
                          <a:latin typeface="Adani Regular" panose="02000503000000020004" pitchFamily="2" charset="0"/>
                          <a:ea typeface="+mn-ea"/>
                          <a:cs typeface="+mn-cs"/>
                        </a:rPr>
                        <a:t>Termination of M/s Pratibha and additional allocation of PSS-11 to M/s Akshar led to temporary manpower constraints, impacting electrical work progress.</a:t>
                      </a:r>
                      <a:endParaRPr lang="en-US" sz="1100" kern="1200" noProof="0" dirty="0">
                        <a:solidFill>
                          <a:schemeClr val="tx1"/>
                        </a:solidFill>
                        <a:effectLst/>
                        <a:latin typeface="Adani Regular" panose="02000503000000020004" pitchFamily="2" charset="0"/>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0448443"/>
                  </a:ext>
                </a:extLst>
              </a:tr>
              <a:tr h="590109">
                <a:tc>
                  <a:txBody>
                    <a:bodyPr/>
                    <a:lstStyle/>
                    <a:p>
                      <a:pPr algn="ctr"/>
                      <a:r>
                        <a:rPr lang="en-US" sz="1100" b="1" spc="-10">
                          <a:solidFill>
                            <a:schemeClr val="bg1"/>
                          </a:solidFill>
                          <a:latin typeface="Adani Regular" panose="02000503000000020004" pitchFamily="2" charset="0"/>
                        </a:rPr>
                        <a:t>Total</a:t>
                      </a:r>
                      <a:endParaRPr lang="en-IN" sz="1100">
                        <a:solidFill>
                          <a:schemeClr val="bg1"/>
                        </a:solidFill>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algn="ctr" defTabSz="914400" rtl="0" eaLnBrk="1" fontAlgn="ctr" latinLnBrk="0" hangingPunct="1">
                        <a:buNone/>
                      </a:pPr>
                      <a:r>
                        <a:rPr lang="en-IN" sz="1100" b="1" i="0" u="none" strike="noStrike" kern="1200">
                          <a:solidFill>
                            <a:schemeClr val="bg1"/>
                          </a:solidFill>
                          <a:effectLst/>
                          <a:latin typeface="Adani Regular" panose="02000503000000020004" pitchFamily="2" charset="0"/>
                          <a:ea typeface="+mn-ea"/>
                          <a:cs typeface="+mn-cs"/>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98%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dirty="0">
                          <a:solidFill>
                            <a:srgbClr val="FFFFFF"/>
                          </a:solidFill>
                          <a:effectLst/>
                          <a:latin typeface="Adani Regular" panose="02000503000000020004" pitchFamily="2" charset="0"/>
                        </a:rPr>
                        <a:t>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104775" marR="35560" lvl="0" indent="0" algn="just" defTabSz="914400" rtl="0" eaLnBrk="1" fontAlgn="auto" latinLnBrk="0" hangingPunct="1">
                        <a:lnSpc>
                          <a:spcPct val="100000"/>
                        </a:lnSpc>
                        <a:spcBef>
                          <a:spcPts val="65"/>
                        </a:spcBef>
                        <a:spcAft>
                          <a:spcPts val="0"/>
                        </a:spcAft>
                        <a:buClrTx/>
                        <a:buSzTx/>
                        <a:buFont typeface="Arial"/>
                        <a:buNone/>
                        <a:tabLst>
                          <a:tab pos="219075" algn="l"/>
                        </a:tabLst>
                        <a:defRPr/>
                      </a:pPr>
                      <a:r>
                        <a:rPr lang="en-US" sz="1100" b="1" dirty="0">
                          <a:solidFill>
                            <a:schemeClr val="bg1"/>
                          </a:solidFill>
                          <a:latin typeface="Adani Regular" panose="02000503000000020004" pitchFamily="2" charset="0"/>
                        </a:rPr>
                        <a:t>Mitigation Plan: </a:t>
                      </a:r>
                      <a:r>
                        <a:rPr lang="en-US" sz="1100" b="0" dirty="0">
                          <a:solidFill>
                            <a:schemeClr val="bg1"/>
                          </a:solidFill>
                          <a:latin typeface="Adani Regular" panose="02000503000000020004" pitchFamily="2" charset="0"/>
                        </a:rPr>
                        <a:t>BOP Civil and ACDC manpower were augmented as per MOM commitments, Pratibha was terminated and replaced by Akshar, and battery containers were relocated to PSS-12 based on site readiness.</a:t>
                      </a:r>
                      <a:endParaRPr lang="en-US" sz="1100" b="0" i="0" u="none" strike="noStrike" kern="1200" dirty="0">
                        <a:solidFill>
                          <a:schemeClr val="bg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20722021"/>
                  </a:ext>
                </a:extLst>
              </a:tr>
            </a:tbl>
          </a:graphicData>
        </a:graphic>
      </p:graphicFrame>
      <p:sp>
        <p:nvSpPr>
          <p:cNvPr id="2" name="Slide Number Placeholder 2">
            <a:extLst>
              <a:ext uri="{FF2B5EF4-FFF2-40B4-BE49-F238E27FC236}">
                <a16:creationId xmlns:a16="http://schemas.microsoft.com/office/drawing/2014/main" id="{CF9058F9-E06B-ABC1-1BB7-C38005EC7A3C}"/>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6</a:t>
            </a:fld>
            <a:endParaRPr lang="en-IN"/>
          </a:p>
        </p:txBody>
      </p:sp>
      <p:pic>
        <p:nvPicPr>
          <p:cNvPr id="3" name="Picture 2">
            <a:extLst>
              <a:ext uri="{FF2B5EF4-FFF2-40B4-BE49-F238E27FC236}">
                <a16:creationId xmlns:a16="http://schemas.microsoft.com/office/drawing/2014/main" id="{85184E5C-1C09-873F-469D-3DF334DCE6FB}"/>
              </a:ext>
            </a:extLst>
          </p:cNvPr>
          <p:cNvPicPr>
            <a:picLocks noChangeAspect="1"/>
          </p:cNvPicPr>
          <p:nvPr/>
        </p:nvPicPr>
        <p:blipFill>
          <a:blip r:embed="rId4"/>
          <a:stretch>
            <a:fillRect/>
          </a:stretch>
        </p:blipFill>
        <p:spPr>
          <a:xfrm>
            <a:off x="397363" y="657725"/>
            <a:ext cx="11507766" cy="3096128"/>
          </a:xfrm>
          <a:prstGeom prst="rect">
            <a:avLst/>
          </a:prstGeom>
        </p:spPr>
      </p:pic>
    </p:spTree>
    <p:extLst>
      <p:ext uri="{BB962C8B-B14F-4D97-AF65-F5344CB8AC3E}">
        <p14:creationId xmlns:p14="http://schemas.microsoft.com/office/powerpoint/2010/main" val="216852324"/>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A3D67-5FAC-FB89-2D92-6D256FC15E5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D447F7C-84F5-E320-08B3-DC0ECB1C3015}"/>
              </a:ext>
            </a:extLst>
          </p:cNvPr>
          <p:cNvSpPr txBox="1"/>
          <p:nvPr/>
        </p:nvSpPr>
        <p:spPr>
          <a:xfrm>
            <a:off x="158462" y="95882"/>
            <a:ext cx="11610974" cy="424732"/>
          </a:xfrm>
          <a:prstGeom prst="rect">
            <a:avLst/>
          </a:prstGeom>
          <a:noFill/>
        </p:spPr>
        <p:txBody>
          <a:bodyPr vert="horz" wrap="square" lIns="91440" tIns="45720" rIns="91440" bIns="45720" rtlCol="0" anchor="b" anchorCtr="0">
            <a:spAutoFit/>
          </a:bodyPr>
          <a:lstStyle>
            <a:defPPr>
              <a:defRPr lang="en-US"/>
            </a:defPPr>
            <a:lvl1pPr indent="0">
              <a:lnSpc>
                <a:spcPct val="90000"/>
              </a:lnSpc>
              <a:spcBef>
                <a:spcPts val="1000"/>
              </a:spcBef>
              <a:buFont typeface="Arial" panose="020B0604020202020204" pitchFamily="34" charset="0"/>
              <a:buNone/>
              <a:defRPr sz="2400" b="1">
                <a:gradFill flip="none" rotWithShape="1">
                  <a:gsLst>
                    <a:gs pos="0">
                      <a:srgbClr val="FF2F5C"/>
                    </a:gs>
                    <a:gs pos="100000">
                      <a:srgbClr val="0070C0"/>
                    </a:gs>
                  </a:gsLst>
                  <a:path path="circle">
                    <a:fillToRect l="100000" t="100000"/>
                  </a:path>
                  <a:tileRect r="-100000" b="-100000"/>
                </a:gradFill>
                <a:latin typeface="Adani Regular" panose="02000503000000020004" pitchFamily="2"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361950" indent="0">
              <a:lnSpc>
                <a:spcPct val="90000"/>
              </a:lnSpc>
              <a:spcBef>
                <a:spcPts val="500"/>
              </a:spcBef>
              <a:buFont typeface="Arial" panose="020B0604020202020204" pitchFamily="34" charset="0"/>
              <a:buNone/>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defRPr/>
            </a:pPr>
            <a:r>
              <a:rPr lang="en-US" dirty="0">
                <a:gradFill>
                  <a:gsLst>
                    <a:gs pos="9735">
                      <a:schemeClr val="tx2"/>
                    </a:gs>
                    <a:gs pos="63000">
                      <a:srgbClr val="8E278F"/>
                    </a:gs>
                    <a:gs pos="38000">
                      <a:srgbClr val="57499E"/>
                    </a:gs>
                  </a:gsLst>
                  <a:lin ang="0" scaled="0"/>
                </a:gradFill>
                <a:highlight>
                  <a:srgbClr val="33CC33"/>
                </a:highlight>
              </a:rPr>
              <a:t>Physical Progress : PSS 12 S-Curve</a:t>
            </a:r>
          </a:p>
        </p:txBody>
      </p:sp>
      <p:graphicFrame>
        <p:nvGraphicFramePr>
          <p:cNvPr id="12" name="object 4">
            <a:extLst>
              <a:ext uri="{FF2B5EF4-FFF2-40B4-BE49-F238E27FC236}">
                <a16:creationId xmlns:a16="http://schemas.microsoft.com/office/drawing/2014/main" id="{E0B9801D-5E37-7233-2224-3C2FAF4C0F8F}"/>
              </a:ext>
            </a:extLst>
          </p:cNvPr>
          <p:cNvGraphicFramePr>
            <a:graphicFrameLocks noGrp="1"/>
          </p:cNvGraphicFramePr>
          <p:nvPr>
            <p:extLst>
              <p:ext uri="{D42A27DB-BD31-4B8C-83A1-F6EECF244321}">
                <p14:modId xmlns:p14="http://schemas.microsoft.com/office/powerpoint/2010/main" val="4210279395"/>
              </p:ext>
            </p:extLst>
          </p:nvPr>
        </p:nvGraphicFramePr>
        <p:xfrm>
          <a:off x="233082" y="3912389"/>
          <a:ext cx="11536352" cy="2822696"/>
        </p:xfrm>
        <a:graphic>
          <a:graphicData uri="http://schemas.openxmlformats.org/drawingml/2006/table">
            <a:tbl>
              <a:tblPr firstRow="1" bandRow="1">
                <a:tableStyleId>{2D5ABB26-0587-4C30-8999-92F81FD0307C}</a:tableStyleId>
              </a:tblPr>
              <a:tblGrid>
                <a:gridCol w="2061883">
                  <a:extLst>
                    <a:ext uri="{9D8B030D-6E8A-4147-A177-3AD203B41FA5}">
                      <a16:colId xmlns:a16="http://schemas.microsoft.com/office/drawing/2014/main" val="20000"/>
                    </a:ext>
                  </a:extLst>
                </a:gridCol>
                <a:gridCol w="472444">
                  <a:extLst>
                    <a:ext uri="{9D8B030D-6E8A-4147-A177-3AD203B41FA5}">
                      <a16:colId xmlns:a16="http://schemas.microsoft.com/office/drawing/2014/main" val="20001"/>
                    </a:ext>
                  </a:extLst>
                </a:gridCol>
                <a:gridCol w="681790">
                  <a:extLst>
                    <a:ext uri="{9D8B030D-6E8A-4147-A177-3AD203B41FA5}">
                      <a16:colId xmlns:a16="http://schemas.microsoft.com/office/drawing/2014/main" val="1846315748"/>
                    </a:ext>
                  </a:extLst>
                </a:gridCol>
                <a:gridCol w="700627">
                  <a:extLst>
                    <a:ext uri="{9D8B030D-6E8A-4147-A177-3AD203B41FA5}">
                      <a16:colId xmlns:a16="http://schemas.microsoft.com/office/drawing/2014/main" val="1665052075"/>
                    </a:ext>
                  </a:extLst>
                </a:gridCol>
                <a:gridCol w="700627">
                  <a:extLst>
                    <a:ext uri="{9D8B030D-6E8A-4147-A177-3AD203B41FA5}">
                      <a16:colId xmlns:a16="http://schemas.microsoft.com/office/drawing/2014/main" val="3248271569"/>
                    </a:ext>
                  </a:extLst>
                </a:gridCol>
                <a:gridCol w="6918981">
                  <a:extLst>
                    <a:ext uri="{9D8B030D-6E8A-4147-A177-3AD203B41FA5}">
                      <a16:colId xmlns:a16="http://schemas.microsoft.com/office/drawing/2014/main" val="20006"/>
                    </a:ext>
                  </a:extLst>
                </a:gridCol>
              </a:tblGrid>
              <a:tr h="343724">
                <a:tc rowSpan="2">
                  <a:txBody>
                    <a:bodyPr/>
                    <a:lstStyle/>
                    <a:p>
                      <a:pPr marL="45720" algn="ctr">
                        <a:lnSpc>
                          <a:spcPct val="100000"/>
                        </a:lnSpc>
                      </a:pPr>
                      <a:r>
                        <a:rPr lang="en-US" sz="1100" b="1" spc="-10">
                          <a:solidFill>
                            <a:srgbClr val="FFFFFF"/>
                          </a:solidFill>
                          <a:latin typeface="Adani Regular" panose="02000503000000020004" pitchFamily="2" charset="0"/>
                          <a:cs typeface="Adani Regular"/>
                        </a:rPr>
                        <a:t>Activity</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635" algn="ctr">
                        <a:lnSpc>
                          <a:spcPct val="100000"/>
                        </a:lnSpc>
                      </a:pPr>
                      <a:r>
                        <a:rPr lang="en-US" sz="1100" b="1" spc="-20">
                          <a:solidFill>
                            <a:srgbClr val="FFFFFF"/>
                          </a:solidFill>
                          <a:latin typeface="Adani Regular" panose="02000503000000020004" pitchFamily="2" charset="0"/>
                          <a:cs typeface="Adani Regular"/>
                        </a:rPr>
                        <a:t>Wtg.</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2">
                  <a:txBody>
                    <a:bodyPr/>
                    <a:lstStyle/>
                    <a:p>
                      <a:pPr algn="ctr">
                        <a:lnSpc>
                          <a:spcPct val="100000"/>
                        </a:lnSpc>
                        <a:spcBef>
                          <a:spcPts val="450"/>
                        </a:spcBef>
                      </a:pPr>
                      <a:r>
                        <a:rPr lang="en-US" sz="900" b="1" spc="-25">
                          <a:solidFill>
                            <a:srgbClr val="FFFFFF"/>
                          </a:solidFill>
                          <a:latin typeface="Adani Regular"/>
                          <a:cs typeface="Adani Regular"/>
                        </a:rPr>
                        <a:t>FTM</a:t>
                      </a:r>
                      <a:endParaRPr lang="en-US" sz="900" b="1">
                        <a:latin typeface="Adani Regular"/>
                        <a:cs typeface="Adani Regular"/>
                      </a:endParaRP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hMerge="1">
                  <a:txBody>
                    <a:bodyPr/>
                    <a:lstStyle/>
                    <a:p>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030A0"/>
                    </a:solidFill>
                  </a:tcPr>
                </a:tc>
                <a:tc rowSpan="2">
                  <a:txBody>
                    <a:bodyPr/>
                    <a:lstStyle/>
                    <a:p>
                      <a:pPr marL="0" marR="0" lvl="0" indent="0" algn="ctr" defTabSz="914400" rtl="0" eaLnBrk="1" fontAlgn="auto" latinLnBrk="0" hangingPunct="1">
                        <a:lnSpc>
                          <a:spcPct val="100000"/>
                        </a:lnSpc>
                        <a:spcBef>
                          <a:spcPts val="450"/>
                        </a:spcBef>
                        <a:spcAft>
                          <a:spcPts val="0"/>
                        </a:spcAft>
                        <a:buClrTx/>
                        <a:buSzTx/>
                        <a:buFontTx/>
                        <a:buNone/>
                        <a:tabLst/>
                        <a:defRPr/>
                      </a:pPr>
                      <a:r>
                        <a:rPr lang="en-US" sz="1100" b="1">
                          <a:solidFill>
                            <a:schemeClr val="bg1"/>
                          </a:solidFill>
                          <a:latin typeface="Adani Regular"/>
                          <a:cs typeface="Adani Regular"/>
                        </a:rPr>
                        <a:t>Variance in Plan Vs Actual</a:t>
                      </a: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1270" algn="ctr">
                        <a:lnSpc>
                          <a:spcPct val="100000"/>
                        </a:lnSpc>
                      </a:pPr>
                      <a:r>
                        <a:rPr lang="en-US" sz="1100" b="1">
                          <a:solidFill>
                            <a:schemeClr val="bg1"/>
                          </a:solidFill>
                          <a:latin typeface="Adani Regular" panose="02000503000000020004" pitchFamily="2" charset="0"/>
                          <a:cs typeface="Adani Regular"/>
                        </a:rPr>
                        <a:t>Variance Remark &amp; Mitigation/Action Plan</a:t>
                      </a: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343724">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a:txBody>
                    <a:bodyPr/>
                    <a:lstStyle/>
                    <a:p>
                      <a:pPr marL="635" algn="ctr">
                        <a:lnSpc>
                          <a:spcPct val="100000"/>
                        </a:lnSpc>
                        <a:spcBef>
                          <a:spcPts val="455"/>
                        </a:spcBef>
                      </a:pPr>
                      <a:r>
                        <a:rPr lang="en-US" sz="1100" b="1" spc="-20">
                          <a:solidFill>
                            <a:srgbClr val="FFFFFF"/>
                          </a:solidFill>
                          <a:latin typeface="Adani Regular" panose="02000503000000020004" pitchFamily="2" charset="0"/>
                          <a:cs typeface="Adani Regular"/>
                        </a:rPr>
                        <a:t>Plan</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lnSpc>
                          <a:spcPct val="100000"/>
                        </a:lnSpc>
                        <a:spcBef>
                          <a:spcPts val="455"/>
                        </a:spcBef>
                      </a:pPr>
                      <a:r>
                        <a:rPr lang="en-US" sz="1100" b="1" spc="-20">
                          <a:solidFill>
                            <a:srgbClr val="FFFFFF"/>
                          </a:solidFill>
                          <a:latin typeface="Adani Regular" panose="02000503000000020004" pitchFamily="2" charset="0"/>
                          <a:cs typeface="Adani Regular"/>
                        </a:rPr>
                        <a:t>Actual</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pPr marL="635" algn="ctr">
                        <a:lnSpc>
                          <a:spcPct val="100000"/>
                        </a:lnSpc>
                        <a:spcBef>
                          <a:spcPts val="455"/>
                        </a:spcBef>
                      </a:pPr>
                      <a:endParaRPr lang="en-US" sz="9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extLst>
                  <a:ext uri="{0D108BD9-81ED-4DB2-BD59-A6C34878D82A}">
                    <a16:rowId xmlns:a16="http://schemas.microsoft.com/office/drawing/2014/main" val="10001"/>
                  </a:ext>
                </a:extLst>
              </a:tr>
              <a:tr h="343724">
                <a:tc>
                  <a:txBody>
                    <a:bodyPr/>
                    <a:lstStyle/>
                    <a:p>
                      <a:pPr marL="45720" marR="0" lvl="0" indent="0" algn="l" rtl="0" eaLnBrk="1" fontAlgn="auto" latinLnBrk="0" hangingPunct="1">
                        <a:lnSpc>
                          <a:spcPct val="100000"/>
                        </a:lnSpc>
                        <a:spcBef>
                          <a:spcPts val="445"/>
                        </a:spcBef>
                        <a:spcAft>
                          <a:spcPts val="0"/>
                        </a:spcAft>
                        <a:buClrTx/>
                        <a:buSzTx/>
                        <a:buFontTx/>
                        <a:buNone/>
                      </a:pPr>
                      <a:r>
                        <a:rPr lang="en-IN" sz="1100" b="0" i="0" u="none" strike="noStrike">
                          <a:solidFill>
                            <a:schemeClr val="tx1"/>
                          </a:solidFill>
                          <a:effectLst/>
                          <a:latin typeface="Adani Regular" panose="02000503000000020004" pitchFamily="2" charset="0"/>
                        </a:rPr>
                        <a:t>Statutory Approvals</a:t>
                      </a:r>
                      <a:endParaRPr lang="en-US" sz="1100">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just">
                        <a:lnSpc>
                          <a:spcPct val="100000"/>
                        </a:lnSpc>
                        <a:spcBef>
                          <a:spcPts val="0"/>
                        </a:spcBef>
                        <a:spcAft>
                          <a:spcPts val="0"/>
                        </a:spcAft>
                        <a:buNone/>
                      </a:pPr>
                      <a:r>
                        <a:rPr lang="en-US" sz="1100" dirty="0">
                          <a:solidFill>
                            <a:schemeClr val="tx1"/>
                          </a:solidFill>
                          <a:latin typeface="Adani Regular" panose="02000503000000020004" pitchFamily="2" charset="0"/>
                        </a:rPr>
                        <a:t>Total approvals 18; 17 approvals are Completed; 1 post commissioning.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70133264"/>
                  </a:ext>
                </a:extLst>
              </a:tr>
              <a:tr h="343724">
                <a:tc>
                  <a:txBody>
                    <a:bodyPr/>
                    <a:lstStyle/>
                    <a:p>
                      <a:pPr marL="45720">
                        <a:lnSpc>
                          <a:spcPct val="100000"/>
                        </a:lnSpc>
                        <a:spcBef>
                          <a:spcPts val="445"/>
                        </a:spcBef>
                      </a:pPr>
                      <a:r>
                        <a:rPr lang="en-US" sz="1100" spc="-10">
                          <a:latin typeface="Adani Regular" panose="02000503000000020004" pitchFamily="2" charset="0"/>
                          <a:cs typeface="Adani Regular"/>
                        </a:rPr>
                        <a:t>Engineering</a:t>
                      </a:r>
                      <a:endParaRPr lang="en-US" sz="1100">
                        <a:latin typeface="Adani Regular" panose="02000503000000020004" pitchFamily="2" charset="0"/>
                        <a:cs typeface="Adani Regular"/>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a:solidFill>
                            <a:schemeClr val="tx1"/>
                          </a:solidFill>
                          <a:effectLst/>
                          <a:latin typeface="Adani Regular" panose="02000503000000020004" pitchFamily="2" charset="0"/>
                          <a:ea typeface="Aptos" panose="020B0004020202020204" pitchFamily="34" charset="0"/>
                          <a:cs typeface="Aptos" panose="020B0004020202020204" pitchFamily="34" charset="0"/>
                        </a:rPr>
                        <a:t>Refer Slide no. 12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43724">
                <a:tc>
                  <a:txBody>
                    <a:bodyPr/>
                    <a:lstStyle/>
                    <a:p>
                      <a:pPr marL="45720" marR="0" lvl="0" indent="0" algn="l" defTabSz="914400" rtl="0" eaLnBrk="1" fontAlgn="auto" latinLnBrk="0" hangingPunct="1">
                        <a:lnSpc>
                          <a:spcPct val="100000"/>
                        </a:lnSpc>
                        <a:spcBef>
                          <a:spcPts val="445"/>
                        </a:spcBef>
                        <a:spcAft>
                          <a:spcPts val="0"/>
                        </a:spcAft>
                        <a:buClrTx/>
                        <a:buSzTx/>
                        <a:buFontTx/>
                        <a:buNone/>
                      </a:pPr>
                      <a:r>
                        <a:rPr lang="en-US" sz="1100" b="0" i="0" u="none" strike="noStrike" kern="1200" noProof="0">
                          <a:solidFill>
                            <a:schemeClr val="tx1"/>
                          </a:solidFill>
                          <a:effectLst/>
                          <a:latin typeface="Adani Regular" panose="02000503000000020004" pitchFamily="2" charset="0"/>
                          <a:ea typeface="+mn-ea"/>
                          <a:cs typeface="+mn-cs"/>
                        </a:rPr>
                        <a:t>Ordering, Manufacturing &amp; Supply </a:t>
                      </a:r>
                      <a:endParaRPr lang="en-US"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37%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latin typeface="Adani Regular" panose="02000503000000020004" pitchFamily="2" charset="0"/>
                          <a:ea typeface="+mn-ea"/>
                          <a:cs typeface="+mn-cs"/>
                        </a:rPr>
                        <a:t>Battery container deliveries were delayed due to logistics delay.</a:t>
                      </a:r>
                      <a:endParaRPr lang="en-US" sz="1100" noProof="0" dirty="0">
                        <a:solidFill>
                          <a:schemeClr val="tx1"/>
                        </a:solidFill>
                        <a:latin typeface="Adani Regular" panose="02000503000000020004" pitchFamily="2" charset="0"/>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79896">
                <a:tc>
                  <a:txBody>
                    <a:bodyPr/>
                    <a:lstStyle/>
                    <a:p>
                      <a:r>
                        <a:rPr lang="en-US" sz="1100" b="0" i="0" u="none" strike="noStrike" kern="1200">
                          <a:solidFill>
                            <a:schemeClr val="tx1"/>
                          </a:solidFill>
                          <a:effectLst/>
                          <a:latin typeface="Adani Regular" panose="02000503000000020004" pitchFamily="2" charset="0"/>
                          <a:ea typeface="+mn-ea"/>
                          <a:cs typeface="+mn-cs"/>
                        </a:rPr>
                        <a:t>Construction (Civil), Electrical,</a:t>
                      </a:r>
                    </a:p>
                    <a:p>
                      <a:r>
                        <a:rPr lang="en-US" sz="1100" b="0" i="0" u="none" strike="noStrike" kern="1200">
                          <a:solidFill>
                            <a:schemeClr val="tx1"/>
                          </a:solidFill>
                          <a:effectLst/>
                          <a:latin typeface="Adani Regular" panose="02000503000000020004" pitchFamily="2" charset="0"/>
                          <a:ea typeface="+mn-ea"/>
                          <a:cs typeface="+mn-cs"/>
                        </a:rPr>
                        <a:t>Integration &amp; Commissioning</a:t>
                      </a:r>
                      <a:endParaRPr lang="en-IN"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46%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100" kern="1200" noProof="0" dirty="0">
                          <a:solidFill>
                            <a:schemeClr val="tx1"/>
                          </a:solidFill>
                          <a:effectLst/>
                          <a:latin typeface="Adani Regular" panose="02000503000000020004" pitchFamily="2" charset="0"/>
                        </a:rPr>
                        <a:t>The difference between ‘Plan’ and ‘Actual’ is due to insufficient manpower deployment by the M/s MSC (BOP) contractor, along with the late mobilization of the M/s Akshar (AC DC) contractor &amp; late  Container receipt at site.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0448443"/>
                  </a:ext>
                </a:extLst>
              </a:tr>
              <a:tr h="343724">
                <a:tc>
                  <a:txBody>
                    <a:bodyPr/>
                    <a:lstStyle/>
                    <a:p>
                      <a:pPr algn="ctr"/>
                      <a:r>
                        <a:rPr lang="en-US" sz="1100" b="1" spc="-10">
                          <a:solidFill>
                            <a:schemeClr val="bg1"/>
                          </a:solidFill>
                          <a:latin typeface="Adani Regular" panose="02000503000000020004" pitchFamily="2" charset="0"/>
                        </a:rPr>
                        <a:t>Total</a:t>
                      </a:r>
                      <a:endParaRPr lang="en-IN" sz="1100">
                        <a:solidFill>
                          <a:schemeClr val="bg1"/>
                        </a:solidFill>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algn="ctr" defTabSz="914400" rtl="0" eaLnBrk="1" fontAlgn="ctr" latinLnBrk="0" hangingPunct="1">
                        <a:buNone/>
                      </a:pPr>
                      <a:r>
                        <a:rPr lang="en-IN" sz="1100" b="1" i="0" u="none" strike="noStrike" kern="1200">
                          <a:solidFill>
                            <a:schemeClr val="bg1"/>
                          </a:solidFill>
                          <a:effectLst/>
                          <a:latin typeface="Adani Regular" panose="02000503000000020004" pitchFamily="2" charset="0"/>
                          <a:ea typeface="+mn-ea"/>
                          <a:cs typeface="+mn-cs"/>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dirty="0">
                          <a:solidFill>
                            <a:srgbClr val="FFFFFF"/>
                          </a:solidFill>
                          <a:effectLst/>
                          <a:latin typeface="Adani Regular" panose="02000503000000020004" pitchFamily="2" charset="0"/>
                        </a:rPr>
                        <a:t>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104775" marR="35560" lvl="0" indent="0" algn="just" defTabSz="914400" rtl="0" eaLnBrk="1" fontAlgn="auto" latinLnBrk="0" hangingPunct="1">
                        <a:lnSpc>
                          <a:spcPct val="100000"/>
                        </a:lnSpc>
                        <a:spcBef>
                          <a:spcPts val="65"/>
                        </a:spcBef>
                        <a:spcAft>
                          <a:spcPts val="0"/>
                        </a:spcAft>
                        <a:buClrTx/>
                        <a:buSzTx/>
                        <a:buFont typeface="Arial"/>
                        <a:buNone/>
                        <a:tabLst>
                          <a:tab pos="219075" algn="l"/>
                        </a:tabLst>
                        <a:defRPr/>
                      </a:pPr>
                      <a:r>
                        <a:rPr lang="en-US" sz="1100" b="1" dirty="0">
                          <a:solidFill>
                            <a:schemeClr val="bg1"/>
                          </a:solidFill>
                          <a:latin typeface="Adani Regular" panose="02000503000000020004" pitchFamily="2" charset="0"/>
                        </a:rPr>
                        <a:t>Mitigation Plan: </a:t>
                      </a:r>
                      <a:r>
                        <a:rPr lang="en-US" sz="1100" b="0" dirty="0">
                          <a:solidFill>
                            <a:schemeClr val="bg1"/>
                          </a:solidFill>
                          <a:latin typeface="Adani Regular" panose="02000503000000020004" pitchFamily="2" charset="0"/>
                        </a:rPr>
                        <a:t>Expedite the efforts of the BOP Civil and ACDC contractors to increase manpower in line with the commitments in the signed MOM.</a:t>
                      </a:r>
                      <a:endParaRPr lang="en-US" sz="1100" b="0" i="0" u="none" strike="noStrike" kern="1200" dirty="0">
                        <a:solidFill>
                          <a:schemeClr val="bg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20722021"/>
                  </a:ext>
                </a:extLst>
              </a:tr>
            </a:tbl>
          </a:graphicData>
        </a:graphic>
      </p:graphicFrame>
      <p:sp>
        <p:nvSpPr>
          <p:cNvPr id="3" name="Slide Number Placeholder 2">
            <a:extLst>
              <a:ext uri="{FF2B5EF4-FFF2-40B4-BE49-F238E27FC236}">
                <a16:creationId xmlns:a16="http://schemas.microsoft.com/office/drawing/2014/main" id="{45129E17-661D-A3F1-86A2-49312E265BD4}"/>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7</a:t>
            </a:fld>
            <a:endParaRPr lang="en-IN"/>
          </a:p>
        </p:txBody>
      </p:sp>
      <p:pic>
        <p:nvPicPr>
          <p:cNvPr id="8" name="Picture 7">
            <a:extLst>
              <a:ext uri="{FF2B5EF4-FFF2-40B4-BE49-F238E27FC236}">
                <a16:creationId xmlns:a16="http://schemas.microsoft.com/office/drawing/2014/main" id="{42C35E0E-E474-E6AC-E63E-E9B3BDA67E35}"/>
              </a:ext>
            </a:extLst>
          </p:cNvPr>
          <p:cNvPicPr>
            <a:picLocks noChangeAspect="1"/>
          </p:cNvPicPr>
          <p:nvPr/>
        </p:nvPicPr>
        <p:blipFill>
          <a:blip r:embed="rId2"/>
          <a:stretch>
            <a:fillRect/>
          </a:stretch>
        </p:blipFill>
        <p:spPr>
          <a:xfrm>
            <a:off x="233082" y="724903"/>
            <a:ext cx="11536352" cy="3012908"/>
          </a:xfrm>
          <a:prstGeom prst="rect">
            <a:avLst/>
          </a:prstGeom>
        </p:spPr>
      </p:pic>
    </p:spTree>
    <p:extLst>
      <p:ext uri="{BB962C8B-B14F-4D97-AF65-F5344CB8AC3E}">
        <p14:creationId xmlns:p14="http://schemas.microsoft.com/office/powerpoint/2010/main" val="669780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3FCD8-3856-2B7D-32AA-0C50A7B7CE8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1604B1D-960B-23DC-2AFF-2CD35B8EFF36}"/>
              </a:ext>
            </a:extLst>
          </p:cNvPr>
          <p:cNvSpPr txBox="1"/>
          <p:nvPr/>
        </p:nvSpPr>
        <p:spPr>
          <a:xfrm>
            <a:off x="158462" y="95882"/>
            <a:ext cx="11610974" cy="424732"/>
          </a:xfrm>
          <a:prstGeom prst="rect">
            <a:avLst/>
          </a:prstGeom>
          <a:noFill/>
        </p:spPr>
        <p:txBody>
          <a:bodyPr vert="horz" wrap="square" lIns="91440" tIns="45720" rIns="91440" bIns="45720" rtlCol="0" anchor="b" anchorCtr="0">
            <a:spAutoFit/>
          </a:bodyPr>
          <a:lstStyle>
            <a:defPPr>
              <a:defRPr lang="en-US"/>
            </a:defPPr>
            <a:lvl1pPr indent="0">
              <a:lnSpc>
                <a:spcPct val="90000"/>
              </a:lnSpc>
              <a:spcBef>
                <a:spcPts val="1000"/>
              </a:spcBef>
              <a:buFont typeface="Arial" panose="020B0604020202020204" pitchFamily="34" charset="0"/>
              <a:buNone/>
              <a:defRPr sz="2400" b="1">
                <a:gradFill flip="none" rotWithShape="1">
                  <a:gsLst>
                    <a:gs pos="0">
                      <a:srgbClr val="FF2F5C"/>
                    </a:gs>
                    <a:gs pos="100000">
                      <a:srgbClr val="0070C0"/>
                    </a:gs>
                  </a:gsLst>
                  <a:path path="circle">
                    <a:fillToRect l="100000" t="100000"/>
                  </a:path>
                  <a:tileRect r="-100000" b="-100000"/>
                </a:gradFill>
                <a:latin typeface="Adani Regular" panose="02000503000000020004" pitchFamily="2"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361950" indent="0">
              <a:lnSpc>
                <a:spcPct val="90000"/>
              </a:lnSpc>
              <a:spcBef>
                <a:spcPts val="500"/>
              </a:spcBef>
              <a:buFont typeface="Arial" panose="020B0604020202020204" pitchFamily="34" charset="0"/>
              <a:buNone/>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defRPr/>
            </a:pPr>
            <a:r>
              <a:rPr lang="en-US" dirty="0">
                <a:gradFill>
                  <a:gsLst>
                    <a:gs pos="9735">
                      <a:schemeClr val="tx2"/>
                    </a:gs>
                    <a:gs pos="63000">
                      <a:srgbClr val="8E278F"/>
                    </a:gs>
                    <a:gs pos="38000">
                      <a:srgbClr val="57499E"/>
                    </a:gs>
                  </a:gsLst>
                  <a:lin ang="0" scaled="0"/>
                </a:gradFill>
                <a:highlight>
                  <a:srgbClr val="33CC33"/>
                </a:highlight>
              </a:rPr>
              <a:t>Physical Progress : PSS 10B S-Curve</a:t>
            </a:r>
          </a:p>
        </p:txBody>
      </p:sp>
      <p:graphicFrame>
        <p:nvGraphicFramePr>
          <p:cNvPr id="12" name="object 4">
            <a:extLst>
              <a:ext uri="{FF2B5EF4-FFF2-40B4-BE49-F238E27FC236}">
                <a16:creationId xmlns:a16="http://schemas.microsoft.com/office/drawing/2014/main" id="{74E22ECF-F31A-1F19-DDB9-EDBB19BBAE1A}"/>
              </a:ext>
            </a:extLst>
          </p:cNvPr>
          <p:cNvGraphicFramePr>
            <a:graphicFrameLocks noGrp="1"/>
          </p:cNvGraphicFramePr>
          <p:nvPr>
            <p:extLst>
              <p:ext uri="{D42A27DB-BD31-4B8C-83A1-F6EECF244321}">
                <p14:modId xmlns:p14="http://schemas.microsoft.com/office/powerpoint/2010/main" val="1253050414"/>
              </p:ext>
            </p:extLst>
          </p:nvPr>
        </p:nvGraphicFramePr>
        <p:xfrm>
          <a:off x="252222" y="3990805"/>
          <a:ext cx="11504352" cy="2840781"/>
        </p:xfrm>
        <a:graphic>
          <a:graphicData uri="http://schemas.openxmlformats.org/drawingml/2006/table">
            <a:tbl>
              <a:tblPr firstRow="1" bandRow="1">
                <a:tableStyleId>{2D5ABB26-0587-4C30-8999-92F81FD0307C}</a:tableStyleId>
              </a:tblPr>
              <a:tblGrid>
                <a:gridCol w="2031513">
                  <a:extLst>
                    <a:ext uri="{9D8B030D-6E8A-4147-A177-3AD203B41FA5}">
                      <a16:colId xmlns:a16="http://schemas.microsoft.com/office/drawing/2014/main" val="20000"/>
                    </a:ext>
                  </a:extLst>
                </a:gridCol>
                <a:gridCol w="477000">
                  <a:extLst>
                    <a:ext uri="{9D8B030D-6E8A-4147-A177-3AD203B41FA5}">
                      <a16:colId xmlns:a16="http://schemas.microsoft.com/office/drawing/2014/main" val="20001"/>
                    </a:ext>
                  </a:extLst>
                </a:gridCol>
                <a:gridCol w="698684">
                  <a:extLst>
                    <a:ext uri="{9D8B030D-6E8A-4147-A177-3AD203B41FA5}">
                      <a16:colId xmlns:a16="http://schemas.microsoft.com/office/drawing/2014/main" val="1846315748"/>
                    </a:ext>
                  </a:extLst>
                </a:gridCol>
                <a:gridCol w="698684">
                  <a:extLst>
                    <a:ext uri="{9D8B030D-6E8A-4147-A177-3AD203B41FA5}">
                      <a16:colId xmlns:a16="http://schemas.microsoft.com/office/drawing/2014/main" val="1665052075"/>
                    </a:ext>
                  </a:extLst>
                </a:gridCol>
                <a:gridCol w="698684">
                  <a:extLst>
                    <a:ext uri="{9D8B030D-6E8A-4147-A177-3AD203B41FA5}">
                      <a16:colId xmlns:a16="http://schemas.microsoft.com/office/drawing/2014/main" val="2458637699"/>
                    </a:ext>
                  </a:extLst>
                </a:gridCol>
                <a:gridCol w="6899787">
                  <a:extLst>
                    <a:ext uri="{9D8B030D-6E8A-4147-A177-3AD203B41FA5}">
                      <a16:colId xmlns:a16="http://schemas.microsoft.com/office/drawing/2014/main" val="20006"/>
                    </a:ext>
                  </a:extLst>
                </a:gridCol>
              </a:tblGrid>
              <a:tr h="221340">
                <a:tc rowSpan="2">
                  <a:txBody>
                    <a:bodyPr/>
                    <a:lstStyle/>
                    <a:p>
                      <a:pPr marL="45720" algn="ctr">
                        <a:lnSpc>
                          <a:spcPct val="100000"/>
                        </a:lnSpc>
                      </a:pPr>
                      <a:r>
                        <a:rPr lang="en-US" sz="1100" b="1" spc="-10">
                          <a:solidFill>
                            <a:srgbClr val="FFFFFF"/>
                          </a:solidFill>
                          <a:latin typeface="Adani Regular" panose="02000503000000020004" pitchFamily="2" charset="0"/>
                          <a:cs typeface="Adani Regular"/>
                        </a:rPr>
                        <a:t>Activity</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635" algn="ctr">
                        <a:lnSpc>
                          <a:spcPct val="100000"/>
                        </a:lnSpc>
                      </a:pPr>
                      <a:r>
                        <a:rPr lang="en-US" sz="1100" b="1" spc="-20">
                          <a:solidFill>
                            <a:srgbClr val="FFFFFF"/>
                          </a:solidFill>
                          <a:latin typeface="Adani Regular" panose="02000503000000020004" pitchFamily="2" charset="0"/>
                          <a:cs typeface="Adani Regular"/>
                        </a:rPr>
                        <a:t>Wtg.</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2">
                  <a:txBody>
                    <a:bodyPr/>
                    <a:lstStyle/>
                    <a:p>
                      <a:pPr algn="ctr">
                        <a:lnSpc>
                          <a:spcPct val="100000"/>
                        </a:lnSpc>
                        <a:spcBef>
                          <a:spcPts val="450"/>
                        </a:spcBef>
                      </a:pPr>
                      <a:r>
                        <a:rPr lang="en-US" sz="1100" b="1" spc="-25">
                          <a:solidFill>
                            <a:srgbClr val="FFFFFF"/>
                          </a:solidFill>
                          <a:latin typeface="Adani Regular"/>
                          <a:cs typeface="Adani Regular"/>
                        </a:rPr>
                        <a:t>FTM</a:t>
                      </a:r>
                      <a:endParaRPr lang="en-US" sz="1100" b="1">
                        <a:latin typeface="Adani Regular"/>
                        <a:cs typeface="Adani Regular"/>
                      </a:endParaRP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hMerge="1">
                  <a:txBody>
                    <a:bodyPr/>
                    <a:lstStyle/>
                    <a:p>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030A0"/>
                    </a:solidFill>
                  </a:tcPr>
                </a:tc>
                <a:tc rowSpan="2">
                  <a:txBody>
                    <a:bodyPr/>
                    <a:lstStyle/>
                    <a:p>
                      <a:pPr marL="0" marR="0" lvl="0" indent="0" algn="ctr" defTabSz="914400" rtl="0" eaLnBrk="1" fontAlgn="auto" latinLnBrk="0" hangingPunct="1">
                        <a:lnSpc>
                          <a:spcPct val="100000"/>
                        </a:lnSpc>
                        <a:spcBef>
                          <a:spcPts val="450"/>
                        </a:spcBef>
                        <a:spcAft>
                          <a:spcPts val="0"/>
                        </a:spcAft>
                        <a:buClrTx/>
                        <a:buSzTx/>
                        <a:buFontTx/>
                        <a:buNone/>
                        <a:tabLst/>
                        <a:defRPr/>
                      </a:pPr>
                      <a:r>
                        <a:rPr lang="en-US" sz="1100" b="1">
                          <a:solidFill>
                            <a:schemeClr val="bg1"/>
                          </a:solidFill>
                          <a:latin typeface="Adani Regular"/>
                          <a:cs typeface="Adani Regular"/>
                        </a:rPr>
                        <a:t>Variance in Plan Vs Actual</a:t>
                      </a: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1270" algn="ctr">
                        <a:lnSpc>
                          <a:spcPct val="100000"/>
                        </a:lnSpc>
                      </a:pPr>
                      <a:r>
                        <a:rPr lang="en-US" sz="1100" b="1">
                          <a:solidFill>
                            <a:schemeClr val="bg1"/>
                          </a:solidFill>
                          <a:latin typeface="Adani Regular" panose="02000503000000020004" pitchFamily="2" charset="0"/>
                          <a:cs typeface="Adani Regular"/>
                        </a:rPr>
                        <a:t>Variance Remark &amp; Mitigation/Action Plan</a:t>
                      </a: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267634">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a:txBody>
                    <a:bodyPr/>
                    <a:lstStyle/>
                    <a:p>
                      <a:pPr marL="635" algn="ctr">
                        <a:lnSpc>
                          <a:spcPct val="100000"/>
                        </a:lnSpc>
                        <a:spcBef>
                          <a:spcPts val="455"/>
                        </a:spcBef>
                      </a:pPr>
                      <a:r>
                        <a:rPr lang="en-US" sz="1100" b="1" spc="-20">
                          <a:solidFill>
                            <a:srgbClr val="FFFFFF"/>
                          </a:solidFill>
                          <a:latin typeface="Adani Regular" panose="02000503000000020004" pitchFamily="2" charset="0"/>
                          <a:cs typeface="Adani Regular"/>
                        </a:rPr>
                        <a:t>Plan</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lnSpc>
                          <a:spcPct val="100000"/>
                        </a:lnSpc>
                        <a:spcBef>
                          <a:spcPts val="455"/>
                        </a:spcBef>
                      </a:pPr>
                      <a:r>
                        <a:rPr lang="en-US" sz="1100" b="1" spc="-20">
                          <a:solidFill>
                            <a:srgbClr val="FFFFFF"/>
                          </a:solidFill>
                          <a:latin typeface="Adani Regular" panose="02000503000000020004" pitchFamily="2" charset="0"/>
                          <a:cs typeface="Adani Regular"/>
                        </a:rPr>
                        <a:t>Actual</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pPr marL="635" algn="ctr">
                        <a:lnSpc>
                          <a:spcPct val="100000"/>
                        </a:lnSpc>
                        <a:spcBef>
                          <a:spcPts val="455"/>
                        </a:spcBef>
                      </a:pPr>
                      <a:endParaRPr lang="en-US" sz="9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extLst>
                  <a:ext uri="{0D108BD9-81ED-4DB2-BD59-A6C34878D82A}">
                    <a16:rowId xmlns:a16="http://schemas.microsoft.com/office/drawing/2014/main" val="10001"/>
                  </a:ext>
                </a:extLst>
              </a:tr>
              <a:tr h="226192">
                <a:tc>
                  <a:txBody>
                    <a:bodyPr/>
                    <a:lstStyle/>
                    <a:p>
                      <a:pPr marL="45720" marR="0" lvl="0" indent="0" algn="l" rtl="0" eaLnBrk="1" fontAlgn="auto" latinLnBrk="0" hangingPunct="1">
                        <a:lnSpc>
                          <a:spcPct val="100000"/>
                        </a:lnSpc>
                        <a:spcBef>
                          <a:spcPts val="445"/>
                        </a:spcBef>
                        <a:spcAft>
                          <a:spcPts val="0"/>
                        </a:spcAft>
                        <a:buClrTx/>
                        <a:buSzTx/>
                        <a:buFontTx/>
                        <a:buNone/>
                      </a:pPr>
                      <a:r>
                        <a:rPr lang="en-IN" sz="1100" b="0" i="0" u="none" strike="noStrike">
                          <a:solidFill>
                            <a:schemeClr val="tx1"/>
                          </a:solidFill>
                          <a:effectLst/>
                          <a:latin typeface="Adani Regular" panose="02000503000000020004" pitchFamily="2" charset="0"/>
                        </a:rPr>
                        <a:t>Statutory Approvals</a:t>
                      </a:r>
                      <a:endParaRPr lang="en-US" sz="1100">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just">
                        <a:lnSpc>
                          <a:spcPct val="100000"/>
                        </a:lnSpc>
                        <a:spcBef>
                          <a:spcPts val="0"/>
                        </a:spcBef>
                        <a:spcAft>
                          <a:spcPts val="0"/>
                        </a:spcAft>
                        <a:buNone/>
                      </a:pPr>
                      <a:r>
                        <a:rPr lang="en-US" sz="1100" dirty="0">
                          <a:solidFill>
                            <a:schemeClr val="tx1"/>
                          </a:solidFill>
                          <a:latin typeface="Adani Regular" panose="02000503000000020004" pitchFamily="2" charset="0"/>
                        </a:rPr>
                        <a:t>Total approvals 18; 17 approvals are Completed; 1 post commissioning.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70133264"/>
                  </a:ext>
                </a:extLst>
              </a:tr>
              <a:tr h="226192">
                <a:tc>
                  <a:txBody>
                    <a:bodyPr/>
                    <a:lstStyle/>
                    <a:p>
                      <a:pPr marL="45720">
                        <a:lnSpc>
                          <a:spcPct val="100000"/>
                        </a:lnSpc>
                        <a:spcBef>
                          <a:spcPts val="445"/>
                        </a:spcBef>
                      </a:pPr>
                      <a:r>
                        <a:rPr lang="en-US" sz="1100" spc="-10">
                          <a:latin typeface="Adani Regular" panose="02000503000000020004" pitchFamily="2" charset="0"/>
                          <a:cs typeface="Adani Regular"/>
                        </a:rPr>
                        <a:t>Engineering</a:t>
                      </a:r>
                      <a:endParaRPr lang="en-US" sz="1100">
                        <a:latin typeface="Adani Regular" panose="02000503000000020004" pitchFamily="2" charset="0"/>
                        <a:cs typeface="Adani Regular"/>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a:solidFill>
                            <a:schemeClr val="tx1"/>
                          </a:solidFill>
                          <a:effectLst/>
                          <a:latin typeface="Adani Regular" panose="02000503000000020004" pitchFamily="2" charset="0"/>
                          <a:ea typeface="Aptos" panose="020B0004020202020204" pitchFamily="34" charset="0"/>
                          <a:cs typeface="Aptos" panose="020B0004020202020204" pitchFamily="34" charset="0"/>
                        </a:rPr>
                        <a:t>Refer Slide no. 12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2552">
                <a:tc>
                  <a:txBody>
                    <a:bodyPr/>
                    <a:lstStyle/>
                    <a:p>
                      <a:pPr marL="45720" marR="0" lvl="0" indent="0" algn="l" defTabSz="914400" rtl="0" eaLnBrk="1" fontAlgn="auto" latinLnBrk="0" hangingPunct="1">
                        <a:lnSpc>
                          <a:spcPct val="100000"/>
                        </a:lnSpc>
                        <a:spcBef>
                          <a:spcPts val="445"/>
                        </a:spcBef>
                        <a:spcAft>
                          <a:spcPts val="0"/>
                        </a:spcAft>
                        <a:buClrTx/>
                        <a:buSzTx/>
                        <a:buFontTx/>
                        <a:buNone/>
                      </a:pPr>
                      <a:r>
                        <a:rPr lang="en-US" sz="1100" b="0" i="0" u="none" strike="noStrike" kern="1200" noProof="0">
                          <a:solidFill>
                            <a:schemeClr val="tx1"/>
                          </a:solidFill>
                          <a:effectLst/>
                          <a:latin typeface="Adani Regular" panose="02000503000000020004" pitchFamily="2" charset="0"/>
                          <a:ea typeface="+mn-ea"/>
                          <a:cs typeface="+mn-cs"/>
                        </a:rPr>
                        <a:t>Ordering, Manufacturing &amp; Supply </a:t>
                      </a:r>
                      <a:endParaRPr lang="en-US"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latin typeface="Adani Regular" panose="02000503000000020004" pitchFamily="2" charset="0"/>
                          <a:ea typeface="+mn-ea"/>
                          <a:cs typeface="+mn-cs"/>
                        </a:rPr>
                        <a:t>Battery container deliveries were delayed due to logistics delay.</a:t>
                      </a:r>
                      <a:endParaRPr lang="en-US" sz="1100" kern="1200" noProof="0" dirty="0">
                        <a:solidFill>
                          <a:schemeClr val="tx1"/>
                        </a:solidFill>
                        <a:effectLst/>
                        <a:latin typeface="Adani Regular" panose="02000503000000020004" pitchFamily="2"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18911">
                <a:tc>
                  <a:txBody>
                    <a:bodyPr/>
                    <a:lstStyle/>
                    <a:p>
                      <a:r>
                        <a:rPr lang="en-US" sz="1100" b="0" i="0" u="none" strike="noStrike" kern="1200">
                          <a:solidFill>
                            <a:schemeClr val="tx1"/>
                          </a:solidFill>
                          <a:effectLst/>
                          <a:latin typeface="Adani Regular" panose="02000503000000020004" pitchFamily="2" charset="0"/>
                          <a:ea typeface="+mn-ea"/>
                          <a:cs typeface="+mn-cs"/>
                        </a:rPr>
                        <a:t>Construction (Civil), Electrical,</a:t>
                      </a:r>
                    </a:p>
                    <a:p>
                      <a:r>
                        <a:rPr lang="en-US" sz="1100" b="0" i="0" u="none" strike="noStrike" kern="1200">
                          <a:solidFill>
                            <a:schemeClr val="tx1"/>
                          </a:solidFill>
                          <a:effectLst/>
                          <a:latin typeface="Adani Regular" panose="02000503000000020004" pitchFamily="2" charset="0"/>
                          <a:ea typeface="+mn-ea"/>
                          <a:cs typeface="+mn-cs"/>
                        </a:rPr>
                        <a:t>Integration &amp; Commissioning</a:t>
                      </a:r>
                      <a:endParaRPr lang="en-IN"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kern="1200" noProof="0" dirty="0">
                          <a:solidFill>
                            <a:schemeClr val="tx1"/>
                          </a:solidFill>
                          <a:effectLst/>
                          <a:latin typeface="Adani Regular" panose="02000503000000020004" pitchFamily="2" charset="0"/>
                        </a:rPr>
                        <a:t>Due to </a:t>
                      </a:r>
                      <a:r>
                        <a:rPr lang="en-US" sz="1100" dirty="0">
                          <a:solidFill>
                            <a:schemeClr val="tx1"/>
                          </a:solidFill>
                          <a:latin typeface="Adani Regular" panose="02000503000000020004" pitchFamily="2" charset="0"/>
                        </a:rPr>
                        <a:t>delayed mobilization and insufficient manpower from the M/s </a:t>
                      </a:r>
                      <a:r>
                        <a:rPr lang="en-US" sz="1100" dirty="0" err="1">
                          <a:solidFill>
                            <a:schemeClr val="tx1"/>
                          </a:solidFill>
                          <a:latin typeface="Adani Regular" panose="02000503000000020004" pitchFamily="2" charset="0"/>
                        </a:rPr>
                        <a:t>Godara</a:t>
                      </a:r>
                      <a:r>
                        <a:rPr lang="en-US" sz="1100" dirty="0">
                          <a:solidFill>
                            <a:schemeClr val="tx1"/>
                          </a:solidFill>
                          <a:latin typeface="Adani Regular" panose="02000503000000020004" pitchFamily="2" charset="0"/>
                        </a:rPr>
                        <a:t> (BOP) contractor </a:t>
                      </a:r>
                      <a:r>
                        <a:rPr lang="en-US" sz="1100" kern="1200" dirty="0">
                          <a:solidFill>
                            <a:schemeClr val="tx1"/>
                          </a:solidFill>
                          <a:effectLst/>
                          <a:latin typeface="Adani Regular" panose="02000503000000020004" pitchFamily="2" charset="0"/>
                          <a:ea typeface="+mn-ea"/>
                          <a:cs typeface="+mn-cs"/>
                        </a:rPr>
                        <a:t>and M/s Akshar did not have front availability around IDTs. </a:t>
                      </a:r>
                      <a:r>
                        <a:rPr lang="en-US" sz="1100" dirty="0">
                          <a:solidFill>
                            <a:schemeClr val="tx1"/>
                          </a:solidFill>
                          <a:latin typeface="Adani Regular" panose="02000503000000020004" pitchFamily="2" charset="0"/>
                          <a:ea typeface="+mn-ea"/>
                          <a:cs typeface="+mn-cs"/>
                        </a:rPr>
                        <a:t>Delayed award of PSS-10B to M/s MSC and initial manpower shortages along with late </a:t>
                      </a:r>
                      <a:r>
                        <a:rPr lang="en-US" sz="1100" kern="1200" noProof="0" dirty="0">
                          <a:solidFill>
                            <a:schemeClr val="tx1"/>
                          </a:solidFill>
                          <a:effectLst/>
                          <a:latin typeface="Adani Regular" panose="02000503000000020004" pitchFamily="2" charset="0"/>
                          <a:ea typeface="+mn-ea"/>
                          <a:cs typeface="+mn-cs"/>
                        </a:rPr>
                        <a:t>c</a:t>
                      </a:r>
                      <a:r>
                        <a:rPr lang="en-US" sz="1100" kern="1200" noProof="0" dirty="0">
                          <a:solidFill>
                            <a:schemeClr val="tx1"/>
                          </a:solidFill>
                          <a:effectLst/>
                          <a:latin typeface="Adani Regular" panose="02000503000000020004" pitchFamily="2" charset="0"/>
                        </a:rPr>
                        <a:t>ontainer receipt at site </a:t>
                      </a:r>
                      <a:r>
                        <a:rPr lang="en-US" sz="1100" dirty="0">
                          <a:solidFill>
                            <a:schemeClr val="tx1"/>
                          </a:solidFill>
                          <a:latin typeface="Adani Regular" panose="02000503000000020004" pitchFamily="2" charset="0"/>
                          <a:ea typeface="+mn-ea"/>
                          <a:cs typeface="+mn-cs"/>
                        </a:rPr>
                        <a:t>led to a slight delay in project progress</a:t>
                      </a:r>
                      <a:endParaRPr lang="en-US" sz="1100" noProof="0" dirty="0">
                        <a:solidFill>
                          <a:schemeClr val="tx1"/>
                        </a:solidFill>
                        <a:latin typeface="Adani Regular" panose="02000503000000020004" pitchFamily="2" charset="0"/>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0448443"/>
                  </a:ext>
                </a:extLst>
              </a:tr>
              <a:tr h="665271">
                <a:tc>
                  <a:txBody>
                    <a:bodyPr/>
                    <a:lstStyle/>
                    <a:p>
                      <a:pPr algn="ctr"/>
                      <a:r>
                        <a:rPr lang="en-US" sz="1100" b="1" spc="-10">
                          <a:solidFill>
                            <a:schemeClr val="bg1"/>
                          </a:solidFill>
                          <a:latin typeface="Adani Regular" panose="02000503000000020004" pitchFamily="2" charset="0"/>
                        </a:rPr>
                        <a:t>Total</a:t>
                      </a:r>
                      <a:endParaRPr lang="en-IN" sz="1100">
                        <a:solidFill>
                          <a:schemeClr val="bg1"/>
                        </a:solidFill>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algn="ctr" defTabSz="914400" rtl="0" eaLnBrk="1" fontAlgn="ctr" latinLnBrk="0" hangingPunct="1">
                        <a:buNone/>
                      </a:pPr>
                      <a:r>
                        <a:rPr lang="en-IN" sz="1100" b="1" i="0" u="none" strike="noStrike" kern="1200">
                          <a:solidFill>
                            <a:schemeClr val="bg1"/>
                          </a:solidFill>
                          <a:effectLst/>
                          <a:latin typeface="Adani Regular" panose="02000503000000020004" pitchFamily="2" charset="0"/>
                          <a:ea typeface="+mn-ea"/>
                          <a:cs typeface="+mn-cs"/>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92%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65%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dirty="0">
                          <a:solidFill>
                            <a:srgbClr val="FFFFFF"/>
                          </a:solidFill>
                          <a:effectLst/>
                          <a:latin typeface="Adani Regular" panose="02000503000000020004" pitchFamily="2" charset="0"/>
                        </a:rPr>
                        <a:t>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104775" marR="35560" lvl="0" indent="0" algn="just" defTabSz="914400" rtl="0" eaLnBrk="1" fontAlgn="auto" latinLnBrk="0" hangingPunct="1">
                        <a:lnSpc>
                          <a:spcPct val="100000"/>
                        </a:lnSpc>
                        <a:spcBef>
                          <a:spcPts val="65"/>
                        </a:spcBef>
                        <a:spcAft>
                          <a:spcPts val="0"/>
                        </a:spcAft>
                        <a:buClrTx/>
                        <a:buSzTx/>
                        <a:buFont typeface="Arial"/>
                        <a:buNone/>
                        <a:tabLst>
                          <a:tab pos="219075" algn="l"/>
                        </a:tabLst>
                        <a:defRPr/>
                      </a:pPr>
                      <a:r>
                        <a:rPr lang="en-US" sz="1100" b="1" dirty="0">
                          <a:solidFill>
                            <a:schemeClr val="bg1"/>
                          </a:solidFill>
                          <a:latin typeface="Adani Regular" panose="02000503000000020004" pitchFamily="2" charset="0"/>
                        </a:rPr>
                        <a:t>Mitigation Plan: </a:t>
                      </a:r>
                      <a:r>
                        <a:rPr lang="en-US" sz="1100" b="0" dirty="0" err="1">
                          <a:solidFill>
                            <a:schemeClr val="bg1"/>
                          </a:solidFill>
                          <a:latin typeface="Adani Regular" panose="02000503000000020004" pitchFamily="2" charset="0"/>
                        </a:rPr>
                        <a:t>Godhara</a:t>
                      </a:r>
                      <a:r>
                        <a:rPr lang="en-US" sz="1100" b="0" dirty="0">
                          <a:solidFill>
                            <a:schemeClr val="bg1"/>
                          </a:solidFill>
                          <a:latin typeface="Adani Regular" panose="02000503000000020004" pitchFamily="2" charset="0"/>
                        </a:rPr>
                        <a:t> was descoped and MSC was deployed from 01-Jul, with manpower increased to complete civil works by Aug-end and make fronts available for electrical activities.</a:t>
                      </a:r>
                      <a:endParaRPr lang="en-US" sz="1100" b="0" i="0" u="none" strike="noStrike" kern="1200" dirty="0">
                        <a:solidFill>
                          <a:schemeClr val="bg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20722021"/>
                  </a:ext>
                </a:extLst>
              </a:tr>
            </a:tbl>
          </a:graphicData>
        </a:graphic>
      </p:graphicFrame>
      <p:sp>
        <p:nvSpPr>
          <p:cNvPr id="2" name="Slide Number Placeholder 2">
            <a:extLst>
              <a:ext uri="{FF2B5EF4-FFF2-40B4-BE49-F238E27FC236}">
                <a16:creationId xmlns:a16="http://schemas.microsoft.com/office/drawing/2014/main" id="{E78DE0BD-83F4-E7A9-E4CF-114EFFD6EFE3}"/>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8</a:t>
            </a:fld>
            <a:endParaRPr lang="en-IN"/>
          </a:p>
        </p:txBody>
      </p:sp>
      <p:pic>
        <p:nvPicPr>
          <p:cNvPr id="3" name="Picture 2">
            <a:extLst>
              <a:ext uri="{FF2B5EF4-FFF2-40B4-BE49-F238E27FC236}">
                <a16:creationId xmlns:a16="http://schemas.microsoft.com/office/drawing/2014/main" id="{EB1B9CD0-786D-B36E-4291-493A71B862AB}"/>
              </a:ext>
            </a:extLst>
          </p:cNvPr>
          <p:cNvPicPr>
            <a:picLocks noChangeAspect="1"/>
          </p:cNvPicPr>
          <p:nvPr/>
        </p:nvPicPr>
        <p:blipFill>
          <a:blip r:embed="rId2"/>
          <a:stretch>
            <a:fillRect/>
          </a:stretch>
        </p:blipFill>
        <p:spPr>
          <a:xfrm>
            <a:off x="252223" y="520614"/>
            <a:ext cx="11431776" cy="3273464"/>
          </a:xfrm>
          <a:prstGeom prst="rect">
            <a:avLst/>
          </a:prstGeom>
        </p:spPr>
      </p:pic>
    </p:spTree>
    <p:extLst>
      <p:ext uri="{BB962C8B-B14F-4D97-AF65-F5344CB8AC3E}">
        <p14:creationId xmlns:p14="http://schemas.microsoft.com/office/powerpoint/2010/main" val="1154997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C2E92-8BB6-B24C-E928-532E42D8DA7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7F74023-87B8-C390-4241-104E6AA11D57}"/>
              </a:ext>
            </a:extLst>
          </p:cNvPr>
          <p:cNvSpPr txBox="1"/>
          <p:nvPr/>
        </p:nvSpPr>
        <p:spPr>
          <a:xfrm>
            <a:off x="158462" y="95882"/>
            <a:ext cx="11610974" cy="424732"/>
          </a:xfrm>
          <a:prstGeom prst="rect">
            <a:avLst/>
          </a:prstGeom>
          <a:noFill/>
        </p:spPr>
        <p:txBody>
          <a:bodyPr vert="horz" wrap="square" lIns="91440" tIns="45720" rIns="91440" bIns="45720" rtlCol="0" anchor="b" anchorCtr="0">
            <a:spAutoFit/>
          </a:bodyPr>
          <a:lstStyle>
            <a:defPPr>
              <a:defRPr lang="en-US"/>
            </a:defPPr>
            <a:lvl1pPr indent="0">
              <a:lnSpc>
                <a:spcPct val="90000"/>
              </a:lnSpc>
              <a:spcBef>
                <a:spcPts val="1000"/>
              </a:spcBef>
              <a:buFont typeface="Arial" panose="020B0604020202020204" pitchFamily="34" charset="0"/>
              <a:buNone/>
              <a:defRPr sz="2400" b="1">
                <a:gradFill flip="none" rotWithShape="1">
                  <a:gsLst>
                    <a:gs pos="0">
                      <a:srgbClr val="FF2F5C"/>
                    </a:gs>
                    <a:gs pos="100000">
                      <a:srgbClr val="0070C0"/>
                    </a:gs>
                  </a:gsLst>
                  <a:path path="circle">
                    <a:fillToRect l="100000" t="100000"/>
                  </a:path>
                  <a:tileRect r="-100000" b="-100000"/>
                </a:gradFill>
                <a:latin typeface="Adani Regular" panose="02000503000000020004" pitchFamily="2"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361950" indent="0">
              <a:lnSpc>
                <a:spcPct val="90000"/>
              </a:lnSpc>
              <a:spcBef>
                <a:spcPts val="500"/>
              </a:spcBef>
              <a:buFont typeface="Arial" panose="020B0604020202020204" pitchFamily="34" charset="0"/>
              <a:buNone/>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defRPr/>
            </a:pPr>
            <a:r>
              <a:rPr lang="en-US" dirty="0">
                <a:gradFill>
                  <a:gsLst>
                    <a:gs pos="9735">
                      <a:schemeClr val="tx2"/>
                    </a:gs>
                    <a:gs pos="63000">
                      <a:srgbClr val="8E278F"/>
                    </a:gs>
                    <a:gs pos="38000">
                      <a:srgbClr val="57499E"/>
                    </a:gs>
                  </a:gsLst>
                  <a:lin ang="0" scaled="0"/>
                </a:gradFill>
                <a:highlight>
                  <a:srgbClr val="33CC33"/>
                </a:highlight>
              </a:rPr>
              <a:t>Physical Progress : PSS 9 S-Curve</a:t>
            </a:r>
          </a:p>
        </p:txBody>
      </p:sp>
      <p:graphicFrame>
        <p:nvGraphicFramePr>
          <p:cNvPr id="12" name="object 4">
            <a:extLst>
              <a:ext uri="{FF2B5EF4-FFF2-40B4-BE49-F238E27FC236}">
                <a16:creationId xmlns:a16="http://schemas.microsoft.com/office/drawing/2014/main" id="{A54924DE-DA99-AB7C-716D-25F322539B47}"/>
              </a:ext>
            </a:extLst>
          </p:cNvPr>
          <p:cNvGraphicFramePr>
            <a:graphicFrameLocks noGrp="1"/>
          </p:cNvGraphicFramePr>
          <p:nvPr>
            <p:extLst>
              <p:ext uri="{D42A27DB-BD31-4B8C-83A1-F6EECF244321}">
                <p14:modId xmlns:p14="http://schemas.microsoft.com/office/powerpoint/2010/main" val="1585729947"/>
              </p:ext>
            </p:extLst>
          </p:nvPr>
        </p:nvGraphicFramePr>
        <p:xfrm>
          <a:off x="397362" y="3875550"/>
          <a:ext cx="11520316" cy="2868486"/>
        </p:xfrm>
        <a:graphic>
          <a:graphicData uri="http://schemas.openxmlformats.org/drawingml/2006/table">
            <a:tbl>
              <a:tblPr firstRow="1" bandRow="1">
                <a:tableStyleId>{2D5ABB26-0587-4C30-8999-92F81FD0307C}</a:tableStyleId>
              </a:tblPr>
              <a:tblGrid>
                <a:gridCol w="1994064">
                  <a:extLst>
                    <a:ext uri="{9D8B030D-6E8A-4147-A177-3AD203B41FA5}">
                      <a16:colId xmlns:a16="http://schemas.microsoft.com/office/drawing/2014/main" val="20000"/>
                    </a:ext>
                  </a:extLst>
                </a:gridCol>
                <a:gridCol w="517930">
                  <a:extLst>
                    <a:ext uri="{9D8B030D-6E8A-4147-A177-3AD203B41FA5}">
                      <a16:colId xmlns:a16="http://schemas.microsoft.com/office/drawing/2014/main" val="20001"/>
                    </a:ext>
                  </a:extLst>
                </a:gridCol>
                <a:gridCol w="699653">
                  <a:extLst>
                    <a:ext uri="{9D8B030D-6E8A-4147-A177-3AD203B41FA5}">
                      <a16:colId xmlns:a16="http://schemas.microsoft.com/office/drawing/2014/main" val="1846315748"/>
                    </a:ext>
                  </a:extLst>
                </a:gridCol>
                <a:gridCol w="699653">
                  <a:extLst>
                    <a:ext uri="{9D8B030D-6E8A-4147-A177-3AD203B41FA5}">
                      <a16:colId xmlns:a16="http://schemas.microsoft.com/office/drawing/2014/main" val="1665052075"/>
                    </a:ext>
                  </a:extLst>
                </a:gridCol>
                <a:gridCol w="699653">
                  <a:extLst>
                    <a:ext uri="{9D8B030D-6E8A-4147-A177-3AD203B41FA5}">
                      <a16:colId xmlns:a16="http://schemas.microsoft.com/office/drawing/2014/main" val="3974385257"/>
                    </a:ext>
                  </a:extLst>
                </a:gridCol>
                <a:gridCol w="6909363">
                  <a:extLst>
                    <a:ext uri="{9D8B030D-6E8A-4147-A177-3AD203B41FA5}">
                      <a16:colId xmlns:a16="http://schemas.microsoft.com/office/drawing/2014/main" val="20006"/>
                    </a:ext>
                  </a:extLst>
                </a:gridCol>
              </a:tblGrid>
              <a:tr h="284955">
                <a:tc rowSpan="2">
                  <a:txBody>
                    <a:bodyPr/>
                    <a:lstStyle/>
                    <a:p>
                      <a:pPr marL="45720" algn="ctr">
                        <a:lnSpc>
                          <a:spcPct val="100000"/>
                        </a:lnSpc>
                      </a:pPr>
                      <a:r>
                        <a:rPr lang="en-US" sz="1100" b="1" spc="-10">
                          <a:solidFill>
                            <a:srgbClr val="FFFFFF"/>
                          </a:solidFill>
                          <a:latin typeface="Adani Regular" panose="02000503000000020004" pitchFamily="2" charset="0"/>
                          <a:cs typeface="Adani Regular"/>
                        </a:rPr>
                        <a:t>Activity</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635" algn="ctr">
                        <a:lnSpc>
                          <a:spcPct val="100000"/>
                        </a:lnSpc>
                      </a:pPr>
                      <a:r>
                        <a:rPr lang="en-US" sz="1100" b="1" spc="-20">
                          <a:solidFill>
                            <a:srgbClr val="FFFFFF"/>
                          </a:solidFill>
                          <a:latin typeface="Adani Regular" panose="02000503000000020004" pitchFamily="2" charset="0"/>
                          <a:cs typeface="Adani Regular"/>
                        </a:rPr>
                        <a:t>Wtg.</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2">
                  <a:txBody>
                    <a:bodyPr/>
                    <a:lstStyle/>
                    <a:p>
                      <a:pPr algn="ctr">
                        <a:lnSpc>
                          <a:spcPct val="100000"/>
                        </a:lnSpc>
                        <a:spcBef>
                          <a:spcPts val="450"/>
                        </a:spcBef>
                      </a:pPr>
                      <a:r>
                        <a:rPr lang="en-US" sz="1100" b="1" spc="-25">
                          <a:solidFill>
                            <a:srgbClr val="FFFFFF"/>
                          </a:solidFill>
                          <a:latin typeface="Adani Regular"/>
                          <a:cs typeface="Adani Regular"/>
                        </a:rPr>
                        <a:t>FTM</a:t>
                      </a:r>
                      <a:endParaRPr lang="en-US" sz="1100" b="1">
                        <a:latin typeface="Adani Regular"/>
                        <a:cs typeface="Adani Regular"/>
                      </a:endParaRP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hMerge="1">
                  <a:txBody>
                    <a:bodyPr/>
                    <a:lstStyle/>
                    <a:p>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030A0"/>
                    </a:solidFill>
                  </a:tcPr>
                </a:tc>
                <a:tc rowSpan="2">
                  <a:txBody>
                    <a:bodyPr/>
                    <a:lstStyle/>
                    <a:p>
                      <a:pPr marL="0" marR="0" lvl="0" indent="0" algn="ctr" defTabSz="914400" rtl="0" eaLnBrk="1" fontAlgn="auto" latinLnBrk="0" hangingPunct="1">
                        <a:lnSpc>
                          <a:spcPct val="100000"/>
                        </a:lnSpc>
                        <a:spcBef>
                          <a:spcPts val="450"/>
                        </a:spcBef>
                        <a:spcAft>
                          <a:spcPts val="0"/>
                        </a:spcAft>
                        <a:buClrTx/>
                        <a:buSzTx/>
                        <a:buFontTx/>
                        <a:buNone/>
                        <a:tabLst/>
                        <a:defRPr/>
                      </a:pPr>
                      <a:r>
                        <a:rPr lang="en-US" sz="1100" b="1">
                          <a:solidFill>
                            <a:schemeClr val="bg1"/>
                          </a:solidFill>
                          <a:latin typeface="Adani Regular"/>
                          <a:cs typeface="Adani Regular"/>
                        </a:rPr>
                        <a:t>Variance in Plan Vs Actual</a:t>
                      </a: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1270" algn="ctr">
                        <a:lnSpc>
                          <a:spcPct val="100000"/>
                        </a:lnSpc>
                      </a:pPr>
                      <a:r>
                        <a:rPr lang="en-US" sz="1100" b="1">
                          <a:solidFill>
                            <a:schemeClr val="bg1"/>
                          </a:solidFill>
                          <a:latin typeface="Adani Regular" panose="02000503000000020004" pitchFamily="2" charset="0"/>
                          <a:cs typeface="Adani Regular"/>
                        </a:rPr>
                        <a:t>Variance Remark &amp; Mitigation/Action Plan</a:t>
                      </a: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299830">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a:txBody>
                    <a:bodyPr/>
                    <a:lstStyle/>
                    <a:p>
                      <a:pPr marL="635" algn="ctr">
                        <a:lnSpc>
                          <a:spcPct val="100000"/>
                        </a:lnSpc>
                        <a:spcBef>
                          <a:spcPts val="455"/>
                        </a:spcBef>
                      </a:pPr>
                      <a:r>
                        <a:rPr lang="en-US" sz="1100" b="1" spc="-20">
                          <a:solidFill>
                            <a:srgbClr val="FFFFFF"/>
                          </a:solidFill>
                          <a:latin typeface="Adani Regular" panose="02000503000000020004" pitchFamily="2" charset="0"/>
                          <a:cs typeface="Adani Regular"/>
                        </a:rPr>
                        <a:t>Plan</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lnSpc>
                          <a:spcPct val="100000"/>
                        </a:lnSpc>
                        <a:spcBef>
                          <a:spcPts val="455"/>
                        </a:spcBef>
                      </a:pPr>
                      <a:r>
                        <a:rPr lang="en-US" sz="1100" b="1" spc="-20">
                          <a:solidFill>
                            <a:srgbClr val="FFFFFF"/>
                          </a:solidFill>
                          <a:latin typeface="Adani Regular" panose="02000503000000020004" pitchFamily="2" charset="0"/>
                          <a:cs typeface="Adani Regular"/>
                        </a:rPr>
                        <a:t>Actual</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pPr marL="635" algn="ctr">
                        <a:lnSpc>
                          <a:spcPct val="100000"/>
                        </a:lnSpc>
                        <a:spcBef>
                          <a:spcPts val="455"/>
                        </a:spcBef>
                      </a:pPr>
                      <a:endParaRPr lang="en-US" sz="10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extLst>
                  <a:ext uri="{0D108BD9-81ED-4DB2-BD59-A6C34878D82A}">
                    <a16:rowId xmlns:a16="http://schemas.microsoft.com/office/drawing/2014/main" val="10001"/>
                  </a:ext>
                </a:extLst>
              </a:tr>
              <a:tr h="302734">
                <a:tc>
                  <a:txBody>
                    <a:bodyPr/>
                    <a:lstStyle/>
                    <a:p>
                      <a:pPr marL="45720" marR="0" lvl="0" indent="0" algn="l" rtl="0" eaLnBrk="1" fontAlgn="auto" latinLnBrk="0" hangingPunct="1">
                        <a:lnSpc>
                          <a:spcPct val="100000"/>
                        </a:lnSpc>
                        <a:spcBef>
                          <a:spcPts val="445"/>
                        </a:spcBef>
                        <a:spcAft>
                          <a:spcPts val="0"/>
                        </a:spcAft>
                        <a:buClrTx/>
                        <a:buSzTx/>
                        <a:buFontTx/>
                        <a:buNone/>
                      </a:pPr>
                      <a:r>
                        <a:rPr lang="en-IN" sz="1100" b="0" i="0" u="none" strike="noStrike">
                          <a:solidFill>
                            <a:schemeClr val="tx1"/>
                          </a:solidFill>
                          <a:effectLst/>
                          <a:latin typeface="Adani Regular" panose="02000503000000020004" pitchFamily="2" charset="0"/>
                        </a:rPr>
                        <a:t>Statutory Approvals</a:t>
                      </a:r>
                      <a:endParaRPr lang="en-US" sz="1100">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0.36%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just">
                        <a:lnSpc>
                          <a:spcPct val="100000"/>
                        </a:lnSpc>
                        <a:spcBef>
                          <a:spcPts val="0"/>
                        </a:spcBef>
                        <a:spcAft>
                          <a:spcPts val="0"/>
                        </a:spcAft>
                        <a:buNone/>
                      </a:pPr>
                      <a:r>
                        <a:rPr lang="en-US" sz="1100" dirty="0">
                          <a:solidFill>
                            <a:schemeClr val="tx1"/>
                          </a:solidFill>
                          <a:latin typeface="Adani Regular" panose="02000503000000020004" pitchFamily="2" charset="0"/>
                        </a:rPr>
                        <a:t>Total approvals 18; 14 approvals are Completed, 3 In progress; 1 post commissioning.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70133264"/>
                  </a:ext>
                </a:extLst>
              </a:tr>
              <a:tr h="284955">
                <a:tc>
                  <a:txBody>
                    <a:bodyPr/>
                    <a:lstStyle/>
                    <a:p>
                      <a:pPr marL="45720">
                        <a:lnSpc>
                          <a:spcPct val="100000"/>
                        </a:lnSpc>
                        <a:spcBef>
                          <a:spcPts val="445"/>
                        </a:spcBef>
                      </a:pPr>
                      <a:r>
                        <a:rPr lang="en-US" sz="1100" spc="-10">
                          <a:latin typeface="Adani Regular" panose="02000503000000020004" pitchFamily="2" charset="0"/>
                          <a:cs typeface="Adani Regular"/>
                        </a:rPr>
                        <a:t>Engineering</a:t>
                      </a:r>
                      <a:endParaRPr lang="en-US" sz="1100">
                        <a:latin typeface="Adani Regular" panose="02000503000000020004" pitchFamily="2" charset="0"/>
                        <a:cs typeface="Adani Regular"/>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5.00%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5.00%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dirty="0">
                          <a:solidFill>
                            <a:schemeClr val="tx1"/>
                          </a:solidFill>
                          <a:effectLst/>
                          <a:latin typeface="Adani Regular" panose="02000503000000020004" pitchFamily="2" charset="0"/>
                          <a:ea typeface="Aptos" panose="020B0004020202020204" pitchFamily="34" charset="0"/>
                          <a:cs typeface="Aptos" panose="020B0004020202020204" pitchFamily="34" charset="0"/>
                        </a:rPr>
                        <a:t>Refer Slide no. 12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45551">
                <a:tc>
                  <a:txBody>
                    <a:bodyPr/>
                    <a:lstStyle/>
                    <a:p>
                      <a:pPr marL="45720" marR="0" lvl="0" indent="0" algn="l" defTabSz="914400" rtl="0" eaLnBrk="1" fontAlgn="auto" latinLnBrk="0" hangingPunct="1">
                        <a:lnSpc>
                          <a:spcPct val="100000"/>
                        </a:lnSpc>
                        <a:spcBef>
                          <a:spcPts val="445"/>
                        </a:spcBef>
                        <a:spcAft>
                          <a:spcPts val="0"/>
                        </a:spcAft>
                        <a:buClrTx/>
                        <a:buSzTx/>
                        <a:buFontTx/>
                        <a:buNone/>
                      </a:pPr>
                      <a:r>
                        <a:rPr lang="en-US" sz="1100" b="0" i="0" u="none" strike="noStrike" kern="1200" noProof="0">
                          <a:solidFill>
                            <a:schemeClr val="tx1"/>
                          </a:solidFill>
                          <a:effectLst/>
                          <a:latin typeface="Adani Regular" panose="02000503000000020004" pitchFamily="2" charset="0"/>
                          <a:ea typeface="+mn-ea"/>
                          <a:cs typeface="+mn-cs"/>
                        </a:rPr>
                        <a:t>Ordering, Manufacturing &amp; Supply </a:t>
                      </a:r>
                      <a:endParaRPr lang="en-US"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36.5%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26.19%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10.35%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solidFill>
                            <a:schemeClr val="tx1"/>
                          </a:solidFill>
                          <a:latin typeface="Adani Regular" panose="02000503000000020004" pitchFamily="2" charset="0"/>
                          <a:ea typeface="+mn-ea"/>
                          <a:cs typeface="+mn-cs"/>
                        </a:rPr>
                        <a:t>Deliveries of Battery, PCS, EMS , MV Switchgear &amp; Harmonic filters got delayed.</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95626">
                <a:tc>
                  <a:txBody>
                    <a:bodyPr/>
                    <a:lstStyle/>
                    <a:p>
                      <a:r>
                        <a:rPr lang="en-US" sz="1100" b="0" i="0" u="none" strike="noStrike" kern="1200">
                          <a:solidFill>
                            <a:schemeClr val="tx1"/>
                          </a:solidFill>
                          <a:effectLst/>
                          <a:latin typeface="Adani Regular" panose="02000503000000020004" pitchFamily="2" charset="0"/>
                          <a:ea typeface="+mn-ea"/>
                          <a:cs typeface="+mn-cs"/>
                        </a:rPr>
                        <a:t>Construction (Civil), Electrical,</a:t>
                      </a:r>
                    </a:p>
                    <a:p>
                      <a:r>
                        <a:rPr lang="en-US" sz="1100" b="0" i="0" u="none" strike="noStrike" kern="1200">
                          <a:solidFill>
                            <a:schemeClr val="tx1"/>
                          </a:solidFill>
                          <a:effectLst/>
                          <a:latin typeface="Adani Regular" panose="02000503000000020004" pitchFamily="2" charset="0"/>
                          <a:ea typeface="+mn-ea"/>
                          <a:cs typeface="+mn-cs"/>
                        </a:rPr>
                        <a:t>Integration &amp; Commissioning</a:t>
                      </a:r>
                      <a:endParaRPr lang="en-IN"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29.18%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11.66%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17.52%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100" kern="1200" noProof="0" dirty="0">
                          <a:solidFill>
                            <a:schemeClr val="tx1"/>
                          </a:solidFill>
                          <a:effectLst/>
                          <a:latin typeface="Adani Regular" panose="02000503000000020004" pitchFamily="2" charset="0"/>
                        </a:rPr>
                        <a:t>The difference between ‘Plan’ and ‘Actual’ </a:t>
                      </a:r>
                      <a:r>
                        <a:rPr lang="en-US" sz="1100" kern="1200" noProof="0" dirty="0">
                          <a:solidFill>
                            <a:schemeClr val="tx1"/>
                          </a:solidFill>
                          <a:effectLst/>
                          <a:latin typeface="Adani Regular" panose="02000503000000020004" pitchFamily="2" charset="0"/>
                          <a:ea typeface="+mn-ea"/>
                          <a:cs typeface="+mn-cs"/>
                        </a:rPr>
                        <a:t>is </a:t>
                      </a:r>
                      <a:r>
                        <a:rPr lang="en-US" sz="1100" kern="1200" dirty="0">
                          <a:solidFill>
                            <a:schemeClr val="tx1"/>
                          </a:solidFill>
                          <a:effectLst/>
                          <a:latin typeface="Adani Regular" panose="02000503000000020004" pitchFamily="2" charset="0"/>
                          <a:ea typeface="+mn-ea"/>
                          <a:cs typeface="+mn-cs"/>
                        </a:rPr>
                        <a:t>due to delays in site execution and</a:t>
                      </a:r>
                      <a:r>
                        <a:rPr lang="en-US" sz="1100" kern="1200" noProof="0" dirty="0">
                          <a:solidFill>
                            <a:schemeClr val="tx1"/>
                          </a:solidFill>
                          <a:effectLst/>
                          <a:latin typeface="Adani Regular" panose="02000503000000020004" pitchFamily="2" charset="0"/>
                          <a:ea typeface="+mn-ea"/>
                          <a:cs typeface="+mn-cs"/>
                        </a:rPr>
                        <a:t> insufficient manpower deployment by the M/s MSC &amp; M/s Akshar as this PSS was in our least priority.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0448443"/>
                  </a:ext>
                </a:extLst>
              </a:tr>
              <a:tr h="454835">
                <a:tc>
                  <a:txBody>
                    <a:bodyPr/>
                    <a:lstStyle/>
                    <a:p>
                      <a:pPr algn="ctr"/>
                      <a:r>
                        <a:rPr lang="en-US" sz="1100" b="1" spc="-10">
                          <a:solidFill>
                            <a:schemeClr val="bg1"/>
                          </a:solidFill>
                          <a:latin typeface="Adani Regular" panose="02000503000000020004" pitchFamily="2" charset="0"/>
                        </a:rPr>
                        <a:t>Total</a:t>
                      </a:r>
                      <a:endParaRPr lang="en-IN" sz="1100">
                        <a:solidFill>
                          <a:schemeClr val="bg1"/>
                        </a:solidFill>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algn="ctr" defTabSz="914400" rtl="0" eaLnBrk="1" fontAlgn="ctr" latinLnBrk="0" hangingPunct="1">
                        <a:buNone/>
                      </a:pPr>
                      <a:r>
                        <a:rPr lang="en-IN" sz="1100" b="1" i="0" u="none" strike="noStrike" kern="1200">
                          <a:solidFill>
                            <a:schemeClr val="bg1"/>
                          </a:solidFill>
                          <a:effectLst/>
                          <a:latin typeface="Adani Regular" panose="02000503000000020004" pitchFamily="2" charset="0"/>
                          <a:ea typeface="+mn-ea"/>
                          <a:cs typeface="+mn-cs"/>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72.5%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44.3%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dirty="0">
                          <a:solidFill>
                            <a:srgbClr val="FFFFFF"/>
                          </a:solidFill>
                          <a:effectLst/>
                          <a:latin typeface="Adani Regular" panose="02000503000000020004" pitchFamily="2" charset="0"/>
                        </a:rPr>
                        <a:t>28.2%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35560" lvl="0" indent="0" algn="l" defTabSz="914400" rtl="0" eaLnBrk="1" fontAlgn="ctr" latinLnBrk="0" hangingPunct="1">
                        <a:lnSpc>
                          <a:spcPct val="100000"/>
                        </a:lnSpc>
                        <a:spcBef>
                          <a:spcPts val="65"/>
                        </a:spcBef>
                        <a:spcAft>
                          <a:spcPts val="0"/>
                        </a:spcAft>
                        <a:buClrTx/>
                        <a:buSzTx/>
                        <a:buFont typeface="Arial" panose="020B0604020202020204" pitchFamily="34" charset="0"/>
                        <a:buNone/>
                        <a:tabLst>
                          <a:tab pos="219075" algn="l"/>
                        </a:tabLst>
                        <a:defRPr/>
                      </a:pPr>
                      <a:r>
                        <a:rPr lang="en-US" sz="1100" b="1" dirty="0">
                          <a:solidFill>
                            <a:schemeClr val="bg1"/>
                          </a:solidFill>
                          <a:latin typeface="Adani Regular" panose="02000503000000020004" pitchFamily="2" charset="0"/>
                        </a:rPr>
                        <a:t>Mitigation Plan: </a:t>
                      </a:r>
                      <a:r>
                        <a:rPr lang="en-US" sz="1100" b="0" dirty="0">
                          <a:solidFill>
                            <a:schemeClr val="bg1"/>
                          </a:solidFill>
                          <a:latin typeface="Adani Regular" panose="02000503000000020004" pitchFamily="2" charset="0"/>
                        </a:rPr>
                        <a:t>Expedite the efforts of the BOP Civil and ACDC contractors to increase manpower in line with the commitments in the signed MOM.</a:t>
                      </a:r>
                      <a:endParaRPr lang="en-US" sz="1100" b="0" i="0" u="none" strike="noStrike" kern="1200" dirty="0">
                        <a:solidFill>
                          <a:schemeClr val="bg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20722021"/>
                  </a:ext>
                </a:extLst>
              </a:tr>
            </a:tbl>
          </a:graphicData>
        </a:graphic>
      </p:graphicFrame>
      <p:sp>
        <p:nvSpPr>
          <p:cNvPr id="2" name="Slide Number Placeholder 2">
            <a:extLst>
              <a:ext uri="{FF2B5EF4-FFF2-40B4-BE49-F238E27FC236}">
                <a16:creationId xmlns:a16="http://schemas.microsoft.com/office/drawing/2014/main" id="{716D519B-7360-23ED-71B6-5DAEB9609272}"/>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9</a:t>
            </a:fld>
            <a:endParaRPr lang="en-IN"/>
          </a:p>
        </p:txBody>
      </p:sp>
      <p:pic>
        <p:nvPicPr>
          <p:cNvPr id="4" name="Picture 3">
            <a:extLst>
              <a:ext uri="{FF2B5EF4-FFF2-40B4-BE49-F238E27FC236}">
                <a16:creationId xmlns:a16="http://schemas.microsoft.com/office/drawing/2014/main" id="{E5946C2D-91B5-A78F-5290-22E83D91DE25}"/>
              </a:ext>
            </a:extLst>
          </p:cNvPr>
          <p:cNvPicPr>
            <a:picLocks noChangeAspect="1"/>
          </p:cNvPicPr>
          <p:nvPr/>
        </p:nvPicPr>
        <p:blipFill>
          <a:blip r:embed="rId2"/>
          <a:stretch>
            <a:fillRect/>
          </a:stretch>
        </p:blipFill>
        <p:spPr>
          <a:xfrm>
            <a:off x="422564" y="718867"/>
            <a:ext cx="11346872" cy="2925855"/>
          </a:xfrm>
          <a:prstGeom prst="rect">
            <a:avLst/>
          </a:prstGeom>
        </p:spPr>
      </p:pic>
    </p:spTree>
    <p:extLst>
      <p:ext uri="{BB962C8B-B14F-4D97-AF65-F5344CB8AC3E}">
        <p14:creationId xmlns:p14="http://schemas.microsoft.com/office/powerpoint/2010/main" val="2564301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5226C-C4EE-3EED-8759-6314A0FD619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B378190-10D3-8BC0-DB94-B51549897EE1}"/>
              </a:ext>
            </a:extLst>
          </p:cNvPr>
          <p:cNvSpPr txBox="1"/>
          <p:nvPr/>
        </p:nvSpPr>
        <p:spPr>
          <a:xfrm>
            <a:off x="158462" y="95882"/>
            <a:ext cx="11610974" cy="424732"/>
          </a:xfrm>
          <a:prstGeom prst="rect">
            <a:avLst/>
          </a:prstGeom>
          <a:noFill/>
        </p:spPr>
        <p:txBody>
          <a:bodyPr vert="horz" wrap="square" lIns="91440" tIns="45720" rIns="91440" bIns="45720" rtlCol="0" anchor="b" anchorCtr="0">
            <a:spAutoFit/>
          </a:bodyPr>
          <a:lstStyle>
            <a:defPPr>
              <a:defRPr lang="en-US"/>
            </a:defPPr>
            <a:lvl1pPr indent="0">
              <a:lnSpc>
                <a:spcPct val="90000"/>
              </a:lnSpc>
              <a:spcBef>
                <a:spcPts val="1000"/>
              </a:spcBef>
              <a:buFont typeface="Arial" panose="020B0604020202020204" pitchFamily="34" charset="0"/>
              <a:buNone/>
              <a:defRPr sz="2400" b="1">
                <a:gradFill flip="none" rotWithShape="1">
                  <a:gsLst>
                    <a:gs pos="0">
                      <a:srgbClr val="FF2F5C"/>
                    </a:gs>
                    <a:gs pos="100000">
                      <a:srgbClr val="0070C0"/>
                    </a:gs>
                  </a:gsLst>
                  <a:path path="circle">
                    <a:fillToRect l="100000" t="100000"/>
                  </a:path>
                  <a:tileRect r="-100000" b="-100000"/>
                </a:gradFill>
                <a:latin typeface="Adani Regular" panose="02000503000000020004" pitchFamily="2"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361950" indent="0">
              <a:lnSpc>
                <a:spcPct val="90000"/>
              </a:lnSpc>
              <a:spcBef>
                <a:spcPts val="500"/>
              </a:spcBef>
              <a:buFont typeface="Arial" panose="020B0604020202020204" pitchFamily="34" charset="0"/>
              <a:buNone/>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defRPr/>
            </a:pPr>
            <a:r>
              <a:rPr lang="en-US" dirty="0">
                <a:gradFill>
                  <a:gsLst>
                    <a:gs pos="9735">
                      <a:schemeClr val="tx2"/>
                    </a:gs>
                    <a:gs pos="63000">
                      <a:srgbClr val="8E278F"/>
                    </a:gs>
                    <a:gs pos="38000">
                      <a:srgbClr val="57499E"/>
                    </a:gs>
                  </a:gsLst>
                  <a:lin ang="0" scaled="0"/>
                </a:gradFill>
                <a:highlight>
                  <a:srgbClr val="33CC33"/>
                </a:highlight>
              </a:rPr>
              <a:t>Physical Progress : PSS 5B S-Curve</a:t>
            </a:r>
          </a:p>
        </p:txBody>
      </p:sp>
      <p:graphicFrame>
        <p:nvGraphicFramePr>
          <p:cNvPr id="12" name="object 4">
            <a:extLst>
              <a:ext uri="{FF2B5EF4-FFF2-40B4-BE49-F238E27FC236}">
                <a16:creationId xmlns:a16="http://schemas.microsoft.com/office/drawing/2014/main" id="{5E8A6217-7F6D-624D-2BCF-F877E005870A}"/>
              </a:ext>
            </a:extLst>
          </p:cNvPr>
          <p:cNvGraphicFramePr>
            <a:graphicFrameLocks noGrp="1"/>
          </p:cNvGraphicFramePr>
          <p:nvPr>
            <p:extLst>
              <p:ext uri="{D42A27DB-BD31-4B8C-83A1-F6EECF244321}">
                <p14:modId xmlns:p14="http://schemas.microsoft.com/office/powerpoint/2010/main" val="1753945624"/>
              </p:ext>
            </p:extLst>
          </p:nvPr>
        </p:nvGraphicFramePr>
        <p:xfrm>
          <a:off x="306704" y="3911410"/>
          <a:ext cx="11610975" cy="2941173"/>
        </p:xfrm>
        <a:graphic>
          <a:graphicData uri="http://schemas.openxmlformats.org/drawingml/2006/table">
            <a:tbl>
              <a:tblPr firstRow="1" bandRow="1">
                <a:tableStyleId>{2D5ABB26-0587-4C30-8999-92F81FD0307C}</a:tableStyleId>
              </a:tblPr>
              <a:tblGrid>
                <a:gridCol w="2009756">
                  <a:extLst>
                    <a:ext uri="{9D8B030D-6E8A-4147-A177-3AD203B41FA5}">
                      <a16:colId xmlns:a16="http://schemas.microsoft.com/office/drawing/2014/main" val="20000"/>
                    </a:ext>
                  </a:extLst>
                </a:gridCol>
                <a:gridCol w="522006">
                  <a:extLst>
                    <a:ext uri="{9D8B030D-6E8A-4147-A177-3AD203B41FA5}">
                      <a16:colId xmlns:a16="http://schemas.microsoft.com/office/drawing/2014/main" val="20001"/>
                    </a:ext>
                  </a:extLst>
                </a:gridCol>
                <a:gridCol w="705159">
                  <a:extLst>
                    <a:ext uri="{9D8B030D-6E8A-4147-A177-3AD203B41FA5}">
                      <a16:colId xmlns:a16="http://schemas.microsoft.com/office/drawing/2014/main" val="1846315748"/>
                    </a:ext>
                  </a:extLst>
                </a:gridCol>
                <a:gridCol w="705159">
                  <a:extLst>
                    <a:ext uri="{9D8B030D-6E8A-4147-A177-3AD203B41FA5}">
                      <a16:colId xmlns:a16="http://schemas.microsoft.com/office/drawing/2014/main" val="1665052075"/>
                    </a:ext>
                  </a:extLst>
                </a:gridCol>
                <a:gridCol w="705159">
                  <a:extLst>
                    <a:ext uri="{9D8B030D-6E8A-4147-A177-3AD203B41FA5}">
                      <a16:colId xmlns:a16="http://schemas.microsoft.com/office/drawing/2014/main" val="3974385257"/>
                    </a:ext>
                  </a:extLst>
                </a:gridCol>
                <a:gridCol w="6963736">
                  <a:extLst>
                    <a:ext uri="{9D8B030D-6E8A-4147-A177-3AD203B41FA5}">
                      <a16:colId xmlns:a16="http://schemas.microsoft.com/office/drawing/2014/main" val="20006"/>
                    </a:ext>
                  </a:extLst>
                </a:gridCol>
              </a:tblGrid>
              <a:tr h="225142">
                <a:tc rowSpan="2">
                  <a:txBody>
                    <a:bodyPr/>
                    <a:lstStyle/>
                    <a:p>
                      <a:pPr marL="45720" algn="ctr">
                        <a:lnSpc>
                          <a:spcPct val="100000"/>
                        </a:lnSpc>
                      </a:pPr>
                      <a:r>
                        <a:rPr lang="en-US" sz="1100" b="1" spc="-10">
                          <a:solidFill>
                            <a:srgbClr val="FFFFFF"/>
                          </a:solidFill>
                          <a:latin typeface="Adani Regular" panose="02000503000000020004" pitchFamily="2" charset="0"/>
                          <a:cs typeface="Adani Regular"/>
                        </a:rPr>
                        <a:t>Activity</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635" algn="ctr">
                        <a:lnSpc>
                          <a:spcPct val="100000"/>
                        </a:lnSpc>
                      </a:pPr>
                      <a:r>
                        <a:rPr lang="en-US" sz="1100" b="1" spc="-20">
                          <a:solidFill>
                            <a:srgbClr val="FFFFFF"/>
                          </a:solidFill>
                          <a:latin typeface="Adani Regular" panose="02000503000000020004" pitchFamily="2" charset="0"/>
                          <a:cs typeface="Adani Regular"/>
                        </a:rPr>
                        <a:t>Wtg.</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2">
                  <a:txBody>
                    <a:bodyPr/>
                    <a:lstStyle/>
                    <a:p>
                      <a:pPr algn="ctr">
                        <a:lnSpc>
                          <a:spcPct val="100000"/>
                        </a:lnSpc>
                        <a:spcBef>
                          <a:spcPts val="450"/>
                        </a:spcBef>
                      </a:pPr>
                      <a:r>
                        <a:rPr lang="en-US" sz="1100" b="1" spc="-25">
                          <a:solidFill>
                            <a:srgbClr val="FFFFFF"/>
                          </a:solidFill>
                          <a:latin typeface="Adani Regular"/>
                          <a:cs typeface="Adani Regular"/>
                        </a:rPr>
                        <a:t>FTM</a:t>
                      </a:r>
                      <a:endParaRPr lang="en-US" sz="1100" b="1">
                        <a:latin typeface="Adani Regular"/>
                        <a:cs typeface="Adani Regular"/>
                      </a:endParaRP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hMerge="1">
                  <a:txBody>
                    <a:bodyPr/>
                    <a:lstStyle/>
                    <a:p>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030A0"/>
                    </a:solidFill>
                  </a:tcPr>
                </a:tc>
                <a:tc rowSpan="2">
                  <a:txBody>
                    <a:bodyPr/>
                    <a:lstStyle/>
                    <a:p>
                      <a:pPr marL="0" marR="0" lvl="0" indent="0" algn="ctr" defTabSz="914400" rtl="0" eaLnBrk="1" fontAlgn="auto" latinLnBrk="0" hangingPunct="1">
                        <a:lnSpc>
                          <a:spcPct val="100000"/>
                        </a:lnSpc>
                        <a:spcBef>
                          <a:spcPts val="450"/>
                        </a:spcBef>
                        <a:spcAft>
                          <a:spcPts val="0"/>
                        </a:spcAft>
                        <a:buClrTx/>
                        <a:buSzTx/>
                        <a:buFontTx/>
                        <a:buNone/>
                        <a:tabLst/>
                        <a:defRPr/>
                      </a:pPr>
                      <a:r>
                        <a:rPr lang="en-US" sz="1100" b="1">
                          <a:solidFill>
                            <a:schemeClr val="bg1"/>
                          </a:solidFill>
                          <a:latin typeface="Adani Regular"/>
                          <a:cs typeface="Adani Regular"/>
                        </a:rPr>
                        <a:t>Variance in Plan Vs Actual</a:t>
                      </a: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1270" algn="ctr">
                        <a:lnSpc>
                          <a:spcPct val="100000"/>
                        </a:lnSpc>
                      </a:pPr>
                      <a:r>
                        <a:rPr lang="en-US" sz="1100" b="1">
                          <a:solidFill>
                            <a:schemeClr val="bg1"/>
                          </a:solidFill>
                          <a:latin typeface="Adani Regular" panose="02000503000000020004" pitchFamily="2" charset="0"/>
                          <a:cs typeface="Adani Regular"/>
                        </a:rPr>
                        <a:t>Variance Remark &amp; Mitigation/Action Plan</a:t>
                      </a: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304635">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a:txBody>
                    <a:bodyPr/>
                    <a:lstStyle/>
                    <a:p>
                      <a:pPr marL="635" algn="ctr">
                        <a:lnSpc>
                          <a:spcPct val="100000"/>
                        </a:lnSpc>
                        <a:spcBef>
                          <a:spcPts val="455"/>
                        </a:spcBef>
                      </a:pPr>
                      <a:r>
                        <a:rPr lang="en-US" sz="1100" b="1" spc="-20">
                          <a:solidFill>
                            <a:srgbClr val="FFFFFF"/>
                          </a:solidFill>
                          <a:latin typeface="Adani Regular" panose="02000503000000020004" pitchFamily="2" charset="0"/>
                          <a:cs typeface="Adani Regular"/>
                        </a:rPr>
                        <a:t>Plan</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lnSpc>
                          <a:spcPct val="100000"/>
                        </a:lnSpc>
                        <a:spcBef>
                          <a:spcPts val="455"/>
                        </a:spcBef>
                      </a:pPr>
                      <a:r>
                        <a:rPr lang="en-US" sz="1100" b="1" spc="-20">
                          <a:solidFill>
                            <a:srgbClr val="FFFFFF"/>
                          </a:solidFill>
                          <a:latin typeface="Adani Regular" panose="02000503000000020004" pitchFamily="2" charset="0"/>
                          <a:cs typeface="Adani Regular"/>
                        </a:rPr>
                        <a:t>Actual</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pPr marL="635" algn="ctr">
                        <a:lnSpc>
                          <a:spcPct val="100000"/>
                        </a:lnSpc>
                        <a:spcBef>
                          <a:spcPts val="455"/>
                        </a:spcBef>
                      </a:pPr>
                      <a:endParaRPr lang="en-US" sz="10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extLst>
                  <a:ext uri="{0D108BD9-81ED-4DB2-BD59-A6C34878D82A}">
                    <a16:rowId xmlns:a16="http://schemas.microsoft.com/office/drawing/2014/main" val="10001"/>
                  </a:ext>
                </a:extLst>
              </a:tr>
              <a:tr h="245067">
                <a:tc>
                  <a:txBody>
                    <a:bodyPr/>
                    <a:lstStyle/>
                    <a:p>
                      <a:pPr marL="45720" marR="0" lvl="0" indent="0" algn="l" rtl="0" eaLnBrk="1" fontAlgn="auto" latinLnBrk="0" hangingPunct="1">
                        <a:lnSpc>
                          <a:spcPct val="100000"/>
                        </a:lnSpc>
                        <a:spcBef>
                          <a:spcPts val="445"/>
                        </a:spcBef>
                        <a:spcAft>
                          <a:spcPts val="0"/>
                        </a:spcAft>
                        <a:buClrTx/>
                        <a:buSzTx/>
                        <a:buFontTx/>
                        <a:buNone/>
                      </a:pPr>
                      <a:r>
                        <a:rPr lang="en-IN" sz="1100" b="0" i="0" u="none" strike="noStrike">
                          <a:solidFill>
                            <a:schemeClr val="tx1"/>
                          </a:solidFill>
                          <a:effectLst/>
                          <a:latin typeface="Adani Regular" panose="02000503000000020004" pitchFamily="2" charset="0"/>
                        </a:rPr>
                        <a:t>Statutory Approvals</a:t>
                      </a:r>
                      <a:endParaRPr lang="en-US" sz="1100">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0.36%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just">
                        <a:lnSpc>
                          <a:spcPct val="100000"/>
                        </a:lnSpc>
                        <a:spcBef>
                          <a:spcPts val="0"/>
                        </a:spcBef>
                        <a:spcAft>
                          <a:spcPts val="0"/>
                        </a:spcAft>
                        <a:buNone/>
                      </a:pPr>
                      <a:r>
                        <a:rPr lang="en-US" sz="1100" dirty="0">
                          <a:solidFill>
                            <a:schemeClr val="tx1"/>
                          </a:solidFill>
                          <a:latin typeface="Adani Regular" panose="02000503000000020004" pitchFamily="2" charset="0"/>
                        </a:rPr>
                        <a:t>Total approvals 18; 14 approvals are Completed, 3 In progress; 1 post commissioning.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70133264"/>
                  </a:ext>
                </a:extLst>
              </a:tr>
              <a:tr h="245067">
                <a:tc>
                  <a:txBody>
                    <a:bodyPr/>
                    <a:lstStyle/>
                    <a:p>
                      <a:pPr marL="45720">
                        <a:lnSpc>
                          <a:spcPct val="100000"/>
                        </a:lnSpc>
                        <a:spcBef>
                          <a:spcPts val="445"/>
                        </a:spcBef>
                      </a:pPr>
                      <a:r>
                        <a:rPr lang="en-US" sz="1100" spc="-10">
                          <a:latin typeface="Adani Regular" panose="02000503000000020004" pitchFamily="2" charset="0"/>
                          <a:cs typeface="Adani Regular"/>
                        </a:rPr>
                        <a:t>Engineering</a:t>
                      </a:r>
                      <a:endParaRPr lang="en-US" sz="1100">
                        <a:latin typeface="Adani Regular" panose="02000503000000020004" pitchFamily="2" charset="0"/>
                        <a:cs typeface="Adani Regular"/>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5.00%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5.00%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a:solidFill>
                            <a:schemeClr val="tx1"/>
                          </a:solidFill>
                          <a:effectLst/>
                          <a:latin typeface="Adani Regular" panose="02000503000000020004" pitchFamily="2" charset="0"/>
                          <a:ea typeface="Aptos" panose="020B0004020202020204" pitchFamily="34" charset="0"/>
                          <a:cs typeface="Aptos" panose="020B0004020202020204" pitchFamily="34" charset="0"/>
                        </a:rPr>
                        <a:t>Refer Slide no. 12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75719">
                <a:tc>
                  <a:txBody>
                    <a:bodyPr/>
                    <a:lstStyle/>
                    <a:p>
                      <a:pPr marL="45720" marR="0" lvl="0" indent="0" algn="l" defTabSz="914400" rtl="0" eaLnBrk="1" fontAlgn="auto" latinLnBrk="0" hangingPunct="1">
                        <a:lnSpc>
                          <a:spcPct val="100000"/>
                        </a:lnSpc>
                        <a:spcBef>
                          <a:spcPts val="445"/>
                        </a:spcBef>
                        <a:spcAft>
                          <a:spcPts val="0"/>
                        </a:spcAft>
                        <a:buClrTx/>
                        <a:buSzTx/>
                        <a:buFontTx/>
                        <a:buNone/>
                      </a:pPr>
                      <a:r>
                        <a:rPr lang="en-US" sz="1100" b="0" i="0" u="none" strike="noStrike" kern="1200" noProof="0">
                          <a:solidFill>
                            <a:schemeClr val="tx1"/>
                          </a:solidFill>
                          <a:effectLst/>
                          <a:latin typeface="Adani Regular" panose="02000503000000020004" pitchFamily="2" charset="0"/>
                          <a:ea typeface="+mn-ea"/>
                          <a:cs typeface="+mn-cs"/>
                        </a:rPr>
                        <a:t>Ordering, Manufacturing &amp; Supply </a:t>
                      </a:r>
                      <a:endParaRPr lang="en-US"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35.7%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18.51%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17.23%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solidFill>
                            <a:schemeClr val="tx1"/>
                          </a:solidFill>
                          <a:latin typeface="Adani Regular" panose="02000503000000020004" pitchFamily="2" charset="0"/>
                          <a:ea typeface="+mn-ea"/>
                          <a:cs typeface="+mn-cs"/>
                        </a:rPr>
                        <a:t>Deliveries of Battery, PCS, EMS , Trafo, CSS, MV Switchgear &amp; Harmonic filters got delayed.</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92864">
                <a:tc>
                  <a:txBody>
                    <a:bodyPr/>
                    <a:lstStyle/>
                    <a:p>
                      <a:r>
                        <a:rPr lang="en-US" sz="1100" b="0" i="0" u="none" strike="noStrike" kern="1200">
                          <a:solidFill>
                            <a:schemeClr val="tx1"/>
                          </a:solidFill>
                          <a:effectLst/>
                          <a:latin typeface="Adani Regular" panose="02000503000000020004" pitchFamily="2" charset="0"/>
                          <a:ea typeface="+mn-ea"/>
                          <a:cs typeface="+mn-cs"/>
                        </a:rPr>
                        <a:t>Construction (Civil), Electrical,</a:t>
                      </a:r>
                    </a:p>
                    <a:p>
                      <a:r>
                        <a:rPr lang="en-US" sz="1100" b="0" i="0" u="none" strike="noStrike" kern="1200">
                          <a:solidFill>
                            <a:schemeClr val="tx1"/>
                          </a:solidFill>
                          <a:effectLst/>
                          <a:latin typeface="Adani Regular" panose="02000503000000020004" pitchFamily="2" charset="0"/>
                          <a:ea typeface="+mn-ea"/>
                          <a:cs typeface="+mn-cs"/>
                        </a:rPr>
                        <a:t>Integration &amp; Commissioning</a:t>
                      </a:r>
                      <a:endParaRPr lang="en-IN"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27.53%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10.24%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17.29%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100" kern="1200" noProof="0" dirty="0">
                          <a:solidFill>
                            <a:schemeClr val="tx1"/>
                          </a:solidFill>
                          <a:effectLst/>
                          <a:latin typeface="Adani Regular" panose="02000503000000020004" pitchFamily="2" charset="0"/>
                          <a:ea typeface="+mn-ea"/>
                          <a:cs typeface="+mn-cs"/>
                        </a:rPr>
                        <a:t>Insufficient manpower deployment by the </a:t>
                      </a:r>
                      <a:r>
                        <a:rPr lang="en-US" sz="1100" kern="1200" noProof="0" dirty="0">
                          <a:solidFill>
                            <a:schemeClr val="tx1"/>
                          </a:solidFill>
                          <a:effectLst/>
                          <a:latin typeface="Adani Regular" panose="02000503000000020004" pitchFamily="2" charset="0"/>
                        </a:rPr>
                        <a:t> M/s Shree </a:t>
                      </a:r>
                      <a:r>
                        <a:rPr lang="en-US" sz="1100" kern="1200" noProof="0" dirty="0" err="1">
                          <a:solidFill>
                            <a:schemeClr val="tx1"/>
                          </a:solidFill>
                          <a:effectLst/>
                          <a:latin typeface="Adani Regular" panose="02000503000000020004" pitchFamily="2" charset="0"/>
                        </a:rPr>
                        <a:t>Rajnagnechi</a:t>
                      </a:r>
                      <a:r>
                        <a:rPr lang="en-US" sz="1100" kern="1200" noProof="0" dirty="0">
                          <a:solidFill>
                            <a:schemeClr val="tx1"/>
                          </a:solidFill>
                          <a:effectLst/>
                          <a:latin typeface="Adani Regular" panose="02000503000000020004" pitchFamily="2" charset="0"/>
                        </a:rPr>
                        <a:t>. </a:t>
                      </a:r>
                      <a:r>
                        <a:rPr lang="en-US" sz="1100" kern="1200" dirty="0">
                          <a:solidFill>
                            <a:schemeClr val="tx1"/>
                          </a:solidFill>
                          <a:effectLst/>
                          <a:latin typeface="Adani Regular" panose="02000503000000020004" pitchFamily="2" charset="0"/>
                          <a:ea typeface="+mn-ea"/>
                          <a:cs typeface="+mn-cs"/>
                        </a:rPr>
                        <a:t>Delayed award of PSS-05B to M/s MSC and initial manpower shortages impacted civil progress, resulting in non-availability of work fronts for M/s Ice Cube and consequent delay in electrical works.</a:t>
                      </a:r>
                      <a:endParaRPr lang="en-US" sz="1100" kern="1200" noProof="0" dirty="0">
                        <a:solidFill>
                          <a:schemeClr val="tx1"/>
                        </a:solidFill>
                        <a:effectLst/>
                        <a:latin typeface="Adani Regular" panose="02000503000000020004" pitchFamily="2" charset="0"/>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0448443"/>
                  </a:ext>
                </a:extLst>
              </a:tr>
              <a:tr h="562213">
                <a:tc>
                  <a:txBody>
                    <a:bodyPr/>
                    <a:lstStyle/>
                    <a:p>
                      <a:pPr algn="ctr"/>
                      <a:r>
                        <a:rPr lang="en-US" sz="1100" b="1" spc="-10">
                          <a:solidFill>
                            <a:schemeClr val="bg1"/>
                          </a:solidFill>
                          <a:latin typeface="Adani Regular" panose="02000503000000020004" pitchFamily="2" charset="0"/>
                        </a:rPr>
                        <a:t>Total</a:t>
                      </a:r>
                      <a:endParaRPr lang="en-IN" sz="1100">
                        <a:solidFill>
                          <a:schemeClr val="bg1"/>
                        </a:solidFill>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algn="ctr" defTabSz="914400" rtl="0" eaLnBrk="1" fontAlgn="ctr" latinLnBrk="0" hangingPunct="1">
                        <a:buNone/>
                      </a:pPr>
                      <a:r>
                        <a:rPr lang="en-IN" sz="1100" b="1" i="0" u="none" strike="noStrike" kern="1200">
                          <a:solidFill>
                            <a:schemeClr val="bg1"/>
                          </a:solidFill>
                          <a:effectLst/>
                          <a:latin typeface="Adani Regular" panose="02000503000000020004" pitchFamily="2" charset="0"/>
                          <a:ea typeface="+mn-ea"/>
                          <a:cs typeface="+mn-cs"/>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dirty="0">
                          <a:solidFill>
                            <a:srgbClr val="FFFFFF"/>
                          </a:solidFill>
                          <a:effectLst/>
                          <a:latin typeface="Adani Regular" panose="02000503000000020004" pitchFamily="2" charset="0"/>
                        </a:rPr>
                        <a:t>70.1%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35.2%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dirty="0">
                          <a:solidFill>
                            <a:srgbClr val="FFFFFF"/>
                          </a:solidFill>
                          <a:effectLst/>
                          <a:latin typeface="Adani Regular" panose="02000503000000020004" pitchFamily="2" charset="0"/>
                        </a:rPr>
                        <a:t>34.9%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35560" lvl="0" indent="0" algn="l" defTabSz="914400" rtl="0" eaLnBrk="1" fontAlgn="ctr" latinLnBrk="0" hangingPunct="1">
                        <a:lnSpc>
                          <a:spcPct val="100000"/>
                        </a:lnSpc>
                        <a:spcBef>
                          <a:spcPts val="65"/>
                        </a:spcBef>
                        <a:spcAft>
                          <a:spcPts val="0"/>
                        </a:spcAft>
                        <a:buClrTx/>
                        <a:buSzTx/>
                        <a:buFont typeface="Arial" panose="020B0604020202020204" pitchFamily="34" charset="0"/>
                        <a:buNone/>
                        <a:tabLst>
                          <a:tab pos="219075" algn="l"/>
                        </a:tabLst>
                        <a:defRPr/>
                      </a:pPr>
                      <a:r>
                        <a:rPr lang="en-US" sz="1100" b="1" dirty="0">
                          <a:solidFill>
                            <a:schemeClr val="bg1"/>
                          </a:solidFill>
                          <a:latin typeface="Adani Regular" panose="02000503000000020004" pitchFamily="2" charset="0"/>
                        </a:rPr>
                        <a:t>Mitigation Plan: </a:t>
                      </a:r>
                      <a:r>
                        <a:rPr lang="en-US" sz="1100" b="0" dirty="0">
                          <a:solidFill>
                            <a:schemeClr val="bg1"/>
                          </a:solidFill>
                          <a:latin typeface="Adani Regular" panose="02000503000000020004" pitchFamily="2" charset="0"/>
                        </a:rPr>
                        <a:t>BOP Civil and ACDC manpower were augmented as per MOM commitments. </a:t>
                      </a:r>
                      <a:r>
                        <a:rPr lang="en-US" sz="1100" b="0" dirty="0" err="1">
                          <a:solidFill>
                            <a:schemeClr val="bg1"/>
                          </a:solidFill>
                          <a:latin typeface="Adani Regular" panose="02000503000000020004" pitchFamily="2" charset="0"/>
                        </a:rPr>
                        <a:t>Rajnagnechi</a:t>
                      </a:r>
                      <a:r>
                        <a:rPr lang="en-US" sz="1100" b="0" dirty="0">
                          <a:solidFill>
                            <a:schemeClr val="bg1"/>
                          </a:solidFill>
                          <a:latin typeface="Adani Regular" panose="02000503000000020004" pitchFamily="2" charset="0"/>
                        </a:rPr>
                        <a:t> was terminated and replaced by MSC. Work front availability for electrical vendors is expected to improve progressively with the completion of civil works</a:t>
                      </a:r>
                      <a:endParaRPr lang="en-US" sz="1100" b="0" i="0" u="none" strike="noStrike" kern="1200" dirty="0">
                        <a:solidFill>
                          <a:schemeClr val="bg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20722021"/>
                  </a:ext>
                </a:extLst>
              </a:tr>
            </a:tbl>
          </a:graphicData>
        </a:graphic>
      </p:graphicFrame>
      <p:sp>
        <p:nvSpPr>
          <p:cNvPr id="2" name="Slide Number Placeholder 2">
            <a:extLst>
              <a:ext uri="{FF2B5EF4-FFF2-40B4-BE49-F238E27FC236}">
                <a16:creationId xmlns:a16="http://schemas.microsoft.com/office/drawing/2014/main" id="{DA2FFA9B-BA5A-60C0-D94F-E1A5103CD19D}"/>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10</a:t>
            </a:fld>
            <a:endParaRPr lang="en-IN"/>
          </a:p>
        </p:txBody>
      </p:sp>
      <p:pic>
        <p:nvPicPr>
          <p:cNvPr id="3" name="Picture 2">
            <a:extLst>
              <a:ext uri="{FF2B5EF4-FFF2-40B4-BE49-F238E27FC236}">
                <a16:creationId xmlns:a16="http://schemas.microsoft.com/office/drawing/2014/main" id="{9112CD96-B9F1-166F-E473-3A4C214D6DF4}"/>
              </a:ext>
            </a:extLst>
          </p:cNvPr>
          <p:cNvPicPr>
            <a:picLocks noChangeAspect="1"/>
          </p:cNvPicPr>
          <p:nvPr/>
        </p:nvPicPr>
        <p:blipFill>
          <a:blip r:embed="rId2"/>
          <a:stretch>
            <a:fillRect/>
          </a:stretch>
        </p:blipFill>
        <p:spPr>
          <a:xfrm>
            <a:off x="306704" y="760228"/>
            <a:ext cx="11462732" cy="3013711"/>
          </a:xfrm>
          <a:prstGeom prst="rect">
            <a:avLst/>
          </a:prstGeom>
        </p:spPr>
      </p:pic>
    </p:spTree>
    <p:extLst>
      <p:ext uri="{BB962C8B-B14F-4D97-AF65-F5344CB8AC3E}">
        <p14:creationId xmlns:p14="http://schemas.microsoft.com/office/powerpoint/2010/main" val="462289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E3578-0B0D-FA3B-1A05-DAC8E209AEC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01CACAB-BA12-64F4-2252-3BF8A499C381}"/>
              </a:ext>
            </a:extLst>
          </p:cNvPr>
          <p:cNvSpPr txBox="1"/>
          <p:nvPr/>
        </p:nvSpPr>
        <p:spPr>
          <a:xfrm>
            <a:off x="158462" y="95882"/>
            <a:ext cx="11610974" cy="424732"/>
          </a:xfrm>
          <a:prstGeom prst="rect">
            <a:avLst/>
          </a:prstGeom>
          <a:noFill/>
        </p:spPr>
        <p:txBody>
          <a:bodyPr vert="horz" wrap="square" lIns="91440" tIns="45720" rIns="91440" bIns="45720" rtlCol="0" anchor="b" anchorCtr="0">
            <a:spAutoFit/>
          </a:bodyPr>
          <a:lstStyle>
            <a:defPPr>
              <a:defRPr lang="en-US"/>
            </a:defPPr>
            <a:lvl1pPr indent="0">
              <a:lnSpc>
                <a:spcPct val="90000"/>
              </a:lnSpc>
              <a:spcBef>
                <a:spcPts val="1000"/>
              </a:spcBef>
              <a:buFont typeface="Arial" panose="020B0604020202020204" pitchFamily="34" charset="0"/>
              <a:buNone/>
              <a:defRPr sz="2400" b="1">
                <a:gradFill flip="none" rotWithShape="1">
                  <a:gsLst>
                    <a:gs pos="0">
                      <a:srgbClr val="FF2F5C"/>
                    </a:gs>
                    <a:gs pos="100000">
                      <a:srgbClr val="0070C0"/>
                    </a:gs>
                  </a:gsLst>
                  <a:path path="circle">
                    <a:fillToRect l="100000" t="100000"/>
                  </a:path>
                  <a:tileRect r="-100000" b="-100000"/>
                </a:gradFill>
                <a:latin typeface="Adani Regular" panose="02000503000000020004" pitchFamily="2"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361950" indent="0">
              <a:lnSpc>
                <a:spcPct val="90000"/>
              </a:lnSpc>
              <a:spcBef>
                <a:spcPts val="500"/>
              </a:spcBef>
              <a:buFont typeface="Arial" panose="020B0604020202020204" pitchFamily="34" charset="0"/>
              <a:buNone/>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defRPr/>
            </a:pPr>
            <a:r>
              <a:rPr lang="en-US" dirty="0">
                <a:gradFill>
                  <a:gsLst>
                    <a:gs pos="9735">
                      <a:schemeClr val="tx2"/>
                    </a:gs>
                    <a:gs pos="63000">
                      <a:srgbClr val="8E278F"/>
                    </a:gs>
                    <a:gs pos="38000">
                      <a:srgbClr val="57499E"/>
                    </a:gs>
                  </a:gsLst>
                  <a:lin ang="0" scaled="0"/>
                </a:gradFill>
                <a:highlight>
                  <a:srgbClr val="33CC33"/>
                </a:highlight>
              </a:rPr>
              <a:t>Physical Progress : PSS 8B S-Curve</a:t>
            </a:r>
          </a:p>
        </p:txBody>
      </p:sp>
      <p:graphicFrame>
        <p:nvGraphicFramePr>
          <p:cNvPr id="12" name="object 4">
            <a:extLst>
              <a:ext uri="{FF2B5EF4-FFF2-40B4-BE49-F238E27FC236}">
                <a16:creationId xmlns:a16="http://schemas.microsoft.com/office/drawing/2014/main" id="{3B724EDD-B64E-AE5F-167D-58230051D5CF}"/>
              </a:ext>
            </a:extLst>
          </p:cNvPr>
          <p:cNvGraphicFramePr>
            <a:graphicFrameLocks noGrp="1"/>
          </p:cNvGraphicFramePr>
          <p:nvPr>
            <p:extLst>
              <p:ext uri="{D42A27DB-BD31-4B8C-83A1-F6EECF244321}">
                <p14:modId xmlns:p14="http://schemas.microsoft.com/office/powerpoint/2010/main" val="3508738709"/>
              </p:ext>
            </p:extLst>
          </p:nvPr>
        </p:nvGraphicFramePr>
        <p:xfrm>
          <a:off x="397362" y="3911410"/>
          <a:ext cx="11520316" cy="2835043"/>
        </p:xfrm>
        <a:graphic>
          <a:graphicData uri="http://schemas.openxmlformats.org/drawingml/2006/table">
            <a:tbl>
              <a:tblPr firstRow="1" bandRow="1">
                <a:tableStyleId>{2D5ABB26-0587-4C30-8999-92F81FD0307C}</a:tableStyleId>
              </a:tblPr>
              <a:tblGrid>
                <a:gridCol w="1994064">
                  <a:extLst>
                    <a:ext uri="{9D8B030D-6E8A-4147-A177-3AD203B41FA5}">
                      <a16:colId xmlns:a16="http://schemas.microsoft.com/office/drawing/2014/main" val="20000"/>
                    </a:ext>
                  </a:extLst>
                </a:gridCol>
                <a:gridCol w="517930">
                  <a:extLst>
                    <a:ext uri="{9D8B030D-6E8A-4147-A177-3AD203B41FA5}">
                      <a16:colId xmlns:a16="http://schemas.microsoft.com/office/drawing/2014/main" val="20001"/>
                    </a:ext>
                  </a:extLst>
                </a:gridCol>
                <a:gridCol w="699653">
                  <a:extLst>
                    <a:ext uri="{9D8B030D-6E8A-4147-A177-3AD203B41FA5}">
                      <a16:colId xmlns:a16="http://schemas.microsoft.com/office/drawing/2014/main" val="1846315748"/>
                    </a:ext>
                  </a:extLst>
                </a:gridCol>
                <a:gridCol w="699653">
                  <a:extLst>
                    <a:ext uri="{9D8B030D-6E8A-4147-A177-3AD203B41FA5}">
                      <a16:colId xmlns:a16="http://schemas.microsoft.com/office/drawing/2014/main" val="1665052075"/>
                    </a:ext>
                  </a:extLst>
                </a:gridCol>
                <a:gridCol w="699653">
                  <a:extLst>
                    <a:ext uri="{9D8B030D-6E8A-4147-A177-3AD203B41FA5}">
                      <a16:colId xmlns:a16="http://schemas.microsoft.com/office/drawing/2014/main" val="3974385257"/>
                    </a:ext>
                  </a:extLst>
                </a:gridCol>
                <a:gridCol w="6909363">
                  <a:extLst>
                    <a:ext uri="{9D8B030D-6E8A-4147-A177-3AD203B41FA5}">
                      <a16:colId xmlns:a16="http://schemas.microsoft.com/office/drawing/2014/main" val="20006"/>
                    </a:ext>
                  </a:extLst>
                </a:gridCol>
              </a:tblGrid>
              <a:tr h="284955">
                <a:tc rowSpan="2">
                  <a:txBody>
                    <a:bodyPr/>
                    <a:lstStyle/>
                    <a:p>
                      <a:pPr marL="45720" algn="ctr">
                        <a:lnSpc>
                          <a:spcPct val="100000"/>
                        </a:lnSpc>
                      </a:pPr>
                      <a:r>
                        <a:rPr lang="en-US" sz="1100" b="1" spc="-10">
                          <a:solidFill>
                            <a:srgbClr val="FFFFFF"/>
                          </a:solidFill>
                          <a:latin typeface="Adani Regular" panose="02000503000000020004" pitchFamily="2" charset="0"/>
                          <a:cs typeface="Adani Regular"/>
                        </a:rPr>
                        <a:t>Activity</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635" algn="ctr">
                        <a:lnSpc>
                          <a:spcPct val="100000"/>
                        </a:lnSpc>
                      </a:pPr>
                      <a:r>
                        <a:rPr lang="en-US" sz="1100" b="1" spc="-20">
                          <a:solidFill>
                            <a:srgbClr val="FFFFFF"/>
                          </a:solidFill>
                          <a:latin typeface="Adani Regular" panose="02000503000000020004" pitchFamily="2" charset="0"/>
                          <a:cs typeface="Adani Regular"/>
                        </a:rPr>
                        <a:t>Wtg.</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2">
                  <a:txBody>
                    <a:bodyPr/>
                    <a:lstStyle/>
                    <a:p>
                      <a:pPr algn="ctr">
                        <a:lnSpc>
                          <a:spcPct val="100000"/>
                        </a:lnSpc>
                        <a:spcBef>
                          <a:spcPts val="450"/>
                        </a:spcBef>
                      </a:pPr>
                      <a:r>
                        <a:rPr lang="en-US" sz="1100" b="1" spc="-25">
                          <a:solidFill>
                            <a:srgbClr val="FFFFFF"/>
                          </a:solidFill>
                          <a:latin typeface="Adani Regular"/>
                          <a:cs typeface="Adani Regular"/>
                        </a:rPr>
                        <a:t>FTM</a:t>
                      </a:r>
                      <a:endParaRPr lang="en-US" sz="1100" b="1">
                        <a:latin typeface="Adani Regular"/>
                        <a:cs typeface="Adani Regular"/>
                      </a:endParaRP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hMerge="1">
                  <a:txBody>
                    <a:bodyPr/>
                    <a:lstStyle/>
                    <a:p>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030A0"/>
                    </a:solidFill>
                  </a:tcPr>
                </a:tc>
                <a:tc rowSpan="2">
                  <a:txBody>
                    <a:bodyPr/>
                    <a:lstStyle/>
                    <a:p>
                      <a:pPr marL="0" marR="0" lvl="0" indent="0" algn="ctr" defTabSz="914400" rtl="0" eaLnBrk="1" fontAlgn="auto" latinLnBrk="0" hangingPunct="1">
                        <a:lnSpc>
                          <a:spcPct val="100000"/>
                        </a:lnSpc>
                        <a:spcBef>
                          <a:spcPts val="450"/>
                        </a:spcBef>
                        <a:spcAft>
                          <a:spcPts val="0"/>
                        </a:spcAft>
                        <a:buClrTx/>
                        <a:buSzTx/>
                        <a:buFontTx/>
                        <a:buNone/>
                        <a:tabLst/>
                        <a:defRPr/>
                      </a:pPr>
                      <a:r>
                        <a:rPr lang="en-US" sz="1100" b="1">
                          <a:solidFill>
                            <a:schemeClr val="bg1"/>
                          </a:solidFill>
                          <a:latin typeface="Adani Regular"/>
                          <a:cs typeface="Adani Regular"/>
                        </a:rPr>
                        <a:t>Variance in Plan Vs Actual</a:t>
                      </a: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1270" algn="ctr">
                        <a:lnSpc>
                          <a:spcPct val="100000"/>
                        </a:lnSpc>
                      </a:pPr>
                      <a:r>
                        <a:rPr lang="en-US" sz="1100" b="1">
                          <a:solidFill>
                            <a:schemeClr val="bg1"/>
                          </a:solidFill>
                          <a:latin typeface="Adani Regular" panose="02000503000000020004" pitchFamily="2" charset="0"/>
                          <a:cs typeface="Adani Regular"/>
                        </a:rPr>
                        <a:t>Variance Remark &amp; Mitigation/Action Plan</a:t>
                      </a: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299830">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a:txBody>
                    <a:bodyPr/>
                    <a:lstStyle/>
                    <a:p>
                      <a:pPr marL="635" algn="ctr">
                        <a:lnSpc>
                          <a:spcPct val="100000"/>
                        </a:lnSpc>
                        <a:spcBef>
                          <a:spcPts val="455"/>
                        </a:spcBef>
                      </a:pPr>
                      <a:r>
                        <a:rPr lang="en-US" sz="1100" b="1" spc="-20">
                          <a:solidFill>
                            <a:srgbClr val="FFFFFF"/>
                          </a:solidFill>
                          <a:latin typeface="Adani Regular" panose="02000503000000020004" pitchFamily="2" charset="0"/>
                          <a:cs typeface="Adani Regular"/>
                        </a:rPr>
                        <a:t>Plan</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lnSpc>
                          <a:spcPct val="100000"/>
                        </a:lnSpc>
                        <a:spcBef>
                          <a:spcPts val="455"/>
                        </a:spcBef>
                      </a:pPr>
                      <a:r>
                        <a:rPr lang="en-US" sz="1100" b="1" spc="-20">
                          <a:solidFill>
                            <a:srgbClr val="FFFFFF"/>
                          </a:solidFill>
                          <a:latin typeface="Adani Regular" panose="02000503000000020004" pitchFamily="2" charset="0"/>
                          <a:cs typeface="Adani Regular"/>
                        </a:rPr>
                        <a:t>Actual</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pPr marL="635" algn="ctr">
                        <a:lnSpc>
                          <a:spcPct val="100000"/>
                        </a:lnSpc>
                        <a:spcBef>
                          <a:spcPts val="455"/>
                        </a:spcBef>
                      </a:pPr>
                      <a:endParaRPr lang="en-US" sz="10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extLst>
                  <a:ext uri="{0D108BD9-81ED-4DB2-BD59-A6C34878D82A}">
                    <a16:rowId xmlns:a16="http://schemas.microsoft.com/office/drawing/2014/main" val="10001"/>
                  </a:ext>
                </a:extLst>
              </a:tr>
              <a:tr h="284955">
                <a:tc>
                  <a:txBody>
                    <a:bodyPr/>
                    <a:lstStyle/>
                    <a:p>
                      <a:pPr marL="45720" marR="0" lvl="0" indent="0" algn="l" rtl="0" eaLnBrk="1" fontAlgn="auto" latinLnBrk="0" hangingPunct="1">
                        <a:lnSpc>
                          <a:spcPct val="100000"/>
                        </a:lnSpc>
                        <a:spcBef>
                          <a:spcPts val="445"/>
                        </a:spcBef>
                        <a:spcAft>
                          <a:spcPts val="0"/>
                        </a:spcAft>
                        <a:buClrTx/>
                        <a:buSzTx/>
                        <a:buFontTx/>
                        <a:buNone/>
                      </a:pPr>
                      <a:r>
                        <a:rPr lang="en-IN" sz="1100" b="0" i="0" u="none" strike="noStrike">
                          <a:solidFill>
                            <a:schemeClr val="tx1"/>
                          </a:solidFill>
                          <a:effectLst/>
                          <a:latin typeface="Adani Regular" panose="02000503000000020004" pitchFamily="2" charset="0"/>
                        </a:rPr>
                        <a:t>Statutory Approvals</a:t>
                      </a:r>
                      <a:endParaRPr lang="en-US" sz="1100">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0.36%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just">
                        <a:lnSpc>
                          <a:spcPct val="100000"/>
                        </a:lnSpc>
                        <a:spcBef>
                          <a:spcPts val="0"/>
                        </a:spcBef>
                        <a:spcAft>
                          <a:spcPts val="0"/>
                        </a:spcAft>
                        <a:buNone/>
                      </a:pPr>
                      <a:r>
                        <a:rPr lang="en-US" sz="1100" dirty="0">
                          <a:solidFill>
                            <a:schemeClr val="tx1"/>
                          </a:solidFill>
                          <a:latin typeface="Adani Regular" panose="02000503000000020004" pitchFamily="2" charset="0"/>
                        </a:rPr>
                        <a:t>Total approvals 18; 14 approvals are Completed, 3 In progress; 1 post commissioning.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70133264"/>
                  </a:ext>
                </a:extLst>
              </a:tr>
              <a:tr h="284955">
                <a:tc>
                  <a:txBody>
                    <a:bodyPr/>
                    <a:lstStyle/>
                    <a:p>
                      <a:pPr marL="45720">
                        <a:lnSpc>
                          <a:spcPct val="100000"/>
                        </a:lnSpc>
                        <a:spcBef>
                          <a:spcPts val="445"/>
                        </a:spcBef>
                      </a:pPr>
                      <a:r>
                        <a:rPr lang="en-US" sz="1100" spc="-10">
                          <a:latin typeface="Adani Regular" panose="02000503000000020004" pitchFamily="2" charset="0"/>
                          <a:cs typeface="Adani Regular"/>
                        </a:rPr>
                        <a:t>Engineering</a:t>
                      </a:r>
                      <a:endParaRPr lang="en-US" sz="1100">
                        <a:latin typeface="Adani Regular" panose="02000503000000020004" pitchFamily="2" charset="0"/>
                        <a:cs typeface="Adani Regular"/>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5.00%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5.00%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a:solidFill>
                            <a:schemeClr val="tx1"/>
                          </a:solidFill>
                          <a:effectLst/>
                          <a:latin typeface="Adani Regular" panose="02000503000000020004" pitchFamily="2" charset="0"/>
                          <a:ea typeface="Aptos" panose="020B0004020202020204" pitchFamily="34" charset="0"/>
                          <a:cs typeface="Aptos" panose="020B0004020202020204" pitchFamily="34" charset="0"/>
                        </a:rPr>
                        <a:t>Refer Slide no. 12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45551">
                <a:tc>
                  <a:txBody>
                    <a:bodyPr/>
                    <a:lstStyle/>
                    <a:p>
                      <a:pPr marL="45720" marR="0" lvl="0" indent="0" algn="l" defTabSz="914400" rtl="0" eaLnBrk="1" fontAlgn="auto" latinLnBrk="0" hangingPunct="1">
                        <a:lnSpc>
                          <a:spcPct val="100000"/>
                        </a:lnSpc>
                        <a:spcBef>
                          <a:spcPts val="445"/>
                        </a:spcBef>
                        <a:spcAft>
                          <a:spcPts val="0"/>
                        </a:spcAft>
                        <a:buClrTx/>
                        <a:buSzTx/>
                        <a:buFontTx/>
                        <a:buNone/>
                      </a:pPr>
                      <a:r>
                        <a:rPr lang="en-US" sz="1100" b="0" i="0" u="none" strike="noStrike" kern="1200" noProof="0">
                          <a:solidFill>
                            <a:schemeClr val="tx1"/>
                          </a:solidFill>
                          <a:effectLst/>
                          <a:latin typeface="Adani Regular" panose="02000503000000020004" pitchFamily="2" charset="0"/>
                          <a:ea typeface="+mn-ea"/>
                          <a:cs typeface="+mn-cs"/>
                        </a:rPr>
                        <a:t>Ordering, Manufacturing &amp; Supply </a:t>
                      </a:r>
                      <a:endParaRPr lang="en-US"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23.47%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5.38%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solidFill>
                            <a:schemeClr val="tx1"/>
                          </a:solidFill>
                          <a:latin typeface="Adani Regular" panose="02000503000000020004" pitchFamily="2" charset="0"/>
                          <a:ea typeface="+mn-ea"/>
                          <a:cs typeface="+mn-cs"/>
                        </a:rPr>
                        <a:t>Deliveries of Battery, PCS, EMS , Trafo, CSS, MV Switchgear &amp; Harmonic filters got delayed</a:t>
                      </a:r>
                      <a:endParaRPr lang="en-US" sz="1100" kern="1200" noProof="0" dirty="0">
                        <a:solidFill>
                          <a:schemeClr val="tx1"/>
                        </a:solidFill>
                        <a:effectLst/>
                        <a:latin typeface="Adani Regular" panose="02000503000000020004" pitchFamily="2"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79962">
                <a:tc>
                  <a:txBody>
                    <a:bodyPr/>
                    <a:lstStyle/>
                    <a:p>
                      <a:r>
                        <a:rPr lang="en-US" sz="1100" b="0" i="0" u="none" strike="noStrike" kern="1200">
                          <a:solidFill>
                            <a:schemeClr val="tx1"/>
                          </a:solidFill>
                          <a:effectLst/>
                          <a:latin typeface="Adani Regular" panose="02000503000000020004" pitchFamily="2" charset="0"/>
                          <a:ea typeface="+mn-ea"/>
                          <a:cs typeface="+mn-cs"/>
                        </a:rPr>
                        <a:t>Construction (Civil), Electrical,</a:t>
                      </a:r>
                    </a:p>
                    <a:p>
                      <a:r>
                        <a:rPr lang="en-US" sz="1100" b="0" i="0" u="none" strike="noStrike" kern="1200">
                          <a:solidFill>
                            <a:schemeClr val="tx1"/>
                          </a:solidFill>
                          <a:effectLst/>
                          <a:latin typeface="Adani Regular" panose="02000503000000020004" pitchFamily="2" charset="0"/>
                          <a:ea typeface="+mn-ea"/>
                          <a:cs typeface="+mn-cs"/>
                        </a:rPr>
                        <a:t>Integration &amp; Commissioning</a:t>
                      </a:r>
                      <a:endParaRPr lang="en-IN"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24.93%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11.63%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13.30%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lnSpc>
                          <a:spcPct val="119048"/>
                        </a:lnSpc>
                        <a:buNone/>
                      </a:pPr>
                      <a:r>
                        <a:rPr lang="en-US" sz="1100" dirty="0">
                          <a:solidFill>
                            <a:schemeClr val="tx1"/>
                          </a:solidFill>
                          <a:latin typeface="Adani Regular" panose="02000503000000020004" pitchFamily="2" charset="0"/>
                          <a:ea typeface="+mn-ea"/>
                          <a:cs typeface="+mn-cs"/>
                        </a:rPr>
                        <a:t>Inadequate manpower deployment by M/s </a:t>
                      </a:r>
                      <a:r>
                        <a:rPr lang="en-US" sz="1100" dirty="0" err="1">
                          <a:solidFill>
                            <a:schemeClr val="tx1"/>
                          </a:solidFill>
                          <a:latin typeface="Adani Regular" panose="02000503000000020004" pitchFamily="2" charset="0"/>
                          <a:ea typeface="+mn-ea"/>
                          <a:cs typeface="+mn-cs"/>
                        </a:rPr>
                        <a:t>Shreeji</a:t>
                      </a:r>
                      <a:r>
                        <a:rPr lang="en-US" sz="1100" dirty="0">
                          <a:solidFill>
                            <a:schemeClr val="tx1"/>
                          </a:solidFill>
                          <a:latin typeface="Adani Regular" panose="02000503000000020004" pitchFamily="2" charset="0"/>
                          <a:ea typeface="+mn-ea"/>
                          <a:cs typeface="+mn-cs"/>
                        </a:rPr>
                        <a:t> and M/s SUNELEC. M/s </a:t>
                      </a:r>
                      <a:r>
                        <a:rPr lang="en-US" sz="1100" dirty="0" err="1">
                          <a:solidFill>
                            <a:schemeClr val="tx1"/>
                          </a:solidFill>
                          <a:latin typeface="Adani Regular" panose="02000503000000020004" pitchFamily="2" charset="0"/>
                          <a:ea typeface="+mn-ea"/>
                          <a:cs typeface="+mn-cs"/>
                        </a:rPr>
                        <a:t>Shreeji</a:t>
                      </a:r>
                      <a:r>
                        <a:rPr lang="en-US" sz="1100" dirty="0">
                          <a:solidFill>
                            <a:schemeClr val="tx1"/>
                          </a:solidFill>
                          <a:latin typeface="Adani Regular" panose="02000503000000020004" pitchFamily="2" charset="0"/>
                          <a:ea typeface="+mn-ea"/>
                          <a:cs typeface="+mn-cs"/>
                        </a:rPr>
                        <a:t> is targeted to complete civil works by 25-Sep, while M/s SUNELEC is augmenting manpower to improve progress.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0448443"/>
                  </a:ext>
                </a:extLst>
              </a:tr>
              <a:tr h="454835">
                <a:tc>
                  <a:txBody>
                    <a:bodyPr/>
                    <a:lstStyle/>
                    <a:p>
                      <a:pPr algn="ctr"/>
                      <a:r>
                        <a:rPr lang="en-US" sz="1100" b="1" spc="-10">
                          <a:solidFill>
                            <a:schemeClr val="bg1"/>
                          </a:solidFill>
                          <a:latin typeface="Adani Regular" panose="02000503000000020004" pitchFamily="2" charset="0"/>
                        </a:rPr>
                        <a:t>Total</a:t>
                      </a:r>
                      <a:endParaRPr lang="en-IN" sz="1100">
                        <a:solidFill>
                          <a:schemeClr val="bg1"/>
                        </a:solidFill>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algn="ctr" defTabSz="914400" rtl="0" eaLnBrk="1" fontAlgn="ctr" latinLnBrk="0" hangingPunct="1">
                        <a:buNone/>
                      </a:pPr>
                      <a:r>
                        <a:rPr lang="en-IN" sz="1100" b="1" i="0" u="none" strike="noStrike" kern="1200">
                          <a:solidFill>
                            <a:schemeClr val="bg1"/>
                          </a:solidFill>
                          <a:effectLst/>
                          <a:latin typeface="Adani Regular" panose="02000503000000020004" pitchFamily="2" charset="0"/>
                          <a:ea typeface="+mn-ea"/>
                          <a:cs typeface="+mn-cs"/>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60.6%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41.5%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dirty="0">
                          <a:solidFill>
                            <a:srgbClr val="FFFFFF"/>
                          </a:solidFill>
                          <a:effectLst/>
                          <a:latin typeface="Adani Regular" panose="02000503000000020004" pitchFamily="2" charset="0"/>
                        </a:rPr>
                        <a:t>19.0%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35560" lvl="0" indent="0" algn="l" defTabSz="914400" rtl="0" eaLnBrk="1" fontAlgn="ctr" latinLnBrk="0" hangingPunct="1">
                        <a:lnSpc>
                          <a:spcPct val="100000"/>
                        </a:lnSpc>
                        <a:spcBef>
                          <a:spcPts val="65"/>
                        </a:spcBef>
                        <a:spcAft>
                          <a:spcPts val="0"/>
                        </a:spcAft>
                        <a:buClrTx/>
                        <a:buSzTx/>
                        <a:buFont typeface="Arial" panose="020B0604020202020204" pitchFamily="34" charset="0"/>
                        <a:buNone/>
                        <a:tabLst>
                          <a:tab pos="219075" algn="l"/>
                        </a:tabLst>
                        <a:defRPr/>
                      </a:pPr>
                      <a:r>
                        <a:rPr lang="en-US" sz="1100" b="1" dirty="0">
                          <a:solidFill>
                            <a:schemeClr val="bg1"/>
                          </a:solidFill>
                          <a:latin typeface="Adani Regular" panose="02000503000000020004" pitchFamily="2" charset="0"/>
                        </a:rPr>
                        <a:t>Mitigation Plan: </a:t>
                      </a:r>
                      <a:r>
                        <a:rPr lang="en-US" sz="1100" b="0" dirty="0">
                          <a:solidFill>
                            <a:schemeClr val="bg1"/>
                          </a:solidFill>
                          <a:latin typeface="Adani Regular" panose="02000503000000020004" pitchFamily="2" charset="0"/>
                        </a:rPr>
                        <a:t>Expedite the efforts of the BOP Civil and ACDC contractors to increase manpower in line with the commitments in the signed MOM.</a:t>
                      </a:r>
                      <a:endParaRPr lang="en-US" sz="1100" b="0" i="0" u="none" strike="noStrike" kern="1200" dirty="0">
                        <a:solidFill>
                          <a:schemeClr val="bg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20722021"/>
                  </a:ext>
                </a:extLst>
              </a:tr>
            </a:tbl>
          </a:graphicData>
        </a:graphic>
      </p:graphicFrame>
      <p:sp>
        <p:nvSpPr>
          <p:cNvPr id="2" name="Slide Number Placeholder 2">
            <a:extLst>
              <a:ext uri="{FF2B5EF4-FFF2-40B4-BE49-F238E27FC236}">
                <a16:creationId xmlns:a16="http://schemas.microsoft.com/office/drawing/2014/main" id="{D89A5FEE-6506-5031-2935-6C118AFAA506}"/>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11</a:t>
            </a:fld>
            <a:endParaRPr lang="en-IN"/>
          </a:p>
        </p:txBody>
      </p:sp>
      <p:pic>
        <p:nvPicPr>
          <p:cNvPr id="3" name="Picture 2">
            <a:extLst>
              <a:ext uri="{FF2B5EF4-FFF2-40B4-BE49-F238E27FC236}">
                <a16:creationId xmlns:a16="http://schemas.microsoft.com/office/drawing/2014/main" id="{D9C3B0DE-E2B0-7220-63A7-445FA5046037}"/>
              </a:ext>
            </a:extLst>
          </p:cNvPr>
          <p:cNvPicPr>
            <a:picLocks noChangeAspect="1"/>
          </p:cNvPicPr>
          <p:nvPr/>
        </p:nvPicPr>
        <p:blipFill>
          <a:blip r:embed="rId2"/>
          <a:stretch>
            <a:fillRect/>
          </a:stretch>
        </p:blipFill>
        <p:spPr>
          <a:xfrm>
            <a:off x="397362" y="650676"/>
            <a:ext cx="11520316" cy="3103177"/>
          </a:xfrm>
          <a:prstGeom prst="rect">
            <a:avLst/>
          </a:prstGeom>
        </p:spPr>
      </p:pic>
    </p:spTree>
    <p:extLst>
      <p:ext uri="{BB962C8B-B14F-4D97-AF65-F5344CB8AC3E}">
        <p14:creationId xmlns:p14="http://schemas.microsoft.com/office/powerpoint/2010/main" val="555662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5FDBD-054F-6579-04A7-904120D7AF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97D89A-9A6D-998C-BC89-766F96879D29}"/>
              </a:ext>
            </a:extLst>
          </p:cNvPr>
          <p:cNvSpPr>
            <a:spLocks noGrp="1"/>
          </p:cNvSpPr>
          <p:nvPr>
            <p:ph type="ctrTitle"/>
          </p:nvPr>
        </p:nvSpPr>
        <p:spPr>
          <a:xfrm>
            <a:off x="316783" y="9018"/>
            <a:ext cx="11730074" cy="461382"/>
          </a:xfrm>
          <a:noFill/>
        </p:spPr>
        <p:txBody>
          <a:bodyPr vert="horz" wrap="square" lIns="91157" tIns="45580" rIns="91157" bIns="45580" rtlCol="0" anchor="b">
            <a:spAutoFit/>
          </a:bodyPr>
          <a:lstStyle/>
          <a:p>
            <a:pPr marL="109192" algn="l" defTabSz="911377"/>
            <a:r>
              <a:rPr lang="en-US" sz="2400" b="1">
                <a:gradFill>
                  <a:gsLst>
                    <a:gs pos="9735">
                      <a:schemeClr val="tx2"/>
                    </a:gs>
                    <a:gs pos="63000">
                      <a:srgbClr val="8E278F"/>
                    </a:gs>
                    <a:gs pos="38000">
                      <a:srgbClr val="57499E"/>
                    </a:gs>
                  </a:gsLst>
                  <a:lin ang="0" scaled="0"/>
                </a:gradFill>
                <a:highlight>
                  <a:srgbClr val="33CC33"/>
                </a:highlight>
              </a:rPr>
              <a:t>Engineering Progress : PSS 11 / PSS 12 / PSS 10B/ PSS 09/ PSS08B/ PSS05B</a:t>
            </a:r>
          </a:p>
        </p:txBody>
      </p:sp>
      <p:pic>
        <p:nvPicPr>
          <p:cNvPr id="11" name="Picture 10">
            <a:extLst>
              <a:ext uri="{FF2B5EF4-FFF2-40B4-BE49-F238E27FC236}">
                <a16:creationId xmlns:a16="http://schemas.microsoft.com/office/drawing/2014/main" id="{E3C49D31-FE07-55A4-3BDF-8FF61B555167}"/>
              </a:ext>
            </a:extLst>
          </p:cNvPr>
          <p:cNvPicPr>
            <a:picLocks noChangeAspect="1"/>
          </p:cNvPicPr>
          <p:nvPr/>
        </p:nvPicPr>
        <p:blipFill>
          <a:blip r:embed="rId4"/>
          <a:stretch>
            <a:fillRect/>
          </a:stretch>
        </p:blipFill>
        <p:spPr>
          <a:xfrm>
            <a:off x="6086475" y="3419475"/>
            <a:ext cx="19050" cy="19050"/>
          </a:xfrm>
          <a:prstGeom prst="rect">
            <a:avLst/>
          </a:prstGeom>
        </p:spPr>
      </p:pic>
      <p:sp>
        <p:nvSpPr>
          <p:cNvPr id="8" name="object 6">
            <a:extLst>
              <a:ext uri="{FF2B5EF4-FFF2-40B4-BE49-F238E27FC236}">
                <a16:creationId xmlns:a16="http://schemas.microsoft.com/office/drawing/2014/main" id="{2778AFD4-1581-75F6-CDC7-DEE733DD07D1}"/>
              </a:ext>
            </a:extLst>
          </p:cNvPr>
          <p:cNvSpPr txBox="1"/>
          <p:nvPr/>
        </p:nvSpPr>
        <p:spPr>
          <a:xfrm>
            <a:off x="429324" y="6377521"/>
            <a:ext cx="10739120" cy="391160"/>
          </a:xfrm>
          <a:prstGeom prst="rect">
            <a:avLst/>
          </a:prstGeom>
        </p:spPr>
        <p:txBody>
          <a:bodyPr vert="horz" wrap="square" lIns="0" tIns="12700" rIns="0" bIns="0" rtlCol="0">
            <a:spAutoFit/>
          </a:bodyPr>
          <a:lstStyle/>
          <a:p>
            <a:pPr marL="12700" marR="5080">
              <a:lnSpc>
                <a:spcPct val="100000"/>
              </a:lnSpc>
              <a:spcBef>
                <a:spcPts val="100"/>
              </a:spcBef>
            </a:pPr>
            <a:r>
              <a:rPr lang="en-US" sz="1200" spc="20">
                <a:latin typeface="Adani Regular" panose="02000503000000020004" pitchFamily="2" charset="0"/>
                <a:cs typeface="Arial"/>
              </a:rPr>
              <a:t>Cat</a:t>
            </a:r>
            <a:r>
              <a:rPr lang="en-US" sz="1200" spc="30">
                <a:latin typeface="Adani Regular" panose="02000503000000020004" pitchFamily="2" charset="0"/>
                <a:cs typeface="Arial"/>
              </a:rPr>
              <a:t> </a:t>
            </a:r>
            <a:r>
              <a:rPr lang="en-US" sz="1200" spc="20">
                <a:latin typeface="Adani Regular" panose="02000503000000020004" pitchFamily="2" charset="0"/>
                <a:cs typeface="Arial"/>
              </a:rPr>
              <a:t>I:</a:t>
            </a:r>
            <a:r>
              <a:rPr lang="en-US" sz="1200" spc="30">
                <a:latin typeface="Adani Regular" panose="02000503000000020004" pitchFamily="2" charset="0"/>
                <a:cs typeface="Arial"/>
              </a:rPr>
              <a:t> </a:t>
            </a:r>
            <a:r>
              <a:rPr lang="en-US" sz="1200" spc="20">
                <a:latin typeface="Adani Regular" panose="02000503000000020004" pitchFamily="2" charset="0"/>
                <a:cs typeface="Arial"/>
              </a:rPr>
              <a:t>Approved,</a:t>
            </a:r>
            <a:r>
              <a:rPr lang="en-US" sz="1200" spc="35">
                <a:latin typeface="Adani Regular" panose="02000503000000020004" pitchFamily="2" charset="0"/>
                <a:cs typeface="Arial"/>
              </a:rPr>
              <a:t> </a:t>
            </a:r>
            <a:r>
              <a:rPr lang="en-US" sz="1200" spc="20">
                <a:latin typeface="Adani Regular" panose="02000503000000020004" pitchFamily="2" charset="0"/>
                <a:cs typeface="Arial"/>
              </a:rPr>
              <a:t>Cat</a:t>
            </a:r>
            <a:r>
              <a:rPr lang="en-US" sz="1200" spc="30">
                <a:latin typeface="Adani Regular" panose="02000503000000020004" pitchFamily="2" charset="0"/>
                <a:cs typeface="Arial"/>
              </a:rPr>
              <a:t> </a:t>
            </a:r>
            <a:r>
              <a:rPr lang="en-US" sz="1200" spc="20">
                <a:latin typeface="Adani Regular" panose="02000503000000020004" pitchFamily="2" charset="0"/>
                <a:cs typeface="Arial"/>
              </a:rPr>
              <a:t>II:</a:t>
            </a:r>
            <a:r>
              <a:rPr lang="en-US" sz="1200" spc="50">
                <a:latin typeface="Adani Regular" panose="02000503000000020004" pitchFamily="2" charset="0"/>
                <a:cs typeface="Arial"/>
              </a:rPr>
              <a:t> </a:t>
            </a:r>
            <a:r>
              <a:rPr lang="en-US" sz="1200" spc="20">
                <a:latin typeface="Adani Regular" panose="02000503000000020004" pitchFamily="2" charset="0"/>
                <a:cs typeface="Arial"/>
              </a:rPr>
              <a:t>Approved</a:t>
            </a:r>
            <a:r>
              <a:rPr lang="en-US" sz="1200" spc="30">
                <a:latin typeface="Adani Regular" panose="02000503000000020004" pitchFamily="2" charset="0"/>
                <a:cs typeface="Arial"/>
              </a:rPr>
              <a:t> </a:t>
            </a:r>
            <a:r>
              <a:rPr lang="en-US" sz="1200" spc="90">
                <a:latin typeface="Adani Regular" panose="02000503000000020004" pitchFamily="2" charset="0"/>
                <a:cs typeface="Arial"/>
              </a:rPr>
              <a:t>with</a:t>
            </a:r>
            <a:r>
              <a:rPr lang="en-US" sz="1200" spc="45">
                <a:latin typeface="Adani Regular" panose="02000503000000020004" pitchFamily="2" charset="0"/>
                <a:cs typeface="Arial"/>
              </a:rPr>
              <a:t> </a:t>
            </a:r>
            <a:r>
              <a:rPr lang="en-US" sz="1200" spc="50">
                <a:latin typeface="Adani Regular" panose="02000503000000020004" pitchFamily="2" charset="0"/>
                <a:cs typeface="Arial"/>
              </a:rPr>
              <a:t>minor</a:t>
            </a:r>
            <a:r>
              <a:rPr lang="en-US" sz="1200" spc="30">
                <a:latin typeface="Adani Regular" panose="02000503000000020004" pitchFamily="2" charset="0"/>
                <a:cs typeface="Arial"/>
              </a:rPr>
              <a:t> </a:t>
            </a:r>
            <a:r>
              <a:rPr lang="en-US" sz="1200" spc="20">
                <a:latin typeface="Adani Regular" panose="02000503000000020004" pitchFamily="2" charset="0"/>
                <a:cs typeface="Arial"/>
              </a:rPr>
              <a:t>comments,</a:t>
            </a:r>
            <a:r>
              <a:rPr lang="en-US" sz="1200" spc="35">
                <a:latin typeface="Adani Regular" panose="02000503000000020004" pitchFamily="2" charset="0"/>
                <a:cs typeface="Arial"/>
              </a:rPr>
              <a:t> </a:t>
            </a:r>
            <a:r>
              <a:rPr lang="en-US" sz="1200" spc="20">
                <a:latin typeface="Adani Regular" panose="02000503000000020004" pitchFamily="2" charset="0"/>
                <a:cs typeface="Arial"/>
              </a:rPr>
              <a:t>Cat</a:t>
            </a:r>
            <a:r>
              <a:rPr lang="en-US" sz="1200" spc="15">
                <a:latin typeface="Adani Regular" panose="02000503000000020004" pitchFamily="2" charset="0"/>
                <a:cs typeface="Arial"/>
              </a:rPr>
              <a:t> </a:t>
            </a:r>
            <a:r>
              <a:rPr lang="en-US" sz="1200" spc="10">
                <a:latin typeface="Adani Regular" panose="02000503000000020004" pitchFamily="2" charset="0"/>
                <a:cs typeface="Arial"/>
              </a:rPr>
              <a:t>III:</a:t>
            </a:r>
            <a:r>
              <a:rPr lang="en-US" sz="1200" spc="45">
                <a:latin typeface="Adani Regular" panose="02000503000000020004" pitchFamily="2" charset="0"/>
                <a:cs typeface="Arial"/>
              </a:rPr>
              <a:t> </a:t>
            </a:r>
            <a:r>
              <a:rPr lang="en-US" sz="1200" spc="80">
                <a:latin typeface="Adani Regular" panose="02000503000000020004" pitchFamily="2" charset="0"/>
                <a:cs typeface="Arial"/>
              </a:rPr>
              <a:t>Not</a:t>
            </a:r>
            <a:r>
              <a:rPr lang="en-US" sz="1200" spc="30">
                <a:latin typeface="Adani Regular" panose="02000503000000020004" pitchFamily="2" charset="0"/>
                <a:cs typeface="Arial"/>
              </a:rPr>
              <a:t> </a:t>
            </a:r>
            <a:r>
              <a:rPr lang="en-US" sz="1200" spc="20">
                <a:latin typeface="Adani Regular" panose="02000503000000020004" pitchFamily="2" charset="0"/>
                <a:cs typeface="Arial"/>
              </a:rPr>
              <a:t>approved,</a:t>
            </a:r>
            <a:r>
              <a:rPr lang="en-US" sz="1200" spc="45">
                <a:latin typeface="Adani Regular" panose="02000503000000020004" pitchFamily="2" charset="0"/>
                <a:cs typeface="Arial"/>
              </a:rPr>
              <a:t> </a:t>
            </a:r>
            <a:r>
              <a:rPr lang="en-US" sz="1200" spc="20">
                <a:latin typeface="Adani Regular" panose="02000503000000020004" pitchFamily="2" charset="0"/>
                <a:cs typeface="Arial"/>
              </a:rPr>
              <a:t>Cat</a:t>
            </a:r>
            <a:r>
              <a:rPr lang="en-US" sz="1200" spc="35">
                <a:latin typeface="Adani Regular" panose="02000503000000020004" pitchFamily="2" charset="0"/>
                <a:cs typeface="Arial"/>
              </a:rPr>
              <a:t> </a:t>
            </a:r>
            <a:r>
              <a:rPr lang="en-US" sz="1200" spc="20">
                <a:latin typeface="Adani Regular" panose="02000503000000020004" pitchFamily="2" charset="0"/>
                <a:cs typeface="Arial"/>
              </a:rPr>
              <a:t>IV:</a:t>
            </a:r>
            <a:r>
              <a:rPr lang="en-US" sz="1200" spc="45">
                <a:latin typeface="Adani Regular" panose="02000503000000020004" pitchFamily="2" charset="0"/>
                <a:cs typeface="Arial"/>
              </a:rPr>
              <a:t> </a:t>
            </a:r>
            <a:r>
              <a:rPr lang="en-US" sz="1200" spc="20">
                <a:latin typeface="Adani Regular" panose="02000503000000020004" pitchFamily="2" charset="0"/>
                <a:cs typeface="Arial"/>
              </a:rPr>
              <a:t>For</a:t>
            </a:r>
            <a:r>
              <a:rPr lang="en-US" sz="1200" spc="30">
                <a:latin typeface="Adani Regular" panose="02000503000000020004" pitchFamily="2" charset="0"/>
                <a:cs typeface="Arial"/>
              </a:rPr>
              <a:t> </a:t>
            </a:r>
            <a:r>
              <a:rPr lang="en-US" sz="1200" spc="20">
                <a:latin typeface="Adani Regular" panose="02000503000000020004" pitchFamily="2" charset="0"/>
                <a:cs typeface="Arial"/>
              </a:rPr>
              <a:t>Information,</a:t>
            </a:r>
            <a:r>
              <a:rPr lang="en-US" sz="1200" spc="40">
                <a:latin typeface="Adani Regular" panose="02000503000000020004" pitchFamily="2" charset="0"/>
                <a:cs typeface="Arial"/>
              </a:rPr>
              <a:t> </a:t>
            </a:r>
            <a:r>
              <a:rPr lang="en-US" sz="1200" spc="20">
                <a:latin typeface="Adani Regular" panose="02000503000000020004" pitchFamily="2" charset="0"/>
                <a:cs typeface="Arial"/>
              </a:rPr>
              <a:t>Cat</a:t>
            </a:r>
            <a:r>
              <a:rPr lang="en-US" sz="1200" spc="30">
                <a:latin typeface="Adani Regular" panose="02000503000000020004" pitchFamily="2" charset="0"/>
                <a:cs typeface="Arial"/>
              </a:rPr>
              <a:t> </a:t>
            </a:r>
            <a:r>
              <a:rPr lang="en-US" sz="1200" spc="20">
                <a:latin typeface="Adani Regular" panose="02000503000000020004" pitchFamily="2" charset="0"/>
                <a:cs typeface="Arial"/>
              </a:rPr>
              <a:t>IV*:Incorporate</a:t>
            </a:r>
            <a:r>
              <a:rPr lang="en-US" sz="1200" spc="-5">
                <a:latin typeface="Adani Regular" panose="02000503000000020004" pitchFamily="2" charset="0"/>
                <a:cs typeface="Arial"/>
              </a:rPr>
              <a:t> </a:t>
            </a:r>
            <a:r>
              <a:rPr lang="en-US" sz="1200" spc="50">
                <a:latin typeface="Adani Regular" panose="02000503000000020004" pitchFamily="2" charset="0"/>
                <a:cs typeface="Arial"/>
              </a:rPr>
              <a:t>comments</a:t>
            </a:r>
            <a:r>
              <a:rPr lang="en-US" sz="1200" spc="35">
                <a:latin typeface="Adani Regular" panose="02000503000000020004" pitchFamily="2" charset="0"/>
                <a:cs typeface="Arial"/>
              </a:rPr>
              <a:t> </a:t>
            </a:r>
            <a:r>
              <a:rPr lang="en-US" sz="1200" spc="20">
                <a:latin typeface="Adani Regular" panose="02000503000000020004" pitchFamily="2" charset="0"/>
                <a:cs typeface="Arial"/>
              </a:rPr>
              <a:t>and</a:t>
            </a:r>
            <a:r>
              <a:rPr lang="en-US" sz="1200" spc="25">
                <a:latin typeface="Adani Regular" panose="02000503000000020004" pitchFamily="2" charset="0"/>
                <a:cs typeface="Arial"/>
              </a:rPr>
              <a:t> </a:t>
            </a:r>
            <a:r>
              <a:rPr lang="en-US" sz="1200" spc="50">
                <a:latin typeface="Adani Regular" panose="02000503000000020004" pitchFamily="2" charset="0"/>
                <a:cs typeface="Arial"/>
              </a:rPr>
              <a:t>resubmit</a:t>
            </a:r>
            <a:r>
              <a:rPr lang="en-US" sz="1200" spc="25">
                <a:latin typeface="Adani Regular" panose="02000503000000020004" pitchFamily="2" charset="0"/>
                <a:cs typeface="Arial"/>
              </a:rPr>
              <a:t> </a:t>
            </a:r>
            <a:r>
              <a:rPr lang="en-US" sz="1200" spc="40">
                <a:latin typeface="Adani Regular" panose="02000503000000020004" pitchFamily="2" charset="0"/>
                <a:cs typeface="Arial"/>
              </a:rPr>
              <a:t>for </a:t>
            </a:r>
            <a:r>
              <a:rPr lang="en-US" sz="1200" spc="50">
                <a:latin typeface="Adani Regular" panose="02000503000000020004" pitchFamily="2" charset="0"/>
                <a:cs typeface="Arial"/>
              </a:rPr>
              <a:t>information</a:t>
            </a:r>
            <a:endParaRPr lang="en-US" sz="1200">
              <a:latin typeface="Adani Regular" panose="02000503000000020004" pitchFamily="2" charset="0"/>
              <a:cs typeface="Arial"/>
            </a:endParaRPr>
          </a:p>
        </p:txBody>
      </p:sp>
      <p:sp>
        <p:nvSpPr>
          <p:cNvPr id="3" name="Slide Number Placeholder 2">
            <a:extLst>
              <a:ext uri="{FF2B5EF4-FFF2-40B4-BE49-F238E27FC236}">
                <a16:creationId xmlns:a16="http://schemas.microsoft.com/office/drawing/2014/main" id="{6355E05E-BAB5-A648-C61F-526AA849162E}"/>
              </a:ext>
            </a:extLst>
          </p:cNvPr>
          <p:cNvSpPr>
            <a:spLocks noGrp="1"/>
          </p:cNvSpPr>
          <p:nvPr>
            <p:ph type="sldNum" sz="quarter" idx="12"/>
          </p:nvPr>
        </p:nvSpPr>
        <p:spPr/>
        <p:txBody>
          <a:bodyPr/>
          <a:lstStyle/>
          <a:p>
            <a:fld id="{98B285C1-D8A8-4E98-B28C-1FD972D8EC54}" type="slidenum">
              <a:rPr lang="en-IN" smtClean="0"/>
              <a:t>12</a:t>
            </a:fld>
            <a:endParaRPr lang="en-IN"/>
          </a:p>
        </p:txBody>
      </p:sp>
      <p:graphicFrame>
        <p:nvGraphicFramePr>
          <p:cNvPr id="5" name="object 9">
            <a:extLst>
              <a:ext uri="{FF2B5EF4-FFF2-40B4-BE49-F238E27FC236}">
                <a16:creationId xmlns:a16="http://schemas.microsoft.com/office/drawing/2014/main" id="{996E4F5B-777D-A30A-7B9D-88447C2C2C33}"/>
              </a:ext>
            </a:extLst>
          </p:cNvPr>
          <p:cNvGraphicFramePr>
            <a:graphicFrameLocks noGrp="1"/>
          </p:cNvGraphicFramePr>
          <p:nvPr>
            <p:extLst>
              <p:ext uri="{D42A27DB-BD31-4B8C-83A1-F6EECF244321}">
                <p14:modId xmlns:p14="http://schemas.microsoft.com/office/powerpoint/2010/main" val="1293181089"/>
              </p:ext>
            </p:extLst>
          </p:nvPr>
        </p:nvGraphicFramePr>
        <p:xfrm>
          <a:off x="364407" y="709800"/>
          <a:ext cx="11319594" cy="5208401"/>
        </p:xfrm>
        <a:graphic>
          <a:graphicData uri="http://schemas.openxmlformats.org/drawingml/2006/table">
            <a:tbl>
              <a:tblPr firstRow="1" bandRow="1">
                <a:tableStyleId>{2D5ABB26-0587-4C30-8999-92F81FD0307C}</a:tableStyleId>
              </a:tblPr>
              <a:tblGrid>
                <a:gridCol w="1133495">
                  <a:extLst>
                    <a:ext uri="{9D8B030D-6E8A-4147-A177-3AD203B41FA5}">
                      <a16:colId xmlns:a16="http://schemas.microsoft.com/office/drawing/2014/main" val="20000"/>
                    </a:ext>
                  </a:extLst>
                </a:gridCol>
                <a:gridCol w="1114796">
                  <a:extLst>
                    <a:ext uri="{9D8B030D-6E8A-4147-A177-3AD203B41FA5}">
                      <a16:colId xmlns:a16="http://schemas.microsoft.com/office/drawing/2014/main" val="20001"/>
                    </a:ext>
                  </a:extLst>
                </a:gridCol>
                <a:gridCol w="717011">
                  <a:extLst>
                    <a:ext uri="{9D8B030D-6E8A-4147-A177-3AD203B41FA5}">
                      <a16:colId xmlns:a16="http://schemas.microsoft.com/office/drawing/2014/main" val="20002"/>
                    </a:ext>
                  </a:extLst>
                </a:gridCol>
                <a:gridCol w="968191">
                  <a:extLst>
                    <a:ext uri="{9D8B030D-6E8A-4147-A177-3AD203B41FA5}">
                      <a16:colId xmlns:a16="http://schemas.microsoft.com/office/drawing/2014/main" val="20004"/>
                    </a:ext>
                  </a:extLst>
                </a:gridCol>
                <a:gridCol w="650073">
                  <a:extLst>
                    <a:ext uri="{9D8B030D-6E8A-4147-A177-3AD203B41FA5}">
                      <a16:colId xmlns:a16="http://schemas.microsoft.com/office/drawing/2014/main" val="20005"/>
                    </a:ext>
                  </a:extLst>
                </a:gridCol>
                <a:gridCol w="650073">
                  <a:extLst>
                    <a:ext uri="{9D8B030D-6E8A-4147-A177-3AD203B41FA5}">
                      <a16:colId xmlns:a16="http://schemas.microsoft.com/office/drawing/2014/main" val="20006"/>
                    </a:ext>
                  </a:extLst>
                </a:gridCol>
                <a:gridCol w="650073">
                  <a:extLst>
                    <a:ext uri="{9D8B030D-6E8A-4147-A177-3AD203B41FA5}">
                      <a16:colId xmlns:a16="http://schemas.microsoft.com/office/drawing/2014/main" val="20007"/>
                    </a:ext>
                  </a:extLst>
                </a:gridCol>
                <a:gridCol w="650073">
                  <a:extLst>
                    <a:ext uri="{9D8B030D-6E8A-4147-A177-3AD203B41FA5}">
                      <a16:colId xmlns:a16="http://schemas.microsoft.com/office/drawing/2014/main" val="20008"/>
                    </a:ext>
                  </a:extLst>
                </a:gridCol>
                <a:gridCol w="650073">
                  <a:extLst>
                    <a:ext uri="{9D8B030D-6E8A-4147-A177-3AD203B41FA5}">
                      <a16:colId xmlns:a16="http://schemas.microsoft.com/office/drawing/2014/main" val="20009"/>
                    </a:ext>
                  </a:extLst>
                </a:gridCol>
                <a:gridCol w="1162401">
                  <a:extLst>
                    <a:ext uri="{9D8B030D-6E8A-4147-A177-3AD203B41FA5}">
                      <a16:colId xmlns:a16="http://schemas.microsoft.com/office/drawing/2014/main" val="20010"/>
                    </a:ext>
                  </a:extLst>
                </a:gridCol>
                <a:gridCol w="1094593">
                  <a:extLst>
                    <a:ext uri="{9D8B030D-6E8A-4147-A177-3AD203B41FA5}">
                      <a16:colId xmlns:a16="http://schemas.microsoft.com/office/drawing/2014/main" val="20011"/>
                    </a:ext>
                  </a:extLst>
                </a:gridCol>
                <a:gridCol w="939371">
                  <a:extLst>
                    <a:ext uri="{9D8B030D-6E8A-4147-A177-3AD203B41FA5}">
                      <a16:colId xmlns:a16="http://schemas.microsoft.com/office/drawing/2014/main" val="20012"/>
                    </a:ext>
                  </a:extLst>
                </a:gridCol>
                <a:gridCol w="939371">
                  <a:extLst>
                    <a:ext uri="{9D8B030D-6E8A-4147-A177-3AD203B41FA5}">
                      <a16:colId xmlns:a16="http://schemas.microsoft.com/office/drawing/2014/main" val="357900955"/>
                    </a:ext>
                  </a:extLst>
                </a:gridCol>
              </a:tblGrid>
              <a:tr h="532007">
                <a:tc rowSpan="3">
                  <a:txBody>
                    <a:bodyPr/>
                    <a:lstStyle/>
                    <a:p>
                      <a:pPr marR="199390" algn="ctr">
                        <a:lnSpc>
                          <a:spcPct val="100000"/>
                        </a:lnSpc>
                      </a:pPr>
                      <a:r>
                        <a:rPr lang="en-US" sz="1200" b="1" spc="-10">
                          <a:solidFill>
                            <a:schemeClr val="bg1"/>
                          </a:solidFill>
                          <a:latin typeface="Adani Regular" panose="02000503000000020004" pitchFamily="2" charset="0"/>
                          <a:cs typeface="Arial"/>
                        </a:rPr>
                        <a:t>Descrip</a:t>
                      </a:r>
                      <a:r>
                        <a:rPr lang="en-US" sz="1200" b="1" spc="-20">
                          <a:solidFill>
                            <a:schemeClr val="bg1"/>
                          </a:solidFill>
                          <a:latin typeface="Adani Regular" panose="02000503000000020004" pitchFamily="2" charset="0"/>
                          <a:cs typeface="Arial"/>
                        </a:rPr>
                        <a:t>tion</a:t>
                      </a:r>
                      <a:endParaRPr lang="en-US" sz="1200">
                        <a:solidFill>
                          <a:schemeClr val="bg1"/>
                        </a:solidFill>
                        <a:latin typeface="Adani Regular" panose="02000503000000020004" pitchFamily="2" charset="0"/>
                        <a:cs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3">
                  <a:txBody>
                    <a:bodyPr/>
                    <a:lstStyle/>
                    <a:p>
                      <a:pPr marL="68580" marR="50800" indent="-3175" algn="ctr">
                        <a:lnSpc>
                          <a:spcPct val="100000"/>
                        </a:lnSpc>
                        <a:spcBef>
                          <a:spcPts val="5"/>
                        </a:spcBef>
                      </a:pPr>
                      <a:r>
                        <a:rPr lang="en-US" sz="1200" b="1" spc="-10">
                          <a:solidFill>
                            <a:schemeClr val="bg1"/>
                          </a:solidFill>
                          <a:latin typeface="Adani Regular" panose="02000503000000020004" pitchFamily="2" charset="0"/>
                          <a:cs typeface="Arial"/>
                        </a:rPr>
                        <a:t>Overall </a:t>
                      </a:r>
                      <a:r>
                        <a:rPr lang="en-US" sz="1200" b="1" spc="-20">
                          <a:solidFill>
                            <a:schemeClr val="bg1"/>
                          </a:solidFill>
                          <a:latin typeface="Adani Regular" panose="02000503000000020004" pitchFamily="2" charset="0"/>
                          <a:cs typeface="Arial"/>
                        </a:rPr>
                        <a:t>Complet</a:t>
                      </a:r>
                      <a:r>
                        <a:rPr lang="en-US" sz="1200" b="1" spc="-25">
                          <a:solidFill>
                            <a:schemeClr val="bg1"/>
                          </a:solidFill>
                          <a:latin typeface="Adani Regular" panose="02000503000000020004" pitchFamily="2" charset="0"/>
                          <a:cs typeface="Arial"/>
                        </a:rPr>
                        <a:t>ion</a:t>
                      </a:r>
                      <a:endParaRPr lang="en-US" sz="1200">
                        <a:solidFill>
                          <a:schemeClr val="bg1"/>
                        </a:solidFill>
                        <a:latin typeface="Adani Regular" panose="02000503000000020004" pitchFamily="2" charset="0"/>
                        <a:cs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3">
                  <a:txBody>
                    <a:bodyPr/>
                    <a:lstStyle/>
                    <a:p>
                      <a:pPr marL="33655" algn="ctr">
                        <a:lnSpc>
                          <a:spcPct val="100000"/>
                        </a:lnSpc>
                      </a:pPr>
                      <a:r>
                        <a:rPr sz="1200" b="1" spc="-10">
                          <a:solidFill>
                            <a:schemeClr val="bg1"/>
                          </a:solidFill>
                          <a:latin typeface="Adani Regular" panose="02000503000000020004" pitchFamily="2" charset="0"/>
                          <a:cs typeface="Arial"/>
                        </a:rPr>
                        <a:t>Total</a:t>
                      </a:r>
                      <a:endParaRPr sz="1200">
                        <a:solidFill>
                          <a:schemeClr val="bg1"/>
                        </a:solidFill>
                        <a:latin typeface="Adani Regular" panose="02000503000000020004" pitchFamily="2" charset="0"/>
                        <a:cs typeface="Arial"/>
                      </a:endParaRPr>
                    </a:p>
                    <a:p>
                      <a:pPr marL="13970" algn="ctr">
                        <a:lnSpc>
                          <a:spcPct val="100000"/>
                        </a:lnSpc>
                        <a:spcBef>
                          <a:spcPts val="5"/>
                        </a:spcBef>
                      </a:pPr>
                      <a:r>
                        <a:rPr sz="1200" b="1" spc="-10">
                          <a:solidFill>
                            <a:schemeClr val="bg1"/>
                          </a:solidFill>
                          <a:latin typeface="Adani Regular" panose="02000503000000020004" pitchFamily="2" charset="0"/>
                          <a:cs typeface="Arial"/>
                        </a:rPr>
                        <a:t>Docs.</a:t>
                      </a:r>
                      <a:endParaRPr sz="1200">
                        <a:solidFill>
                          <a:schemeClr val="bg1"/>
                        </a:solidFill>
                        <a:latin typeface="Adani Regular" panose="02000503000000020004" pitchFamily="2" charset="0"/>
                        <a:cs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10">
                  <a:txBody>
                    <a:bodyPr/>
                    <a:lstStyle/>
                    <a:p>
                      <a:pPr algn="ctr" rtl="0" fontAlgn="ctr">
                        <a:buNone/>
                      </a:pPr>
                      <a:r>
                        <a:rPr lang="en-US" sz="1200" b="1" kern="1200" spc="-10">
                          <a:solidFill>
                            <a:schemeClr val="bg1"/>
                          </a:solidFill>
                          <a:latin typeface="Adani Regular" panose="02000503000000020004" pitchFamily="2" charset="0"/>
                          <a:ea typeface="+mn-ea"/>
                          <a:cs typeface="Arial"/>
                        </a:rPr>
                        <a:t>Overall Status up to Aug’26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30A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lnR w="12700">
                      <a:solidFill>
                        <a:srgbClr val="00AEEE"/>
                      </a:solidFill>
                      <a:prstDash val="sysDot"/>
                    </a:lnR>
                    <a:lnT w="12700">
                      <a:solidFill>
                        <a:srgbClr val="00AEEE"/>
                      </a:solidFill>
                      <a:prstDash val="soli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418309">
                <a:tc vMerge="1">
                  <a:txBody>
                    <a:bodyPr/>
                    <a:lstStyle/>
                    <a:p>
                      <a:endParaRPr/>
                    </a:p>
                  </a:txBody>
                  <a:tcPr marL="0" marR="0" marT="0" marB="0">
                    <a:lnL w="12700">
                      <a:solidFill>
                        <a:srgbClr val="00AEEE"/>
                      </a:solidFill>
                      <a:prstDash val="solid"/>
                    </a:lnL>
                    <a:lnR w="12700">
                      <a:solidFill>
                        <a:srgbClr val="00AEEE"/>
                      </a:solidFill>
                      <a:prstDash val="sysDot"/>
                    </a:lnR>
                    <a:lnT w="12700">
                      <a:solidFill>
                        <a:srgbClr val="00AEEE"/>
                      </a:solidFill>
                      <a:prstDash val="solid"/>
                    </a:lnT>
                    <a:lnB w="12700">
                      <a:solidFill>
                        <a:srgbClr val="00AEEE"/>
                      </a:solidFill>
                      <a:prstDash val="sysDot"/>
                    </a:lnB>
                    <a:solidFill>
                      <a:srgbClr val="DFD1ED"/>
                    </a:solidFill>
                  </a:tcPr>
                </a:tc>
                <a:tc vMerge="1">
                  <a:txBody>
                    <a:bodyPr/>
                    <a:lstStyle/>
                    <a:p>
                      <a:endParaRPr/>
                    </a:p>
                  </a:txBody>
                  <a:tcPr marL="0" marR="0" marT="0" marB="0">
                    <a:lnL w="12700">
                      <a:solidFill>
                        <a:srgbClr val="00AEEE"/>
                      </a:solidFill>
                      <a:prstDash val="sysDot"/>
                    </a:lnL>
                    <a:lnR w="12700">
                      <a:solidFill>
                        <a:srgbClr val="00AEEE"/>
                      </a:solidFill>
                      <a:prstDash val="sysDot"/>
                    </a:lnR>
                    <a:lnT w="12700">
                      <a:solidFill>
                        <a:srgbClr val="00AEEE"/>
                      </a:solidFill>
                      <a:prstDash val="solid"/>
                    </a:lnT>
                    <a:lnB w="12700">
                      <a:solidFill>
                        <a:srgbClr val="00AEEE"/>
                      </a:solidFill>
                      <a:prstDash val="sysDot"/>
                    </a:lnB>
                    <a:solidFill>
                      <a:srgbClr val="DFD1ED"/>
                    </a:solidFill>
                  </a:tcPr>
                </a:tc>
                <a:tc vMerge="1">
                  <a:txBody>
                    <a:bodyPr/>
                    <a:lstStyle/>
                    <a:p>
                      <a:endParaRPr/>
                    </a:p>
                  </a:txBody>
                  <a:tcPr marL="0" marR="0" marT="0" marB="0">
                    <a:lnL w="12700">
                      <a:solidFill>
                        <a:srgbClr val="00AEEE"/>
                      </a:solidFill>
                      <a:prstDash val="sysDot"/>
                    </a:lnL>
                    <a:lnR w="12700">
                      <a:solidFill>
                        <a:srgbClr val="00AEEE"/>
                      </a:solidFill>
                      <a:prstDash val="sysDot"/>
                    </a:lnR>
                    <a:lnT w="12700">
                      <a:solidFill>
                        <a:srgbClr val="00AEEE"/>
                      </a:solidFill>
                      <a:prstDash val="solid"/>
                    </a:lnT>
                    <a:lnB w="12700">
                      <a:solidFill>
                        <a:srgbClr val="00AEEE"/>
                      </a:solidFill>
                      <a:prstDash val="sysDot"/>
                    </a:lnB>
                    <a:solidFill>
                      <a:srgbClr val="DFD1ED"/>
                    </a:solidFill>
                  </a:tcPr>
                </a:tc>
                <a:tc rowSpan="2">
                  <a:txBody>
                    <a:bodyPr/>
                    <a:lstStyle/>
                    <a:p>
                      <a:pPr marL="68580" marR="50800" lvl="0" indent="-3175" algn="ctr" defTabSz="914400" rtl="0" eaLnBrk="1" fontAlgn="auto" latinLnBrk="0" hangingPunct="1">
                        <a:lnSpc>
                          <a:spcPct val="100000"/>
                        </a:lnSpc>
                        <a:spcBef>
                          <a:spcPts val="5"/>
                        </a:spcBef>
                        <a:spcAft>
                          <a:spcPts val="0"/>
                        </a:spcAft>
                        <a:buClrTx/>
                        <a:buSzTx/>
                        <a:buFontTx/>
                        <a:buNone/>
                        <a:tabLst/>
                        <a:defRPr/>
                      </a:pPr>
                      <a:r>
                        <a:rPr lang="en-US" sz="1200" b="1" kern="1200" spc="-10">
                          <a:solidFill>
                            <a:schemeClr val="bg1"/>
                          </a:solidFill>
                          <a:latin typeface="Adani Regular" panose="02000503000000020004" pitchFamily="2" charset="0"/>
                          <a:ea typeface="+mn-ea"/>
                          <a:cs typeface="Arial"/>
                        </a:rPr>
                        <a:t>Docs. Cum. Received</a:t>
                      </a:r>
                    </a:p>
                  </a:txBody>
                  <a:tcPr marL="0" marR="0" marT="1028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5">
                  <a:txBody>
                    <a:bodyPr/>
                    <a:lstStyle/>
                    <a:p>
                      <a:pPr marL="200025" algn="ctr">
                        <a:lnSpc>
                          <a:spcPct val="100000"/>
                        </a:lnSpc>
                        <a:spcBef>
                          <a:spcPts val="894"/>
                        </a:spcBef>
                      </a:pPr>
                      <a:r>
                        <a:rPr sz="1200" b="1" spc="-10">
                          <a:solidFill>
                            <a:schemeClr val="bg1"/>
                          </a:solidFill>
                          <a:latin typeface="Adani Regular" panose="02000503000000020004" pitchFamily="2" charset="0"/>
                          <a:cs typeface="Arial"/>
                        </a:rPr>
                        <a:t>Documents</a:t>
                      </a:r>
                      <a:r>
                        <a:rPr sz="1200" b="1" spc="-20">
                          <a:solidFill>
                            <a:schemeClr val="bg1"/>
                          </a:solidFill>
                          <a:latin typeface="Adani Regular" panose="02000503000000020004" pitchFamily="2" charset="0"/>
                          <a:cs typeface="Arial"/>
                        </a:rPr>
                        <a:t> </a:t>
                      </a:r>
                      <a:r>
                        <a:rPr sz="1200" b="1" spc="-10">
                          <a:solidFill>
                            <a:schemeClr val="bg1"/>
                          </a:solidFill>
                          <a:latin typeface="Adani Regular" panose="02000503000000020004" pitchFamily="2" charset="0"/>
                          <a:cs typeface="Arial"/>
                        </a:rPr>
                        <a:t>Approved</a:t>
                      </a:r>
                      <a:endParaRPr sz="1200">
                        <a:solidFill>
                          <a:schemeClr val="bg1"/>
                        </a:solidFill>
                        <a:latin typeface="Adani Regular" panose="02000503000000020004" pitchFamily="2" charset="0"/>
                        <a:cs typeface="Arial"/>
                      </a:endParaRPr>
                    </a:p>
                  </a:txBody>
                  <a:tcPr marL="0" marR="0" marT="11366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rowSpan="2">
                  <a:txBody>
                    <a:bodyPr/>
                    <a:lstStyle/>
                    <a:p>
                      <a:pPr>
                        <a:lnSpc>
                          <a:spcPct val="100000"/>
                        </a:lnSpc>
                        <a:spcBef>
                          <a:spcPts val="810"/>
                        </a:spcBef>
                      </a:pPr>
                      <a:endParaRPr lang="en-US" sz="1200">
                        <a:solidFill>
                          <a:schemeClr val="bg1"/>
                        </a:solidFill>
                        <a:latin typeface="Adani Regular" panose="02000503000000020004" pitchFamily="2" charset="0"/>
                        <a:cs typeface="Times New Roman"/>
                      </a:endParaRPr>
                    </a:p>
                    <a:p>
                      <a:pPr marL="102235" marR="83820" algn="ctr">
                        <a:lnSpc>
                          <a:spcPct val="100000"/>
                        </a:lnSpc>
                      </a:pPr>
                      <a:r>
                        <a:rPr lang="en-US" sz="1200" b="1" spc="-35">
                          <a:solidFill>
                            <a:schemeClr val="bg1"/>
                          </a:solidFill>
                          <a:latin typeface="Adani Regular" panose="02000503000000020004" pitchFamily="2" charset="0"/>
                          <a:cs typeface="Arial"/>
                        </a:rPr>
                        <a:t>Docume</a:t>
                      </a:r>
                      <a:r>
                        <a:rPr lang="en-US" sz="1200" b="1" spc="-25">
                          <a:solidFill>
                            <a:schemeClr val="bg1"/>
                          </a:solidFill>
                          <a:latin typeface="Adani Regular" panose="02000503000000020004" pitchFamily="2" charset="0"/>
                          <a:cs typeface="Arial"/>
                        </a:rPr>
                        <a:t>nts </a:t>
                      </a:r>
                      <a:r>
                        <a:rPr lang="en-US" sz="1200" b="1" spc="-10">
                          <a:solidFill>
                            <a:schemeClr val="bg1"/>
                          </a:solidFill>
                          <a:latin typeface="Adani Regular" panose="02000503000000020004" pitchFamily="2" charset="0"/>
                          <a:cs typeface="Arial"/>
                        </a:rPr>
                        <a:t>Under Review</a:t>
                      </a:r>
                      <a:endParaRPr lang="en-US" sz="1200">
                        <a:solidFill>
                          <a:schemeClr val="bg1"/>
                        </a:solidFill>
                        <a:latin typeface="Adani Regular" panose="02000503000000020004" pitchFamily="2" charset="0"/>
                        <a:cs typeface="Arial"/>
                      </a:endParaRPr>
                    </a:p>
                  </a:txBody>
                  <a:tcPr marL="0" marR="0" marT="1028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a:lnSpc>
                          <a:spcPct val="100000"/>
                        </a:lnSpc>
                        <a:spcBef>
                          <a:spcPts val="810"/>
                        </a:spcBef>
                      </a:pPr>
                      <a:endParaRPr sz="1200">
                        <a:solidFill>
                          <a:schemeClr val="bg1"/>
                        </a:solidFill>
                        <a:latin typeface="Adani Regular" panose="02000503000000020004" pitchFamily="2" charset="0"/>
                        <a:cs typeface="Times New Roman"/>
                      </a:endParaRPr>
                    </a:p>
                    <a:p>
                      <a:pPr marL="79375" marR="62865" indent="1270" algn="ctr">
                        <a:lnSpc>
                          <a:spcPct val="100000"/>
                        </a:lnSpc>
                      </a:pPr>
                      <a:r>
                        <a:rPr sz="1200" b="1" spc="-20">
                          <a:solidFill>
                            <a:schemeClr val="bg1"/>
                          </a:solidFill>
                          <a:latin typeface="Adani Regular" panose="02000503000000020004" pitchFamily="2" charset="0"/>
                          <a:cs typeface="Arial"/>
                        </a:rPr>
                        <a:t>Cum. </a:t>
                      </a:r>
                      <a:r>
                        <a:rPr sz="1200" b="1" spc="-10">
                          <a:solidFill>
                            <a:schemeClr val="bg1"/>
                          </a:solidFill>
                          <a:latin typeface="Adani Regular" panose="02000503000000020004" pitchFamily="2" charset="0"/>
                          <a:cs typeface="Arial"/>
                        </a:rPr>
                        <a:t>Total </a:t>
                      </a:r>
                      <a:r>
                        <a:rPr sz="1200" b="1" spc="-40">
                          <a:solidFill>
                            <a:schemeClr val="bg1"/>
                          </a:solidFill>
                          <a:latin typeface="Adani Regular" panose="02000503000000020004" pitchFamily="2" charset="0"/>
                          <a:cs typeface="Arial"/>
                        </a:rPr>
                        <a:t>approve</a:t>
                      </a:r>
                      <a:r>
                        <a:rPr sz="1200" b="1" spc="-50">
                          <a:solidFill>
                            <a:schemeClr val="bg1"/>
                          </a:solidFill>
                          <a:latin typeface="Adani Regular" panose="02000503000000020004" pitchFamily="2" charset="0"/>
                          <a:cs typeface="Arial"/>
                        </a:rPr>
                        <a:t>d</a:t>
                      </a:r>
                      <a:endParaRPr sz="1200">
                        <a:solidFill>
                          <a:schemeClr val="bg1"/>
                        </a:solidFill>
                        <a:latin typeface="Adani Regular" panose="02000503000000020004" pitchFamily="2" charset="0"/>
                        <a:cs typeface="Arial"/>
                      </a:endParaRPr>
                    </a:p>
                  </a:txBody>
                  <a:tcPr marL="0" marR="0" marT="1028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a:lnSpc>
                          <a:spcPct val="100000"/>
                        </a:lnSpc>
                      </a:pPr>
                      <a:endParaRPr sz="1200">
                        <a:solidFill>
                          <a:schemeClr val="bg1"/>
                        </a:solidFill>
                        <a:latin typeface="Adani Regular" panose="02000503000000020004" pitchFamily="2" charset="0"/>
                        <a:cs typeface="Times New Roman"/>
                      </a:endParaRPr>
                    </a:p>
                    <a:p>
                      <a:pPr>
                        <a:lnSpc>
                          <a:spcPct val="100000"/>
                        </a:lnSpc>
                        <a:spcBef>
                          <a:spcPts val="950"/>
                        </a:spcBef>
                      </a:pPr>
                      <a:endParaRPr sz="1200">
                        <a:solidFill>
                          <a:schemeClr val="bg1"/>
                        </a:solidFill>
                        <a:latin typeface="Adani Regular" panose="02000503000000020004" pitchFamily="2" charset="0"/>
                        <a:cs typeface="Times New Roman"/>
                      </a:endParaRPr>
                    </a:p>
                    <a:p>
                      <a:pPr marL="3175" algn="ctr">
                        <a:lnSpc>
                          <a:spcPct val="100000"/>
                        </a:lnSpc>
                      </a:pPr>
                      <a:r>
                        <a:rPr sz="1200" b="1" spc="-10">
                          <a:solidFill>
                            <a:schemeClr val="bg1"/>
                          </a:solidFill>
                          <a:latin typeface="Adani Regular" panose="02000503000000020004" pitchFamily="2" charset="0"/>
                          <a:cs typeface="Arial"/>
                        </a:rPr>
                        <a:t>Approv</a:t>
                      </a:r>
                      <a:r>
                        <a:rPr sz="1200" b="1">
                          <a:solidFill>
                            <a:schemeClr val="bg1"/>
                          </a:solidFill>
                          <a:latin typeface="Adani Regular" panose="02000503000000020004" pitchFamily="2" charset="0"/>
                          <a:cs typeface="Arial"/>
                        </a:rPr>
                        <a:t>ed</a:t>
                      </a:r>
                      <a:r>
                        <a:rPr sz="1200" b="1" spc="10">
                          <a:solidFill>
                            <a:schemeClr val="bg1"/>
                          </a:solidFill>
                          <a:latin typeface="Adani Regular" panose="02000503000000020004" pitchFamily="2" charset="0"/>
                          <a:cs typeface="Arial"/>
                        </a:rPr>
                        <a:t> </a:t>
                      </a:r>
                      <a:r>
                        <a:rPr sz="1200" b="1" spc="-50">
                          <a:solidFill>
                            <a:schemeClr val="bg1"/>
                          </a:solidFill>
                          <a:latin typeface="Adani Regular" panose="02000503000000020004" pitchFamily="2" charset="0"/>
                          <a:cs typeface="Arial"/>
                        </a:rPr>
                        <a:t>%</a:t>
                      </a:r>
                      <a:endParaRPr sz="1200">
                        <a:solidFill>
                          <a:schemeClr val="bg1"/>
                        </a:solidFill>
                        <a:latin typeface="Adani Regular" panose="02000503000000020004" pitchFamily="2" charset="0"/>
                        <a:cs typeface="Aria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3">
                  <a:txBody>
                    <a:bodyPr/>
                    <a:lstStyle/>
                    <a:p>
                      <a:pPr marL="3175" algn="ctr">
                        <a:lnSpc>
                          <a:spcPct val="100000"/>
                        </a:lnSpc>
                      </a:pPr>
                      <a:r>
                        <a:rPr lang="en-US" sz="1200" b="1" kern="1200" spc="-10">
                          <a:solidFill>
                            <a:schemeClr val="bg1"/>
                          </a:solidFill>
                          <a:latin typeface="Adani Regular" panose="02000503000000020004" pitchFamily="2" charset="0"/>
                          <a:ea typeface="+mn-ea"/>
                          <a:cs typeface="Arial"/>
                        </a:rPr>
                        <a:t>Remarks</a:t>
                      </a:r>
                      <a:endParaRPr sz="1200" b="1" kern="1200" spc="-10">
                        <a:solidFill>
                          <a:schemeClr val="bg1"/>
                        </a:solidFill>
                        <a:latin typeface="Adani Regular" panose="02000503000000020004" pitchFamily="2" charset="0"/>
                        <a:ea typeface="+mn-ea"/>
                        <a:cs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1"/>
                  </a:ext>
                </a:extLst>
              </a:tr>
              <a:tr h="623441">
                <a:tc vMerge="1">
                  <a:txBody>
                    <a:bodyPr/>
                    <a:lstStyle/>
                    <a:p>
                      <a:endParaRPr/>
                    </a:p>
                  </a:txBody>
                  <a:tcPr marL="0" marR="0" marT="0" marB="0">
                    <a:lnL w="12700">
                      <a:solidFill>
                        <a:srgbClr val="00AEEE"/>
                      </a:solidFill>
                      <a:prstDash val="solid"/>
                    </a:lnL>
                    <a:lnR w="12700">
                      <a:solidFill>
                        <a:srgbClr val="00AEEE"/>
                      </a:solidFill>
                      <a:prstDash val="sysDot"/>
                    </a:lnR>
                    <a:lnT w="12700">
                      <a:solidFill>
                        <a:srgbClr val="00AEEE"/>
                      </a:solidFill>
                      <a:prstDash val="solid"/>
                    </a:lnT>
                    <a:lnB w="12700">
                      <a:solidFill>
                        <a:srgbClr val="00AEEE"/>
                      </a:solidFill>
                      <a:prstDash val="sysDot"/>
                    </a:lnB>
                    <a:solidFill>
                      <a:srgbClr val="DFD1ED"/>
                    </a:solidFill>
                  </a:tcPr>
                </a:tc>
                <a:tc vMerge="1">
                  <a:txBody>
                    <a:bodyPr/>
                    <a:lstStyle/>
                    <a:p>
                      <a:endParaRPr/>
                    </a:p>
                  </a:txBody>
                  <a:tcPr marL="0" marR="0" marT="0" marB="0">
                    <a:lnL w="12700">
                      <a:solidFill>
                        <a:srgbClr val="00AEEE"/>
                      </a:solidFill>
                      <a:prstDash val="sysDot"/>
                    </a:lnL>
                    <a:lnR w="12700">
                      <a:solidFill>
                        <a:srgbClr val="00AEEE"/>
                      </a:solidFill>
                      <a:prstDash val="sysDot"/>
                    </a:lnR>
                    <a:lnT w="12700">
                      <a:solidFill>
                        <a:srgbClr val="00AEEE"/>
                      </a:solidFill>
                      <a:prstDash val="solid"/>
                    </a:lnT>
                    <a:lnB w="12700">
                      <a:solidFill>
                        <a:srgbClr val="00AEEE"/>
                      </a:solidFill>
                      <a:prstDash val="sysDot"/>
                    </a:lnB>
                    <a:solidFill>
                      <a:srgbClr val="DFD1ED"/>
                    </a:solidFill>
                  </a:tcPr>
                </a:tc>
                <a:tc vMerge="1">
                  <a:txBody>
                    <a:bodyPr/>
                    <a:lstStyle/>
                    <a:p>
                      <a:endParaRPr/>
                    </a:p>
                  </a:txBody>
                  <a:tcPr marL="0" marR="0" marT="0" marB="0">
                    <a:lnL w="12700">
                      <a:solidFill>
                        <a:srgbClr val="00AEEE"/>
                      </a:solidFill>
                      <a:prstDash val="sysDot"/>
                    </a:lnL>
                    <a:lnR w="12700">
                      <a:solidFill>
                        <a:srgbClr val="00AEEE"/>
                      </a:solidFill>
                      <a:prstDash val="sysDot"/>
                    </a:lnR>
                    <a:lnT w="12700">
                      <a:solidFill>
                        <a:srgbClr val="00AEEE"/>
                      </a:solidFill>
                      <a:prstDash val="solid"/>
                    </a:lnT>
                    <a:lnB w="12700">
                      <a:solidFill>
                        <a:srgbClr val="00AEEE"/>
                      </a:solidFill>
                      <a:prstDash val="sysDot"/>
                    </a:lnB>
                    <a:solidFill>
                      <a:srgbClr val="DFD1ED"/>
                    </a:solidFill>
                  </a:tcPr>
                </a:tc>
                <a:tc vMerge="1">
                  <a:txBody>
                    <a:bodyPr/>
                    <a:lstStyle/>
                    <a:p>
                      <a:endParaRPr/>
                    </a:p>
                  </a:txBody>
                  <a:tcPr marL="0" marR="0" marT="102870" marB="0">
                    <a:lnL w="12700">
                      <a:solidFill>
                        <a:srgbClr val="00AEEE"/>
                      </a:solidFill>
                      <a:prstDash val="sysDot"/>
                    </a:lnL>
                    <a:lnR w="12700">
                      <a:solidFill>
                        <a:srgbClr val="00AEEE"/>
                      </a:solidFill>
                      <a:prstDash val="sysDot"/>
                    </a:lnR>
                    <a:lnT w="12700" cap="flat" cmpd="sng" algn="ctr">
                      <a:solidFill>
                        <a:schemeClr val="tx1"/>
                      </a:solidFill>
                      <a:prstDash val="solid"/>
                      <a:round/>
                      <a:headEnd type="none" w="med" len="med"/>
                      <a:tailEnd type="none" w="med" len="med"/>
                    </a:lnT>
                    <a:lnB w="12700">
                      <a:solidFill>
                        <a:srgbClr val="00AEEE"/>
                      </a:solidFill>
                      <a:prstDash val="sysDot"/>
                    </a:lnB>
                    <a:solidFill>
                      <a:srgbClr val="DFD1ED"/>
                    </a:solidFill>
                  </a:tcPr>
                </a:tc>
                <a:tc>
                  <a:txBody>
                    <a:bodyPr/>
                    <a:lstStyle/>
                    <a:p>
                      <a:pPr marL="4445" algn="ctr">
                        <a:lnSpc>
                          <a:spcPct val="100000"/>
                        </a:lnSpc>
                      </a:pPr>
                      <a:r>
                        <a:rPr sz="1200" b="1">
                          <a:solidFill>
                            <a:schemeClr val="bg1"/>
                          </a:solidFill>
                          <a:latin typeface="Adani Regular" panose="02000503000000020004" pitchFamily="2" charset="0"/>
                          <a:cs typeface="Arial"/>
                        </a:rPr>
                        <a:t>Cat</a:t>
                      </a:r>
                      <a:r>
                        <a:rPr sz="1200" b="1" spc="65">
                          <a:solidFill>
                            <a:schemeClr val="bg1"/>
                          </a:solidFill>
                          <a:latin typeface="Adani Regular" panose="02000503000000020004" pitchFamily="2" charset="0"/>
                          <a:cs typeface="Arial"/>
                        </a:rPr>
                        <a:t> </a:t>
                      </a:r>
                      <a:r>
                        <a:rPr sz="1200" b="1" spc="-50">
                          <a:solidFill>
                            <a:schemeClr val="bg1"/>
                          </a:solidFill>
                          <a:latin typeface="Adani Regular" panose="02000503000000020004" pitchFamily="2" charset="0"/>
                          <a:cs typeface="Arial"/>
                        </a:rPr>
                        <a:t>I</a:t>
                      </a:r>
                      <a:endParaRPr sz="1200">
                        <a:solidFill>
                          <a:schemeClr val="bg1"/>
                        </a:solidFill>
                        <a:latin typeface="Adani Regular" panose="02000503000000020004" pitchFamily="2" charset="0"/>
                        <a:cs typeface="Arial"/>
                      </a:endParaRPr>
                    </a:p>
                  </a:txBody>
                  <a:tcPr marL="0" marR="0" marT="15811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lnSpc>
                          <a:spcPct val="100000"/>
                        </a:lnSpc>
                      </a:pPr>
                      <a:r>
                        <a:rPr sz="1200" b="1">
                          <a:solidFill>
                            <a:schemeClr val="bg1"/>
                          </a:solidFill>
                          <a:latin typeface="Adani Regular" panose="02000503000000020004" pitchFamily="2" charset="0"/>
                          <a:cs typeface="Arial"/>
                        </a:rPr>
                        <a:t>Cat</a:t>
                      </a:r>
                      <a:r>
                        <a:rPr sz="1200" b="1" spc="60">
                          <a:solidFill>
                            <a:schemeClr val="bg1"/>
                          </a:solidFill>
                          <a:latin typeface="Adani Regular" panose="02000503000000020004" pitchFamily="2" charset="0"/>
                          <a:cs typeface="Arial"/>
                        </a:rPr>
                        <a:t> </a:t>
                      </a:r>
                      <a:r>
                        <a:rPr sz="1200" b="1" spc="-25">
                          <a:solidFill>
                            <a:schemeClr val="bg1"/>
                          </a:solidFill>
                          <a:latin typeface="Adani Regular" panose="02000503000000020004" pitchFamily="2" charset="0"/>
                          <a:cs typeface="Arial"/>
                        </a:rPr>
                        <a:t>II</a:t>
                      </a:r>
                      <a:endParaRPr sz="1200">
                        <a:solidFill>
                          <a:schemeClr val="bg1"/>
                        </a:solidFill>
                        <a:latin typeface="Adani Regular" panose="02000503000000020004" pitchFamily="2" charset="0"/>
                        <a:cs typeface="Arial"/>
                      </a:endParaRPr>
                    </a:p>
                  </a:txBody>
                  <a:tcPr marL="0" marR="0" marT="15811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132715" marR="116205" indent="-58419" algn="ctr">
                        <a:lnSpc>
                          <a:spcPct val="100000"/>
                        </a:lnSpc>
                      </a:pPr>
                      <a:r>
                        <a:rPr sz="1200" b="1" spc="-25">
                          <a:solidFill>
                            <a:schemeClr val="bg1"/>
                          </a:solidFill>
                          <a:latin typeface="Adani Regular" panose="02000503000000020004" pitchFamily="2" charset="0"/>
                          <a:cs typeface="Arial"/>
                        </a:rPr>
                        <a:t>Cat III</a:t>
                      </a:r>
                      <a:endParaRPr sz="1200">
                        <a:solidFill>
                          <a:schemeClr val="bg1"/>
                        </a:solidFill>
                        <a:latin typeface="Adani Regular" panose="02000503000000020004" pitchFamily="2" charset="0"/>
                        <a:cs typeface="Arial"/>
                      </a:endParaRPr>
                    </a:p>
                  </a:txBody>
                  <a:tcPr marL="0" marR="0" marT="666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113030" marR="100330" indent="-52069" algn="ctr">
                        <a:lnSpc>
                          <a:spcPct val="100000"/>
                        </a:lnSpc>
                      </a:pPr>
                      <a:r>
                        <a:rPr sz="1200" b="1" spc="-25">
                          <a:solidFill>
                            <a:schemeClr val="bg1"/>
                          </a:solidFill>
                          <a:latin typeface="Adani Regular" panose="02000503000000020004" pitchFamily="2" charset="0"/>
                          <a:cs typeface="Arial"/>
                        </a:rPr>
                        <a:t>Cat IV</a:t>
                      </a:r>
                      <a:endParaRPr sz="1200">
                        <a:solidFill>
                          <a:schemeClr val="bg1"/>
                        </a:solidFill>
                        <a:latin typeface="Adani Regular" panose="02000503000000020004" pitchFamily="2" charset="0"/>
                        <a:cs typeface="Arial"/>
                      </a:endParaRPr>
                    </a:p>
                  </a:txBody>
                  <a:tcPr marL="0" marR="0" marT="666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58419" marR="73025" indent="-20320" algn="ctr">
                        <a:lnSpc>
                          <a:spcPct val="100000"/>
                        </a:lnSpc>
                      </a:pPr>
                      <a:r>
                        <a:rPr sz="1200" b="1" spc="-25">
                          <a:solidFill>
                            <a:schemeClr val="bg1"/>
                          </a:solidFill>
                          <a:latin typeface="Adani Regular" panose="02000503000000020004" pitchFamily="2" charset="0"/>
                          <a:cs typeface="Arial"/>
                        </a:rPr>
                        <a:t>Cat IV*</a:t>
                      </a:r>
                      <a:endParaRPr sz="1200">
                        <a:solidFill>
                          <a:schemeClr val="bg1"/>
                        </a:solidFill>
                        <a:latin typeface="Adani Regular" panose="02000503000000020004" pitchFamily="2" charset="0"/>
                        <a:cs typeface="Arial"/>
                      </a:endParaRPr>
                    </a:p>
                  </a:txBody>
                  <a:tcPr marL="0" marR="0" marT="666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endParaRPr/>
                    </a:p>
                  </a:txBody>
                  <a:tcPr marL="0" marR="0" marT="102870" marB="0">
                    <a:lnL w="12700">
                      <a:solidFill>
                        <a:srgbClr val="00AEEE"/>
                      </a:solidFill>
                      <a:prstDash val="sysDot"/>
                    </a:lnL>
                    <a:lnR w="12700">
                      <a:solidFill>
                        <a:srgbClr val="00AEEE"/>
                      </a:solidFill>
                      <a:prstDash val="sysDot"/>
                    </a:lnR>
                    <a:lnT w="12700">
                      <a:solidFill>
                        <a:srgbClr val="00AEEE"/>
                      </a:solidFill>
                      <a:prstDash val="sysDot"/>
                    </a:lnT>
                    <a:lnB w="12700">
                      <a:solidFill>
                        <a:srgbClr val="00AEEE"/>
                      </a:solidFill>
                      <a:prstDash val="sysDot"/>
                    </a:lnB>
                    <a:solidFill>
                      <a:srgbClr val="DFD1ED"/>
                    </a:solidFill>
                  </a:tcPr>
                </a:tc>
                <a:tc vMerge="1">
                  <a:txBody>
                    <a:bodyPr/>
                    <a:lstStyle/>
                    <a:p>
                      <a:endParaRPr/>
                    </a:p>
                  </a:txBody>
                  <a:tcPr marL="0" marR="0" marT="102870" marB="0">
                    <a:lnL w="12700">
                      <a:solidFill>
                        <a:srgbClr val="00AEEE"/>
                      </a:solidFill>
                      <a:prstDash val="sysDot"/>
                    </a:lnL>
                    <a:lnR w="12700">
                      <a:solidFill>
                        <a:srgbClr val="00AEEE"/>
                      </a:solidFill>
                      <a:prstDash val="sysDot"/>
                    </a:lnR>
                    <a:lnT w="12700">
                      <a:solidFill>
                        <a:srgbClr val="00AEEE"/>
                      </a:solidFill>
                      <a:prstDash val="sysDot"/>
                    </a:lnT>
                    <a:lnB w="12700">
                      <a:solidFill>
                        <a:srgbClr val="00AEEE"/>
                      </a:solidFill>
                      <a:prstDash val="sysDot"/>
                    </a:lnB>
                    <a:solidFill>
                      <a:srgbClr val="DFD1ED"/>
                    </a:solidFill>
                  </a:tcPr>
                </a:tc>
                <a:tc vMerge="1">
                  <a:txBody>
                    <a:bodyPr/>
                    <a:lstStyle/>
                    <a:p>
                      <a:endParaRPr/>
                    </a:p>
                  </a:txBody>
                  <a:tcPr marL="0" marR="0" marT="0" marB="0">
                    <a:lnL w="12700">
                      <a:solidFill>
                        <a:srgbClr val="00AEEE"/>
                      </a:solidFill>
                      <a:prstDash val="sysDot"/>
                    </a:lnL>
                    <a:lnR w="12700">
                      <a:solidFill>
                        <a:srgbClr val="00AEEE"/>
                      </a:solidFill>
                      <a:prstDash val="sysDot"/>
                    </a:lnR>
                    <a:lnT w="12700">
                      <a:solidFill>
                        <a:srgbClr val="00AEEE"/>
                      </a:solidFill>
                      <a:prstDash val="sysDot"/>
                    </a:lnT>
                    <a:lnB w="12700">
                      <a:solidFill>
                        <a:srgbClr val="00AEEE"/>
                      </a:solidFill>
                      <a:prstDash val="sysDot"/>
                    </a:lnB>
                    <a:solidFill>
                      <a:srgbClr val="DFD1ED"/>
                    </a:solidFill>
                  </a:tcPr>
                </a:tc>
                <a:tc vMerge="1">
                  <a:txBody>
                    <a:bodyPr/>
                    <a:lstStyle/>
                    <a:p>
                      <a:endParaRPr lang="en-US"/>
                    </a:p>
                  </a:txBody>
                  <a:tcPr/>
                </a:tc>
                <a:extLst>
                  <a:ext uri="{0D108BD9-81ED-4DB2-BD59-A6C34878D82A}">
                    <a16:rowId xmlns:a16="http://schemas.microsoft.com/office/drawing/2014/main" val="10002"/>
                  </a:ext>
                </a:extLst>
              </a:tr>
              <a:tr h="639624">
                <a:tc>
                  <a:txBody>
                    <a:bodyPr/>
                    <a:lstStyle/>
                    <a:p>
                      <a:pPr>
                        <a:lnSpc>
                          <a:spcPct val="100000"/>
                        </a:lnSpc>
                        <a:spcBef>
                          <a:spcPts val="440"/>
                        </a:spcBef>
                      </a:pPr>
                      <a:endParaRPr sz="1200">
                        <a:solidFill>
                          <a:schemeClr val="bg1"/>
                        </a:solidFill>
                        <a:latin typeface="Adani Regular" panose="02000503000000020004" pitchFamily="2" charset="0"/>
                        <a:cs typeface="Times New Roman"/>
                      </a:endParaRPr>
                    </a:p>
                    <a:p>
                      <a:pPr marL="5715" algn="ctr">
                        <a:lnSpc>
                          <a:spcPct val="100000"/>
                        </a:lnSpc>
                      </a:pPr>
                      <a:r>
                        <a:rPr lang="en-IN" sz="1200" spc="-50">
                          <a:solidFill>
                            <a:schemeClr val="bg1"/>
                          </a:solidFill>
                          <a:latin typeface="Adani Regular" panose="02000503000000020004" pitchFamily="2" charset="0"/>
                          <a:cs typeface="Arial"/>
                        </a:rPr>
                        <a:t>A</a:t>
                      </a:r>
                      <a:endParaRPr sz="12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sz="1200">
                        <a:solidFill>
                          <a:schemeClr val="bg1"/>
                        </a:solidFill>
                        <a:latin typeface="Adani Regular" panose="02000503000000020004" pitchFamily="2" charset="0"/>
                        <a:cs typeface="Times New Roman"/>
                      </a:endParaRPr>
                    </a:p>
                    <a:p>
                      <a:pPr marL="1905" algn="ctr">
                        <a:lnSpc>
                          <a:spcPct val="100000"/>
                        </a:lnSpc>
                      </a:pPr>
                      <a:r>
                        <a:rPr sz="1200" spc="-10">
                          <a:solidFill>
                            <a:schemeClr val="bg1"/>
                          </a:solidFill>
                          <a:latin typeface="Adani Regular" panose="02000503000000020004" pitchFamily="2" charset="0"/>
                          <a:cs typeface="Arial"/>
                        </a:rPr>
                        <a:t>Dates</a:t>
                      </a:r>
                      <a:endParaRPr sz="12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sz="1200">
                        <a:solidFill>
                          <a:schemeClr val="bg1"/>
                        </a:solidFill>
                        <a:latin typeface="Adani Regular" panose="02000503000000020004" pitchFamily="2" charset="0"/>
                        <a:cs typeface="Times New Roman"/>
                      </a:endParaRPr>
                    </a:p>
                    <a:p>
                      <a:pPr marL="6985" algn="ctr">
                        <a:lnSpc>
                          <a:spcPct val="100000"/>
                        </a:lnSpc>
                      </a:pPr>
                      <a:r>
                        <a:rPr lang="en-IN" sz="1200" spc="5">
                          <a:solidFill>
                            <a:schemeClr val="bg1"/>
                          </a:solidFill>
                          <a:latin typeface="Adani Regular" panose="02000503000000020004" pitchFamily="2" charset="0"/>
                          <a:cs typeface="Arial"/>
                        </a:rPr>
                        <a:t>B</a:t>
                      </a:r>
                      <a:endParaRPr sz="12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sz="1200">
                        <a:solidFill>
                          <a:schemeClr val="bg1"/>
                        </a:solidFill>
                        <a:latin typeface="Adani Regular" panose="02000503000000020004" pitchFamily="2" charset="0"/>
                        <a:cs typeface="Times New Roman"/>
                      </a:endParaRPr>
                    </a:p>
                    <a:p>
                      <a:pPr marL="3810" algn="ctr">
                        <a:lnSpc>
                          <a:spcPct val="100000"/>
                        </a:lnSpc>
                      </a:pPr>
                      <a:r>
                        <a:rPr lang="en-US" sz="1200" spc="-50">
                          <a:solidFill>
                            <a:schemeClr val="bg1"/>
                          </a:solidFill>
                          <a:latin typeface="Adani Regular" panose="02000503000000020004" pitchFamily="2" charset="0"/>
                          <a:cs typeface="Arial"/>
                        </a:rPr>
                        <a:t>C</a:t>
                      </a:r>
                      <a:endParaRPr sz="12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sz="1200">
                        <a:solidFill>
                          <a:schemeClr val="bg1"/>
                        </a:solidFill>
                        <a:latin typeface="Adani Regular" panose="02000503000000020004" pitchFamily="2" charset="0"/>
                        <a:cs typeface="Times New Roman"/>
                      </a:endParaRPr>
                    </a:p>
                    <a:p>
                      <a:pPr marL="5080" algn="ctr">
                        <a:lnSpc>
                          <a:spcPct val="100000"/>
                        </a:lnSpc>
                      </a:pPr>
                      <a:r>
                        <a:rPr lang="en-US" sz="1200" spc="-50">
                          <a:solidFill>
                            <a:schemeClr val="bg1"/>
                          </a:solidFill>
                          <a:latin typeface="Adani Regular" panose="02000503000000020004" pitchFamily="2" charset="0"/>
                          <a:cs typeface="Arial"/>
                        </a:rPr>
                        <a:t>D</a:t>
                      </a:r>
                      <a:endParaRPr sz="12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sz="1200">
                        <a:solidFill>
                          <a:schemeClr val="bg1"/>
                        </a:solidFill>
                        <a:latin typeface="Adani Regular" panose="02000503000000020004" pitchFamily="2" charset="0"/>
                        <a:cs typeface="Times New Roman"/>
                      </a:endParaRPr>
                    </a:p>
                    <a:p>
                      <a:pPr marL="6350" algn="ctr">
                        <a:lnSpc>
                          <a:spcPct val="100000"/>
                        </a:lnSpc>
                      </a:pPr>
                      <a:r>
                        <a:rPr lang="en-US" sz="1200">
                          <a:solidFill>
                            <a:schemeClr val="bg1"/>
                          </a:solidFill>
                          <a:latin typeface="Adani Regular" panose="02000503000000020004" pitchFamily="2" charset="0"/>
                          <a:cs typeface="Arial"/>
                        </a:rPr>
                        <a:t>E</a:t>
                      </a:r>
                      <a:endParaRPr sz="12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sz="1200">
                        <a:solidFill>
                          <a:schemeClr val="bg1"/>
                        </a:solidFill>
                        <a:latin typeface="Adani Regular" panose="02000503000000020004" pitchFamily="2" charset="0"/>
                        <a:cs typeface="Times New Roman"/>
                      </a:endParaRPr>
                    </a:p>
                    <a:p>
                      <a:pPr marL="5080" algn="ctr">
                        <a:lnSpc>
                          <a:spcPct val="100000"/>
                        </a:lnSpc>
                      </a:pPr>
                      <a:r>
                        <a:rPr lang="en-IN" sz="1200">
                          <a:solidFill>
                            <a:schemeClr val="bg1"/>
                          </a:solidFill>
                          <a:latin typeface="Adani Regular" panose="02000503000000020004" pitchFamily="2" charset="0"/>
                          <a:cs typeface="Arial"/>
                        </a:rPr>
                        <a:t>F</a:t>
                      </a:r>
                      <a:endParaRPr sz="12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sz="1200">
                        <a:solidFill>
                          <a:schemeClr val="bg1"/>
                        </a:solidFill>
                        <a:latin typeface="Adani Regular" panose="02000503000000020004" pitchFamily="2" charset="0"/>
                        <a:cs typeface="Times New Roman"/>
                      </a:endParaRPr>
                    </a:p>
                    <a:p>
                      <a:pPr marL="5715" algn="ctr">
                        <a:lnSpc>
                          <a:spcPct val="100000"/>
                        </a:lnSpc>
                      </a:pPr>
                      <a:r>
                        <a:rPr lang="en-US" sz="1200" spc="15">
                          <a:solidFill>
                            <a:schemeClr val="bg1"/>
                          </a:solidFill>
                          <a:latin typeface="Adani Regular" panose="02000503000000020004" pitchFamily="2" charset="0"/>
                          <a:cs typeface="Arial"/>
                        </a:rPr>
                        <a:t>G</a:t>
                      </a:r>
                      <a:endParaRPr sz="12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sz="1200">
                        <a:solidFill>
                          <a:schemeClr val="bg1"/>
                        </a:solidFill>
                        <a:latin typeface="Adani Regular" panose="02000503000000020004" pitchFamily="2" charset="0"/>
                        <a:cs typeface="Times New Roman"/>
                      </a:endParaRPr>
                    </a:p>
                    <a:p>
                      <a:pPr marL="7620" algn="ctr">
                        <a:lnSpc>
                          <a:spcPct val="100000"/>
                        </a:lnSpc>
                      </a:pPr>
                      <a:r>
                        <a:rPr lang="en-US" sz="1200">
                          <a:solidFill>
                            <a:schemeClr val="bg1"/>
                          </a:solidFill>
                          <a:latin typeface="Adani Regular" panose="02000503000000020004" pitchFamily="2" charset="0"/>
                          <a:cs typeface="Arial"/>
                        </a:rPr>
                        <a:t>H</a:t>
                      </a:r>
                      <a:endParaRPr sz="12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sz="1200">
                        <a:solidFill>
                          <a:schemeClr val="bg1"/>
                        </a:solidFill>
                        <a:latin typeface="Adani Regular" panose="02000503000000020004" pitchFamily="2" charset="0"/>
                        <a:cs typeface="Times New Roman"/>
                      </a:endParaRPr>
                    </a:p>
                    <a:p>
                      <a:pPr marL="5715" algn="ctr">
                        <a:lnSpc>
                          <a:spcPct val="100000"/>
                        </a:lnSpc>
                      </a:pPr>
                      <a:r>
                        <a:rPr lang="en-US" sz="1200">
                          <a:solidFill>
                            <a:schemeClr val="bg1"/>
                          </a:solidFill>
                          <a:latin typeface="Adani Regular" panose="02000503000000020004" pitchFamily="2" charset="0"/>
                          <a:cs typeface="Arial"/>
                        </a:rPr>
                        <a:t>I</a:t>
                      </a:r>
                      <a:endParaRPr sz="12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32384" algn="ctr">
                        <a:lnSpc>
                          <a:spcPct val="100000"/>
                        </a:lnSpc>
                        <a:spcBef>
                          <a:spcPts val="1040"/>
                        </a:spcBef>
                      </a:pPr>
                      <a:r>
                        <a:rPr lang="en-IN" sz="1200" spc="5">
                          <a:solidFill>
                            <a:schemeClr val="bg1"/>
                          </a:solidFill>
                          <a:latin typeface="Adani Regular" panose="02000503000000020004" pitchFamily="2" charset="0"/>
                          <a:cs typeface="Arial"/>
                        </a:rPr>
                        <a:t>J</a:t>
                      </a:r>
                      <a:r>
                        <a:rPr sz="1200" spc="5">
                          <a:solidFill>
                            <a:schemeClr val="bg1"/>
                          </a:solidFill>
                          <a:latin typeface="Adani Regular" panose="02000503000000020004" pitchFamily="2" charset="0"/>
                          <a:cs typeface="Arial"/>
                        </a:rPr>
                        <a:t> </a:t>
                      </a:r>
                      <a:r>
                        <a:rPr sz="1200">
                          <a:solidFill>
                            <a:schemeClr val="bg1"/>
                          </a:solidFill>
                          <a:latin typeface="Adani Regular" panose="02000503000000020004" pitchFamily="2" charset="0"/>
                          <a:cs typeface="Arial"/>
                        </a:rPr>
                        <a:t>=</a:t>
                      </a:r>
                      <a:r>
                        <a:rPr sz="1200" spc="20">
                          <a:solidFill>
                            <a:schemeClr val="bg1"/>
                          </a:solidFill>
                          <a:latin typeface="Adani Regular" panose="02000503000000020004" pitchFamily="2" charset="0"/>
                          <a:cs typeface="Arial"/>
                        </a:rPr>
                        <a:t> </a:t>
                      </a:r>
                      <a:r>
                        <a:rPr lang="en-US" sz="1200" spc="20">
                          <a:solidFill>
                            <a:schemeClr val="bg1"/>
                          </a:solidFill>
                          <a:latin typeface="Adani Regular" panose="02000503000000020004" pitchFamily="2" charset="0"/>
                          <a:cs typeface="Arial"/>
                        </a:rPr>
                        <a:t>D + </a:t>
                      </a:r>
                      <a:r>
                        <a:rPr lang="en-IN" sz="1200">
                          <a:solidFill>
                            <a:schemeClr val="bg1"/>
                          </a:solidFill>
                          <a:latin typeface="Adani Regular" panose="02000503000000020004" pitchFamily="2" charset="0"/>
                          <a:cs typeface="Arial"/>
                        </a:rPr>
                        <a:t>E</a:t>
                      </a:r>
                      <a:r>
                        <a:rPr lang="en-IN" sz="1200" spc="25">
                          <a:solidFill>
                            <a:schemeClr val="bg1"/>
                          </a:solidFill>
                          <a:latin typeface="Adani Regular" panose="02000503000000020004" pitchFamily="2" charset="0"/>
                          <a:cs typeface="Arial"/>
                        </a:rPr>
                        <a:t> </a:t>
                      </a:r>
                      <a:r>
                        <a:rPr lang="en-IN" sz="1200">
                          <a:solidFill>
                            <a:schemeClr val="bg1"/>
                          </a:solidFill>
                          <a:latin typeface="Adani Regular" panose="02000503000000020004" pitchFamily="2" charset="0"/>
                          <a:cs typeface="Arial"/>
                        </a:rPr>
                        <a:t>+</a:t>
                      </a:r>
                      <a:r>
                        <a:rPr lang="en-IN" sz="1200" spc="20">
                          <a:solidFill>
                            <a:schemeClr val="bg1"/>
                          </a:solidFill>
                          <a:latin typeface="Adani Regular" panose="02000503000000020004" pitchFamily="2" charset="0"/>
                          <a:cs typeface="Arial"/>
                        </a:rPr>
                        <a:t> </a:t>
                      </a:r>
                      <a:r>
                        <a:rPr lang="en-IN" sz="1200" spc="80">
                          <a:solidFill>
                            <a:schemeClr val="bg1"/>
                          </a:solidFill>
                          <a:latin typeface="Adani Regular" panose="02000503000000020004" pitchFamily="2" charset="0"/>
                          <a:cs typeface="Arial"/>
                        </a:rPr>
                        <a:t>F</a:t>
                      </a:r>
                      <a:endParaRPr lang="en-IN" sz="1200">
                        <a:solidFill>
                          <a:schemeClr val="bg1"/>
                        </a:solidFill>
                        <a:latin typeface="Adani Regular" panose="02000503000000020004" pitchFamily="2" charset="0"/>
                        <a:cs typeface="Arial"/>
                      </a:endParaRPr>
                    </a:p>
                    <a:p>
                      <a:pPr marL="99695" algn="ctr">
                        <a:lnSpc>
                          <a:spcPct val="100000"/>
                        </a:lnSpc>
                      </a:pPr>
                      <a:r>
                        <a:rPr lang="en-IN" sz="1200">
                          <a:solidFill>
                            <a:schemeClr val="bg1"/>
                          </a:solidFill>
                          <a:latin typeface="Adani Regular" panose="02000503000000020004" pitchFamily="2" charset="0"/>
                          <a:cs typeface="Arial"/>
                        </a:rPr>
                        <a:t>+ G +</a:t>
                      </a:r>
                      <a:r>
                        <a:rPr lang="en-IN" sz="1200" spc="5">
                          <a:solidFill>
                            <a:schemeClr val="bg1"/>
                          </a:solidFill>
                          <a:latin typeface="Adani Regular" panose="02000503000000020004" pitchFamily="2" charset="0"/>
                          <a:cs typeface="Arial"/>
                        </a:rPr>
                        <a:t> </a:t>
                      </a:r>
                      <a:r>
                        <a:rPr lang="en-IN" sz="1200" spc="65">
                          <a:solidFill>
                            <a:schemeClr val="bg1"/>
                          </a:solidFill>
                          <a:latin typeface="Adani Regular" panose="02000503000000020004" pitchFamily="2" charset="0"/>
                          <a:cs typeface="Arial"/>
                        </a:rPr>
                        <a:t>H</a:t>
                      </a:r>
                      <a:r>
                        <a:rPr lang="en-IN" sz="1200" spc="20">
                          <a:solidFill>
                            <a:schemeClr val="bg1"/>
                          </a:solidFill>
                          <a:latin typeface="Adani Regular" panose="02000503000000020004" pitchFamily="2" charset="0"/>
                          <a:cs typeface="Arial"/>
                        </a:rPr>
                        <a:t> </a:t>
                      </a:r>
                      <a:endParaRPr lang="en-IN" sz="1200">
                        <a:solidFill>
                          <a:schemeClr val="bg1"/>
                        </a:solidFill>
                        <a:latin typeface="Adani Regular" panose="02000503000000020004" pitchFamily="2" charset="0"/>
                        <a:cs typeface="Arial"/>
                      </a:endParaRPr>
                    </a:p>
                  </a:txBody>
                  <a:tcPr marL="0" marR="0" marT="1320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sz="1200">
                        <a:solidFill>
                          <a:schemeClr val="bg1"/>
                        </a:solidFill>
                        <a:latin typeface="Adani Regular" panose="02000503000000020004" pitchFamily="2" charset="0"/>
                        <a:cs typeface="Times New Roman"/>
                      </a:endParaRPr>
                    </a:p>
                    <a:p>
                      <a:pPr marL="9525" algn="ctr">
                        <a:lnSpc>
                          <a:spcPct val="100000"/>
                        </a:lnSpc>
                      </a:pPr>
                      <a:r>
                        <a:rPr lang="en-US" sz="1200" spc="55">
                          <a:solidFill>
                            <a:schemeClr val="bg1"/>
                          </a:solidFill>
                          <a:latin typeface="Adani Regular" panose="02000503000000020004" pitchFamily="2" charset="0"/>
                          <a:cs typeface="Arial"/>
                        </a:rPr>
                        <a:t>k</a:t>
                      </a:r>
                      <a:r>
                        <a:rPr sz="1200" spc="-20">
                          <a:solidFill>
                            <a:schemeClr val="bg1"/>
                          </a:solidFill>
                          <a:latin typeface="Adani Regular" panose="02000503000000020004" pitchFamily="2" charset="0"/>
                          <a:cs typeface="Arial"/>
                        </a:rPr>
                        <a:t> </a:t>
                      </a:r>
                      <a:r>
                        <a:rPr sz="1200">
                          <a:solidFill>
                            <a:schemeClr val="bg1"/>
                          </a:solidFill>
                          <a:latin typeface="Adani Regular" panose="02000503000000020004" pitchFamily="2" charset="0"/>
                          <a:cs typeface="Arial"/>
                        </a:rPr>
                        <a:t>=</a:t>
                      </a:r>
                      <a:r>
                        <a:rPr sz="1200" spc="15">
                          <a:solidFill>
                            <a:schemeClr val="bg1"/>
                          </a:solidFill>
                          <a:latin typeface="Adani Regular" panose="02000503000000020004" pitchFamily="2" charset="0"/>
                          <a:cs typeface="Arial"/>
                        </a:rPr>
                        <a:t> </a:t>
                      </a:r>
                      <a:r>
                        <a:rPr lang="en-US" sz="1200" spc="15">
                          <a:solidFill>
                            <a:schemeClr val="bg1"/>
                          </a:solidFill>
                          <a:latin typeface="Adani Regular" panose="02000503000000020004" pitchFamily="2" charset="0"/>
                          <a:cs typeface="Arial"/>
                        </a:rPr>
                        <a:t>j</a:t>
                      </a:r>
                      <a:r>
                        <a:rPr lang="en-US" sz="1200" spc="-15">
                          <a:solidFill>
                            <a:schemeClr val="bg1"/>
                          </a:solidFill>
                          <a:latin typeface="Adani Regular" panose="02000503000000020004" pitchFamily="2" charset="0"/>
                          <a:cs typeface="Arial"/>
                        </a:rPr>
                        <a:t> </a:t>
                      </a:r>
                      <a:r>
                        <a:rPr sz="1200" spc="80">
                          <a:solidFill>
                            <a:schemeClr val="bg1"/>
                          </a:solidFill>
                          <a:latin typeface="Adani Regular" panose="02000503000000020004" pitchFamily="2" charset="0"/>
                          <a:cs typeface="Arial"/>
                        </a:rPr>
                        <a:t>/</a:t>
                      </a:r>
                      <a:r>
                        <a:rPr sz="1200" spc="15">
                          <a:solidFill>
                            <a:schemeClr val="bg1"/>
                          </a:solidFill>
                          <a:latin typeface="Adani Regular" panose="02000503000000020004" pitchFamily="2" charset="0"/>
                          <a:cs typeface="Arial"/>
                        </a:rPr>
                        <a:t> </a:t>
                      </a:r>
                      <a:r>
                        <a:rPr sz="1200" spc="5">
                          <a:solidFill>
                            <a:schemeClr val="bg1"/>
                          </a:solidFill>
                          <a:latin typeface="Adani Regular" panose="02000503000000020004" pitchFamily="2" charset="0"/>
                          <a:cs typeface="Arial"/>
                        </a:rPr>
                        <a:t>b</a:t>
                      </a:r>
                      <a:endParaRPr sz="12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pPr marL="9525" algn="ctr">
                        <a:lnSpc>
                          <a:spcPct val="100000"/>
                        </a:lnSpc>
                      </a:pPr>
                      <a:endParaRPr sz="1200">
                        <a:solidFill>
                          <a:schemeClr val="bg1"/>
                        </a:solidFill>
                        <a:latin typeface="Adani Regular" panose="02000503000000020004" pitchFamily="2" charset="0"/>
                        <a:cs typeface="Arial"/>
                      </a:endParaRPr>
                    </a:p>
                  </a:txBody>
                  <a:tcPr marL="0" marR="0" marT="558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3"/>
                  </a:ext>
                </a:extLst>
              </a:tr>
              <a:tr h="499170">
                <a:tc>
                  <a:txBody>
                    <a:bodyPr/>
                    <a:lstStyle/>
                    <a:p>
                      <a:pPr algn="ctr" rtl="0" fontAlgn="ctr">
                        <a:buNone/>
                      </a:pPr>
                      <a:r>
                        <a:rPr lang="en-US" sz="1400" b="0" i="0" u="none" strike="noStrike">
                          <a:solidFill>
                            <a:srgbClr val="000000"/>
                          </a:solidFill>
                          <a:effectLst/>
                          <a:latin typeface="Adani Regular" panose="02000503000000020004" pitchFamily="2" charset="0"/>
                        </a:rPr>
                        <a:t>PSS-11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400" b="0" i="0" u="none" strike="noStrike" dirty="0">
                          <a:solidFill>
                            <a:srgbClr val="000000"/>
                          </a:solidFill>
                          <a:effectLst/>
                          <a:latin typeface="Adani Regular" panose="02000503000000020004" pitchFamily="2" charset="0"/>
                        </a:rPr>
                        <a:t>15-Oct-26</a:t>
                      </a:r>
                      <a:r>
                        <a:rPr lang="en-US" sz="1400" b="0" i="0" u="none" strike="noStrike" dirty="0">
                          <a:solidFill>
                            <a:srgbClr val="000000"/>
                          </a:solidFill>
                          <a:effectLst/>
                          <a:highlight>
                            <a:srgbClr val="FFFF00"/>
                          </a:highlight>
                          <a:latin typeface="Adani Regular" panose="02000503000000020004" pitchFamily="2"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210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169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168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99170">
                <a:tc>
                  <a:txBody>
                    <a:bodyPr/>
                    <a:lstStyle/>
                    <a:p>
                      <a:pPr algn="ctr" rtl="0" fontAlgn="ctr">
                        <a:buNone/>
                      </a:pPr>
                      <a:r>
                        <a:rPr lang="en-US" sz="1400" b="0" i="0" u="none" strike="noStrike">
                          <a:solidFill>
                            <a:srgbClr val="000000"/>
                          </a:solidFill>
                          <a:effectLst/>
                          <a:latin typeface="Adani Regular" panose="02000503000000020004" pitchFamily="2" charset="0"/>
                        </a:rPr>
                        <a:t>PSS-12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dani Regular" panose="02000503000000020004" pitchFamily="2" charset="0"/>
                        </a:rPr>
                        <a:t>15-Oct-26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200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137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137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4029797"/>
                  </a:ext>
                </a:extLst>
              </a:tr>
              <a:tr h="499170">
                <a:tc>
                  <a:txBody>
                    <a:bodyPr/>
                    <a:lstStyle/>
                    <a:p>
                      <a:pPr algn="ctr" rtl="0" fontAlgn="ctr">
                        <a:buNone/>
                      </a:pPr>
                      <a:r>
                        <a:rPr lang="en-US" sz="1400" b="0" i="0" u="none" strike="noStrike">
                          <a:solidFill>
                            <a:srgbClr val="000000"/>
                          </a:solidFill>
                          <a:effectLst/>
                          <a:latin typeface="Adani Regular" panose="02000503000000020004" pitchFamily="2" charset="0"/>
                        </a:rPr>
                        <a:t>PSS-10B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dani Regular" panose="02000503000000020004" pitchFamily="2" charset="0"/>
                          <a:ea typeface="+mn-ea"/>
                          <a:cs typeface="+mn-cs"/>
                        </a:rPr>
                        <a:t>15-Oct-26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233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164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107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162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0465351"/>
                  </a:ext>
                </a:extLst>
              </a:tr>
              <a:tr h="499170">
                <a:tc>
                  <a:txBody>
                    <a:bodyPr/>
                    <a:lstStyle/>
                    <a:p>
                      <a:pPr algn="ctr" rtl="0" fontAlgn="ctr">
                        <a:buNone/>
                      </a:pPr>
                      <a:r>
                        <a:rPr lang="en-US" sz="1400" b="0" i="0" u="none" strike="noStrike">
                          <a:solidFill>
                            <a:srgbClr val="000000"/>
                          </a:solidFill>
                          <a:effectLst/>
                          <a:latin typeface="Adani Regular" panose="02000503000000020004" pitchFamily="2" charset="0"/>
                        </a:rPr>
                        <a:t>PSS-08B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dani Regular" panose="02000503000000020004" pitchFamily="2" charset="0"/>
                          <a:ea typeface="+mn-ea"/>
                          <a:cs typeface="+mn-cs"/>
                        </a:rPr>
                        <a:t>15-Oct-26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239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136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 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135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9038907"/>
                  </a:ext>
                </a:extLst>
              </a:tr>
              <a:tr h="499170">
                <a:tc>
                  <a:txBody>
                    <a:bodyPr/>
                    <a:lstStyle/>
                    <a:p>
                      <a:pPr algn="ctr" rtl="0" fontAlgn="ctr">
                        <a:buNone/>
                      </a:pPr>
                      <a:r>
                        <a:rPr lang="en-US" sz="1400" b="0" i="0" u="none" strike="noStrike">
                          <a:solidFill>
                            <a:srgbClr val="000000"/>
                          </a:solidFill>
                          <a:effectLst/>
                          <a:latin typeface="Adani Regular" panose="02000503000000020004" pitchFamily="2" charset="0"/>
                        </a:rPr>
                        <a:t>PSS-09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dani Regular" panose="02000503000000020004" pitchFamily="2" charset="0"/>
                          <a:ea typeface="+mn-ea"/>
                          <a:cs typeface="+mn-cs"/>
                        </a:rPr>
                        <a:t>15-Oct-26</a:t>
                      </a:r>
                      <a:endParaRPr lang="en-US" sz="1400" b="0" i="0" u="none" strike="noStrike" noProof="0" dirty="0">
                        <a:solidFill>
                          <a:srgbClr val="000000"/>
                        </a:solidFill>
                        <a:effectLst/>
                        <a:latin typeface="Adani Regular" panose="02000503000000020004" pitchFamily="2"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227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152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101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66%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8617501"/>
                  </a:ext>
                </a:extLst>
              </a:tr>
              <a:tr h="499170">
                <a:tc>
                  <a:txBody>
                    <a:bodyPr/>
                    <a:lstStyle/>
                    <a:p>
                      <a:pPr algn="ctr" rtl="0" fontAlgn="ctr">
                        <a:buNone/>
                      </a:pPr>
                      <a:r>
                        <a:rPr lang="en-US" sz="1400" b="0" i="0" u="none" strike="noStrike">
                          <a:solidFill>
                            <a:srgbClr val="000000"/>
                          </a:solidFill>
                          <a:effectLst/>
                          <a:latin typeface="Adani Regular" panose="02000503000000020004" pitchFamily="2" charset="0"/>
                        </a:rPr>
                        <a:t>PSS-05B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dani Regular" panose="02000503000000020004" pitchFamily="2" charset="0"/>
                          <a:ea typeface="+mn-ea"/>
                          <a:cs typeface="+mn-cs"/>
                        </a:rPr>
                        <a:t>15-Oct-26</a:t>
                      </a:r>
                      <a:endParaRPr lang="en-US" sz="1400" b="0" i="0" u="none" strike="noStrike" noProof="0" dirty="0">
                        <a:solidFill>
                          <a:srgbClr val="000000"/>
                        </a:solidFill>
                        <a:effectLst/>
                        <a:latin typeface="Adani Regular" panose="02000503000000020004" pitchFamily="2"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223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142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142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dirty="0">
                          <a:solidFill>
                            <a:srgbClr val="000000"/>
                          </a:solidFill>
                          <a:effectLst/>
                          <a:latin typeface="Adani Regular" panose="02000503000000020004" pitchFamily="2"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7856145"/>
                  </a:ext>
                </a:extLst>
              </a:tr>
            </a:tbl>
          </a:graphicData>
        </a:graphic>
      </p:graphicFrame>
      <p:sp>
        <p:nvSpPr>
          <p:cNvPr id="9" name="TextBox 8">
            <a:extLst>
              <a:ext uri="{FF2B5EF4-FFF2-40B4-BE49-F238E27FC236}">
                <a16:creationId xmlns:a16="http://schemas.microsoft.com/office/drawing/2014/main" id="{94307447-4B7B-D489-9D06-260E636C600B}"/>
              </a:ext>
            </a:extLst>
          </p:cNvPr>
          <p:cNvSpPr txBox="1"/>
          <p:nvPr/>
        </p:nvSpPr>
        <p:spPr>
          <a:xfrm>
            <a:off x="3094074" y="5988934"/>
            <a:ext cx="6422066" cy="261610"/>
          </a:xfrm>
          <a:prstGeom prst="rect">
            <a:avLst/>
          </a:prstGeom>
          <a:noFill/>
        </p:spPr>
        <p:txBody>
          <a:bodyPr wrap="square" rtlCol="0">
            <a:spAutoFit/>
          </a:bodyPr>
          <a:lstStyle/>
          <a:p>
            <a:r>
              <a:rPr lang="en-US" sz="1100">
                <a:latin typeface="Adani Regular" panose="02000503000000020004" pitchFamily="2" charset="0"/>
              </a:rPr>
              <a:t>MDL Link: </a:t>
            </a:r>
            <a:r>
              <a:rPr lang="en-US" sz="1100">
                <a:latin typeface="Adani Regular" panose="02000503000000020004" pitchFamily="2" charset="0"/>
                <a:hlinkClick r:id="rId5"/>
              </a:rPr>
              <a:t>Phase-</a:t>
            </a:r>
            <a:r>
              <a:rPr lang="en-US" sz="1100" err="1">
                <a:latin typeface="Adani Regular" panose="02000503000000020004" pitchFamily="2" charset="0"/>
                <a:hlinkClick r:id="rId5"/>
              </a:rPr>
              <a:t>II_Master</a:t>
            </a:r>
            <a:r>
              <a:rPr lang="en-US" sz="1100">
                <a:latin typeface="Adani Regular" panose="02000503000000020004" pitchFamily="2" charset="0"/>
                <a:hlinkClick r:id="rId5"/>
              </a:rPr>
              <a:t> Log for AGEL_Battery_04Aug data</a:t>
            </a:r>
            <a:r>
              <a:rPr lang="en-US" sz="1100">
                <a:latin typeface="Adani Regular" panose="02000503000000020004" pitchFamily="2" charset="0"/>
              </a:rPr>
              <a:t> </a:t>
            </a:r>
          </a:p>
        </p:txBody>
      </p:sp>
    </p:spTree>
    <p:extLst>
      <p:ext uri="{BB962C8B-B14F-4D97-AF65-F5344CB8AC3E}">
        <p14:creationId xmlns:p14="http://schemas.microsoft.com/office/powerpoint/2010/main" val="1296243718"/>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E241-E212-EC95-52FE-75982534C137}"/>
              </a:ext>
            </a:extLst>
          </p:cNvPr>
          <p:cNvSpPr>
            <a:spLocks noGrp="1"/>
          </p:cNvSpPr>
          <p:nvPr>
            <p:ph type="title"/>
          </p:nvPr>
        </p:nvSpPr>
        <p:spPr/>
        <p:txBody>
          <a:bodyPr/>
          <a:lstStyle/>
          <a:p>
            <a:r>
              <a:rPr lang="en-US"/>
              <a:t>Procurement Status: PSS 11, 12, 10B, 9, 05B &amp; 08B </a:t>
            </a:r>
          </a:p>
        </p:txBody>
      </p:sp>
    </p:spTree>
    <p:extLst>
      <p:ext uri="{BB962C8B-B14F-4D97-AF65-F5344CB8AC3E}">
        <p14:creationId xmlns:p14="http://schemas.microsoft.com/office/powerpoint/2010/main" val="1102374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B8B19-5CAB-FBE9-EAEA-2D9FFD1884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A789A5-8E88-D6B8-649D-9CC84A90B2EB}"/>
              </a:ext>
            </a:extLst>
          </p:cNvPr>
          <p:cNvSpPr>
            <a:spLocks noGrp="1"/>
          </p:cNvSpPr>
          <p:nvPr>
            <p:ph type="ctrTitle"/>
          </p:nvPr>
        </p:nvSpPr>
        <p:spPr>
          <a:xfrm>
            <a:off x="0" y="52879"/>
            <a:ext cx="12466390" cy="461382"/>
          </a:xfrm>
          <a:noFill/>
        </p:spPr>
        <p:txBody>
          <a:bodyPr vert="horz" wrap="square" lIns="91157" tIns="45580" rIns="91157" bIns="45580" rtlCol="0" anchor="b">
            <a:spAutoFit/>
          </a:bodyPr>
          <a:lstStyle/>
          <a:p>
            <a:pPr algn="l">
              <a:spcBef>
                <a:spcPts val="1000"/>
              </a:spcBef>
              <a:defRPr/>
            </a:pPr>
            <a:r>
              <a:rPr lang="en-US" sz="2400" b="1">
                <a:gradFill>
                  <a:gsLst>
                    <a:gs pos="9735">
                      <a:schemeClr val="tx2"/>
                    </a:gs>
                    <a:gs pos="63000">
                      <a:srgbClr val="8E278F"/>
                    </a:gs>
                    <a:gs pos="38000">
                      <a:srgbClr val="57499E"/>
                    </a:gs>
                  </a:gsLst>
                  <a:lin ang="0" scaled="0"/>
                </a:gradFill>
                <a:highlight>
                  <a:srgbClr val="33CC33"/>
                </a:highlight>
                <a:ea typeface="+mn-ea"/>
                <a:cs typeface="+mn-cs"/>
              </a:rPr>
              <a:t>Procurement &amp; Monthly Rolling Plan for Supply of Equipment – </a:t>
            </a:r>
            <a:r>
              <a:rPr lang="en-IN" sz="2400" b="1">
                <a:gradFill>
                  <a:gsLst>
                    <a:gs pos="9735">
                      <a:schemeClr val="tx2"/>
                    </a:gs>
                    <a:gs pos="63000">
                      <a:srgbClr val="8E278F"/>
                    </a:gs>
                    <a:gs pos="38000">
                      <a:srgbClr val="57499E"/>
                    </a:gs>
                  </a:gsLst>
                  <a:lin ang="0" scaled="0"/>
                </a:gradFill>
                <a:highlight>
                  <a:srgbClr val="33CC33"/>
                </a:highlight>
              </a:rPr>
              <a:t>PSS 11</a:t>
            </a:r>
            <a:endParaRPr lang="en-US" sz="2400" b="1" i="1">
              <a:gradFill>
                <a:gsLst>
                  <a:gs pos="9735">
                    <a:schemeClr val="tx2"/>
                  </a:gs>
                  <a:gs pos="63000">
                    <a:srgbClr val="8E278F"/>
                  </a:gs>
                  <a:gs pos="38000">
                    <a:srgbClr val="57499E"/>
                  </a:gs>
                </a:gsLst>
                <a:lin ang="0" scaled="0"/>
              </a:gradFill>
              <a:highlight>
                <a:srgbClr val="33CC33"/>
              </a:highlight>
              <a:ea typeface="+mn-ea"/>
              <a:cs typeface="+mn-cs"/>
            </a:endParaRPr>
          </a:p>
        </p:txBody>
      </p:sp>
      <p:pic>
        <p:nvPicPr>
          <p:cNvPr id="11" name="Picture 10">
            <a:extLst>
              <a:ext uri="{FF2B5EF4-FFF2-40B4-BE49-F238E27FC236}">
                <a16:creationId xmlns:a16="http://schemas.microsoft.com/office/drawing/2014/main" id="{E9B6511D-05E1-7E43-2F2E-7A7C796CE2B2}"/>
              </a:ext>
            </a:extLst>
          </p:cNvPr>
          <p:cNvPicPr>
            <a:picLocks noChangeAspect="1"/>
          </p:cNvPicPr>
          <p:nvPr/>
        </p:nvPicPr>
        <p:blipFill>
          <a:blip r:embed="rId4"/>
          <a:stretch>
            <a:fillRect/>
          </a:stretch>
        </p:blipFill>
        <p:spPr>
          <a:xfrm>
            <a:off x="6086475" y="3419475"/>
            <a:ext cx="19050" cy="19050"/>
          </a:xfrm>
          <a:prstGeom prst="rect">
            <a:avLst/>
          </a:prstGeom>
        </p:spPr>
      </p:pic>
      <p:sp>
        <p:nvSpPr>
          <p:cNvPr id="3" name="Slide Number Placeholder 2">
            <a:extLst>
              <a:ext uri="{FF2B5EF4-FFF2-40B4-BE49-F238E27FC236}">
                <a16:creationId xmlns:a16="http://schemas.microsoft.com/office/drawing/2014/main" id="{F3CA4274-4753-1E3C-A68C-D1A6B4C80FBD}"/>
              </a:ext>
            </a:extLst>
          </p:cNvPr>
          <p:cNvSpPr>
            <a:spLocks noGrp="1"/>
          </p:cNvSpPr>
          <p:nvPr>
            <p:ph type="sldNum" sz="quarter" idx="12"/>
          </p:nvPr>
        </p:nvSpPr>
        <p:spPr/>
        <p:txBody>
          <a:bodyPr/>
          <a:lstStyle/>
          <a:p>
            <a:fld id="{98B285C1-D8A8-4E98-B28C-1FD972D8EC54}" type="slidenum">
              <a:rPr lang="en-IN" smtClean="0"/>
              <a:t>14</a:t>
            </a:fld>
            <a:endParaRPr lang="en-IN"/>
          </a:p>
        </p:txBody>
      </p:sp>
      <p:graphicFrame>
        <p:nvGraphicFramePr>
          <p:cNvPr id="5" name="Table 4">
            <a:extLst>
              <a:ext uri="{FF2B5EF4-FFF2-40B4-BE49-F238E27FC236}">
                <a16:creationId xmlns:a16="http://schemas.microsoft.com/office/drawing/2014/main" id="{751BA5F8-F9B8-7A10-BB67-EC328241D188}"/>
              </a:ext>
            </a:extLst>
          </p:cNvPr>
          <p:cNvGraphicFramePr>
            <a:graphicFrameLocks noGrp="1"/>
          </p:cNvGraphicFramePr>
          <p:nvPr>
            <p:extLst>
              <p:ext uri="{D42A27DB-BD31-4B8C-83A1-F6EECF244321}">
                <p14:modId xmlns:p14="http://schemas.microsoft.com/office/powerpoint/2010/main" val="3230590259"/>
              </p:ext>
            </p:extLst>
          </p:nvPr>
        </p:nvGraphicFramePr>
        <p:xfrm>
          <a:off x="134300" y="650830"/>
          <a:ext cx="11849285" cy="5939520"/>
        </p:xfrm>
        <a:graphic>
          <a:graphicData uri="http://schemas.openxmlformats.org/drawingml/2006/table">
            <a:tbl>
              <a:tblPr/>
              <a:tblGrid>
                <a:gridCol w="417060">
                  <a:extLst>
                    <a:ext uri="{9D8B030D-6E8A-4147-A177-3AD203B41FA5}">
                      <a16:colId xmlns:a16="http://schemas.microsoft.com/office/drawing/2014/main" val="1122173084"/>
                    </a:ext>
                  </a:extLst>
                </a:gridCol>
                <a:gridCol w="903627">
                  <a:extLst>
                    <a:ext uri="{9D8B030D-6E8A-4147-A177-3AD203B41FA5}">
                      <a16:colId xmlns:a16="http://schemas.microsoft.com/office/drawing/2014/main" val="1866013594"/>
                    </a:ext>
                  </a:extLst>
                </a:gridCol>
                <a:gridCol w="780356">
                  <a:extLst>
                    <a:ext uri="{9D8B030D-6E8A-4147-A177-3AD203B41FA5}">
                      <a16:colId xmlns:a16="http://schemas.microsoft.com/office/drawing/2014/main" val="2615794636"/>
                    </a:ext>
                  </a:extLst>
                </a:gridCol>
                <a:gridCol w="567945">
                  <a:extLst>
                    <a:ext uri="{9D8B030D-6E8A-4147-A177-3AD203B41FA5}">
                      <a16:colId xmlns:a16="http://schemas.microsoft.com/office/drawing/2014/main" val="2949673436"/>
                    </a:ext>
                  </a:extLst>
                </a:gridCol>
                <a:gridCol w="637693">
                  <a:extLst>
                    <a:ext uri="{9D8B030D-6E8A-4147-A177-3AD203B41FA5}">
                      <a16:colId xmlns:a16="http://schemas.microsoft.com/office/drawing/2014/main" val="1303924037"/>
                    </a:ext>
                  </a:extLst>
                </a:gridCol>
                <a:gridCol w="774539">
                  <a:extLst>
                    <a:ext uri="{9D8B030D-6E8A-4147-A177-3AD203B41FA5}">
                      <a16:colId xmlns:a16="http://schemas.microsoft.com/office/drawing/2014/main" val="1096193466"/>
                    </a:ext>
                  </a:extLst>
                </a:gridCol>
                <a:gridCol w="681242">
                  <a:extLst>
                    <a:ext uri="{9D8B030D-6E8A-4147-A177-3AD203B41FA5}">
                      <a16:colId xmlns:a16="http://schemas.microsoft.com/office/drawing/2014/main" val="1444788724"/>
                    </a:ext>
                  </a:extLst>
                </a:gridCol>
                <a:gridCol w="1006854">
                  <a:extLst>
                    <a:ext uri="{9D8B030D-6E8A-4147-A177-3AD203B41FA5}">
                      <a16:colId xmlns:a16="http://schemas.microsoft.com/office/drawing/2014/main" val="3952668464"/>
                    </a:ext>
                  </a:extLst>
                </a:gridCol>
                <a:gridCol w="665308">
                  <a:extLst>
                    <a:ext uri="{9D8B030D-6E8A-4147-A177-3AD203B41FA5}">
                      <a16:colId xmlns:a16="http://schemas.microsoft.com/office/drawing/2014/main" val="1779580964"/>
                    </a:ext>
                  </a:extLst>
                </a:gridCol>
                <a:gridCol w="794401">
                  <a:extLst>
                    <a:ext uri="{9D8B030D-6E8A-4147-A177-3AD203B41FA5}">
                      <a16:colId xmlns:a16="http://schemas.microsoft.com/office/drawing/2014/main" val="3478851915"/>
                    </a:ext>
                  </a:extLst>
                </a:gridCol>
                <a:gridCol w="714718">
                  <a:extLst>
                    <a:ext uri="{9D8B030D-6E8A-4147-A177-3AD203B41FA5}">
                      <a16:colId xmlns:a16="http://schemas.microsoft.com/office/drawing/2014/main" val="3871778397"/>
                    </a:ext>
                  </a:extLst>
                </a:gridCol>
                <a:gridCol w="1240827">
                  <a:extLst>
                    <a:ext uri="{9D8B030D-6E8A-4147-A177-3AD203B41FA5}">
                      <a16:colId xmlns:a16="http://schemas.microsoft.com/office/drawing/2014/main" val="182006337"/>
                    </a:ext>
                  </a:extLst>
                </a:gridCol>
                <a:gridCol w="618598">
                  <a:extLst>
                    <a:ext uri="{9D8B030D-6E8A-4147-A177-3AD203B41FA5}">
                      <a16:colId xmlns:a16="http://schemas.microsoft.com/office/drawing/2014/main" val="1661476434"/>
                    </a:ext>
                  </a:extLst>
                </a:gridCol>
                <a:gridCol w="468000">
                  <a:extLst>
                    <a:ext uri="{9D8B030D-6E8A-4147-A177-3AD203B41FA5}">
                      <a16:colId xmlns:a16="http://schemas.microsoft.com/office/drawing/2014/main" val="2035688816"/>
                    </a:ext>
                  </a:extLst>
                </a:gridCol>
                <a:gridCol w="447713">
                  <a:extLst>
                    <a:ext uri="{9D8B030D-6E8A-4147-A177-3AD203B41FA5}">
                      <a16:colId xmlns:a16="http://schemas.microsoft.com/office/drawing/2014/main" val="2827696006"/>
                    </a:ext>
                  </a:extLst>
                </a:gridCol>
                <a:gridCol w="410404">
                  <a:extLst>
                    <a:ext uri="{9D8B030D-6E8A-4147-A177-3AD203B41FA5}">
                      <a16:colId xmlns:a16="http://schemas.microsoft.com/office/drawing/2014/main" val="2818872954"/>
                    </a:ext>
                  </a:extLst>
                </a:gridCol>
                <a:gridCol w="720000">
                  <a:extLst>
                    <a:ext uri="{9D8B030D-6E8A-4147-A177-3AD203B41FA5}">
                      <a16:colId xmlns:a16="http://schemas.microsoft.com/office/drawing/2014/main" val="948990914"/>
                    </a:ext>
                  </a:extLst>
                </a:gridCol>
              </a:tblGrid>
              <a:tr h="292173">
                <a:tc rowSpan="2">
                  <a:txBody>
                    <a:bodyPr/>
                    <a:lstStyle/>
                    <a:p>
                      <a:pPr algn="ctr" rtl="0" fontAlgn="ctr">
                        <a:buNone/>
                      </a:pPr>
                      <a:r>
                        <a:rPr lang="en-US" sz="900" b="1" i="0" u="none" strike="noStrike" dirty="0">
                          <a:solidFill>
                            <a:srgbClr val="FFFFFF"/>
                          </a:solidFill>
                          <a:effectLst/>
                          <a:latin typeface="Adani Regular" panose="02000503000000020004" pitchFamily="2" charset="0"/>
                        </a:rPr>
                        <a:t>Sr. No.</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900" b="1" i="0" u="none" strike="noStrike" dirty="0">
                          <a:solidFill>
                            <a:srgbClr val="FFFFFF"/>
                          </a:solidFill>
                          <a:effectLst/>
                          <a:latin typeface="Adani Regular" panose="02000503000000020004" pitchFamily="2" charset="0"/>
                        </a:rPr>
                        <a:t>Packages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900" b="1" i="0" u="none" strike="noStrike">
                          <a:solidFill>
                            <a:srgbClr val="FFFFFF"/>
                          </a:solidFill>
                          <a:effectLst/>
                          <a:latin typeface="Adani Regular" panose="02000503000000020004" pitchFamily="2" charset="0"/>
                        </a:rPr>
                        <a:t>Manufacturer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900" b="1" i="0" u="none" strike="noStrike">
                          <a:solidFill>
                            <a:srgbClr val="FFFFFF"/>
                          </a:solidFill>
                          <a:effectLst/>
                          <a:latin typeface="Adani Regular" panose="02000503000000020004" pitchFamily="2" charset="0"/>
                        </a:rPr>
                        <a:t>UOM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900" b="1" i="0" u="none" strike="noStrike">
                          <a:solidFill>
                            <a:srgbClr val="FFFFFF"/>
                          </a:solidFill>
                          <a:effectLst/>
                          <a:latin typeface="Adani Regular" panose="02000503000000020004" pitchFamily="2" charset="0"/>
                        </a:rPr>
                        <a:t>Scope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900" b="1" i="0" u="none" strike="noStrike">
                          <a:solidFill>
                            <a:srgbClr val="FFFFFF"/>
                          </a:solidFill>
                          <a:effectLst/>
                          <a:latin typeface="Adani Regular" panose="02000503000000020004" pitchFamily="2" charset="0"/>
                        </a:rPr>
                        <a:t>Ordering 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900" b="1" i="0" u="none" strike="noStrike">
                          <a:solidFill>
                            <a:srgbClr val="FFFFFF"/>
                          </a:solidFill>
                          <a:effectLst/>
                          <a:latin typeface="Adani Regular" panose="02000503000000020004" pitchFamily="2" charset="0"/>
                        </a:rPr>
                        <a:t>Balance Ordering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900" b="1" i="0" u="none" strike="noStrike">
                          <a:solidFill>
                            <a:srgbClr val="FFFFFF"/>
                          </a:solidFill>
                          <a:effectLst/>
                          <a:latin typeface="Adani Regular" panose="02000503000000020004" pitchFamily="2" charset="0"/>
                        </a:rPr>
                        <a:t>PO Number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900" b="1" i="0" u="none" strike="noStrike">
                          <a:solidFill>
                            <a:srgbClr val="FFFFFF"/>
                          </a:solidFill>
                          <a:effectLst/>
                          <a:latin typeface="Adani Regular" panose="02000503000000020004" pitchFamily="2" charset="0"/>
                        </a:rPr>
                        <a:t>PO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gridSpan="2">
                  <a:txBody>
                    <a:bodyPr/>
                    <a:lstStyle/>
                    <a:p>
                      <a:pPr algn="ctr" rtl="0" fontAlgn="ctr">
                        <a:buNone/>
                      </a:pPr>
                      <a:r>
                        <a:rPr lang="en-US" sz="900" b="1" i="0" u="none" strike="noStrike">
                          <a:solidFill>
                            <a:srgbClr val="FFFFFF"/>
                          </a:solidFill>
                          <a:effectLst/>
                          <a:latin typeface="Adani Regular" panose="02000503000000020004" pitchFamily="2" charset="0"/>
                        </a:rPr>
                        <a:t>Expected Delivery at Site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gridSpan="2">
                  <a:txBody>
                    <a:bodyPr/>
                    <a:lstStyle/>
                    <a:p>
                      <a:pPr algn="ctr" fontAlgn="b">
                        <a:buNone/>
                      </a:pPr>
                      <a:r>
                        <a:rPr lang="en-US" sz="900" b="1" i="0" u="none" strike="noStrike">
                          <a:solidFill>
                            <a:srgbClr val="FFFFFF"/>
                          </a:solidFill>
                          <a:effectLst/>
                          <a:latin typeface="Adani Regular" panose="02000503000000020004" pitchFamily="2" charset="0"/>
                        </a:rPr>
                        <a:t>Manufacturing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rowSpan="2">
                  <a:txBody>
                    <a:bodyPr/>
                    <a:lstStyle/>
                    <a:p>
                      <a:pPr algn="ctr" rtl="0" fontAlgn="ctr">
                        <a:buNone/>
                      </a:pPr>
                      <a:r>
                        <a:rPr lang="en-US" sz="900" b="1" i="0" u="none" strike="noStrike">
                          <a:solidFill>
                            <a:srgbClr val="FFFFFF"/>
                          </a:solidFill>
                          <a:effectLst/>
                          <a:latin typeface="Adani Regular" panose="02000503000000020004" pitchFamily="2" charset="0"/>
                        </a:rPr>
                        <a:t>Delivered At Site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gridSpan="2">
                  <a:txBody>
                    <a:bodyPr/>
                    <a:lstStyle/>
                    <a:p>
                      <a:pPr algn="ctr" rtl="0" fontAlgn="ctr">
                        <a:buNone/>
                      </a:pPr>
                      <a:r>
                        <a:rPr lang="en-US" sz="900" b="1" i="0" u="none" strike="noStrike" dirty="0">
                          <a:solidFill>
                            <a:srgbClr val="FFFFFF"/>
                          </a:solidFill>
                          <a:effectLst/>
                          <a:latin typeface="Adani Regular" panose="02000503000000020004" pitchFamily="2" charset="0"/>
                        </a:rPr>
                        <a:t>Forecast Delivery Schedule (Qty)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pPr marL="0" algn="ctr" rtl="0" fontAlgn="ctr">
                        <a:buNone/>
                      </a:pPr>
                      <a:endParaRPr lang="en-US" sz="900" b="1" i="0" u="none" strike="noStrike">
                        <a:solidFill>
                          <a:srgbClr val="FFFFFF"/>
                        </a:solidFill>
                        <a:effectLst/>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900" b="1" i="0" u="none" strike="noStrike">
                          <a:solidFill>
                            <a:srgbClr val="FFFFFF"/>
                          </a:solidFill>
                          <a:effectLst/>
                          <a:latin typeface="Adani Regular" panose="02000503000000020004" pitchFamily="2" charset="0"/>
                        </a:rPr>
                        <a:t>Remarks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extLst>
                  <a:ext uri="{0D108BD9-81ED-4DB2-BD59-A6C34878D82A}">
                    <a16:rowId xmlns:a16="http://schemas.microsoft.com/office/drawing/2014/main" val="912431873"/>
                  </a:ext>
                </a:extLst>
              </a:tr>
              <a:tr h="171923">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900" b="1" i="0" u="none" strike="noStrike">
                          <a:solidFill>
                            <a:srgbClr val="FFFFFF"/>
                          </a:solidFill>
                          <a:effectLst/>
                          <a:latin typeface="Adani Regular" panose="02000503000000020004" pitchFamily="2" charset="0"/>
                        </a:rPr>
                        <a:t>Start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a:r>
                        <a:rPr lang="en-US" sz="900" b="1" i="0" u="none" strike="noStrike">
                          <a:solidFill>
                            <a:srgbClr val="FFFFFF"/>
                          </a:solidFill>
                          <a:effectLst/>
                          <a:latin typeface="Adani Regular" panose="02000503000000020004" pitchFamily="2" charset="0"/>
                        </a:rPr>
                        <a:t>Finish</a:t>
                      </a:r>
                      <a:endParaRPr lang="en-US"/>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fontAlgn="b">
                        <a:buNone/>
                      </a:pPr>
                      <a:r>
                        <a:rPr lang="en-US" sz="900" b="1" i="0" u="none" strike="noStrike">
                          <a:solidFill>
                            <a:srgbClr val="FFFFFF"/>
                          </a:solidFill>
                          <a:effectLst/>
                          <a:latin typeface="Adani Regular" panose="02000503000000020004" pitchFamily="2" charset="0"/>
                        </a:rPr>
                        <a:t>QAP Acceptance </a:t>
                      </a:r>
                    </a:p>
                    <a:p>
                      <a:pPr algn="ctr" fontAlgn="b">
                        <a:buNone/>
                      </a:pPr>
                      <a:r>
                        <a:rPr lang="en-US" sz="900" b="1" i="0" u="none" strike="noStrike">
                          <a:solidFill>
                            <a:srgbClr val="FFFFFF"/>
                          </a:solidFill>
                          <a:effectLst/>
                          <a:latin typeface="Adani Regular" panose="02000503000000020004" pitchFamily="2" charset="0"/>
                        </a:rPr>
                        <a:t>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a:r>
                        <a:rPr lang="en-US" sz="900" b="1" i="0" u="none" strike="noStrike">
                          <a:solidFill>
                            <a:srgbClr val="FFFFFF"/>
                          </a:solidFill>
                          <a:effectLst/>
                          <a:latin typeface="Adani Regular" panose="02000503000000020004" pitchFamily="2" charset="0"/>
                        </a:rPr>
                        <a:t>MC Date</a:t>
                      </a:r>
                      <a:endParaRPr lang="en-US"/>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vMerge="1">
                  <a:txBody>
                    <a:bodyPr/>
                    <a:lstStyle/>
                    <a:p>
                      <a:endParaRPr lang="en-US"/>
                    </a:p>
                  </a:txBody>
                  <a:tcPr/>
                </a:tc>
                <a:tc>
                  <a:txBody>
                    <a:bodyPr/>
                    <a:lstStyle/>
                    <a:p>
                      <a:pPr marL="0" algn="ctr" rtl="0" fontAlgn="ctr">
                        <a:buNone/>
                      </a:pPr>
                      <a:r>
                        <a:rPr lang="en-US" sz="900" b="1" i="0" u="none" strike="noStrike">
                          <a:solidFill>
                            <a:srgbClr val="FFFFFF"/>
                          </a:solidFill>
                          <a:effectLst/>
                          <a:latin typeface="Adani Regular" panose="02000503000000020004" pitchFamily="2" charset="0"/>
                          <a:ea typeface="+mn-ea"/>
                          <a:cs typeface="+mn-cs"/>
                        </a:rPr>
                        <a:t>Sep-26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marL="0" algn="ctr" rtl="0" fontAlgn="ctr">
                        <a:buNone/>
                      </a:pPr>
                      <a:r>
                        <a:rPr lang="en-US" sz="900" b="1" i="0" u="none" strike="noStrike">
                          <a:solidFill>
                            <a:srgbClr val="FFFFFF"/>
                          </a:solidFill>
                          <a:effectLst/>
                          <a:latin typeface="Adani Regular" panose="02000503000000020004" pitchFamily="2" charset="0"/>
                          <a:ea typeface="+mn-ea"/>
                          <a:cs typeface="+mn-cs"/>
                        </a:rPr>
                        <a:t>Oct-26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vMerge="1">
                  <a:txBody>
                    <a:bodyPr/>
                    <a:lstStyle/>
                    <a:p>
                      <a:pPr marL="0" algn="ctr" rtl="0" fontAlgn="ctr">
                        <a:buNone/>
                      </a:pPr>
                      <a:endParaRPr lang="en-US" sz="900" b="1" i="0" u="none" strike="noStrike">
                        <a:solidFill>
                          <a:srgbClr val="FFFFFF"/>
                        </a:solidFill>
                        <a:effectLst/>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extLst>
                  <a:ext uri="{0D108BD9-81ED-4DB2-BD59-A6C34878D82A}">
                    <a16:rowId xmlns:a16="http://schemas.microsoft.com/office/drawing/2014/main" val="903521538"/>
                  </a:ext>
                </a:extLst>
              </a:tr>
              <a:tr h="1922714">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Battery Container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dirty="0">
                          <a:solidFill>
                            <a:srgbClr val="000000"/>
                          </a:solidFill>
                          <a:effectLst/>
                          <a:latin typeface="Adani Regular" panose="02000503000000020004" pitchFamily="2" charset="0"/>
                        </a:rPr>
                        <a:t>CATL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5310000957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16-Dec-25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10-May-26</a:t>
                      </a:r>
                    </a:p>
                    <a:p>
                      <a:pPr algn="ctr" fontAlgn="ctr">
                        <a:buNone/>
                      </a:pPr>
                      <a:r>
                        <a:rPr lang="en-US" sz="800" b="0" i="0" u="none" strike="sngStrike" kern="1200">
                          <a:solidFill>
                            <a:schemeClr val="tx1"/>
                          </a:solidFill>
                          <a:effectLst/>
                          <a:latin typeface="Adani Light"/>
                          <a:ea typeface="+mn-ea"/>
                          <a:cs typeface="+mn-cs"/>
                        </a:rPr>
                        <a:t>25-Jun-26</a:t>
                      </a:r>
                    </a:p>
                    <a:p>
                      <a:pPr algn="ctr" fontAlgn="ctr">
                        <a:buNone/>
                      </a:pPr>
                      <a:r>
                        <a:rPr lang="en-US" sz="800" b="0" i="0" u="none" strike="noStrike" kern="1200">
                          <a:solidFill>
                            <a:srgbClr val="00B050"/>
                          </a:solidFill>
                          <a:effectLst/>
                          <a:latin typeface="Adani Light"/>
                          <a:ea typeface="+mn-ea"/>
                          <a:cs typeface="+mn-cs"/>
                        </a:rPr>
                        <a:t>14-Jul-26</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01-Jul-26</a:t>
                      </a:r>
                    </a:p>
                    <a:p>
                      <a:pPr algn="ctr" fontAlgn="ctr">
                        <a:buNone/>
                      </a:pPr>
                      <a:r>
                        <a:rPr lang="en-US" sz="800" b="0" i="0" u="none" strike="sngStrike">
                          <a:solidFill>
                            <a:srgbClr val="000000"/>
                          </a:solidFill>
                          <a:effectLst/>
                          <a:latin typeface="Adani Regular" panose="02000503000000020004" pitchFamily="2" charset="0"/>
                        </a:rPr>
                        <a:t>15-Jul-26</a:t>
                      </a:r>
                    </a:p>
                    <a:p>
                      <a:pPr algn="ctr" fontAlgn="ctr">
                        <a:buNone/>
                      </a:pPr>
                      <a:r>
                        <a:rPr lang="en-US" sz="800" b="0" i="0" u="none" strike="sngStrike" kern="1200">
                          <a:solidFill>
                            <a:schemeClr val="tx1"/>
                          </a:solidFill>
                          <a:effectLst/>
                          <a:latin typeface="Adani Light"/>
                          <a:ea typeface="+mn-ea"/>
                          <a:cs typeface="+mn-cs"/>
                        </a:rPr>
                        <a:t>07-Sep-26</a:t>
                      </a:r>
                    </a:p>
                    <a:p>
                      <a:pPr algn="ctr" fontAlgn="ctr">
                        <a:buNone/>
                      </a:pPr>
                      <a:r>
                        <a:rPr lang="en-US" sz="800" b="0" i="0" u="none" strike="noStrike" kern="1200">
                          <a:solidFill>
                            <a:schemeClr val="tx1"/>
                          </a:solidFill>
                          <a:effectLst/>
                          <a:latin typeface="Adani Light"/>
                          <a:ea typeface="+mn-ea"/>
                          <a:cs typeface="+mn-cs"/>
                        </a:rPr>
                        <a:t>05-Oct-26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26 Nov 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dani Regular" panose="02000503000000020004" pitchFamily="2" charset="0"/>
                        </a:rPr>
                        <a:t>11 Feb- 26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buNone/>
                      </a:pPr>
                      <a:br>
                        <a:rPr lang="en-IN" sz="800" b="1" dirty="0">
                          <a:effectLst/>
                          <a:highlight>
                            <a:srgbClr val="FFFF00"/>
                          </a:highlight>
                          <a:latin typeface="Adani Regular" panose="02000503000000020004" pitchFamily="2" charset="0"/>
                        </a:rPr>
                      </a:br>
                      <a:r>
                        <a:rPr lang="en-IN" sz="800" b="0" dirty="0">
                          <a:solidFill>
                            <a:schemeClr val="tx1"/>
                          </a:solidFill>
                          <a:effectLst/>
                          <a:latin typeface="Adani Regular" panose="02000503000000020004" pitchFamily="2" charset="0"/>
                        </a:rPr>
                        <a:t>FOB </a:t>
                      </a:r>
                      <a:r>
                        <a:rPr lang="en-IN" sz="800" b="0" strike="noStrike" dirty="0">
                          <a:solidFill>
                            <a:schemeClr val="tx1"/>
                          </a:solidFill>
                          <a:effectLst/>
                          <a:latin typeface="Adani Regular" panose="02000503000000020004" pitchFamily="2" charset="0"/>
                        </a:rPr>
                        <a:t>63 </a:t>
                      </a:r>
                      <a:r>
                        <a:rPr lang="en-IN" sz="800" b="0" dirty="0">
                          <a:solidFill>
                            <a:schemeClr val="tx1"/>
                          </a:solidFill>
                          <a:effectLst/>
                          <a:latin typeface="Adani Regular" panose="02000503000000020004" pitchFamily="2" charset="0"/>
                        </a:rPr>
                        <a:t>containers :01-Aug </a:t>
                      </a:r>
                    </a:p>
                    <a:p>
                      <a:pPr>
                        <a:buNone/>
                      </a:pPr>
                      <a:r>
                        <a:rPr lang="en-IN" sz="800" b="0" dirty="0">
                          <a:solidFill>
                            <a:schemeClr val="tx1"/>
                          </a:solidFill>
                          <a:effectLst/>
                          <a:latin typeface="Adani Regular" panose="02000503000000020004" pitchFamily="2" charset="0"/>
                        </a:rPr>
                        <a:t>FOB 140 containers :02-Aug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1916995662"/>
                  </a:ext>
                </a:extLst>
              </a:tr>
              <a:tr h="499323">
                <a:tc>
                  <a:txBody>
                    <a:bodyPr/>
                    <a:lstStyle/>
                    <a:p>
                      <a:pPr marL="0" algn="ctr" rtl="0" fontAlgn="ctr">
                        <a:buNone/>
                      </a:pPr>
                      <a:r>
                        <a:rPr lang="en-US" sz="800" b="0" i="0" u="none" strike="noStrike">
                          <a:solidFill>
                            <a:srgbClr val="00B050"/>
                          </a:solidFill>
                          <a:effectLst/>
                          <a:latin typeface="Adani Regular" panose="02000503000000020004" pitchFamily="2" charset="0"/>
                          <a:ea typeface="+mn-ea"/>
                          <a:cs typeface="+mn-cs"/>
                        </a:rPr>
                        <a:t>2</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PCS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dirty="0" err="1">
                          <a:solidFill>
                            <a:srgbClr val="00B050"/>
                          </a:solidFill>
                          <a:effectLst/>
                          <a:latin typeface="Adani Regular" panose="02000503000000020004" pitchFamily="2" charset="0"/>
                        </a:rPr>
                        <a:t>Hopewind</a:t>
                      </a:r>
                      <a:endParaRPr lang="en-US" sz="800" b="0" i="0" u="none" strike="noStrike" dirty="0">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432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432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5310000906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kern="1200">
                          <a:solidFill>
                            <a:srgbClr val="00B050"/>
                          </a:solidFill>
                          <a:effectLst/>
                          <a:latin typeface="Adani Light"/>
                          <a:ea typeface="+mn-ea"/>
                          <a:cs typeface="+mn-cs"/>
                        </a:rPr>
                        <a:t>06-Jun-26</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algn="ctr" defTabSz="914400" rtl="0" eaLnBrk="1" fontAlgn="ctr" latinLnBrk="0" hangingPunct="1">
                        <a:buNone/>
                      </a:pPr>
                      <a:r>
                        <a:rPr lang="en-US" sz="800" b="0" i="0" u="none" strike="noStrike" kern="1200">
                          <a:solidFill>
                            <a:srgbClr val="00B050"/>
                          </a:solidFill>
                          <a:effectLst/>
                          <a:latin typeface="Adani Light"/>
                          <a:ea typeface="+mn-ea"/>
                          <a:cs typeface="+mn-cs"/>
                        </a:rPr>
                        <a:t>04-Aug-26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10-Jan-26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432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rowSpan="10" gridSpan="3">
                  <a:txBody>
                    <a:bodyPr/>
                    <a:lstStyle/>
                    <a:p>
                      <a:pPr marL="0" algn="ctr" rtl="0" fontAlgn="ctr">
                        <a:buNone/>
                      </a:pPr>
                      <a:r>
                        <a:rPr lang="en-US" sz="800" b="0" i="0" u="none" strike="noStrike" noProof="0">
                          <a:solidFill>
                            <a:srgbClr val="00B050"/>
                          </a:solidFill>
                          <a:effectLst/>
                          <a:latin typeface="Adani Regular" panose="02000503000000020004" pitchFamily="2" charset="0"/>
                          <a:ea typeface="+mn-ea"/>
                          <a:cs typeface="+mn-cs"/>
                        </a:rPr>
                        <a:t>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rowSpan="10" hMerge="1">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10" hMerge="1">
                  <a:txBody>
                    <a:bodyPr/>
                    <a:lstStyle/>
                    <a:p>
                      <a:pPr marL="0" algn="ctr" rtl="0" fontAlgn="ctr">
                        <a:buNone/>
                      </a:pPr>
                      <a:endParaRPr lang="en-US" sz="800" b="0" i="0" u="none" strike="noStrike" noProof="0">
                        <a:solidFill>
                          <a:srgbClr val="00B050"/>
                        </a:solidFill>
                        <a:effectLst/>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1991484044"/>
                  </a:ext>
                </a:extLst>
              </a:tr>
              <a:tr h="389564">
                <a:tc>
                  <a:txBody>
                    <a:bodyPr/>
                    <a:lstStyle/>
                    <a:p>
                      <a:pPr algn="ctr" rtl="0" fontAlgn="ctr">
                        <a:buNone/>
                      </a:pPr>
                      <a:r>
                        <a:rPr lang="en-US" sz="800" b="0" i="0" u="none" strike="noStrike">
                          <a:solidFill>
                            <a:srgbClr val="00B050"/>
                          </a:solidFill>
                          <a:effectLst/>
                          <a:latin typeface="Adani Regular" panose="02000503000000020004" pitchFamily="2" charset="0"/>
                        </a:rPr>
                        <a:t>3</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EMS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Emerson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dirty="0">
                          <a:solidFill>
                            <a:srgbClr val="00B050"/>
                          </a:solidFill>
                          <a:effectLst/>
                          <a:latin typeface="Adani Regular" panose="02000503000000020004" pitchFamily="2" charset="0"/>
                        </a:rPr>
                        <a:t>Set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4510020887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15-Dec-25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a:solidFill>
                            <a:srgbClr val="00B050"/>
                          </a:solidFill>
                          <a:effectLst/>
                          <a:latin typeface="Adani Light"/>
                          <a:ea typeface="+mn-ea"/>
                          <a:cs typeface="+mn-cs"/>
                        </a:rPr>
                        <a:t>04-Jun-26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kern="1200">
                          <a:solidFill>
                            <a:srgbClr val="00B050"/>
                          </a:solidFill>
                          <a:effectLst/>
                          <a:latin typeface="Adani Light"/>
                          <a:ea typeface="+mn-ea"/>
                          <a:cs typeface="+mn-cs"/>
                        </a:rPr>
                        <a:t>30-Jun-26</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same as of phase one (28/05/25)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3"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B05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lang="en-US"/>
                    </a:p>
                  </a:txBody>
                  <a:tcPr/>
                </a:tc>
                <a:extLst>
                  <a:ext uri="{0D108BD9-81ED-4DB2-BD59-A6C34878D82A}">
                    <a16:rowId xmlns:a16="http://schemas.microsoft.com/office/drawing/2014/main" val="2604647815"/>
                  </a:ext>
                </a:extLst>
              </a:tr>
              <a:tr h="259709">
                <a:tc>
                  <a:txBody>
                    <a:bodyPr/>
                    <a:lstStyle/>
                    <a:p>
                      <a:pPr algn="ctr" rtl="0" fontAlgn="ctr">
                        <a:buNone/>
                      </a:pPr>
                      <a:r>
                        <a:rPr lang="en-US" sz="800" b="0" i="0" u="none" strike="noStrike">
                          <a:solidFill>
                            <a:srgbClr val="00B050"/>
                          </a:solidFill>
                          <a:effectLst/>
                          <a:latin typeface="Adani Regular" panose="02000503000000020004" pitchFamily="2" charset="0"/>
                        </a:rPr>
                        <a:t>4</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Converter Transformer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err="1">
                          <a:solidFill>
                            <a:srgbClr val="00B050"/>
                          </a:solidFill>
                          <a:effectLst/>
                          <a:latin typeface="Adani Regular" panose="02000503000000020004" pitchFamily="2" charset="0"/>
                        </a:rPr>
                        <a:t>Ornet</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dirty="0">
                          <a:solidFill>
                            <a:srgbClr val="00B05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4510020943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17-Dec-25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27-Mar-26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30-May-26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25-Feb-26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28-Feb-26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3"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33CC33"/>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lang="en-US"/>
                    </a:p>
                  </a:txBody>
                  <a:tcPr/>
                </a:tc>
                <a:extLst>
                  <a:ext uri="{0D108BD9-81ED-4DB2-BD59-A6C34878D82A}">
                    <a16:rowId xmlns:a16="http://schemas.microsoft.com/office/drawing/2014/main" val="4137629425"/>
                  </a:ext>
                </a:extLst>
              </a:tr>
              <a:tr h="389564">
                <a:tc>
                  <a:txBody>
                    <a:bodyPr/>
                    <a:lstStyle/>
                    <a:p>
                      <a:pPr algn="ctr" rtl="0" fontAlgn="ctr">
                        <a:buNone/>
                      </a:pPr>
                      <a:r>
                        <a:rPr lang="en-US" sz="800" b="0" i="0" u="none" strike="noStrike">
                          <a:solidFill>
                            <a:srgbClr val="00B050"/>
                          </a:solidFill>
                          <a:effectLst/>
                          <a:latin typeface="Adani Regular" panose="02000503000000020004" pitchFamily="2" charset="0"/>
                        </a:rPr>
                        <a:t>5</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CSS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M/S Akshar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dirty="0">
                          <a:solidFill>
                            <a:srgbClr val="00B05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4510021229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16-Jan-26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20-May-26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kern="1200">
                          <a:solidFill>
                            <a:srgbClr val="00B050"/>
                          </a:solidFill>
                          <a:effectLst/>
                          <a:latin typeface="Adani Light"/>
                          <a:ea typeface="+mn-ea"/>
                          <a:cs typeface="+mn-cs"/>
                        </a:rPr>
                        <a:t>10-Jun-26</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same as of phase one (27/05/25)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B050"/>
                          </a:solidFill>
                          <a:effectLst/>
                          <a:latin typeface="Adani Regular" panose="02000503000000020004" pitchFamily="2"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3"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lang="en-US"/>
                    </a:p>
                  </a:txBody>
                  <a:tcPr/>
                </a:tc>
                <a:extLst>
                  <a:ext uri="{0D108BD9-81ED-4DB2-BD59-A6C34878D82A}">
                    <a16:rowId xmlns:a16="http://schemas.microsoft.com/office/drawing/2014/main" val="3910369519"/>
                  </a:ext>
                </a:extLst>
              </a:tr>
              <a:tr h="624155">
                <a:tc>
                  <a:txBody>
                    <a:bodyPr/>
                    <a:lstStyle/>
                    <a:p>
                      <a:pPr algn="ctr" rtl="0" fontAlgn="ctr">
                        <a:buNone/>
                      </a:pPr>
                      <a:r>
                        <a:rPr lang="en-US" sz="800" b="0" i="0" u="none" strike="noStrike">
                          <a:solidFill>
                            <a:srgbClr val="00B050"/>
                          </a:solidFill>
                          <a:effectLst/>
                          <a:latin typeface="Adani Regular" panose="02000503000000020004" pitchFamily="2" charset="0"/>
                        </a:rPr>
                        <a:t>6</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MV Switchgear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err="1">
                          <a:solidFill>
                            <a:srgbClr val="00B050"/>
                          </a:solidFill>
                          <a:effectLst/>
                          <a:latin typeface="Adani Regular" panose="02000503000000020004" pitchFamily="2" charset="0"/>
                        </a:rPr>
                        <a:t>Trisquare</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dirty="0">
                          <a:solidFill>
                            <a:srgbClr val="00B05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4510021080 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30-Dec-25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14400" rtl="0" eaLnBrk="1" fontAlgn="ctr" latinLnBrk="0" hangingPunct="1">
                        <a:buNone/>
                      </a:pPr>
                      <a:r>
                        <a:rPr lang="en-US" sz="800" b="0" i="0" u="none" strike="noStrike" kern="1200">
                          <a:solidFill>
                            <a:srgbClr val="00B050"/>
                          </a:solidFill>
                          <a:effectLst/>
                          <a:latin typeface="Adani Light"/>
                          <a:ea typeface="+mn-ea"/>
                          <a:cs typeface="+mn-cs"/>
                        </a:rPr>
                        <a:t>07-May-26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algn="ctr" defTabSz="914400" rtl="0" eaLnBrk="1" fontAlgn="ctr" latinLnBrk="0" hangingPunct="1">
                        <a:buNone/>
                      </a:pPr>
                      <a:r>
                        <a:rPr lang="en-US" sz="800" b="0" i="0" u="none" strike="noStrike" kern="1200">
                          <a:solidFill>
                            <a:srgbClr val="00B050"/>
                          </a:solidFill>
                          <a:effectLst/>
                          <a:latin typeface="Adani Light"/>
                          <a:ea typeface="+mn-ea"/>
                          <a:cs typeface="+mn-cs"/>
                        </a:rPr>
                        <a:t>12-Jun-26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07-Feb-26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3"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lang="en-US"/>
                    </a:p>
                  </a:txBody>
                  <a:tcPr/>
                </a:tc>
                <a:extLst>
                  <a:ext uri="{0D108BD9-81ED-4DB2-BD59-A6C34878D82A}">
                    <a16:rowId xmlns:a16="http://schemas.microsoft.com/office/drawing/2014/main" val="3378225642"/>
                  </a:ext>
                </a:extLst>
              </a:tr>
              <a:tr h="259709">
                <a:tc>
                  <a:txBody>
                    <a:bodyPr/>
                    <a:lstStyle/>
                    <a:p>
                      <a:pPr algn="ctr" rtl="0" fontAlgn="ctr">
                        <a:buNone/>
                      </a:pPr>
                      <a:r>
                        <a:rPr lang="en-US" sz="800" b="0" i="0" u="none" strike="noStrike">
                          <a:solidFill>
                            <a:srgbClr val="00B050"/>
                          </a:solidFill>
                          <a:effectLst/>
                          <a:latin typeface="Adani Regular" panose="02000503000000020004" pitchFamily="2" charset="0"/>
                        </a:rPr>
                        <a:t>7</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HT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Diamond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dirty="0">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4510021080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18-Dec-25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11-Feb-26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30-Apr-26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12-Jan-26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3"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pPr algn="ctr" rtl="0" fontAlgn="ctr">
                        <a:buNone/>
                      </a:pPr>
                      <a:endParaRPr kumimoji="0" lang="en-US" sz="800" b="0" i="0" u="none" strike="noStrike" kern="0" cap="none" spc="0" normalizeH="0" baseline="0" noProof="0">
                        <a:ln>
                          <a:noFill/>
                        </a:ln>
                        <a:solidFill>
                          <a:srgbClr val="00B05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lang="en-US"/>
                    </a:p>
                  </a:txBody>
                  <a:tcPr/>
                </a:tc>
                <a:extLst>
                  <a:ext uri="{0D108BD9-81ED-4DB2-BD59-A6C34878D82A}">
                    <a16:rowId xmlns:a16="http://schemas.microsoft.com/office/drawing/2014/main" val="1296878238"/>
                  </a:ext>
                </a:extLst>
              </a:tr>
              <a:tr h="259709">
                <a:tc>
                  <a:txBody>
                    <a:bodyPr/>
                    <a:lstStyle/>
                    <a:p>
                      <a:pPr algn="ctr" rtl="0" fontAlgn="ctr">
                        <a:buNone/>
                      </a:pPr>
                      <a:r>
                        <a:rPr lang="en-US" sz="800" b="0" i="0" u="none" strike="noStrike">
                          <a:solidFill>
                            <a:srgbClr val="00B050"/>
                          </a:solidFill>
                          <a:effectLst/>
                          <a:latin typeface="Adani Regular" panose="02000503000000020004" pitchFamily="2" charset="0"/>
                        </a:rPr>
                        <a:t>8</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DC &amp; LT Cables*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Diamond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dirty="0">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822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822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4510021279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28-Feb-26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30-Apr-26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12-Jan-26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822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3"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lang="en-US"/>
                    </a:p>
                  </a:txBody>
                  <a:tcPr/>
                </a:tc>
                <a:extLst>
                  <a:ext uri="{0D108BD9-81ED-4DB2-BD59-A6C34878D82A}">
                    <a16:rowId xmlns:a16="http://schemas.microsoft.com/office/drawing/2014/main" val="2590530388"/>
                  </a:ext>
                </a:extLst>
              </a:tr>
              <a:tr h="129855">
                <a:tc>
                  <a:txBody>
                    <a:bodyPr/>
                    <a:lstStyle/>
                    <a:p>
                      <a:pPr algn="ctr" rtl="0" fontAlgn="ctr">
                        <a:buNone/>
                      </a:pPr>
                      <a:r>
                        <a:rPr lang="en-US" sz="800" b="0" i="0" u="none" strike="noStrike">
                          <a:solidFill>
                            <a:srgbClr val="00B050"/>
                          </a:solidFill>
                          <a:effectLst/>
                          <a:latin typeface="Adani Regular" panose="02000503000000020004" pitchFamily="2" charset="0"/>
                        </a:rPr>
                        <a:t>9</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Control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err="1">
                          <a:solidFill>
                            <a:srgbClr val="00B050"/>
                          </a:solidFill>
                          <a:effectLst/>
                          <a:latin typeface="Adani Regular" panose="02000503000000020004" pitchFamily="2" charset="0"/>
                        </a:rPr>
                        <a:t>Gemscab</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dirty="0">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4510021261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28-Feb-26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10-Mar-26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3"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pPr algn="ctr" rtl="0" fontAlgn="ctr">
                        <a:buNone/>
                      </a:pPr>
                      <a:endParaRPr kumimoji="0" lang="en-US" sz="800" b="0" i="0" u="none" strike="noStrike" kern="0" cap="none" spc="0" normalizeH="0" baseline="0" noProof="0">
                        <a:ln>
                          <a:noFill/>
                        </a:ln>
                        <a:solidFill>
                          <a:srgbClr val="00B05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lang="en-US"/>
                    </a:p>
                  </a:txBody>
                  <a:tcPr/>
                </a:tc>
                <a:extLst>
                  <a:ext uri="{0D108BD9-81ED-4DB2-BD59-A6C34878D82A}">
                    <a16:rowId xmlns:a16="http://schemas.microsoft.com/office/drawing/2014/main" val="924968315"/>
                  </a:ext>
                </a:extLst>
              </a:tr>
              <a:tr h="259709">
                <a:tc>
                  <a:txBody>
                    <a:bodyPr/>
                    <a:lstStyle/>
                    <a:p>
                      <a:pPr algn="ctr" rtl="0" fontAlgn="ctr">
                        <a:buNone/>
                      </a:pPr>
                      <a:r>
                        <a:rPr lang="en-US" sz="800" b="0" i="0" u="none" strike="noStrike">
                          <a:solidFill>
                            <a:srgbClr val="00B050"/>
                          </a:solidFill>
                          <a:effectLst/>
                          <a:latin typeface="Adani Regular" panose="02000503000000020004" pitchFamily="2" charset="0"/>
                        </a:rPr>
                        <a:t>10</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SCADA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M/s Delton &amp; M/s Suyog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dirty="0">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294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294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4510021157 &amp; 4510021163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28-Feb-26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11-Jan-26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294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3"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pPr algn="ctr" rtl="0" fontAlgn="ctr">
                        <a:buNone/>
                      </a:pPr>
                      <a:endParaRPr lang="en-US" sz="800" b="0" i="0" u="none" strike="noStrike">
                        <a:solidFill>
                          <a:srgbClr val="33CC33"/>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lang="en-US"/>
                    </a:p>
                  </a:txBody>
                  <a:tcPr/>
                </a:tc>
                <a:extLst>
                  <a:ext uri="{0D108BD9-81ED-4DB2-BD59-A6C34878D82A}">
                    <a16:rowId xmlns:a16="http://schemas.microsoft.com/office/drawing/2014/main" val="3512880205"/>
                  </a:ext>
                </a:extLst>
              </a:tr>
              <a:tr h="259709">
                <a:tc>
                  <a:txBody>
                    <a:bodyPr/>
                    <a:lstStyle/>
                    <a:p>
                      <a:pPr algn="ctr" rtl="0" fontAlgn="ctr">
                        <a:buNone/>
                      </a:pPr>
                      <a:r>
                        <a:rPr lang="en-US" sz="800" b="0" i="0" u="none" strike="noStrike">
                          <a:solidFill>
                            <a:srgbClr val="00B050"/>
                          </a:solidFill>
                          <a:effectLst/>
                          <a:latin typeface="Adani Regular" panose="02000503000000020004" pitchFamily="2" charset="0"/>
                        </a:rPr>
                        <a:t>11</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dirty="0">
                          <a:solidFill>
                            <a:srgbClr val="00B050"/>
                          </a:solidFill>
                          <a:effectLst/>
                          <a:latin typeface="Adani Regular" panose="02000503000000020004" pitchFamily="2" charset="0"/>
                        </a:rPr>
                        <a:t>FO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dirty="0">
                          <a:solidFill>
                            <a:srgbClr val="00B050"/>
                          </a:solidFill>
                          <a:effectLst/>
                          <a:latin typeface="Adani Regular" panose="02000503000000020004" pitchFamily="2" charset="0"/>
                        </a:rPr>
                        <a:t>Paramount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4510021089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30-Mar-26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same as of phase one (14/05/25)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dirty="0">
                          <a:solidFill>
                            <a:srgbClr val="00B050"/>
                          </a:solidFill>
                          <a:effectLst/>
                          <a:latin typeface="Adani Regular" panose="02000503000000020004" pitchFamily="2"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gridSpan="3"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hMerge="1" vMerge="1">
                  <a:txBody>
                    <a:bodyPr/>
                    <a:lstStyle/>
                    <a:p>
                      <a:pPr algn="ctr" rtl="0" fontAlgn="ctr">
                        <a:buNone/>
                      </a:pPr>
                      <a:endParaRPr kumimoji="0" lang="en-US" sz="800" b="0" i="0" u="none" strike="noStrike" kern="0" cap="none" spc="0" normalizeH="0" baseline="0" noProof="0">
                        <a:ln>
                          <a:noFill/>
                        </a:ln>
                        <a:solidFill>
                          <a:srgbClr val="00B05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hMerge="1" vMerge="1">
                  <a:txBody>
                    <a:bodyPr/>
                    <a:lstStyle/>
                    <a:p>
                      <a:endParaRPr lang="en-US"/>
                    </a:p>
                  </a:txBody>
                  <a:tcPr/>
                </a:tc>
                <a:extLst>
                  <a:ext uri="{0D108BD9-81ED-4DB2-BD59-A6C34878D82A}">
                    <a16:rowId xmlns:a16="http://schemas.microsoft.com/office/drawing/2014/main" val="1036120570"/>
                  </a:ext>
                </a:extLst>
              </a:tr>
            </a:tbl>
          </a:graphicData>
        </a:graphic>
      </p:graphicFrame>
    </p:spTree>
    <p:extLst>
      <p:ext uri="{BB962C8B-B14F-4D97-AF65-F5344CB8AC3E}">
        <p14:creationId xmlns:p14="http://schemas.microsoft.com/office/powerpoint/2010/main" val="3090764494"/>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2B804-DAF4-4C68-A516-9F61273D5D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B6CFC6-2C10-6595-338D-AF2F37CADF87}"/>
              </a:ext>
            </a:extLst>
          </p:cNvPr>
          <p:cNvSpPr>
            <a:spLocks noGrp="1"/>
          </p:cNvSpPr>
          <p:nvPr>
            <p:ph type="ctrTitle"/>
          </p:nvPr>
        </p:nvSpPr>
        <p:spPr>
          <a:xfrm>
            <a:off x="0" y="52879"/>
            <a:ext cx="12466390" cy="461382"/>
          </a:xfrm>
          <a:noFill/>
        </p:spPr>
        <p:txBody>
          <a:bodyPr vert="horz" wrap="square" lIns="91157" tIns="45580" rIns="91157" bIns="45580" rtlCol="0" anchor="b">
            <a:spAutoFit/>
          </a:bodyPr>
          <a:lstStyle/>
          <a:p>
            <a:pPr algn="l">
              <a:spcBef>
                <a:spcPts val="1000"/>
              </a:spcBef>
              <a:defRPr/>
            </a:pPr>
            <a:r>
              <a:rPr lang="en-US" sz="2400" b="1">
                <a:gradFill>
                  <a:gsLst>
                    <a:gs pos="9735">
                      <a:schemeClr val="tx2"/>
                    </a:gs>
                    <a:gs pos="63000">
                      <a:srgbClr val="8E278F"/>
                    </a:gs>
                    <a:gs pos="38000">
                      <a:srgbClr val="57499E"/>
                    </a:gs>
                  </a:gsLst>
                  <a:lin ang="0" scaled="0"/>
                </a:gradFill>
                <a:highlight>
                  <a:srgbClr val="33CC33"/>
                </a:highlight>
                <a:ea typeface="+mn-ea"/>
                <a:cs typeface="+mn-cs"/>
              </a:rPr>
              <a:t>Procurement &amp; Monthly Rolling Plan for Supply of Equipment – </a:t>
            </a:r>
            <a:r>
              <a:rPr lang="en-IN" sz="2400" b="1">
                <a:gradFill>
                  <a:gsLst>
                    <a:gs pos="9735">
                      <a:schemeClr val="tx2"/>
                    </a:gs>
                    <a:gs pos="63000">
                      <a:srgbClr val="8E278F"/>
                    </a:gs>
                    <a:gs pos="38000">
                      <a:srgbClr val="57499E"/>
                    </a:gs>
                  </a:gsLst>
                  <a:lin ang="0" scaled="0"/>
                </a:gradFill>
                <a:highlight>
                  <a:srgbClr val="33CC33"/>
                </a:highlight>
              </a:rPr>
              <a:t>PSS 12</a:t>
            </a:r>
            <a:endParaRPr lang="en-US" sz="2400" b="1">
              <a:gradFill>
                <a:gsLst>
                  <a:gs pos="9735">
                    <a:schemeClr val="tx2"/>
                  </a:gs>
                  <a:gs pos="63000">
                    <a:srgbClr val="8E278F"/>
                  </a:gs>
                  <a:gs pos="38000">
                    <a:srgbClr val="57499E"/>
                  </a:gs>
                </a:gsLst>
                <a:lin ang="0" scaled="0"/>
              </a:gradFill>
              <a:highlight>
                <a:srgbClr val="33CC33"/>
              </a:highlight>
              <a:ea typeface="+mn-ea"/>
              <a:cs typeface="+mn-cs"/>
            </a:endParaRPr>
          </a:p>
        </p:txBody>
      </p:sp>
      <p:pic>
        <p:nvPicPr>
          <p:cNvPr id="11" name="Picture 10">
            <a:extLst>
              <a:ext uri="{FF2B5EF4-FFF2-40B4-BE49-F238E27FC236}">
                <a16:creationId xmlns:a16="http://schemas.microsoft.com/office/drawing/2014/main" id="{4AA8B546-658A-1789-E781-2596B037E58B}"/>
              </a:ext>
            </a:extLst>
          </p:cNvPr>
          <p:cNvPicPr>
            <a:picLocks noChangeAspect="1"/>
          </p:cNvPicPr>
          <p:nvPr/>
        </p:nvPicPr>
        <p:blipFill>
          <a:blip r:embed="rId3"/>
          <a:stretch>
            <a:fillRect/>
          </a:stretch>
        </p:blipFill>
        <p:spPr>
          <a:xfrm>
            <a:off x="6086475" y="3419475"/>
            <a:ext cx="19050" cy="19050"/>
          </a:xfrm>
          <a:prstGeom prst="rect">
            <a:avLst/>
          </a:prstGeom>
        </p:spPr>
      </p:pic>
      <p:sp>
        <p:nvSpPr>
          <p:cNvPr id="3" name="Slide Number Placeholder 2">
            <a:extLst>
              <a:ext uri="{FF2B5EF4-FFF2-40B4-BE49-F238E27FC236}">
                <a16:creationId xmlns:a16="http://schemas.microsoft.com/office/drawing/2014/main" id="{17B2FF83-34CB-26E7-1ACC-B2356CC781D4}"/>
              </a:ext>
            </a:extLst>
          </p:cNvPr>
          <p:cNvSpPr>
            <a:spLocks noGrp="1"/>
          </p:cNvSpPr>
          <p:nvPr>
            <p:ph type="sldNum" sz="quarter" idx="12"/>
          </p:nvPr>
        </p:nvSpPr>
        <p:spPr/>
        <p:txBody>
          <a:bodyPr/>
          <a:lstStyle/>
          <a:p>
            <a:fld id="{98B285C1-D8A8-4E98-B28C-1FD972D8EC54}" type="slidenum">
              <a:rPr lang="en-IN" smtClean="0"/>
              <a:t>15</a:t>
            </a:fld>
            <a:endParaRPr lang="en-IN"/>
          </a:p>
        </p:txBody>
      </p:sp>
      <p:graphicFrame>
        <p:nvGraphicFramePr>
          <p:cNvPr id="4" name="Table 3">
            <a:extLst>
              <a:ext uri="{FF2B5EF4-FFF2-40B4-BE49-F238E27FC236}">
                <a16:creationId xmlns:a16="http://schemas.microsoft.com/office/drawing/2014/main" id="{FD4A2248-45B0-1F17-5725-DF8D25C4C0D1}"/>
              </a:ext>
            </a:extLst>
          </p:cNvPr>
          <p:cNvGraphicFramePr>
            <a:graphicFrameLocks noGrp="1"/>
          </p:cNvGraphicFramePr>
          <p:nvPr>
            <p:extLst>
              <p:ext uri="{D42A27DB-BD31-4B8C-83A1-F6EECF244321}">
                <p14:modId xmlns:p14="http://schemas.microsoft.com/office/powerpoint/2010/main" val="1832274013"/>
              </p:ext>
            </p:extLst>
          </p:nvPr>
        </p:nvGraphicFramePr>
        <p:xfrm>
          <a:off x="144776" y="649786"/>
          <a:ext cx="11837674" cy="5598610"/>
        </p:xfrm>
        <a:graphic>
          <a:graphicData uri="http://schemas.openxmlformats.org/drawingml/2006/table">
            <a:tbl>
              <a:tblPr/>
              <a:tblGrid>
                <a:gridCol w="436793">
                  <a:extLst>
                    <a:ext uri="{9D8B030D-6E8A-4147-A177-3AD203B41FA5}">
                      <a16:colId xmlns:a16="http://schemas.microsoft.com/office/drawing/2014/main" val="2521889404"/>
                    </a:ext>
                  </a:extLst>
                </a:gridCol>
                <a:gridCol w="967180">
                  <a:extLst>
                    <a:ext uri="{9D8B030D-6E8A-4147-A177-3AD203B41FA5}">
                      <a16:colId xmlns:a16="http://schemas.microsoft.com/office/drawing/2014/main" val="3389372662"/>
                    </a:ext>
                  </a:extLst>
                </a:gridCol>
                <a:gridCol w="1258370">
                  <a:extLst>
                    <a:ext uri="{9D8B030D-6E8A-4147-A177-3AD203B41FA5}">
                      <a16:colId xmlns:a16="http://schemas.microsoft.com/office/drawing/2014/main" val="3209810027"/>
                    </a:ext>
                  </a:extLst>
                </a:gridCol>
                <a:gridCol w="603187">
                  <a:extLst>
                    <a:ext uri="{9D8B030D-6E8A-4147-A177-3AD203B41FA5}">
                      <a16:colId xmlns:a16="http://schemas.microsoft.com/office/drawing/2014/main" val="2842553249"/>
                    </a:ext>
                  </a:extLst>
                </a:gridCol>
                <a:gridCol w="571986">
                  <a:extLst>
                    <a:ext uri="{9D8B030D-6E8A-4147-A177-3AD203B41FA5}">
                      <a16:colId xmlns:a16="http://schemas.microsoft.com/office/drawing/2014/main" val="3982847779"/>
                    </a:ext>
                  </a:extLst>
                </a:gridCol>
                <a:gridCol w="883981">
                  <a:extLst>
                    <a:ext uri="{9D8B030D-6E8A-4147-A177-3AD203B41FA5}">
                      <a16:colId xmlns:a16="http://schemas.microsoft.com/office/drawing/2014/main" val="1686838054"/>
                    </a:ext>
                  </a:extLst>
                </a:gridCol>
                <a:gridCol w="675984">
                  <a:extLst>
                    <a:ext uri="{9D8B030D-6E8A-4147-A177-3AD203B41FA5}">
                      <a16:colId xmlns:a16="http://schemas.microsoft.com/office/drawing/2014/main" val="2921139727"/>
                    </a:ext>
                  </a:extLst>
                </a:gridCol>
                <a:gridCol w="1029576">
                  <a:extLst>
                    <a:ext uri="{9D8B030D-6E8A-4147-A177-3AD203B41FA5}">
                      <a16:colId xmlns:a16="http://schemas.microsoft.com/office/drawing/2014/main" val="361922588"/>
                    </a:ext>
                  </a:extLst>
                </a:gridCol>
                <a:gridCol w="758098">
                  <a:extLst>
                    <a:ext uri="{9D8B030D-6E8A-4147-A177-3AD203B41FA5}">
                      <a16:colId xmlns:a16="http://schemas.microsoft.com/office/drawing/2014/main" val="3111951637"/>
                    </a:ext>
                  </a:extLst>
                </a:gridCol>
                <a:gridCol w="686085">
                  <a:extLst>
                    <a:ext uri="{9D8B030D-6E8A-4147-A177-3AD203B41FA5}">
                      <a16:colId xmlns:a16="http://schemas.microsoft.com/office/drawing/2014/main" val="3604605715"/>
                    </a:ext>
                  </a:extLst>
                </a:gridCol>
                <a:gridCol w="686085">
                  <a:extLst>
                    <a:ext uri="{9D8B030D-6E8A-4147-A177-3AD203B41FA5}">
                      <a16:colId xmlns:a16="http://schemas.microsoft.com/office/drawing/2014/main" val="882823682"/>
                    </a:ext>
                  </a:extLst>
                </a:gridCol>
                <a:gridCol w="921930">
                  <a:extLst>
                    <a:ext uri="{9D8B030D-6E8A-4147-A177-3AD203B41FA5}">
                      <a16:colId xmlns:a16="http://schemas.microsoft.com/office/drawing/2014/main" val="888338481"/>
                    </a:ext>
                  </a:extLst>
                </a:gridCol>
                <a:gridCol w="653927">
                  <a:extLst>
                    <a:ext uri="{9D8B030D-6E8A-4147-A177-3AD203B41FA5}">
                      <a16:colId xmlns:a16="http://schemas.microsoft.com/office/drawing/2014/main" val="64693716"/>
                    </a:ext>
                  </a:extLst>
                </a:gridCol>
                <a:gridCol w="632486">
                  <a:extLst>
                    <a:ext uri="{9D8B030D-6E8A-4147-A177-3AD203B41FA5}">
                      <a16:colId xmlns:a16="http://schemas.microsoft.com/office/drawing/2014/main" val="2162542950"/>
                    </a:ext>
                  </a:extLst>
                </a:gridCol>
                <a:gridCol w="536003">
                  <a:extLst>
                    <a:ext uri="{9D8B030D-6E8A-4147-A177-3AD203B41FA5}">
                      <a16:colId xmlns:a16="http://schemas.microsoft.com/office/drawing/2014/main" val="847697611"/>
                    </a:ext>
                  </a:extLst>
                </a:gridCol>
                <a:gridCol w="536003">
                  <a:extLst>
                    <a:ext uri="{9D8B030D-6E8A-4147-A177-3AD203B41FA5}">
                      <a16:colId xmlns:a16="http://schemas.microsoft.com/office/drawing/2014/main" val="526701006"/>
                    </a:ext>
                  </a:extLst>
                </a:gridCol>
              </a:tblGrid>
              <a:tr h="501736">
                <a:tc rowSpan="2">
                  <a:txBody>
                    <a:bodyPr/>
                    <a:lstStyle/>
                    <a:p>
                      <a:pPr algn="ctr" rtl="0" fontAlgn="ctr">
                        <a:buNone/>
                      </a:pPr>
                      <a:r>
                        <a:rPr lang="en-US" sz="800" b="1" i="0" u="none" strike="noStrike">
                          <a:solidFill>
                            <a:srgbClr val="FFFFFF"/>
                          </a:solidFill>
                          <a:effectLst/>
                          <a:latin typeface="Adani Regular" panose="02000503000000020004" pitchFamily="2" charset="0"/>
                        </a:rPr>
                        <a:t>Sr. No.</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Packages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Manufacturer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UOM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Scope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Ordering 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Balance Ordering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PO Number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PO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gridSpan="2">
                  <a:txBody>
                    <a:bodyPr/>
                    <a:lstStyle/>
                    <a:p>
                      <a:pPr algn="ctr" rtl="0" fontAlgn="ctr">
                        <a:buNone/>
                      </a:pPr>
                      <a:r>
                        <a:rPr lang="en-US" sz="800" b="1" i="0" u="none" strike="noStrike">
                          <a:solidFill>
                            <a:srgbClr val="FFFFFF"/>
                          </a:solidFill>
                          <a:effectLst/>
                          <a:latin typeface="Adani Regular" panose="02000503000000020004" pitchFamily="2" charset="0"/>
                        </a:rPr>
                        <a:t>Expected Delivery at Site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gridSpan="2">
                  <a:txBody>
                    <a:bodyPr/>
                    <a:lstStyle/>
                    <a:p>
                      <a:pPr algn="ctr" fontAlgn="b">
                        <a:buNone/>
                      </a:pPr>
                      <a:r>
                        <a:rPr lang="en-US" sz="800" b="1" i="0" u="none" strike="noStrike">
                          <a:solidFill>
                            <a:srgbClr val="FFFFFF"/>
                          </a:solidFill>
                          <a:effectLst/>
                          <a:latin typeface="Adani Regular" panose="02000503000000020004" pitchFamily="2" charset="0"/>
                        </a:rPr>
                        <a:t>Manufacturing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Delivered At Site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Forecast Delivery Schedule (Qty)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Remarks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extLst>
                  <a:ext uri="{0D108BD9-81ED-4DB2-BD59-A6C34878D82A}">
                    <a16:rowId xmlns:a16="http://schemas.microsoft.com/office/drawing/2014/main" val="1417290466"/>
                  </a:ext>
                </a:extLst>
              </a:tr>
              <a:tr h="250868">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1" i="0" u="none" strike="noStrike">
                          <a:solidFill>
                            <a:srgbClr val="FFFFFF"/>
                          </a:solidFill>
                          <a:effectLst/>
                          <a:latin typeface="Adani Regular" panose="02000503000000020004" pitchFamily="2" charset="0"/>
                        </a:rPr>
                        <a:t>Start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Finish</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fontAlgn="ctr">
                        <a:buNone/>
                      </a:pPr>
                      <a:r>
                        <a:rPr lang="en-US" sz="800" b="1" i="0" u="none" strike="noStrike">
                          <a:solidFill>
                            <a:srgbClr val="FFFFFF"/>
                          </a:solidFill>
                          <a:effectLst/>
                          <a:latin typeface="Adani Regular" panose="02000503000000020004" pitchFamily="2" charset="0"/>
                        </a:rPr>
                        <a:t>QAP Acceptance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fontAlgn="ctr">
                        <a:buNone/>
                      </a:pPr>
                      <a:r>
                        <a:rPr lang="en-US" sz="800" b="1" i="0" u="none" strike="noStrike">
                          <a:solidFill>
                            <a:srgbClr val="FFFFFF"/>
                          </a:solidFill>
                          <a:effectLst/>
                          <a:latin typeface="Adani Regular" panose="02000503000000020004" pitchFamily="2" charset="0"/>
                        </a:rPr>
                        <a:t>MC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vMerge="1">
                  <a:txBody>
                    <a:bodyPr/>
                    <a:lstStyle/>
                    <a:p>
                      <a:endParaRPr lang="en-US"/>
                    </a:p>
                  </a:txBody>
                  <a:tcPr/>
                </a:tc>
                <a:tc>
                  <a:txBody>
                    <a:bodyPr/>
                    <a:lstStyle/>
                    <a:p>
                      <a:pPr algn="ctr" rtl="0" fontAlgn="ctr">
                        <a:buNone/>
                      </a:pPr>
                      <a:r>
                        <a:rPr lang="en-US" sz="800" b="1" i="0" u="none" strike="noStrike">
                          <a:solidFill>
                            <a:srgbClr val="FFFFFF"/>
                          </a:solidFill>
                          <a:effectLst/>
                          <a:latin typeface="Adani Regular" panose="02000503000000020004" pitchFamily="2" charset="0"/>
                        </a:rPr>
                        <a:t>Sep-26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vMerge="1">
                  <a:txBody>
                    <a:bodyPr/>
                    <a:lstStyle/>
                    <a:p>
                      <a:pPr algn="ctr" rtl="0" fontAlgn="ctr">
                        <a:buNone/>
                      </a:pPr>
                      <a:endParaRPr lang="en-US" sz="800" b="1" i="0" u="none" strike="noStrike">
                        <a:solidFill>
                          <a:srgbClr val="FFFFFF"/>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extLst>
                  <a:ext uri="{0D108BD9-81ED-4DB2-BD59-A6C34878D82A}">
                    <a16:rowId xmlns:a16="http://schemas.microsoft.com/office/drawing/2014/main" val="83520690"/>
                  </a:ext>
                </a:extLst>
              </a:tr>
              <a:tr h="2303712">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Battery Container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CATL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384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384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5310000958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16-Dec-25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25-May-26</a:t>
                      </a:r>
                    </a:p>
                    <a:p>
                      <a:pPr algn="ctr" fontAlgn="ctr">
                        <a:buNone/>
                      </a:pPr>
                      <a:r>
                        <a:rPr lang="en-US" sz="800" b="0" i="0" u="none" strike="sngStrike">
                          <a:solidFill>
                            <a:srgbClr val="000000"/>
                          </a:solidFill>
                          <a:effectLst/>
                          <a:latin typeface="Adani Regular" panose="02000503000000020004" pitchFamily="2" charset="0"/>
                        </a:rPr>
                        <a:t>01-Jul-26</a:t>
                      </a:r>
                    </a:p>
                    <a:p>
                      <a:pPr algn="ctr" fontAlgn="ctr">
                        <a:buNone/>
                      </a:pPr>
                      <a:r>
                        <a:rPr lang="en-US" sz="800" b="0" i="0" u="none" strike="sngStrike">
                          <a:solidFill>
                            <a:srgbClr val="000000"/>
                          </a:solidFill>
                          <a:effectLst/>
                          <a:latin typeface="Adani Regular" panose="02000503000000020004" pitchFamily="2" charset="0"/>
                        </a:rPr>
                        <a:t>1-Aug-26</a:t>
                      </a:r>
                    </a:p>
                    <a:p>
                      <a:pPr algn="ctr" fontAlgn="ctr">
                        <a:buNone/>
                      </a:pPr>
                      <a:r>
                        <a:rPr lang="en-US" sz="800" b="0" i="0" u="none" strike="sngStrike" kern="1200">
                          <a:solidFill>
                            <a:schemeClr val="tx1"/>
                          </a:solidFill>
                          <a:effectLst/>
                          <a:latin typeface="Adani Light"/>
                          <a:ea typeface="+mn-ea"/>
                          <a:cs typeface="+mn-cs"/>
                        </a:rPr>
                        <a:t>20-Jul-26</a:t>
                      </a:r>
                    </a:p>
                    <a:p>
                      <a:pPr algn="ctr" fontAlgn="ctr">
                        <a:buNone/>
                      </a:pPr>
                      <a:r>
                        <a:rPr lang="en-US" sz="800" b="0" i="0" u="none" strike="noStrike" kern="1200">
                          <a:solidFill>
                            <a:srgbClr val="00B050"/>
                          </a:solidFill>
                          <a:effectLst/>
                          <a:latin typeface="Adani Light"/>
                          <a:ea typeface="+mn-ea"/>
                          <a:cs typeface="+mn-cs"/>
                        </a:rPr>
                        <a:t>15-Jul-26</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25-Dec-26</a:t>
                      </a:r>
                    </a:p>
                    <a:p>
                      <a:pPr algn="ctr" fontAlgn="ctr">
                        <a:buNone/>
                      </a:pPr>
                      <a:r>
                        <a:rPr lang="en-US" sz="800" b="0" i="0" u="none" strike="sngStrike">
                          <a:solidFill>
                            <a:srgbClr val="000000"/>
                          </a:solidFill>
                          <a:effectLst/>
                          <a:latin typeface="Adani Regular" panose="02000503000000020004" pitchFamily="2" charset="0"/>
                        </a:rPr>
                        <a:t>31-Aug-26</a:t>
                      </a:r>
                    </a:p>
                    <a:p>
                      <a:pPr algn="ctr" fontAlgn="ctr">
                        <a:buNone/>
                      </a:pPr>
                      <a:r>
                        <a:rPr lang="en-US" sz="800" b="0" i="0" u="none" strike="sngStrike">
                          <a:solidFill>
                            <a:srgbClr val="000000"/>
                          </a:solidFill>
                          <a:effectLst/>
                          <a:latin typeface="Adani Regular" panose="02000503000000020004" pitchFamily="2" charset="0"/>
                        </a:rPr>
                        <a:t>1-Dec-26</a:t>
                      </a:r>
                    </a:p>
                    <a:p>
                      <a:pPr algn="ctr" fontAlgn="ctr">
                        <a:buNone/>
                      </a:pPr>
                      <a:r>
                        <a:rPr lang="en-US" sz="800" b="0" i="0" u="none" strike="sngStrike" kern="1200">
                          <a:solidFill>
                            <a:schemeClr val="tx1"/>
                          </a:solidFill>
                          <a:effectLst/>
                          <a:latin typeface="Adani Light"/>
                          <a:ea typeface="+mn-ea"/>
                          <a:cs typeface="+mn-cs"/>
                        </a:rPr>
                        <a:t>01-Sep-26</a:t>
                      </a:r>
                    </a:p>
                    <a:p>
                      <a:pPr algn="ctr" fontAlgn="ctr">
                        <a:buNone/>
                      </a:pPr>
                      <a:r>
                        <a:rPr lang="en-US" sz="800" b="0" i="0" u="none" strike="noStrike" kern="1200">
                          <a:solidFill>
                            <a:schemeClr val="tx1"/>
                          </a:solidFill>
                          <a:effectLst/>
                          <a:latin typeface="Adani Light"/>
                          <a:ea typeface="+mn-ea"/>
                          <a:cs typeface="+mn-cs"/>
                        </a:rPr>
                        <a:t>23-Sep-26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26 Nov 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dani Regular" panose="02000503000000020004" pitchFamily="2" charset="0"/>
                        </a:rPr>
                        <a:t>11 Feb 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dirty="0">
                          <a:solidFill>
                            <a:srgbClr val="000000"/>
                          </a:solidFill>
                          <a:effectLst/>
                          <a:latin typeface="Adani Regular" panose="02000503000000020004" pitchFamily="2" charset="0"/>
                        </a:rPr>
                        <a:t>319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IN" sz="800" b="0" dirty="0">
                          <a:effectLst/>
                          <a:latin typeface="Adani Regular" panose="02000503000000020004" pitchFamily="2" charset="0"/>
                        </a:rPr>
                        <a:t>FOB 65 containers – 01-Aug</a:t>
                      </a:r>
                      <a:endParaRPr lang="en-US" sz="800" b="0" i="0" u="none" strike="noStrike" dirty="0">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870026185"/>
                  </a:ext>
                </a:extLst>
              </a:tr>
              <a:tr h="302776">
                <a:tc>
                  <a:txBody>
                    <a:bodyPr/>
                    <a:lstStyle/>
                    <a:p>
                      <a:pPr algn="ctr" rtl="0" fontAlgn="ctr">
                        <a:buNone/>
                      </a:pPr>
                      <a:r>
                        <a:rPr lang="en-US" sz="800" b="0" i="0" u="none" strike="noStrike">
                          <a:solidFill>
                            <a:srgbClr val="00B050"/>
                          </a:solidFill>
                          <a:effectLst/>
                          <a:latin typeface="Adani Regular" panose="02000503000000020004" pitchFamily="2" charset="0"/>
                        </a:rPr>
                        <a:t>2</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PCS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Inova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kumimoji="0" lang="en-US" sz="800" b="0" i="0" u="none" strike="noStrike" kern="0" cap="none" spc="0" normalizeH="0" baseline="0" noProof="0">
                          <a:ln>
                            <a:noFill/>
                          </a:ln>
                          <a:solidFill>
                            <a:srgbClr val="00B050"/>
                          </a:solidFill>
                          <a:effectLst/>
                          <a:uLnTx/>
                          <a:uFillTx/>
                          <a:latin typeface="Adani Regular" panose="02000503000000020004" pitchFamily="2" charset="0"/>
                          <a:ea typeface="+mn-ea"/>
                          <a:cs typeface="+mn-cs"/>
                        </a:rPr>
                        <a:t>384</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kumimoji="0" lang="en-US" sz="800" b="0" i="0" u="none" strike="noStrike" kern="0" cap="none" spc="0" normalizeH="0" baseline="0" noProof="0">
                          <a:ln>
                            <a:noFill/>
                          </a:ln>
                          <a:solidFill>
                            <a:srgbClr val="00B050"/>
                          </a:solidFill>
                          <a:effectLst/>
                          <a:uLnTx/>
                          <a:uFillTx/>
                          <a:latin typeface="Adani Regular" panose="02000503000000020004" pitchFamily="2" charset="0"/>
                          <a:ea typeface="+mn-ea"/>
                          <a:cs typeface="+mn-cs"/>
                        </a:rPr>
                        <a:t>384</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5310000905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13-Dec-25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kern="1200">
                          <a:solidFill>
                            <a:srgbClr val="00B050"/>
                          </a:solidFill>
                          <a:effectLst/>
                          <a:latin typeface="Adani Light"/>
                          <a:ea typeface="+mn-ea"/>
                          <a:cs typeface="+mn-cs"/>
                        </a:rPr>
                        <a:t>13-Jun-26</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kern="1200">
                          <a:solidFill>
                            <a:srgbClr val="00B050"/>
                          </a:solidFill>
                          <a:effectLst/>
                          <a:latin typeface="Adani Light"/>
                          <a:ea typeface="+mn-ea"/>
                          <a:cs typeface="+mn-cs"/>
                        </a:rPr>
                        <a:t>29-Aug-26</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7-Feb-26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384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rowSpan="10">
                  <a:txBody>
                    <a:bodyPr/>
                    <a:lstStyle/>
                    <a:p>
                      <a:pPr algn="ctr" rtl="0" fontAlgn="ctr">
                        <a:buNone/>
                      </a:pPr>
                      <a:r>
                        <a:rPr lang="en-US" sz="800" b="0" i="0" u="none" strike="noStrike">
                          <a:solidFill>
                            <a:srgbClr val="00B050"/>
                          </a:solidFill>
                          <a:effectLst/>
                          <a:latin typeface="Adani Regular" panose="02000503000000020004" pitchFamily="2" charset="0"/>
                        </a:rPr>
                        <a:t>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rowSpan="10">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2991309357"/>
                  </a:ext>
                </a:extLst>
              </a:tr>
              <a:tr h="287964">
                <a:tc>
                  <a:txBody>
                    <a:bodyPr/>
                    <a:lstStyle/>
                    <a:p>
                      <a:pPr algn="ctr" rtl="0" fontAlgn="ctr">
                        <a:buNone/>
                      </a:pPr>
                      <a:r>
                        <a:rPr lang="en-US" sz="800" b="0" i="0" u="none" strike="noStrike">
                          <a:solidFill>
                            <a:srgbClr val="00B050"/>
                          </a:solidFill>
                          <a:effectLst/>
                          <a:latin typeface="Adani Regular" panose="02000503000000020004" pitchFamily="2" charset="0"/>
                        </a:rPr>
                        <a:t>3</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EMS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Honeywell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Set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4510020955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17-Dec-25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kern="1200">
                          <a:solidFill>
                            <a:srgbClr val="00B050"/>
                          </a:solidFill>
                          <a:effectLst/>
                          <a:latin typeface="Adani Light"/>
                          <a:ea typeface="+mn-ea"/>
                          <a:cs typeface="+mn-cs"/>
                        </a:rPr>
                        <a:t>01-Jul-26</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04-Aug-26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vMerge="1">
                  <a:txBody>
                    <a:bodyPr/>
                    <a:lstStyle/>
                    <a:p>
                      <a:pPr algn="ctr" rtl="0" fontAlgn="ctr">
                        <a:buNone/>
                      </a:pPr>
                      <a:endParaRPr lang="en-US" sz="800" b="0" i="0" u="none" strike="noStrike">
                        <a:solidFill>
                          <a:srgbClr val="33CC33"/>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vMerge="1">
                  <a:txBody>
                    <a:bodyPr/>
                    <a:lstStyle/>
                    <a:p>
                      <a:endParaRPr lang="en-US"/>
                    </a:p>
                  </a:txBody>
                  <a:tcPr/>
                </a:tc>
                <a:extLst>
                  <a:ext uri="{0D108BD9-81ED-4DB2-BD59-A6C34878D82A}">
                    <a16:rowId xmlns:a16="http://schemas.microsoft.com/office/drawing/2014/main" val="709604395"/>
                  </a:ext>
                </a:extLst>
              </a:tr>
              <a:tr h="297962">
                <a:tc>
                  <a:txBody>
                    <a:bodyPr/>
                    <a:lstStyle/>
                    <a:p>
                      <a:pPr algn="ctr" rtl="0" fontAlgn="ctr">
                        <a:buNone/>
                      </a:pPr>
                      <a:r>
                        <a:rPr lang="en-US" sz="800" b="0" i="0" u="none" strike="noStrike">
                          <a:solidFill>
                            <a:srgbClr val="00B050"/>
                          </a:solidFill>
                          <a:effectLst/>
                          <a:latin typeface="Adani Regular" panose="02000503000000020004" pitchFamily="2" charset="0"/>
                        </a:rPr>
                        <a:t>4</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Converter Transformer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Tesla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4510020942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17-Dec-25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14400" rtl="0" eaLnBrk="1" fontAlgn="ctr" latinLnBrk="0" hangingPunct="1">
                        <a:buNone/>
                      </a:pPr>
                      <a:r>
                        <a:rPr lang="en-US" sz="800" b="0" i="0" u="none" strike="noStrike" kern="1200">
                          <a:solidFill>
                            <a:srgbClr val="00B050"/>
                          </a:solidFill>
                          <a:effectLst/>
                          <a:latin typeface="Adani Light"/>
                          <a:ea typeface="+mn-ea"/>
                          <a:cs typeface="+mn-cs"/>
                        </a:rPr>
                        <a:t>03-Apr-26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algn="ctr" defTabSz="914400" rtl="0" eaLnBrk="1" fontAlgn="ctr" latinLnBrk="0" hangingPunct="1">
                        <a:buNone/>
                      </a:pPr>
                      <a:r>
                        <a:rPr lang="en-US" sz="800" b="0" i="0" u="none" strike="noStrike" kern="1200">
                          <a:solidFill>
                            <a:srgbClr val="00B050"/>
                          </a:solidFill>
                          <a:effectLst/>
                          <a:latin typeface="Adani Light"/>
                          <a:ea typeface="+mn-ea"/>
                          <a:cs typeface="+mn-cs"/>
                        </a:rPr>
                        <a:t>20-Jun-26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7-Feb-26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9-Feb-26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vMerge="1">
                  <a:txBody>
                    <a:bodyPr/>
                    <a:lstStyle/>
                    <a:p>
                      <a:endParaRPr lang="en-US"/>
                    </a:p>
                  </a:txBody>
                  <a:tcPr/>
                </a:tc>
                <a:extLst>
                  <a:ext uri="{0D108BD9-81ED-4DB2-BD59-A6C34878D82A}">
                    <a16:rowId xmlns:a16="http://schemas.microsoft.com/office/drawing/2014/main" val="1845290759"/>
                  </a:ext>
                </a:extLst>
              </a:tr>
              <a:tr h="287964">
                <a:tc>
                  <a:txBody>
                    <a:bodyPr/>
                    <a:lstStyle/>
                    <a:p>
                      <a:pPr algn="ctr" rtl="0" fontAlgn="ctr">
                        <a:buNone/>
                      </a:pPr>
                      <a:r>
                        <a:rPr lang="en-US" sz="800" b="0" i="0" u="none" strike="noStrike">
                          <a:solidFill>
                            <a:srgbClr val="00B050"/>
                          </a:solidFill>
                          <a:effectLst/>
                          <a:latin typeface="Adani Regular" panose="02000503000000020004" pitchFamily="2" charset="0"/>
                        </a:rPr>
                        <a:t>5</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CSS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M/S Akshar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4510021230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16-Jan-26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01-Jun-26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kern="1200">
                          <a:solidFill>
                            <a:srgbClr val="00B050"/>
                          </a:solidFill>
                          <a:effectLst/>
                          <a:latin typeface="Adani Light"/>
                          <a:ea typeface="+mn-ea"/>
                          <a:cs typeface="+mn-cs"/>
                        </a:rPr>
                        <a:t>10-Jul-26</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same as of phase one (27/05/25)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vMerge="1">
                  <a:txBody>
                    <a:bodyPr/>
                    <a:lstStyle/>
                    <a:p>
                      <a:endParaRPr lang="en-US"/>
                    </a:p>
                  </a:txBody>
                  <a:tcPr/>
                </a:tc>
                <a:extLst>
                  <a:ext uri="{0D108BD9-81ED-4DB2-BD59-A6C34878D82A}">
                    <a16:rowId xmlns:a16="http://schemas.microsoft.com/office/drawing/2014/main" val="3248598950"/>
                  </a:ext>
                </a:extLst>
              </a:tr>
              <a:tr h="287964">
                <a:tc>
                  <a:txBody>
                    <a:bodyPr/>
                    <a:lstStyle/>
                    <a:p>
                      <a:pPr algn="ctr" rtl="0" fontAlgn="ctr">
                        <a:buNone/>
                      </a:pPr>
                      <a:r>
                        <a:rPr lang="en-US" sz="800" b="0" i="0" u="none" strike="noStrike">
                          <a:solidFill>
                            <a:srgbClr val="00B050"/>
                          </a:solidFill>
                          <a:effectLst/>
                          <a:latin typeface="Adani Regular" panose="02000503000000020004" pitchFamily="2" charset="0"/>
                        </a:rPr>
                        <a:t>6</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MV Switchgear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err="1">
                          <a:solidFill>
                            <a:srgbClr val="00B050"/>
                          </a:solidFill>
                          <a:effectLst/>
                          <a:latin typeface="Adani Regular" panose="02000503000000020004" pitchFamily="2" charset="0"/>
                        </a:rPr>
                        <a:t>Trisquare</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4510021081 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30-Dec-25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kern="1200">
                          <a:solidFill>
                            <a:srgbClr val="00B050"/>
                          </a:solidFill>
                          <a:effectLst/>
                          <a:latin typeface="Adani Light"/>
                          <a:ea typeface="+mn-ea"/>
                          <a:cs typeface="+mn-cs"/>
                        </a:rPr>
                        <a:t>15-Jun-26</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05-Jul-26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vMerge="1">
                  <a:txBody>
                    <a:bodyPr/>
                    <a:lstStyle/>
                    <a:p>
                      <a:endParaRPr lang="en-US"/>
                    </a:p>
                  </a:txBody>
                  <a:tcPr/>
                </a:tc>
                <a:extLst>
                  <a:ext uri="{0D108BD9-81ED-4DB2-BD59-A6C34878D82A}">
                    <a16:rowId xmlns:a16="http://schemas.microsoft.com/office/drawing/2014/main" val="2340066915"/>
                  </a:ext>
                </a:extLst>
              </a:tr>
              <a:tr h="125434">
                <a:tc>
                  <a:txBody>
                    <a:bodyPr/>
                    <a:lstStyle/>
                    <a:p>
                      <a:pPr algn="ctr" rtl="0" fontAlgn="ctr">
                        <a:buNone/>
                      </a:pPr>
                      <a:r>
                        <a:rPr lang="en-US" sz="800" b="0" i="0" u="none" strike="noStrike">
                          <a:solidFill>
                            <a:srgbClr val="00B050"/>
                          </a:solidFill>
                          <a:effectLst/>
                          <a:latin typeface="Adani Regular" panose="02000503000000020004" pitchFamily="2" charset="0"/>
                        </a:rPr>
                        <a:t>7</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HT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Paramount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4510020968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18-Dec-25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7-Feb-26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9-Mar-26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17-Jan-26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vMerge="1">
                  <a:txBody>
                    <a:bodyPr/>
                    <a:lstStyle/>
                    <a:p>
                      <a:endParaRPr lang="en-US"/>
                    </a:p>
                  </a:txBody>
                  <a:tcPr/>
                </a:tc>
                <a:extLst>
                  <a:ext uri="{0D108BD9-81ED-4DB2-BD59-A6C34878D82A}">
                    <a16:rowId xmlns:a16="http://schemas.microsoft.com/office/drawing/2014/main" val="3128585663"/>
                  </a:ext>
                </a:extLst>
              </a:tr>
              <a:tr h="287964">
                <a:tc>
                  <a:txBody>
                    <a:bodyPr/>
                    <a:lstStyle/>
                    <a:p>
                      <a:pPr algn="ctr" rtl="0" fontAlgn="ctr">
                        <a:buNone/>
                      </a:pPr>
                      <a:r>
                        <a:rPr lang="en-US" sz="800" b="0" i="0" u="none" strike="noStrike">
                          <a:solidFill>
                            <a:srgbClr val="00B050"/>
                          </a:solidFill>
                          <a:effectLst/>
                          <a:latin typeface="Adani Regular" panose="02000503000000020004" pitchFamily="2" charset="0"/>
                        </a:rPr>
                        <a:t>8</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DC &amp; LT Cables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APAR &amp; DYNAMIC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765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765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4510021281 &amp; 4510021288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15-Jun-26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30-May-26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15-01-2026 &amp; 23-01-26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765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vMerge="1">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vMerge="1">
                  <a:txBody>
                    <a:bodyPr/>
                    <a:lstStyle/>
                    <a:p>
                      <a:endParaRPr lang="en-US"/>
                    </a:p>
                  </a:txBody>
                  <a:tcPr/>
                </a:tc>
                <a:extLst>
                  <a:ext uri="{0D108BD9-81ED-4DB2-BD59-A6C34878D82A}">
                    <a16:rowId xmlns:a16="http://schemas.microsoft.com/office/drawing/2014/main" val="1852234546"/>
                  </a:ext>
                </a:extLst>
              </a:tr>
              <a:tr h="125434">
                <a:tc>
                  <a:txBody>
                    <a:bodyPr/>
                    <a:lstStyle/>
                    <a:p>
                      <a:pPr algn="ctr" rtl="0" fontAlgn="ctr">
                        <a:buNone/>
                      </a:pPr>
                      <a:r>
                        <a:rPr lang="en-US" sz="800" b="0" i="0" u="none" strike="noStrike">
                          <a:solidFill>
                            <a:srgbClr val="00B050"/>
                          </a:solidFill>
                          <a:effectLst/>
                          <a:latin typeface="Adani Regular" panose="02000503000000020004" pitchFamily="2" charset="0"/>
                        </a:rPr>
                        <a:t>9</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Control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Gemscab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4510021262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28-Feb-26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10-Mar-26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17-Jan-26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vMerge="1">
                  <a:txBody>
                    <a:bodyPr/>
                    <a:lstStyle/>
                    <a:p>
                      <a:endParaRPr lang="en-US"/>
                    </a:p>
                  </a:txBody>
                  <a:tcPr/>
                </a:tc>
                <a:extLst>
                  <a:ext uri="{0D108BD9-81ED-4DB2-BD59-A6C34878D82A}">
                    <a16:rowId xmlns:a16="http://schemas.microsoft.com/office/drawing/2014/main" val="1900120034"/>
                  </a:ext>
                </a:extLst>
              </a:tr>
              <a:tr h="287964">
                <a:tc>
                  <a:txBody>
                    <a:bodyPr/>
                    <a:lstStyle/>
                    <a:p>
                      <a:pPr algn="ctr" rtl="0" fontAlgn="ctr">
                        <a:buNone/>
                      </a:pPr>
                      <a:r>
                        <a:rPr lang="en-US" sz="800" b="0" i="0" u="none" strike="noStrike">
                          <a:solidFill>
                            <a:srgbClr val="00B050"/>
                          </a:solidFill>
                          <a:effectLst/>
                          <a:latin typeface="Adani Regular" panose="02000503000000020004" pitchFamily="2" charset="0"/>
                        </a:rPr>
                        <a:t>10</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SCADA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M/s Delton &amp; M/s Suyog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4510021158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B050"/>
                          </a:solidFill>
                          <a:effectLst/>
                          <a:uLnTx/>
                          <a:uFillTx/>
                          <a:latin typeface="Adani Light"/>
                          <a:ea typeface="+mn-ea"/>
                          <a:cs typeface="+mn-cs"/>
                        </a:rPr>
                        <a:t>05-May-26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kern="1200">
                          <a:solidFill>
                            <a:srgbClr val="00B050"/>
                          </a:solidFill>
                          <a:effectLst/>
                          <a:latin typeface="Adani Light"/>
                          <a:ea typeface="+mn-ea"/>
                          <a:cs typeface="+mn-cs"/>
                        </a:rPr>
                        <a:t>12-Jun-26</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10-Jan-26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vMerge="1">
                  <a:txBody>
                    <a:bodyPr/>
                    <a:lstStyle/>
                    <a:p>
                      <a:endParaRPr lang="en-US"/>
                    </a:p>
                  </a:txBody>
                  <a:tcPr/>
                </a:tc>
                <a:extLst>
                  <a:ext uri="{0D108BD9-81ED-4DB2-BD59-A6C34878D82A}">
                    <a16:rowId xmlns:a16="http://schemas.microsoft.com/office/drawing/2014/main" val="4280893679"/>
                  </a:ext>
                </a:extLst>
              </a:tr>
              <a:tr h="250868">
                <a:tc>
                  <a:txBody>
                    <a:bodyPr/>
                    <a:lstStyle/>
                    <a:p>
                      <a:pPr algn="ctr" rtl="0" fontAlgn="ctr">
                        <a:buNone/>
                      </a:pPr>
                      <a:r>
                        <a:rPr lang="en-US" sz="800" b="0" i="0" u="none" strike="noStrike">
                          <a:solidFill>
                            <a:srgbClr val="00B050"/>
                          </a:solidFill>
                          <a:effectLst/>
                          <a:latin typeface="Adani Regular" panose="02000503000000020004" pitchFamily="2" charset="0"/>
                        </a:rPr>
                        <a:t>11</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FO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Paramount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4510021094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30-Mar-26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same as of phase one (14/05/25)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dirty="0">
                          <a:solidFill>
                            <a:srgbClr val="00B050"/>
                          </a:solidFill>
                          <a:effectLst/>
                          <a:latin typeface="Adani Regular" panose="02000503000000020004" pitchFamily="2"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vMerge="1">
                  <a:txBody>
                    <a:bodyPr/>
                    <a:lstStyle/>
                    <a:p>
                      <a:endParaRPr lang="en-US"/>
                    </a:p>
                  </a:txBody>
                  <a:tcPr/>
                </a:tc>
                <a:extLst>
                  <a:ext uri="{0D108BD9-81ED-4DB2-BD59-A6C34878D82A}">
                    <a16:rowId xmlns:a16="http://schemas.microsoft.com/office/drawing/2014/main" val="3412356506"/>
                  </a:ext>
                </a:extLst>
              </a:tr>
            </a:tbl>
          </a:graphicData>
        </a:graphic>
      </p:graphicFrame>
    </p:spTree>
    <p:extLst>
      <p:ext uri="{BB962C8B-B14F-4D97-AF65-F5344CB8AC3E}">
        <p14:creationId xmlns:p14="http://schemas.microsoft.com/office/powerpoint/2010/main" val="5919082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C6E78-DA60-385C-610D-9AD21F4E35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DED35-7365-A58D-FC8B-3F6552EDDD22}"/>
              </a:ext>
            </a:extLst>
          </p:cNvPr>
          <p:cNvSpPr>
            <a:spLocks noGrp="1"/>
          </p:cNvSpPr>
          <p:nvPr>
            <p:ph type="ctrTitle"/>
          </p:nvPr>
        </p:nvSpPr>
        <p:spPr>
          <a:xfrm>
            <a:off x="0" y="52879"/>
            <a:ext cx="12466390" cy="461382"/>
          </a:xfrm>
          <a:noFill/>
        </p:spPr>
        <p:txBody>
          <a:bodyPr vert="horz" wrap="square" lIns="91157" tIns="45580" rIns="91157" bIns="45580" rtlCol="0" anchor="b">
            <a:spAutoFit/>
          </a:bodyPr>
          <a:lstStyle/>
          <a:p>
            <a:pPr algn="l">
              <a:spcBef>
                <a:spcPts val="1000"/>
              </a:spcBef>
              <a:defRPr/>
            </a:pPr>
            <a:r>
              <a:rPr lang="en-US" sz="2400" b="1">
                <a:gradFill>
                  <a:gsLst>
                    <a:gs pos="9735">
                      <a:schemeClr val="tx2"/>
                    </a:gs>
                    <a:gs pos="63000">
                      <a:srgbClr val="8E278F"/>
                    </a:gs>
                    <a:gs pos="38000">
                      <a:srgbClr val="57499E"/>
                    </a:gs>
                  </a:gsLst>
                  <a:lin ang="0" scaled="0"/>
                </a:gradFill>
                <a:highlight>
                  <a:srgbClr val="33CC33"/>
                </a:highlight>
                <a:ea typeface="+mn-ea"/>
                <a:cs typeface="+mn-cs"/>
              </a:rPr>
              <a:t>Procurement &amp; Monthly Rolling Plan for Supply of Equipment – </a:t>
            </a:r>
            <a:r>
              <a:rPr lang="en-IN" sz="2400" b="1">
                <a:gradFill>
                  <a:gsLst>
                    <a:gs pos="9735">
                      <a:schemeClr val="tx2"/>
                    </a:gs>
                    <a:gs pos="63000">
                      <a:srgbClr val="8E278F"/>
                    </a:gs>
                    <a:gs pos="38000">
                      <a:srgbClr val="57499E"/>
                    </a:gs>
                  </a:gsLst>
                  <a:lin ang="0" scaled="0"/>
                </a:gradFill>
                <a:highlight>
                  <a:srgbClr val="33CC33"/>
                </a:highlight>
              </a:rPr>
              <a:t>PSS 10B</a:t>
            </a:r>
            <a:endParaRPr lang="en-US" sz="2400" b="1">
              <a:gradFill>
                <a:gsLst>
                  <a:gs pos="9735">
                    <a:schemeClr val="tx2"/>
                  </a:gs>
                  <a:gs pos="63000">
                    <a:srgbClr val="8E278F"/>
                  </a:gs>
                  <a:gs pos="38000">
                    <a:srgbClr val="57499E"/>
                  </a:gs>
                </a:gsLst>
                <a:lin ang="0" scaled="0"/>
              </a:gradFill>
              <a:highlight>
                <a:srgbClr val="33CC33"/>
              </a:highlight>
              <a:ea typeface="+mn-ea"/>
              <a:cs typeface="+mn-cs"/>
            </a:endParaRPr>
          </a:p>
        </p:txBody>
      </p:sp>
      <p:pic>
        <p:nvPicPr>
          <p:cNvPr id="11" name="Picture 10">
            <a:extLst>
              <a:ext uri="{FF2B5EF4-FFF2-40B4-BE49-F238E27FC236}">
                <a16:creationId xmlns:a16="http://schemas.microsoft.com/office/drawing/2014/main" id="{E7D95622-23E4-CD7F-00CD-2BD6581F4A86}"/>
              </a:ext>
            </a:extLst>
          </p:cNvPr>
          <p:cNvPicPr>
            <a:picLocks noChangeAspect="1"/>
          </p:cNvPicPr>
          <p:nvPr/>
        </p:nvPicPr>
        <p:blipFill>
          <a:blip r:embed="rId3"/>
          <a:stretch>
            <a:fillRect/>
          </a:stretch>
        </p:blipFill>
        <p:spPr>
          <a:xfrm>
            <a:off x="6086475" y="3419475"/>
            <a:ext cx="19050" cy="19050"/>
          </a:xfrm>
          <a:prstGeom prst="rect">
            <a:avLst/>
          </a:prstGeom>
        </p:spPr>
      </p:pic>
      <p:sp>
        <p:nvSpPr>
          <p:cNvPr id="3" name="Slide Number Placeholder 2">
            <a:extLst>
              <a:ext uri="{FF2B5EF4-FFF2-40B4-BE49-F238E27FC236}">
                <a16:creationId xmlns:a16="http://schemas.microsoft.com/office/drawing/2014/main" id="{FF7D999C-2CA8-E98C-A4BE-0C2C1B5BD841}"/>
              </a:ext>
            </a:extLst>
          </p:cNvPr>
          <p:cNvSpPr>
            <a:spLocks noGrp="1"/>
          </p:cNvSpPr>
          <p:nvPr>
            <p:ph type="sldNum" sz="quarter" idx="12"/>
          </p:nvPr>
        </p:nvSpPr>
        <p:spPr/>
        <p:txBody>
          <a:bodyPr/>
          <a:lstStyle/>
          <a:p>
            <a:fld id="{98B285C1-D8A8-4E98-B28C-1FD972D8EC54}" type="slidenum">
              <a:rPr lang="en-IN" smtClean="0"/>
              <a:t>16</a:t>
            </a:fld>
            <a:endParaRPr lang="en-IN"/>
          </a:p>
        </p:txBody>
      </p:sp>
      <p:graphicFrame>
        <p:nvGraphicFramePr>
          <p:cNvPr id="4" name="Table 3">
            <a:extLst>
              <a:ext uri="{FF2B5EF4-FFF2-40B4-BE49-F238E27FC236}">
                <a16:creationId xmlns:a16="http://schemas.microsoft.com/office/drawing/2014/main" id="{7581E3A7-83B6-1C8C-3A24-D4A2AE44F574}"/>
              </a:ext>
            </a:extLst>
          </p:cNvPr>
          <p:cNvGraphicFramePr>
            <a:graphicFrameLocks noGrp="1"/>
          </p:cNvGraphicFramePr>
          <p:nvPr>
            <p:extLst>
              <p:ext uri="{D42A27DB-BD31-4B8C-83A1-F6EECF244321}">
                <p14:modId xmlns:p14="http://schemas.microsoft.com/office/powerpoint/2010/main" val="134519679"/>
              </p:ext>
            </p:extLst>
          </p:nvPr>
        </p:nvGraphicFramePr>
        <p:xfrm>
          <a:off x="144378" y="706190"/>
          <a:ext cx="12032934" cy="5949317"/>
        </p:xfrm>
        <a:graphic>
          <a:graphicData uri="http://schemas.openxmlformats.org/drawingml/2006/table">
            <a:tbl>
              <a:tblPr/>
              <a:tblGrid>
                <a:gridCol w="322084">
                  <a:extLst>
                    <a:ext uri="{9D8B030D-6E8A-4147-A177-3AD203B41FA5}">
                      <a16:colId xmlns:a16="http://schemas.microsoft.com/office/drawing/2014/main" val="3549383194"/>
                    </a:ext>
                  </a:extLst>
                </a:gridCol>
                <a:gridCol w="635698">
                  <a:extLst>
                    <a:ext uri="{9D8B030D-6E8A-4147-A177-3AD203B41FA5}">
                      <a16:colId xmlns:a16="http://schemas.microsoft.com/office/drawing/2014/main" val="21455663"/>
                    </a:ext>
                  </a:extLst>
                </a:gridCol>
                <a:gridCol w="932355">
                  <a:extLst>
                    <a:ext uri="{9D8B030D-6E8A-4147-A177-3AD203B41FA5}">
                      <a16:colId xmlns:a16="http://schemas.microsoft.com/office/drawing/2014/main" val="2833603826"/>
                    </a:ext>
                  </a:extLst>
                </a:gridCol>
                <a:gridCol w="474654">
                  <a:extLst>
                    <a:ext uri="{9D8B030D-6E8A-4147-A177-3AD203B41FA5}">
                      <a16:colId xmlns:a16="http://schemas.microsoft.com/office/drawing/2014/main" val="1474702559"/>
                    </a:ext>
                  </a:extLst>
                </a:gridCol>
                <a:gridCol w="584843">
                  <a:extLst>
                    <a:ext uri="{9D8B030D-6E8A-4147-A177-3AD203B41FA5}">
                      <a16:colId xmlns:a16="http://schemas.microsoft.com/office/drawing/2014/main" val="1631397956"/>
                    </a:ext>
                  </a:extLst>
                </a:gridCol>
                <a:gridCol w="822166">
                  <a:extLst>
                    <a:ext uri="{9D8B030D-6E8A-4147-A177-3AD203B41FA5}">
                      <a16:colId xmlns:a16="http://schemas.microsoft.com/office/drawing/2014/main" val="354725429"/>
                    </a:ext>
                  </a:extLst>
                </a:gridCol>
                <a:gridCol w="720458">
                  <a:extLst>
                    <a:ext uri="{9D8B030D-6E8A-4147-A177-3AD203B41FA5}">
                      <a16:colId xmlns:a16="http://schemas.microsoft.com/office/drawing/2014/main" val="4022978185"/>
                    </a:ext>
                  </a:extLst>
                </a:gridCol>
                <a:gridCol w="1305298">
                  <a:extLst>
                    <a:ext uri="{9D8B030D-6E8A-4147-A177-3AD203B41FA5}">
                      <a16:colId xmlns:a16="http://schemas.microsoft.com/office/drawing/2014/main" val="4054531275"/>
                    </a:ext>
                  </a:extLst>
                </a:gridCol>
                <a:gridCol w="796738">
                  <a:extLst>
                    <a:ext uri="{9D8B030D-6E8A-4147-A177-3AD203B41FA5}">
                      <a16:colId xmlns:a16="http://schemas.microsoft.com/office/drawing/2014/main" val="1341194325"/>
                    </a:ext>
                  </a:extLst>
                </a:gridCol>
                <a:gridCol w="915403">
                  <a:extLst>
                    <a:ext uri="{9D8B030D-6E8A-4147-A177-3AD203B41FA5}">
                      <a16:colId xmlns:a16="http://schemas.microsoft.com/office/drawing/2014/main" val="2534118121"/>
                    </a:ext>
                  </a:extLst>
                </a:gridCol>
                <a:gridCol w="761883">
                  <a:extLst>
                    <a:ext uri="{9D8B030D-6E8A-4147-A177-3AD203B41FA5}">
                      <a16:colId xmlns:a16="http://schemas.microsoft.com/office/drawing/2014/main" val="1033239788"/>
                    </a:ext>
                  </a:extLst>
                </a:gridCol>
                <a:gridCol w="1208107">
                  <a:extLst>
                    <a:ext uri="{9D8B030D-6E8A-4147-A177-3AD203B41FA5}">
                      <a16:colId xmlns:a16="http://schemas.microsoft.com/office/drawing/2014/main" val="3093208182"/>
                    </a:ext>
                  </a:extLst>
                </a:gridCol>
                <a:gridCol w="796218">
                  <a:extLst>
                    <a:ext uri="{9D8B030D-6E8A-4147-A177-3AD203B41FA5}">
                      <a16:colId xmlns:a16="http://schemas.microsoft.com/office/drawing/2014/main" val="1362239972"/>
                    </a:ext>
                  </a:extLst>
                </a:gridCol>
                <a:gridCol w="742905">
                  <a:extLst>
                    <a:ext uri="{9D8B030D-6E8A-4147-A177-3AD203B41FA5}">
                      <a16:colId xmlns:a16="http://schemas.microsoft.com/office/drawing/2014/main" val="3679585203"/>
                    </a:ext>
                  </a:extLst>
                </a:gridCol>
                <a:gridCol w="507062">
                  <a:extLst>
                    <a:ext uri="{9D8B030D-6E8A-4147-A177-3AD203B41FA5}">
                      <a16:colId xmlns:a16="http://schemas.microsoft.com/office/drawing/2014/main" val="963057150"/>
                    </a:ext>
                  </a:extLst>
                </a:gridCol>
                <a:gridCol w="507062">
                  <a:extLst>
                    <a:ext uri="{9D8B030D-6E8A-4147-A177-3AD203B41FA5}">
                      <a16:colId xmlns:a16="http://schemas.microsoft.com/office/drawing/2014/main" val="908235400"/>
                    </a:ext>
                  </a:extLst>
                </a:gridCol>
              </a:tblGrid>
              <a:tr h="467498">
                <a:tc rowSpan="2">
                  <a:txBody>
                    <a:bodyPr/>
                    <a:lstStyle/>
                    <a:p>
                      <a:pPr algn="ctr" rtl="0" fontAlgn="ctr">
                        <a:buNone/>
                      </a:pPr>
                      <a:r>
                        <a:rPr lang="en-US" sz="800" b="1" i="0" u="none" strike="noStrike">
                          <a:solidFill>
                            <a:srgbClr val="FFFFFF"/>
                          </a:solidFill>
                          <a:effectLst/>
                          <a:latin typeface="Adani Regular" panose="02000503000000020004" pitchFamily="2" charset="0"/>
                        </a:rPr>
                        <a:t>Sr. No.</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Packages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Manufacturer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UOM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Scope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Ordering 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Balance Ordering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PO Number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PO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gridSpan="2">
                  <a:txBody>
                    <a:bodyPr/>
                    <a:lstStyle/>
                    <a:p>
                      <a:pPr algn="ctr" rtl="0" fontAlgn="ctr">
                        <a:buNone/>
                      </a:pPr>
                      <a:r>
                        <a:rPr lang="en-US" sz="800" b="1" i="0" u="none" strike="noStrike">
                          <a:solidFill>
                            <a:srgbClr val="FFFFFF"/>
                          </a:solidFill>
                          <a:effectLst/>
                          <a:latin typeface="Adani Regular" panose="02000503000000020004" pitchFamily="2" charset="0"/>
                        </a:rPr>
                        <a:t>Expected Delivery at Site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gridSpan="2">
                  <a:txBody>
                    <a:bodyPr/>
                    <a:lstStyle/>
                    <a:p>
                      <a:pPr algn="ctr" fontAlgn="b">
                        <a:buNone/>
                      </a:pPr>
                      <a:r>
                        <a:rPr lang="en-US" sz="800" b="1" i="0" u="none" strike="noStrike">
                          <a:solidFill>
                            <a:srgbClr val="FFFFFF"/>
                          </a:solidFill>
                          <a:effectLst/>
                          <a:latin typeface="Adani Regular" panose="02000503000000020004" pitchFamily="2" charset="0"/>
                        </a:rPr>
                        <a:t>Manufacturing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Delivered At Site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Forecast Delivery Schedule (Qty)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Remarks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extLst>
                  <a:ext uri="{0D108BD9-81ED-4DB2-BD59-A6C34878D82A}">
                    <a16:rowId xmlns:a16="http://schemas.microsoft.com/office/drawing/2014/main" val="1404544917"/>
                  </a:ext>
                </a:extLst>
              </a:tr>
              <a:tr h="23374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1" i="0" u="none" strike="noStrike">
                          <a:solidFill>
                            <a:srgbClr val="FFFFFF"/>
                          </a:solidFill>
                          <a:effectLst/>
                          <a:latin typeface="Adani Regular" panose="02000503000000020004" pitchFamily="2" charset="0"/>
                        </a:rPr>
                        <a:t>Start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Finish</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fontAlgn="ctr">
                        <a:buNone/>
                      </a:pPr>
                      <a:r>
                        <a:rPr lang="en-US" sz="800" b="1" i="0" u="none" strike="noStrike">
                          <a:solidFill>
                            <a:srgbClr val="FFFFFF"/>
                          </a:solidFill>
                          <a:effectLst/>
                          <a:latin typeface="Adani Regular" panose="02000503000000020004" pitchFamily="2" charset="0"/>
                        </a:rPr>
                        <a:t>QAP Acceptance </a:t>
                      </a:r>
                    </a:p>
                    <a:p>
                      <a:pPr algn="ctr" fontAlgn="ctr">
                        <a:buNone/>
                      </a:pPr>
                      <a:r>
                        <a:rPr lang="en-US" sz="800" b="1" i="0" u="none" strike="noStrike">
                          <a:solidFill>
                            <a:srgbClr val="FFFFFF"/>
                          </a:solidFill>
                          <a:effectLst/>
                          <a:latin typeface="Adani Regular" panose="02000503000000020004" pitchFamily="2" charset="0"/>
                        </a:rPr>
                        <a:t>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fontAlgn="ctr">
                        <a:buNone/>
                      </a:pPr>
                      <a:r>
                        <a:rPr lang="en-US" sz="800" b="1" i="0" u="none" strike="noStrike">
                          <a:solidFill>
                            <a:srgbClr val="FFFFFF"/>
                          </a:solidFill>
                          <a:effectLst/>
                          <a:latin typeface="Adani Regular" panose="02000503000000020004" pitchFamily="2" charset="0"/>
                        </a:rPr>
                        <a:t>MC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vMerge="1">
                  <a:txBody>
                    <a:bodyPr/>
                    <a:lstStyle/>
                    <a:p>
                      <a:endParaRPr lang="en-US"/>
                    </a:p>
                  </a:txBody>
                  <a:tcPr/>
                </a:tc>
                <a:tc>
                  <a:txBody>
                    <a:bodyPr/>
                    <a:lstStyle/>
                    <a:p>
                      <a:pPr algn="ctr" rtl="0" fontAlgn="ctr">
                        <a:buNone/>
                      </a:pPr>
                      <a:r>
                        <a:rPr lang="en-US" sz="800" b="1" i="0" u="none" strike="noStrike">
                          <a:solidFill>
                            <a:srgbClr val="FFFFFF"/>
                          </a:solidFill>
                          <a:effectLst/>
                          <a:latin typeface="Adani Regular" panose="02000503000000020004" pitchFamily="2" charset="0"/>
                        </a:rPr>
                        <a:t>Sep-26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vMerge="1">
                  <a:txBody>
                    <a:bodyPr/>
                    <a:lstStyle/>
                    <a:p>
                      <a:pPr algn="ctr" rtl="0" fontAlgn="ctr">
                        <a:buNone/>
                      </a:pPr>
                      <a:endParaRPr lang="en-US" sz="800" b="1" i="0" u="none" strike="noStrike">
                        <a:solidFill>
                          <a:srgbClr val="FFFFFF"/>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extLst>
                  <a:ext uri="{0D108BD9-81ED-4DB2-BD59-A6C34878D82A}">
                    <a16:rowId xmlns:a16="http://schemas.microsoft.com/office/drawing/2014/main" val="1034909973"/>
                  </a:ext>
                </a:extLst>
              </a:tr>
              <a:tr h="1535312">
                <a:tc>
                  <a:txBody>
                    <a:bodyPr/>
                    <a:lstStyle/>
                    <a:p>
                      <a:pPr algn="ctr" rtl="0" fontAlgn="ctr">
                        <a:buNone/>
                      </a:pPr>
                      <a:r>
                        <a:rPr lang="en-US" sz="800" b="0" i="0" u="none" strike="noStrike">
                          <a:solidFill>
                            <a:srgbClr val="000000"/>
                          </a:solidFill>
                          <a:effectLst/>
                          <a:latin typeface="Adani Regular" panose="02000503000000020004" pitchFamily="2" charset="0"/>
                        </a:rPr>
                        <a:t>1</a:t>
                      </a:r>
                      <a:br>
                        <a:rPr lang="en-US" sz="800" b="0" i="0" u="none" strike="noStrike">
                          <a:solidFill>
                            <a:srgbClr val="000000"/>
                          </a:solidFill>
                          <a:effectLst/>
                          <a:latin typeface="Adani Regular" panose="02000503000000020004" pitchFamily="2" charset="0"/>
                        </a:rPr>
                      </a:br>
                      <a:endParaRPr lang="en-US" sz="800" b="0" i="0" u="none" strike="noStrike">
                        <a:solidFill>
                          <a:srgbClr val="000000"/>
                        </a:solidFill>
                        <a:effectLst/>
                        <a:latin typeface="Adani Regular" panose="02000503000000020004" pitchFamily="2"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Battery Container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Jinko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5310000955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15-Dec-25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25-May-26</a:t>
                      </a:r>
                    </a:p>
                    <a:p>
                      <a:pPr algn="ctr" fontAlgn="ctr">
                        <a:buNone/>
                      </a:pPr>
                      <a:r>
                        <a:rPr lang="en-US" sz="800" b="0" i="0" u="none" strike="sngStrike">
                          <a:solidFill>
                            <a:srgbClr val="000000"/>
                          </a:solidFill>
                          <a:effectLst/>
                          <a:latin typeface="Adani Regular" panose="02000503000000020004" pitchFamily="2" charset="0"/>
                        </a:rPr>
                        <a:t>31-May-26</a:t>
                      </a:r>
                    </a:p>
                    <a:p>
                      <a:pPr algn="ctr" fontAlgn="ctr">
                        <a:buNone/>
                      </a:pPr>
                      <a:r>
                        <a:rPr lang="en-US" sz="800" b="0" i="0" u="none" strike="noStrike" kern="1200">
                          <a:solidFill>
                            <a:schemeClr val="tx1"/>
                          </a:solidFill>
                          <a:effectLst/>
                          <a:latin typeface="Adani Light"/>
                          <a:ea typeface="+mn-ea"/>
                          <a:cs typeface="+mn-cs"/>
                        </a:rPr>
                        <a:t>20-Jun-26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25-Jul-26</a:t>
                      </a:r>
                    </a:p>
                    <a:p>
                      <a:pPr algn="ctr" fontAlgn="ctr">
                        <a:buNone/>
                      </a:pPr>
                      <a:r>
                        <a:rPr lang="en-US" sz="800" b="0" i="0" u="none" strike="sngStrike">
                          <a:solidFill>
                            <a:srgbClr val="000000"/>
                          </a:solidFill>
                          <a:effectLst/>
                          <a:latin typeface="Adani Regular" panose="02000503000000020004" pitchFamily="2" charset="0"/>
                        </a:rPr>
                        <a:t>31-Jul-26</a:t>
                      </a:r>
                    </a:p>
                    <a:p>
                      <a:pPr algn="ctr" fontAlgn="ctr">
                        <a:buNone/>
                      </a:pPr>
                      <a:r>
                        <a:rPr lang="en-US" sz="800" b="0" i="0" u="none" strike="sngStrike" kern="1200">
                          <a:solidFill>
                            <a:schemeClr val="tx1"/>
                          </a:solidFill>
                          <a:effectLst/>
                          <a:latin typeface="Adani Light"/>
                          <a:ea typeface="+mn-ea"/>
                          <a:cs typeface="+mn-cs"/>
                        </a:rPr>
                        <a:t>01-Aug-26</a:t>
                      </a:r>
                    </a:p>
                    <a:p>
                      <a:pPr algn="ctr" fontAlgn="ctr">
                        <a:buNone/>
                      </a:pPr>
                      <a:r>
                        <a:rPr lang="en-US" sz="800" b="0" i="0" u="none" strike="sngStrike" kern="1200">
                          <a:solidFill>
                            <a:schemeClr val="tx1"/>
                          </a:solidFill>
                          <a:effectLst/>
                          <a:latin typeface="Adani Light"/>
                          <a:ea typeface="+mn-ea"/>
                          <a:cs typeface="+mn-cs"/>
                        </a:rPr>
                        <a:t>16-Aug-26</a:t>
                      </a:r>
                    </a:p>
                    <a:p>
                      <a:pPr algn="ctr" fontAlgn="ctr">
                        <a:buNone/>
                      </a:pPr>
                      <a:r>
                        <a:rPr lang="en-US" sz="800" b="0" i="0" u="none" strike="sngStrike" kern="1200">
                          <a:solidFill>
                            <a:schemeClr val="tx1"/>
                          </a:solidFill>
                          <a:effectLst/>
                          <a:latin typeface="Adani Light"/>
                          <a:ea typeface="+mn-ea"/>
                          <a:cs typeface="+mn-cs"/>
                        </a:rPr>
                        <a:t>08-Sep-26</a:t>
                      </a:r>
                    </a:p>
                    <a:p>
                      <a:pPr algn="ctr" fontAlgn="ctr">
                        <a:buNone/>
                      </a:pPr>
                      <a:r>
                        <a:rPr lang="en-US" sz="800" b="0" i="0" u="none" strike="noStrike" kern="1200">
                          <a:solidFill>
                            <a:schemeClr val="tx1"/>
                          </a:solidFill>
                          <a:effectLst/>
                          <a:latin typeface="Adani Light"/>
                          <a:ea typeface="+mn-ea"/>
                          <a:cs typeface="+mn-cs"/>
                        </a:rPr>
                        <a:t>24-Sep-26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24 Nov 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11 Feb 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800" b="0" dirty="0">
                          <a:solidFill>
                            <a:schemeClr val="tx1"/>
                          </a:solidFill>
                          <a:effectLst/>
                          <a:latin typeface="Adani Regular" panose="02000503000000020004" pitchFamily="2" charset="0"/>
                        </a:rPr>
                        <a:t>FOB 80 containers – </a:t>
                      </a:r>
                      <a:r>
                        <a:rPr lang="en-IN" sz="800" b="0" strike="noStrike" dirty="0">
                          <a:solidFill>
                            <a:schemeClr val="tx1"/>
                          </a:solidFill>
                          <a:effectLst/>
                          <a:latin typeface="Adani Regular" panose="02000503000000020004" pitchFamily="2" charset="0"/>
                        </a:rPr>
                        <a:t>01-Aug-26</a:t>
                      </a:r>
                      <a:endParaRPr lang="en-IN" sz="800" b="0" dirty="0">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1843883151"/>
                  </a:ext>
                </a:extLst>
              </a:tr>
              <a:tr h="584372">
                <a:tc>
                  <a:txBody>
                    <a:bodyPr/>
                    <a:lstStyle/>
                    <a:p>
                      <a:pPr algn="ctr" rtl="0" fontAlgn="ctr">
                        <a:buNone/>
                      </a:pPr>
                      <a:r>
                        <a:rPr lang="en-US" sz="800" b="0" i="0" u="none" strike="noStrike">
                          <a:solidFill>
                            <a:srgbClr val="00B050"/>
                          </a:solidFill>
                          <a:effectLst/>
                          <a:latin typeface="Adani Regular" panose="02000503000000020004" pitchFamily="2" charset="0"/>
                        </a:rPr>
                        <a:t>2</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PCS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Inova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5310000904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13-Dec-25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kern="1200">
                          <a:solidFill>
                            <a:srgbClr val="00B050"/>
                          </a:solidFill>
                          <a:effectLst/>
                          <a:latin typeface="Adani Light"/>
                          <a:ea typeface="+mn-ea"/>
                          <a:cs typeface="+mn-cs"/>
                        </a:rPr>
                        <a:t>13-Jun-26</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kern="1200">
                          <a:solidFill>
                            <a:srgbClr val="00B050"/>
                          </a:solidFill>
                          <a:effectLst/>
                          <a:latin typeface="Adani Light"/>
                          <a:ea typeface="+mn-ea"/>
                          <a:cs typeface="+mn-cs"/>
                        </a:rPr>
                        <a:t>29-Aug-26</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7-Feb-26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9-Feb-26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rowSpan="10" gridSpan="2">
                  <a:txBody>
                    <a:bodyPr/>
                    <a:lstStyle/>
                    <a:p>
                      <a:pPr algn="ctr" rtl="0" fontAlgn="ctr">
                        <a:buNone/>
                      </a:pPr>
                      <a:r>
                        <a:rPr lang="en-US" sz="800" b="0" i="0" u="none" strike="noStrike">
                          <a:solidFill>
                            <a:srgbClr val="00B050"/>
                          </a:solidFill>
                          <a:effectLst/>
                          <a:latin typeface="Adani Regular" panose="02000503000000020004" pitchFamily="2" charset="0"/>
                        </a:rPr>
                        <a:t>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rowSpan="10" hMerge="1">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294112289"/>
                  </a:ext>
                </a:extLst>
              </a:tr>
              <a:tr h="240182">
                <a:tc>
                  <a:txBody>
                    <a:bodyPr/>
                    <a:lstStyle/>
                    <a:p>
                      <a:pPr algn="ctr" rtl="0" fontAlgn="ctr">
                        <a:buNone/>
                      </a:pPr>
                      <a:r>
                        <a:rPr lang="en-US" sz="800" b="0" i="0" u="none" strike="noStrike">
                          <a:solidFill>
                            <a:srgbClr val="00B050"/>
                          </a:solidFill>
                          <a:effectLst/>
                          <a:latin typeface="Adani Regular" panose="02000503000000020004" pitchFamily="2" charset="0"/>
                        </a:rPr>
                        <a:t>3</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EMS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Adaptive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Set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4510020886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17-Dec-25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14400" rtl="0" eaLnBrk="1" fontAlgn="ctr" latinLnBrk="0" hangingPunct="1">
                        <a:buNone/>
                      </a:pPr>
                      <a:r>
                        <a:rPr lang="en-US" sz="800" b="0" i="0" u="none" strike="noStrike" kern="1200">
                          <a:solidFill>
                            <a:srgbClr val="00B050"/>
                          </a:solidFill>
                          <a:effectLst/>
                          <a:latin typeface="Adani Light"/>
                          <a:ea typeface="+mn-ea"/>
                          <a:cs typeface="+mn-cs"/>
                        </a:rPr>
                        <a:t>18-Jun-26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kern="1200">
                          <a:solidFill>
                            <a:srgbClr val="00B050"/>
                          </a:solidFill>
                          <a:effectLst/>
                          <a:latin typeface="Adani Light"/>
                          <a:ea typeface="+mn-ea"/>
                          <a:cs typeface="+mn-cs"/>
                        </a:rPr>
                        <a:t>16-Jun-26</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21-May-25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2"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lang="en-US"/>
                    </a:p>
                  </a:txBody>
                  <a:tcPr/>
                </a:tc>
                <a:extLst>
                  <a:ext uri="{0D108BD9-81ED-4DB2-BD59-A6C34878D82A}">
                    <a16:rowId xmlns:a16="http://schemas.microsoft.com/office/drawing/2014/main" val="35621588"/>
                  </a:ext>
                </a:extLst>
              </a:tr>
              <a:tr h="425687">
                <a:tc>
                  <a:txBody>
                    <a:bodyPr/>
                    <a:lstStyle/>
                    <a:p>
                      <a:pPr algn="ctr" rtl="0" fontAlgn="ctr">
                        <a:buNone/>
                      </a:pPr>
                      <a:r>
                        <a:rPr lang="en-US" sz="800" b="0" i="0" u="none" strike="noStrike">
                          <a:solidFill>
                            <a:srgbClr val="00B050"/>
                          </a:solidFill>
                          <a:effectLst/>
                          <a:latin typeface="Adani Regular" panose="02000503000000020004" pitchFamily="2" charset="0"/>
                        </a:rPr>
                        <a:t>4</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Converter Transformer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Tesla &amp; </a:t>
                      </a:r>
                      <a:r>
                        <a:rPr lang="en-US" sz="800" b="0" i="0" u="none" strike="noStrike" err="1">
                          <a:solidFill>
                            <a:srgbClr val="00B050"/>
                          </a:solidFill>
                          <a:effectLst/>
                          <a:latin typeface="Adani Regular" panose="02000503000000020004" pitchFamily="2" charset="0"/>
                        </a:rPr>
                        <a:t>Ornet</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4510021010 &amp; 4510021037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17-Dec-25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14400" rtl="0" eaLnBrk="1" fontAlgn="ctr" latinLnBrk="0" hangingPunct="1">
                        <a:buNone/>
                      </a:pPr>
                      <a:r>
                        <a:rPr lang="en-US" sz="800" b="0" i="0" u="none" strike="noStrike" kern="1200">
                          <a:solidFill>
                            <a:srgbClr val="00B050"/>
                          </a:solidFill>
                          <a:effectLst/>
                          <a:latin typeface="Adani Light"/>
                          <a:ea typeface="+mn-ea"/>
                          <a:cs typeface="+mn-cs"/>
                        </a:rPr>
                        <a:t>30-Apr-26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B050"/>
                          </a:solidFill>
                          <a:effectLst/>
                          <a:uLnTx/>
                          <a:uFillTx/>
                          <a:latin typeface="Adani Light"/>
                          <a:ea typeface="+mn-ea"/>
                          <a:cs typeface="+mn-cs"/>
                        </a:rPr>
                        <a:t>27-Jul-26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25-Feb-26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27-Feb-26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2"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lang="en-US"/>
                    </a:p>
                  </a:txBody>
                  <a:tcPr/>
                </a:tc>
                <a:extLst>
                  <a:ext uri="{0D108BD9-81ED-4DB2-BD59-A6C34878D82A}">
                    <a16:rowId xmlns:a16="http://schemas.microsoft.com/office/drawing/2014/main" val="98666715"/>
                  </a:ext>
                </a:extLst>
              </a:tr>
              <a:tr h="414881">
                <a:tc>
                  <a:txBody>
                    <a:bodyPr/>
                    <a:lstStyle/>
                    <a:p>
                      <a:pPr algn="ctr" rtl="0" fontAlgn="ctr">
                        <a:buNone/>
                      </a:pPr>
                      <a:r>
                        <a:rPr lang="en-US" sz="800" b="0" i="0" u="none" strike="noStrike">
                          <a:solidFill>
                            <a:srgbClr val="00B050"/>
                          </a:solidFill>
                          <a:effectLst/>
                          <a:latin typeface="Adani Regular" panose="02000503000000020004" pitchFamily="2" charset="0"/>
                        </a:rPr>
                        <a:t>5</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CSS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M/S Akshar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4510021228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16-Jan-26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kern="1200">
                          <a:solidFill>
                            <a:srgbClr val="00B050"/>
                          </a:solidFill>
                          <a:effectLst/>
                          <a:latin typeface="Adani Light"/>
                          <a:ea typeface="+mn-ea"/>
                          <a:cs typeface="+mn-cs"/>
                        </a:rPr>
                        <a:t>10-Jun-26</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kern="1200">
                          <a:solidFill>
                            <a:srgbClr val="00B050"/>
                          </a:solidFill>
                          <a:effectLst/>
                          <a:latin typeface="Adani Light"/>
                          <a:ea typeface="+mn-ea"/>
                          <a:cs typeface="+mn-cs"/>
                        </a:rPr>
                        <a:t>04-Aug-26</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same as of phase one (27/05/25)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27-Feb-26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2"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lang="en-US"/>
                    </a:p>
                  </a:txBody>
                  <a:tcPr/>
                </a:tc>
                <a:extLst>
                  <a:ext uri="{0D108BD9-81ED-4DB2-BD59-A6C34878D82A}">
                    <a16:rowId xmlns:a16="http://schemas.microsoft.com/office/drawing/2014/main" val="1339826755"/>
                  </a:ext>
                </a:extLst>
              </a:tr>
              <a:tr h="713421">
                <a:tc>
                  <a:txBody>
                    <a:bodyPr/>
                    <a:lstStyle/>
                    <a:p>
                      <a:pPr algn="ctr" rtl="0" fontAlgn="ctr">
                        <a:buNone/>
                      </a:pPr>
                      <a:r>
                        <a:rPr lang="en-US" sz="800" b="0" i="0" u="none" strike="noStrike">
                          <a:solidFill>
                            <a:srgbClr val="00B050"/>
                          </a:solidFill>
                          <a:effectLst/>
                          <a:latin typeface="Adani Regular" panose="02000503000000020004" pitchFamily="2" charset="0"/>
                        </a:rPr>
                        <a:t>6</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MV Switchgear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err="1">
                          <a:solidFill>
                            <a:srgbClr val="00B050"/>
                          </a:solidFill>
                          <a:effectLst/>
                          <a:latin typeface="Adani Regular" panose="02000503000000020004" pitchFamily="2" charset="0"/>
                        </a:rPr>
                        <a:t>Trisquare</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4510021065 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30-Dec-25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14400" rtl="0" eaLnBrk="1" fontAlgn="ctr" latinLnBrk="0" hangingPunct="1">
                        <a:buNone/>
                      </a:pPr>
                      <a:r>
                        <a:rPr lang="en-US" sz="800" b="0" i="0" u="none" strike="noStrike" kern="1200">
                          <a:solidFill>
                            <a:srgbClr val="00B050"/>
                          </a:solidFill>
                          <a:effectLst/>
                          <a:latin typeface="Adani Light"/>
                          <a:ea typeface="+mn-ea"/>
                          <a:cs typeface="+mn-cs"/>
                        </a:rPr>
                        <a:t>01-May-26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algn="ctr" defTabSz="914400" rtl="0" eaLnBrk="1" fontAlgn="ctr" latinLnBrk="0" hangingPunct="1">
                        <a:buNone/>
                      </a:pPr>
                      <a:r>
                        <a:rPr lang="en-US" sz="800" b="0" i="0" u="none" strike="noStrike" kern="1200">
                          <a:solidFill>
                            <a:srgbClr val="00B050"/>
                          </a:solidFill>
                          <a:effectLst/>
                          <a:latin typeface="Adani Light"/>
                          <a:ea typeface="+mn-ea"/>
                          <a:cs typeface="+mn-cs"/>
                        </a:rPr>
                        <a:t>30-Jul-26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Under approval  (07-02-26)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9-Feb-26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2" vMerge="1">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lang="en-US"/>
                    </a:p>
                  </a:txBody>
                  <a:tcPr/>
                </a:tc>
                <a:extLst>
                  <a:ext uri="{0D108BD9-81ED-4DB2-BD59-A6C34878D82A}">
                    <a16:rowId xmlns:a16="http://schemas.microsoft.com/office/drawing/2014/main" val="1935762230"/>
                  </a:ext>
                </a:extLst>
              </a:tr>
              <a:tr h="328582">
                <a:tc>
                  <a:txBody>
                    <a:bodyPr/>
                    <a:lstStyle/>
                    <a:p>
                      <a:pPr algn="ctr" rtl="0" fontAlgn="ctr">
                        <a:buNone/>
                      </a:pPr>
                      <a:r>
                        <a:rPr lang="en-US" sz="800" b="0" i="0" u="none" strike="noStrike">
                          <a:solidFill>
                            <a:srgbClr val="00B050"/>
                          </a:solidFill>
                          <a:effectLst/>
                          <a:latin typeface="Adani Regular" panose="02000503000000020004" pitchFamily="2" charset="0"/>
                        </a:rPr>
                        <a:t>7</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HT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PARAMOUNT &amp; DYNAMIC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4510020976 &amp; 4510020977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18-Dec-25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14400" rtl="0" eaLnBrk="1" fontAlgn="ctr" latinLnBrk="0" hangingPunct="1">
                        <a:buNone/>
                      </a:pPr>
                      <a:r>
                        <a:rPr lang="en-US" sz="800" b="0" i="0" u="none" strike="noStrike" kern="1200">
                          <a:solidFill>
                            <a:srgbClr val="00B050"/>
                          </a:solidFill>
                          <a:effectLst/>
                          <a:latin typeface="Adani Light"/>
                          <a:ea typeface="+mn-ea"/>
                          <a:cs typeface="+mn-cs"/>
                        </a:rPr>
                        <a:t>12-Jun-26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algn="ctr" defTabSz="914400" rtl="0" eaLnBrk="1" fontAlgn="ctr" latinLnBrk="0" hangingPunct="1">
                        <a:buNone/>
                      </a:pPr>
                      <a:r>
                        <a:rPr lang="en-US" sz="800" b="0" i="0" u="none" strike="noStrike" kern="1200">
                          <a:solidFill>
                            <a:srgbClr val="00B050"/>
                          </a:solidFill>
                          <a:effectLst/>
                          <a:latin typeface="Adani Light"/>
                          <a:ea typeface="+mn-ea"/>
                          <a:cs typeface="+mn-cs"/>
                        </a:rPr>
                        <a:t>15-Jun-26</a:t>
                      </a:r>
                      <a:endParaRPr lang="en-US" sz="800" b="0" i="0" u="none" strike="sngStrike" kern="1200">
                        <a:solidFill>
                          <a:srgbClr val="00B050"/>
                        </a:solidFill>
                        <a:effectLst/>
                        <a:latin typeface="Adani Light"/>
                        <a:ea typeface="+mn-ea"/>
                        <a:cs typeface="+mn-cs"/>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12-Jan-26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14-Jan-26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2"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hMerge="1" vMerge="1">
                  <a:txBody>
                    <a:bodyPr/>
                    <a:lstStyle/>
                    <a:p>
                      <a:endParaRPr lang="en-US"/>
                    </a:p>
                  </a:txBody>
                  <a:tcPr/>
                </a:tc>
                <a:extLst>
                  <a:ext uri="{0D108BD9-81ED-4DB2-BD59-A6C34878D82A}">
                    <a16:rowId xmlns:a16="http://schemas.microsoft.com/office/drawing/2014/main" val="3622262864"/>
                  </a:ext>
                </a:extLst>
              </a:tr>
              <a:tr h="233749">
                <a:tc>
                  <a:txBody>
                    <a:bodyPr/>
                    <a:lstStyle/>
                    <a:p>
                      <a:pPr algn="ctr" rtl="0" fontAlgn="ctr">
                        <a:buNone/>
                      </a:pPr>
                      <a:r>
                        <a:rPr lang="en-US" sz="800" b="0" i="0" u="none" strike="noStrike">
                          <a:solidFill>
                            <a:srgbClr val="00B050"/>
                          </a:solidFill>
                          <a:effectLst/>
                          <a:latin typeface="Adani Regular" panose="02000503000000020004" pitchFamily="2" charset="0"/>
                        </a:rPr>
                        <a:t>8</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DC &amp; LT Cables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PARAMOUNT &amp; DYNAMIC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480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480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4510021290 &amp; 4510021287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28-Feb-26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10-Mar-26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07-02-26 &amp; 23-01-26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9-Feb-26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480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2"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lang="en-US"/>
                    </a:p>
                  </a:txBody>
                  <a:tcPr/>
                </a:tc>
                <a:extLst>
                  <a:ext uri="{0D108BD9-81ED-4DB2-BD59-A6C34878D82A}">
                    <a16:rowId xmlns:a16="http://schemas.microsoft.com/office/drawing/2014/main" val="1052110397"/>
                  </a:ext>
                </a:extLst>
              </a:tr>
              <a:tr h="233749">
                <a:tc>
                  <a:txBody>
                    <a:bodyPr/>
                    <a:lstStyle/>
                    <a:p>
                      <a:pPr algn="ctr" rtl="0" fontAlgn="ctr">
                        <a:buNone/>
                      </a:pPr>
                      <a:r>
                        <a:rPr lang="en-US" sz="800" b="0" i="0" u="none" strike="noStrike">
                          <a:solidFill>
                            <a:srgbClr val="00B050"/>
                          </a:solidFill>
                          <a:effectLst/>
                          <a:latin typeface="Adani Regular" panose="02000503000000020004" pitchFamily="2" charset="0"/>
                        </a:rPr>
                        <a:t>9</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Control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Gemscab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78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78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4510021246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20-Feb-26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10-Mar-26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17-Jan-26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78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2"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lang="en-US"/>
                    </a:p>
                  </a:txBody>
                  <a:tcPr/>
                </a:tc>
                <a:extLst>
                  <a:ext uri="{0D108BD9-81ED-4DB2-BD59-A6C34878D82A}">
                    <a16:rowId xmlns:a16="http://schemas.microsoft.com/office/drawing/2014/main" val="17427159"/>
                  </a:ext>
                </a:extLst>
              </a:tr>
              <a:tr h="240182">
                <a:tc>
                  <a:txBody>
                    <a:bodyPr/>
                    <a:lstStyle/>
                    <a:p>
                      <a:pPr algn="ctr" rtl="0" fontAlgn="ctr">
                        <a:buNone/>
                      </a:pPr>
                      <a:r>
                        <a:rPr lang="en-US" sz="800" b="0" i="0" u="none" strike="noStrike">
                          <a:solidFill>
                            <a:srgbClr val="00B050"/>
                          </a:solidFill>
                          <a:effectLst/>
                          <a:latin typeface="Adani Regular" panose="02000503000000020004" pitchFamily="2" charset="0"/>
                        </a:rPr>
                        <a:t>10</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SCADA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M/s Delton &amp; M/s Suyog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4510021152 &amp; 4510021150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20-Mar-26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kern="1200">
                          <a:solidFill>
                            <a:srgbClr val="00B050"/>
                          </a:solidFill>
                          <a:effectLst/>
                          <a:latin typeface="Adani Light"/>
                          <a:ea typeface="+mn-ea"/>
                          <a:cs typeface="+mn-cs"/>
                        </a:rPr>
                        <a:t>12-Jun-26</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10-Jan-26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2"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lang="en-US"/>
                    </a:p>
                  </a:txBody>
                  <a:tcPr/>
                </a:tc>
                <a:extLst>
                  <a:ext uri="{0D108BD9-81ED-4DB2-BD59-A6C34878D82A}">
                    <a16:rowId xmlns:a16="http://schemas.microsoft.com/office/drawing/2014/main" val="4030017033"/>
                  </a:ext>
                </a:extLst>
              </a:tr>
              <a:tr h="233749">
                <a:tc>
                  <a:txBody>
                    <a:bodyPr/>
                    <a:lstStyle/>
                    <a:p>
                      <a:pPr algn="ctr" rtl="0" fontAlgn="ctr">
                        <a:buNone/>
                      </a:pPr>
                      <a:r>
                        <a:rPr lang="en-US" sz="800" b="0" i="0" u="none" strike="noStrike">
                          <a:solidFill>
                            <a:srgbClr val="00B050"/>
                          </a:solidFill>
                          <a:effectLst/>
                          <a:latin typeface="Adani Regular" panose="02000503000000020004" pitchFamily="2" charset="0"/>
                        </a:rPr>
                        <a:t>11</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FO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Paramount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4510021085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30-Mar-26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same as of phase one (14/05/25)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10-Feb-26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dirty="0">
                          <a:solidFill>
                            <a:srgbClr val="00B050"/>
                          </a:solidFill>
                          <a:effectLst/>
                          <a:latin typeface="Adani Regular" panose="02000503000000020004" pitchFamily="2" charset="0"/>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gridSpan="2"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hMerge="1" vMerge="1">
                  <a:txBody>
                    <a:bodyPr/>
                    <a:lstStyle/>
                    <a:p>
                      <a:endParaRPr lang="en-US"/>
                    </a:p>
                  </a:txBody>
                  <a:tcPr/>
                </a:tc>
                <a:extLst>
                  <a:ext uri="{0D108BD9-81ED-4DB2-BD59-A6C34878D82A}">
                    <a16:rowId xmlns:a16="http://schemas.microsoft.com/office/drawing/2014/main" val="3286549243"/>
                  </a:ext>
                </a:extLst>
              </a:tr>
            </a:tbl>
          </a:graphicData>
        </a:graphic>
      </p:graphicFrame>
    </p:spTree>
    <p:extLst>
      <p:ext uri="{BB962C8B-B14F-4D97-AF65-F5344CB8AC3E}">
        <p14:creationId xmlns:p14="http://schemas.microsoft.com/office/powerpoint/2010/main" val="1514101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DD230-A776-8E31-7D0E-17D83878A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99385B-335F-91D8-B86E-0290AAE34681}"/>
              </a:ext>
            </a:extLst>
          </p:cNvPr>
          <p:cNvSpPr>
            <a:spLocks noGrp="1"/>
          </p:cNvSpPr>
          <p:nvPr>
            <p:ph type="ctrTitle"/>
          </p:nvPr>
        </p:nvSpPr>
        <p:spPr>
          <a:xfrm>
            <a:off x="0" y="52879"/>
            <a:ext cx="12466390" cy="461382"/>
          </a:xfrm>
          <a:noFill/>
        </p:spPr>
        <p:txBody>
          <a:bodyPr vert="horz" wrap="square" lIns="91157" tIns="45580" rIns="91157" bIns="45580" rtlCol="0" anchor="b">
            <a:spAutoFit/>
          </a:bodyPr>
          <a:lstStyle/>
          <a:p>
            <a:pPr algn="l">
              <a:spcBef>
                <a:spcPts val="1000"/>
              </a:spcBef>
              <a:defRPr/>
            </a:pPr>
            <a:r>
              <a:rPr lang="en-US" sz="2400" b="1">
                <a:gradFill>
                  <a:gsLst>
                    <a:gs pos="9735">
                      <a:schemeClr val="tx2"/>
                    </a:gs>
                    <a:gs pos="63000">
                      <a:srgbClr val="8E278F"/>
                    </a:gs>
                    <a:gs pos="38000">
                      <a:srgbClr val="57499E"/>
                    </a:gs>
                  </a:gsLst>
                  <a:lin ang="0" scaled="0"/>
                </a:gradFill>
                <a:highlight>
                  <a:srgbClr val="33CC33"/>
                </a:highlight>
                <a:ea typeface="+mn-ea"/>
                <a:cs typeface="+mn-cs"/>
              </a:rPr>
              <a:t>Procurement &amp; Monthly Rolling Plan for Supply of Equipment – </a:t>
            </a:r>
            <a:r>
              <a:rPr lang="en-IN" sz="2400" b="1">
                <a:gradFill>
                  <a:gsLst>
                    <a:gs pos="9735">
                      <a:schemeClr val="tx2"/>
                    </a:gs>
                    <a:gs pos="63000">
                      <a:srgbClr val="8E278F"/>
                    </a:gs>
                    <a:gs pos="38000">
                      <a:srgbClr val="57499E"/>
                    </a:gs>
                  </a:gsLst>
                  <a:lin ang="0" scaled="0"/>
                </a:gradFill>
                <a:highlight>
                  <a:srgbClr val="33CC33"/>
                </a:highlight>
              </a:rPr>
              <a:t>PSS 09</a:t>
            </a:r>
            <a:endParaRPr lang="en-US" sz="2400" b="1">
              <a:gradFill>
                <a:gsLst>
                  <a:gs pos="9735">
                    <a:schemeClr val="tx2"/>
                  </a:gs>
                  <a:gs pos="63000">
                    <a:srgbClr val="8E278F"/>
                  </a:gs>
                  <a:gs pos="38000">
                    <a:srgbClr val="57499E"/>
                  </a:gs>
                </a:gsLst>
                <a:lin ang="0" scaled="0"/>
              </a:gradFill>
              <a:highlight>
                <a:srgbClr val="33CC33"/>
              </a:highlight>
              <a:ea typeface="+mn-ea"/>
              <a:cs typeface="+mn-cs"/>
            </a:endParaRPr>
          </a:p>
        </p:txBody>
      </p:sp>
      <p:pic>
        <p:nvPicPr>
          <p:cNvPr id="11" name="Picture 10">
            <a:extLst>
              <a:ext uri="{FF2B5EF4-FFF2-40B4-BE49-F238E27FC236}">
                <a16:creationId xmlns:a16="http://schemas.microsoft.com/office/drawing/2014/main" id="{4E1B2832-321F-1D07-540C-6A0C27BB8623}"/>
              </a:ext>
            </a:extLst>
          </p:cNvPr>
          <p:cNvPicPr>
            <a:picLocks noChangeAspect="1"/>
          </p:cNvPicPr>
          <p:nvPr/>
        </p:nvPicPr>
        <p:blipFill>
          <a:blip r:embed="rId3"/>
          <a:stretch>
            <a:fillRect/>
          </a:stretch>
        </p:blipFill>
        <p:spPr>
          <a:xfrm>
            <a:off x="6086475" y="3419475"/>
            <a:ext cx="19050" cy="19050"/>
          </a:xfrm>
          <a:prstGeom prst="rect">
            <a:avLst/>
          </a:prstGeom>
        </p:spPr>
      </p:pic>
      <p:sp>
        <p:nvSpPr>
          <p:cNvPr id="3" name="Slide Number Placeholder 2">
            <a:extLst>
              <a:ext uri="{FF2B5EF4-FFF2-40B4-BE49-F238E27FC236}">
                <a16:creationId xmlns:a16="http://schemas.microsoft.com/office/drawing/2014/main" id="{EB91163D-80E3-851F-9F02-AA96C2EF7227}"/>
              </a:ext>
            </a:extLst>
          </p:cNvPr>
          <p:cNvSpPr>
            <a:spLocks noGrp="1"/>
          </p:cNvSpPr>
          <p:nvPr>
            <p:ph type="sldNum" sz="quarter" idx="12"/>
          </p:nvPr>
        </p:nvSpPr>
        <p:spPr/>
        <p:txBody>
          <a:bodyPr/>
          <a:lstStyle/>
          <a:p>
            <a:fld id="{98B285C1-D8A8-4E98-B28C-1FD972D8EC54}" type="slidenum">
              <a:rPr lang="en-IN" smtClean="0"/>
              <a:t>17</a:t>
            </a:fld>
            <a:endParaRPr lang="en-IN"/>
          </a:p>
        </p:txBody>
      </p:sp>
      <p:graphicFrame>
        <p:nvGraphicFramePr>
          <p:cNvPr id="5" name="Table 4">
            <a:extLst>
              <a:ext uri="{FF2B5EF4-FFF2-40B4-BE49-F238E27FC236}">
                <a16:creationId xmlns:a16="http://schemas.microsoft.com/office/drawing/2014/main" id="{748373CF-0709-C9D5-5EEF-65D93EE55A7B}"/>
              </a:ext>
            </a:extLst>
          </p:cNvPr>
          <p:cNvGraphicFramePr>
            <a:graphicFrameLocks noGrp="1"/>
          </p:cNvGraphicFramePr>
          <p:nvPr>
            <p:extLst>
              <p:ext uri="{D42A27DB-BD31-4B8C-83A1-F6EECF244321}">
                <p14:modId xmlns:p14="http://schemas.microsoft.com/office/powerpoint/2010/main" val="3994455210"/>
              </p:ext>
            </p:extLst>
          </p:nvPr>
        </p:nvGraphicFramePr>
        <p:xfrm>
          <a:off x="165099" y="644137"/>
          <a:ext cx="11826875" cy="5948610"/>
        </p:xfrm>
        <a:graphic>
          <a:graphicData uri="http://schemas.openxmlformats.org/drawingml/2006/table">
            <a:tbl>
              <a:tblPr/>
              <a:tblGrid>
                <a:gridCol w="314860">
                  <a:extLst>
                    <a:ext uri="{9D8B030D-6E8A-4147-A177-3AD203B41FA5}">
                      <a16:colId xmlns:a16="http://schemas.microsoft.com/office/drawing/2014/main" val="3407651534"/>
                    </a:ext>
                  </a:extLst>
                </a:gridCol>
                <a:gridCol w="762009">
                  <a:extLst>
                    <a:ext uri="{9D8B030D-6E8A-4147-A177-3AD203B41FA5}">
                      <a16:colId xmlns:a16="http://schemas.microsoft.com/office/drawing/2014/main" val="2423477507"/>
                    </a:ext>
                  </a:extLst>
                </a:gridCol>
                <a:gridCol w="1060334">
                  <a:extLst>
                    <a:ext uri="{9D8B030D-6E8A-4147-A177-3AD203B41FA5}">
                      <a16:colId xmlns:a16="http://schemas.microsoft.com/office/drawing/2014/main" val="3653623201"/>
                    </a:ext>
                  </a:extLst>
                </a:gridCol>
                <a:gridCol w="503970">
                  <a:extLst>
                    <a:ext uri="{9D8B030D-6E8A-4147-A177-3AD203B41FA5}">
                      <a16:colId xmlns:a16="http://schemas.microsoft.com/office/drawing/2014/main" val="1384001007"/>
                    </a:ext>
                  </a:extLst>
                </a:gridCol>
                <a:gridCol w="429308">
                  <a:extLst>
                    <a:ext uri="{9D8B030D-6E8A-4147-A177-3AD203B41FA5}">
                      <a16:colId xmlns:a16="http://schemas.microsoft.com/office/drawing/2014/main" val="3424909399"/>
                    </a:ext>
                  </a:extLst>
                </a:gridCol>
                <a:gridCol w="727954">
                  <a:extLst>
                    <a:ext uri="{9D8B030D-6E8A-4147-A177-3AD203B41FA5}">
                      <a16:colId xmlns:a16="http://schemas.microsoft.com/office/drawing/2014/main" val="42806452"/>
                    </a:ext>
                  </a:extLst>
                </a:gridCol>
                <a:gridCol w="531967">
                  <a:extLst>
                    <a:ext uri="{9D8B030D-6E8A-4147-A177-3AD203B41FA5}">
                      <a16:colId xmlns:a16="http://schemas.microsoft.com/office/drawing/2014/main" val="1633383223"/>
                    </a:ext>
                  </a:extLst>
                </a:gridCol>
                <a:gridCol w="1006659">
                  <a:extLst>
                    <a:ext uri="{9D8B030D-6E8A-4147-A177-3AD203B41FA5}">
                      <a16:colId xmlns:a16="http://schemas.microsoft.com/office/drawing/2014/main" val="1588039713"/>
                    </a:ext>
                  </a:extLst>
                </a:gridCol>
                <a:gridCol w="626901">
                  <a:extLst>
                    <a:ext uri="{9D8B030D-6E8A-4147-A177-3AD203B41FA5}">
                      <a16:colId xmlns:a16="http://schemas.microsoft.com/office/drawing/2014/main" val="1090460603"/>
                    </a:ext>
                  </a:extLst>
                </a:gridCol>
                <a:gridCol w="746996">
                  <a:extLst>
                    <a:ext uri="{9D8B030D-6E8A-4147-A177-3AD203B41FA5}">
                      <a16:colId xmlns:a16="http://schemas.microsoft.com/office/drawing/2014/main" val="3664697575"/>
                    </a:ext>
                  </a:extLst>
                </a:gridCol>
                <a:gridCol w="746996">
                  <a:extLst>
                    <a:ext uri="{9D8B030D-6E8A-4147-A177-3AD203B41FA5}">
                      <a16:colId xmlns:a16="http://schemas.microsoft.com/office/drawing/2014/main" val="3229442918"/>
                    </a:ext>
                  </a:extLst>
                </a:gridCol>
                <a:gridCol w="746996">
                  <a:extLst>
                    <a:ext uri="{9D8B030D-6E8A-4147-A177-3AD203B41FA5}">
                      <a16:colId xmlns:a16="http://schemas.microsoft.com/office/drawing/2014/main" val="2165722168"/>
                    </a:ext>
                  </a:extLst>
                </a:gridCol>
                <a:gridCol w="798059">
                  <a:extLst>
                    <a:ext uri="{9D8B030D-6E8A-4147-A177-3AD203B41FA5}">
                      <a16:colId xmlns:a16="http://schemas.microsoft.com/office/drawing/2014/main" val="1139054355"/>
                    </a:ext>
                  </a:extLst>
                </a:gridCol>
                <a:gridCol w="698510">
                  <a:extLst>
                    <a:ext uri="{9D8B030D-6E8A-4147-A177-3AD203B41FA5}">
                      <a16:colId xmlns:a16="http://schemas.microsoft.com/office/drawing/2014/main" val="2989824048"/>
                    </a:ext>
                  </a:extLst>
                </a:gridCol>
                <a:gridCol w="531339">
                  <a:extLst>
                    <a:ext uri="{9D8B030D-6E8A-4147-A177-3AD203B41FA5}">
                      <a16:colId xmlns:a16="http://schemas.microsoft.com/office/drawing/2014/main" val="2285163012"/>
                    </a:ext>
                  </a:extLst>
                </a:gridCol>
                <a:gridCol w="531339">
                  <a:extLst>
                    <a:ext uri="{9D8B030D-6E8A-4147-A177-3AD203B41FA5}">
                      <a16:colId xmlns:a16="http://schemas.microsoft.com/office/drawing/2014/main" val="2646906091"/>
                    </a:ext>
                  </a:extLst>
                </a:gridCol>
                <a:gridCol w="531339">
                  <a:extLst>
                    <a:ext uri="{9D8B030D-6E8A-4147-A177-3AD203B41FA5}">
                      <a16:colId xmlns:a16="http://schemas.microsoft.com/office/drawing/2014/main" val="3001348247"/>
                    </a:ext>
                  </a:extLst>
                </a:gridCol>
                <a:gridCol w="531339">
                  <a:extLst>
                    <a:ext uri="{9D8B030D-6E8A-4147-A177-3AD203B41FA5}">
                      <a16:colId xmlns:a16="http://schemas.microsoft.com/office/drawing/2014/main" val="1986167330"/>
                    </a:ext>
                  </a:extLst>
                </a:gridCol>
              </a:tblGrid>
              <a:tr h="181350">
                <a:tc rowSpan="2">
                  <a:txBody>
                    <a:bodyPr/>
                    <a:lstStyle/>
                    <a:p>
                      <a:pPr algn="ctr" rtl="0" fontAlgn="ctr">
                        <a:buNone/>
                      </a:pPr>
                      <a:r>
                        <a:rPr lang="en-US" sz="800" b="1" i="0" u="none" strike="noStrike">
                          <a:solidFill>
                            <a:srgbClr val="FFFFFF"/>
                          </a:solidFill>
                          <a:effectLst/>
                          <a:latin typeface="Adani Regular" panose="02000503000000020004" pitchFamily="2" charset="0"/>
                        </a:rPr>
                        <a:t>Sr. No.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Packages</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Manufacturer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UOM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Scope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Ordering 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Balance Ordering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PO Number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PO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gridSpan="2">
                  <a:txBody>
                    <a:bodyPr/>
                    <a:lstStyle/>
                    <a:p>
                      <a:pPr algn="ctr" rtl="0" fontAlgn="ctr">
                        <a:buNone/>
                      </a:pPr>
                      <a:r>
                        <a:rPr lang="en-US" sz="800" b="1" i="0" u="none" strike="noStrike">
                          <a:solidFill>
                            <a:srgbClr val="FFFFFF"/>
                          </a:solidFill>
                          <a:effectLst/>
                          <a:latin typeface="Adani Regular" panose="02000503000000020004" pitchFamily="2" charset="0"/>
                        </a:rPr>
                        <a:t>Expected Delivery at Site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gridSpan="2">
                  <a:txBody>
                    <a:bodyPr/>
                    <a:lstStyle/>
                    <a:p>
                      <a:pPr algn="ctr" fontAlgn="b">
                        <a:buNone/>
                      </a:pPr>
                      <a:r>
                        <a:rPr lang="en-US" sz="800" b="1" i="0" u="none" strike="noStrike">
                          <a:solidFill>
                            <a:srgbClr val="FFFFFF"/>
                          </a:solidFill>
                          <a:effectLst/>
                          <a:latin typeface="Adani Regular" panose="02000503000000020004" pitchFamily="2" charset="0"/>
                        </a:rPr>
                        <a:t>Manufacturing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Delivered At Site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gridSpan="3">
                  <a:txBody>
                    <a:bodyPr/>
                    <a:lstStyle/>
                    <a:p>
                      <a:pPr algn="ctr" rtl="0" fontAlgn="ctr">
                        <a:buNone/>
                      </a:pPr>
                      <a:r>
                        <a:rPr lang="en-US" sz="800" b="1" i="0" u="none" strike="noStrike">
                          <a:solidFill>
                            <a:srgbClr val="FFFFFF"/>
                          </a:solidFill>
                          <a:effectLst/>
                          <a:latin typeface="Adani Regular" panose="02000503000000020004" pitchFamily="2" charset="0"/>
                        </a:rPr>
                        <a:t>Forecast Delivery Schedule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hMerge="1">
                  <a:txBody>
                    <a:bodyPr/>
                    <a:lstStyle/>
                    <a:p>
                      <a:pPr algn="ctr" rtl="0" fontAlgn="ctr">
                        <a:buNone/>
                      </a:pPr>
                      <a:endParaRPr lang="en-US" sz="800" b="1" i="0" u="none" strike="noStrike">
                        <a:solidFill>
                          <a:srgbClr val="FFFFFF"/>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Remarks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extLst>
                  <a:ext uri="{0D108BD9-81ED-4DB2-BD59-A6C34878D82A}">
                    <a16:rowId xmlns:a16="http://schemas.microsoft.com/office/drawing/2014/main" val="32094899"/>
                  </a:ext>
                </a:extLst>
              </a:tr>
              <a:tr h="335025">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1" i="0" u="none" strike="noStrike">
                          <a:solidFill>
                            <a:srgbClr val="FFFFFF"/>
                          </a:solidFill>
                          <a:effectLst/>
                          <a:latin typeface="Adani Regular" panose="02000503000000020004" pitchFamily="2" charset="0"/>
                        </a:rPr>
                        <a:t>Start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Finish</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fontAlgn="ctr">
                        <a:buNone/>
                      </a:pPr>
                      <a:r>
                        <a:rPr lang="en-US" sz="800" b="1" i="0" u="none" strike="noStrike">
                          <a:solidFill>
                            <a:srgbClr val="FFFFFF"/>
                          </a:solidFill>
                          <a:effectLst/>
                          <a:latin typeface="Adani Regular" panose="02000503000000020004" pitchFamily="2" charset="0"/>
                        </a:rPr>
                        <a:t>QAP Acceptance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fontAlgn="ctr">
                        <a:buNone/>
                      </a:pPr>
                      <a:r>
                        <a:rPr lang="en-US" sz="800" b="1" i="0" u="none" strike="noStrike">
                          <a:solidFill>
                            <a:srgbClr val="FFFFFF"/>
                          </a:solidFill>
                          <a:effectLst/>
                          <a:latin typeface="Adani Regular" panose="02000503000000020004" pitchFamily="2" charset="0"/>
                        </a:rPr>
                        <a:t>MC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vMerge="1">
                  <a:txBody>
                    <a:bodyPr/>
                    <a:lstStyle/>
                    <a:p>
                      <a:endParaRPr lang="en-US"/>
                    </a:p>
                  </a:txBody>
                  <a:tcPr/>
                </a:tc>
                <a:tc>
                  <a:txBody>
                    <a:bodyPr/>
                    <a:lstStyle/>
                    <a:p>
                      <a:pPr algn="ctr" rtl="0" fontAlgn="ctr">
                        <a:buNone/>
                      </a:pPr>
                      <a:r>
                        <a:rPr lang="en-US" sz="800" b="1" i="0" u="none" strike="noStrike">
                          <a:solidFill>
                            <a:srgbClr val="FFFFFF"/>
                          </a:solidFill>
                          <a:effectLst/>
                          <a:latin typeface="Adani Regular" panose="02000503000000020004" pitchFamily="2" charset="0"/>
                        </a:rPr>
                        <a:t>Sep-26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Oct-26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Nov-26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782170"/>
                    </a:solidFill>
                  </a:tcPr>
                </a:tc>
                <a:tc vMerge="1">
                  <a:txBody>
                    <a:bodyPr/>
                    <a:lstStyle/>
                    <a:p>
                      <a:pPr algn="ctr" rtl="0" fontAlgn="ctr">
                        <a:buNone/>
                      </a:pPr>
                      <a:endParaRPr lang="en-US" sz="800" b="1" i="0" u="none" strike="noStrike">
                        <a:solidFill>
                          <a:srgbClr val="FFFFFF"/>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782170"/>
                    </a:solidFill>
                  </a:tcPr>
                </a:tc>
                <a:extLst>
                  <a:ext uri="{0D108BD9-81ED-4DB2-BD59-A6C34878D82A}">
                    <a16:rowId xmlns:a16="http://schemas.microsoft.com/office/drawing/2014/main" val="1229866227"/>
                  </a:ext>
                </a:extLst>
              </a:tr>
              <a:tr h="1228423">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Battery Container</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CATL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5310000937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25-Sep-26</a:t>
                      </a:r>
                    </a:p>
                    <a:p>
                      <a:pPr algn="ctr" fontAlgn="ctr">
                        <a:buNone/>
                      </a:pPr>
                      <a:r>
                        <a:rPr lang="en-US" sz="800" b="0" i="0" u="none" strike="noStrike">
                          <a:solidFill>
                            <a:srgbClr val="000000"/>
                          </a:solidFill>
                          <a:effectLst/>
                          <a:latin typeface="Adani Regular" panose="02000503000000020004" pitchFamily="2" charset="0"/>
                        </a:rPr>
                        <a:t>01-Oct-26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25-Mar-27</a:t>
                      </a:r>
                    </a:p>
                    <a:p>
                      <a:pPr algn="ctr" fontAlgn="ctr">
                        <a:buNone/>
                      </a:pPr>
                      <a:r>
                        <a:rPr lang="en-US" sz="800" b="0" i="0" u="none" strike="sngStrike">
                          <a:solidFill>
                            <a:srgbClr val="000000"/>
                          </a:solidFill>
                          <a:effectLst/>
                          <a:latin typeface="Adani Regular" panose="02000503000000020004" pitchFamily="2" charset="0"/>
                        </a:rPr>
                        <a:t>31-Oct-26</a:t>
                      </a:r>
                    </a:p>
                    <a:p>
                      <a:pPr algn="ctr" fontAlgn="ctr">
                        <a:buNone/>
                      </a:pPr>
                      <a:r>
                        <a:rPr lang="en-US" sz="800" b="0" i="0" u="none" strike="sngStrike">
                          <a:solidFill>
                            <a:srgbClr val="000000"/>
                          </a:solidFill>
                          <a:effectLst/>
                          <a:latin typeface="Adani Regular" panose="02000503000000020004" pitchFamily="2" charset="0"/>
                        </a:rPr>
                        <a:t>1-Jan-27</a:t>
                      </a:r>
                    </a:p>
                    <a:p>
                      <a:pPr algn="ctr" fontAlgn="ctr">
                        <a:buNone/>
                      </a:pPr>
                      <a:r>
                        <a:rPr lang="en-US" sz="800" b="0" i="0" u="none" strike="noStrike" kern="1200">
                          <a:solidFill>
                            <a:schemeClr val="tx1"/>
                          </a:solidFill>
                          <a:effectLst/>
                          <a:latin typeface="Adani Light"/>
                          <a:ea typeface="+mn-ea"/>
                          <a:cs typeface="+mn-cs"/>
                        </a:rPr>
                        <a:t>31-Oct-26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26 Nov 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dani Regular" panose="02000503000000020004" pitchFamily="2" charset="0"/>
                        </a:rPr>
                        <a:t>11 Feb 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177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IN" sz="800" b="0" dirty="0">
                          <a:solidFill>
                            <a:schemeClr val="tx1"/>
                          </a:solidFill>
                          <a:effectLst/>
                          <a:latin typeface="Adani Regular" panose="02000503000000020004" pitchFamily="2" charset="0"/>
                        </a:rPr>
                        <a:t>FOB 97 containers : 04-Sep</a:t>
                      </a:r>
                      <a:endParaRPr lang="en-US" sz="800" b="0" i="0" u="none" strike="noStrike" dirty="0">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477393165"/>
                  </a:ext>
                </a:extLst>
              </a:tr>
              <a:tr h="893399">
                <a:tc>
                  <a:txBody>
                    <a:bodyPr/>
                    <a:lstStyle/>
                    <a:p>
                      <a:pPr algn="ctr" rtl="0" fontAlgn="ctr">
                        <a:buNone/>
                      </a:pPr>
                      <a:r>
                        <a:rPr lang="en-US" sz="800" b="0" i="0" u="none" strike="noStrike">
                          <a:solidFill>
                            <a:srgbClr val="000000"/>
                          </a:solidFill>
                          <a:effectLst/>
                          <a:latin typeface="Adani Regular" panose="02000503000000020004" pitchFamily="2" charset="0"/>
                        </a:rPr>
                        <a:t>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PCS</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Inova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5310000934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3-Jan-26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25-Jun-26</a:t>
                      </a:r>
                    </a:p>
                    <a:p>
                      <a:pPr algn="ctr" fontAlgn="ctr">
                        <a:buNone/>
                      </a:pPr>
                      <a:r>
                        <a:rPr lang="en-US" sz="800" b="0" i="0" u="none" strike="noStrike">
                          <a:solidFill>
                            <a:srgbClr val="000000"/>
                          </a:solidFill>
                          <a:effectLst/>
                          <a:latin typeface="Adani Regular" panose="02000503000000020004" pitchFamily="2" charset="0"/>
                        </a:rPr>
                        <a:t>01-Sep-26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25-Aug-26</a:t>
                      </a:r>
                    </a:p>
                    <a:p>
                      <a:pPr algn="ctr" fontAlgn="ctr">
                        <a:buNone/>
                      </a:pPr>
                      <a:r>
                        <a:rPr lang="en-US" sz="800" b="0" i="0" u="none" strike="sngStrike">
                          <a:solidFill>
                            <a:srgbClr val="000000"/>
                          </a:solidFill>
                          <a:effectLst/>
                          <a:latin typeface="Adani Regular" panose="02000503000000020004" pitchFamily="2" charset="0"/>
                        </a:rPr>
                        <a:t>31-Oct-26</a:t>
                      </a:r>
                    </a:p>
                    <a:p>
                      <a:pPr algn="ctr" fontAlgn="ctr">
                        <a:buNone/>
                      </a:pPr>
                      <a:r>
                        <a:rPr lang="en-US" sz="800" b="0" i="0" u="none" strike="sngStrike">
                          <a:solidFill>
                            <a:srgbClr val="000000"/>
                          </a:solidFill>
                          <a:effectLst/>
                          <a:latin typeface="Adani Regular" panose="02000503000000020004" pitchFamily="2" charset="0"/>
                        </a:rPr>
                        <a:t>17-Dec-26</a:t>
                      </a:r>
                    </a:p>
                    <a:p>
                      <a:pPr algn="ctr" fontAlgn="ctr">
                        <a:buNone/>
                      </a:pPr>
                      <a:r>
                        <a:rPr lang="en-US" sz="800" b="0" i="0" u="none" strike="noStrike" kern="1200">
                          <a:solidFill>
                            <a:schemeClr val="tx1"/>
                          </a:solidFill>
                          <a:effectLst/>
                          <a:latin typeface="Adani Light"/>
                          <a:ea typeface="+mn-ea"/>
                          <a:cs typeface="+mn-cs"/>
                        </a:rPr>
                        <a:t>04-Oct-26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7-Feb-26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10-Feb-26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dirty="0">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dani Regular" panose="02000503000000020004" pitchFamily="2" charset="0"/>
                        </a:rPr>
                        <a:t>288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dani Regular" panose="02000503000000020004" pitchFamily="2" charset="0"/>
                        </a:rPr>
                        <a:t>144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800" b="0" i="0" u="none" strike="noStrike" dirty="0">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2105475574"/>
                  </a:ext>
                </a:extLst>
              </a:tr>
              <a:tr h="558374">
                <a:tc>
                  <a:txBody>
                    <a:bodyPr/>
                    <a:lstStyle/>
                    <a:p>
                      <a:pPr algn="ctr" rtl="0" fontAlgn="ctr">
                        <a:buNone/>
                      </a:pPr>
                      <a:r>
                        <a:rPr lang="en-US" sz="800" b="0" i="0" u="none" strike="noStrike">
                          <a:solidFill>
                            <a:srgbClr val="000000"/>
                          </a:solidFill>
                          <a:effectLst/>
                          <a:latin typeface="Adani Regular" panose="02000503000000020004" pitchFamily="2" charset="0"/>
                        </a:rPr>
                        <a:t>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EMS</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Honeywell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Set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4510021128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14400" rtl="0" eaLnBrk="1" fontAlgn="ctr" latinLnBrk="0" hangingPunct="1">
                        <a:buNone/>
                      </a:pPr>
                      <a:r>
                        <a:rPr lang="en-US" sz="800" b="0" i="0" u="none" strike="noStrike" kern="1200">
                          <a:solidFill>
                            <a:srgbClr val="33CC33"/>
                          </a:solidFill>
                          <a:effectLst/>
                          <a:latin typeface="Adani Light"/>
                          <a:ea typeface="+mn-ea"/>
                          <a:cs typeface="+mn-cs"/>
                        </a:rPr>
                        <a:t>06-Sep-26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16-May-26</a:t>
                      </a:r>
                    </a:p>
                    <a:p>
                      <a:pPr algn="ctr" fontAlgn="ctr">
                        <a:buNone/>
                      </a:pPr>
                      <a:r>
                        <a:rPr lang="en-US" sz="800" b="0" i="0" u="none" strike="sngStrike">
                          <a:solidFill>
                            <a:srgbClr val="000000"/>
                          </a:solidFill>
                          <a:effectLst/>
                          <a:latin typeface="Adani Regular" panose="02000503000000020004" pitchFamily="2" charset="0"/>
                        </a:rPr>
                        <a:t>31-Aug-26</a:t>
                      </a:r>
                    </a:p>
                    <a:p>
                      <a:pPr algn="ctr" fontAlgn="ctr">
                        <a:buNone/>
                      </a:pPr>
                      <a:r>
                        <a:rPr lang="en-US" sz="800" b="0" i="0" u="none" strike="sngStrike">
                          <a:solidFill>
                            <a:srgbClr val="000000"/>
                          </a:solidFill>
                          <a:effectLst/>
                          <a:latin typeface="Adani Regular" panose="02000503000000020004" pitchFamily="2" charset="0"/>
                        </a:rPr>
                        <a:t>1-Oct-26</a:t>
                      </a:r>
                    </a:p>
                    <a:p>
                      <a:pPr algn="ctr" fontAlgn="ctr">
                        <a:buNone/>
                      </a:pPr>
                      <a:r>
                        <a:rPr lang="en-US" sz="800" b="0" i="0" u="none" strike="sngStrike" kern="1200">
                          <a:solidFill>
                            <a:schemeClr val="tx1"/>
                          </a:solidFill>
                          <a:effectLst/>
                          <a:latin typeface="Adani Light"/>
                          <a:ea typeface="+mn-ea"/>
                          <a:cs typeface="+mn-cs"/>
                        </a:rPr>
                        <a:t>31-Aug-26</a:t>
                      </a:r>
                    </a:p>
                    <a:p>
                      <a:pPr algn="ctr" fontAlgn="ctr">
                        <a:buNone/>
                      </a:pPr>
                      <a:r>
                        <a:rPr lang="en-US" sz="800" b="0" i="0" u="none" strike="noStrike" kern="1200">
                          <a:solidFill>
                            <a:schemeClr val="tx1"/>
                          </a:solidFill>
                          <a:effectLst/>
                          <a:latin typeface="Adani Light"/>
                          <a:ea typeface="+mn-ea"/>
                          <a:cs typeface="+mn-cs"/>
                        </a:rPr>
                        <a:t>30-Sep-26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30-Jan-26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1654857988"/>
                  </a:ext>
                </a:extLst>
              </a:tr>
              <a:tr h="446699">
                <a:tc>
                  <a:txBody>
                    <a:bodyPr/>
                    <a:lstStyle/>
                    <a:p>
                      <a:pPr algn="ctr" rtl="0" fontAlgn="ctr">
                        <a:buNone/>
                      </a:pPr>
                      <a:r>
                        <a:rPr lang="en-US" sz="800" b="0" i="0" u="none" strike="noStrike">
                          <a:solidFill>
                            <a:srgbClr val="000000"/>
                          </a:solidFill>
                          <a:effectLst/>
                          <a:latin typeface="Adani Regular" panose="02000503000000020004" pitchFamily="2" charset="0"/>
                        </a:rPr>
                        <a:t>4</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Converter Transformer</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Ornet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4510021210 &amp; 4510021241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13-Jan-26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25-Apr-26</a:t>
                      </a:r>
                    </a:p>
                    <a:p>
                      <a:pPr algn="ctr" fontAlgn="ctr">
                        <a:buNone/>
                      </a:pPr>
                      <a:r>
                        <a:rPr lang="en-US" sz="800" b="0" i="0" u="none" strike="sngStrike">
                          <a:solidFill>
                            <a:srgbClr val="000000"/>
                          </a:solidFill>
                          <a:effectLst/>
                          <a:latin typeface="Adani Regular" panose="02000503000000020004" pitchFamily="2" charset="0"/>
                        </a:rPr>
                        <a:t>01-May-26</a:t>
                      </a:r>
                    </a:p>
                    <a:p>
                      <a:pPr algn="ctr" fontAlgn="ctr">
                        <a:buNone/>
                      </a:pPr>
                      <a:r>
                        <a:rPr lang="en-US" sz="800" b="0" i="0" u="none" strike="noStrike" kern="1200">
                          <a:solidFill>
                            <a:schemeClr val="tx1"/>
                          </a:solidFill>
                          <a:effectLst/>
                          <a:latin typeface="Adani Light"/>
                          <a:ea typeface="+mn-ea"/>
                          <a:cs typeface="+mn-cs"/>
                        </a:rPr>
                        <a:t>01-Aug-26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27-May-26</a:t>
                      </a:r>
                    </a:p>
                    <a:p>
                      <a:pPr algn="ctr" fontAlgn="ctr">
                        <a:buNone/>
                      </a:pPr>
                      <a:r>
                        <a:rPr lang="en-US" sz="800" b="0" i="0" u="none" strike="sngStrike">
                          <a:solidFill>
                            <a:srgbClr val="000000"/>
                          </a:solidFill>
                          <a:effectLst/>
                          <a:latin typeface="Adani Regular" panose="02000503000000020004" pitchFamily="2" charset="0"/>
                        </a:rPr>
                        <a:t>30-May-26</a:t>
                      </a:r>
                    </a:p>
                    <a:p>
                      <a:pPr algn="ctr" fontAlgn="ctr">
                        <a:buNone/>
                      </a:pPr>
                      <a:r>
                        <a:rPr lang="en-US" sz="800" b="0" i="0" u="none" strike="sngStrike" kern="1200">
                          <a:solidFill>
                            <a:schemeClr val="tx1"/>
                          </a:solidFill>
                          <a:effectLst/>
                          <a:latin typeface="Adani Light"/>
                          <a:ea typeface="+mn-ea"/>
                          <a:cs typeface="+mn-cs"/>
                        </a:rPr>
                        <a:t>31-Aug-26</a:t>
                      </a:r>
                    </a:p>
                    <a:p>
                      <a:pPr algn="ctr" fontAlgn="ctr">
                        <a:buNone/>
                      </a:pPr>
                      <a:r>
                        <a:rPr lang="en-US" sz="800" b="0" i="0" u="none" strike="noStrike" kern="1200">
                          <a:solidFill>
                            <a:schemeClr val="tx1"/>
                          </a:solidFill>
                          <a:effectLst/>
                          <a:latin typeface="Adani Light"/>
                          <a:ea typeface="+mn-ea"/>
                          <a:cs typeface="+mn-cs"/>
                        </a:rPr>
                        <a:t>20-Sep-26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25-Feb-26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26-Feb-26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934024070"/>
                  </a:ext>
                </a:extLst>
              </a:tr>
              <a:tr h="335025">
                <a:tc>
                  <a:txBody>
                    <a:bodyPr/>
                    <a:lstStyle/>
                    <a:p>
                      <a:pPr algn="ctr" rtl="0" fontAlgn="ctr">
                        <a:buNone/>
                      </a:pPr>
                      <a:r>
                        <a:rPr lang="en-US" sz="800" b="0" i="0" u="none" strike="noStrike">
                          <a:solidFill>
                            <a:srgbClr val="00B050"/>
                          </a:solidFill>
                          <a:effectLst/>
                          <a:latin typeface="Adani Regular" panose="02000503000000020004" pitchFamily="2" charset="0"/>
                        </a:rPr>
                        <a:t>5</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CSS</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M/S Akshar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4510021227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16-Jan-26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kern="1200">
                          <a:solidFill>
                            <a:srgbClr val="00B050"/>
                          </a:solidFill>
                          <a:effectLst/>
                          <a:latin typeface="Adani Light"/>
                          <a:ea typeface="+mn-ea"/>
                          <a:cs typeface="+mn-cs"/>
                        </a:rPr>
                        <a:t>16-Aug-26</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kern="1200">
                          <a:solidFill>
                            <a:srgbClr val="00B050"/>
                          </a:solidFill>
                          <a:effectLst/>
                          <a:latin typeface="Adani Light"/>
                          <a:ea typeface="+mn-ea"/>
                          <a:cs typeface="+mn-cs"/>
                        </a:rPr>
                        <a:t>28-Aug-26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same as of phase one (27/05/25)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3">
                  <a:txBody>
                    <a:bodyPr/>
                    <a:lstStyle/>
                    <a:p>
                      <a:pPr algn="ctr" rtl="0" fontAlgn="ctr">
                        <a:buNone/>
                      </a:pPr>
                      <a:r>
                        <a:rPr lang="en-US" sz="800" b="0" i="0" u="none" strike="noStrike">
                          <a:solidFill>
                            <a:srgbClr val="00B050"/>
                          </a:solidFill>
                          <a:effectLst/>
                          <a:latin typeface="Adani Regular" panose="02000503000000020004" pitchFamily="2" charset="0"/>
                        </a:rPr>
                        <a:t>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2176057485"/>
                  </a:ext>
                </a:extLst>
              </a:tr>
              <a:tr h="558374">
                <a:tc>
                  <a:txBody>
                    <a:bodyPr/>
                    <a:lstStyle/>
                    <a:p>
                      <a:pPr algn="ctr" rtl="0" fontAlgn="ctr">
                        <a:buNone/>
                      </a:pPr>
                      <a:r>
                        <a:rPr lang="en-US" sz="800" b="0" i="0" u="none" strike="noStrike">
                          <a:solidFill>
                            <a:srgbClr val="000000"/>
                          </a:solidFill>
                          <a:effectLst/>
                          <a:latin typeface="Adani Regular" panose="02000503000000020004" pitchFamily="2" charset="0"/>
                        </a:rPr>
                        <a:t>6</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rtl="0" fontAlgn="ctr">
                        <a:buNone/>
                      </a:pPr>
                      <a:r>
                        <a:rPr lang="en-US" sz="800" b="0" i="0" u="none" strike="noStrike">
                          <a:solidFill>
                            <a:srgbClr val="000000"/>
                          </a:solidFill>
                          <a:effectLst/>
                          <a:latin typeface="Adani Regular" panose="02000503000000020004" pitchFamily="2" charset="0"/>
                          <a:ea typeface="+mn-ea"/>
                          <a:cs typeface="+mn-cs"/>
                        </a:rPr>
                        <a:t>MV Switchgear</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rtl="0" fontAlgn="ctr">
                        <a:buNone/>
                      </a:pPr>
                      <a:r>
                        <a:rPr lang="en-US" sz="800" b="0" i="0" u="none" strike="noStrike">
                          <a:solidFill>
                            <a:srgbClr val="000000"/>
                          </a:solidFill>
                          <a:effectLst/>
                          <a:latin typeface="Adani Regular" panose="02000503000000020004" pitchFamily="2" charset="0"/>
                          <a:ea typeface="+mn-ea"/>
                          <a:cs typeface="+mn-cs"/>
                        </a:rPr>
                        <a:t>Popular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rtl="0" fontAlgn="ctr">
                        <a:buNone/>
                      </a:pPr>
                      <a:r>
                        <a:rPr lang="en-US" sz="800" b="0" i="0" u="none" strike="noStrike">
                          <a:solidFill>
                            <a:srgbClr val="000000"/>
                          </a:solidFill>
                          <a:effectLst/>
                          <a:latin typeface="Adani Regular" panose="02000503000000020004" pitchFamily="2" charset="0"/>
                          <a:ea typeface="+mn-ea"/>
                          <a:cs typeface="+mn-cs"/>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rtl="0" fontAlgn="ctr">
                        <a:buNone/>
                      </a:pPr>
                      <a:r>
                        <a:rPr lang="en-US" sz="800" b="0" i="0" u="none" strike="noStrike">
                          <a:solidFill>
                            <a:srgbClr val="000000"/>
                          </a:solidFill>
                          <a:effectLst/>
                          <a:latin typeface="Adani Regular" panose="02000503000000020004" pitchFamily="2" charset="0"/>
                          <a:ea typeface="+mn-ea"/>
                          <a:cs typeface="+mn-cs"/>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rtl="0" fontAlgn="ctr">
                        <a:buNone/>
                      </a:pPr>
                      <a:r>
                        <a:rPr lang="en-US" sz="800" b="0" i="0" u="none" strike="noStrike">
                          <a:solidFill>
                            <a:srgbClr val="000000"/>
                          </a:solidFill>
                          <a:effectLst/>
                          <a:latin typeface="Adani Regular" panose="02000503000000020004" pitchFamily="2" charset="0"/>
                          <a:ea typeface="+mn-ea"/>
                          <a:cs typeface="+mn-cs"/>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rtl="0" fontAlgn="ctr">
                        <a:buNone/>
                      </a:pPr>
                      <a:r>
                        <a:rPr lang="en-US" sz="800" b="0" i="0" u="none" strike="noStrike">
                          <a:solidFill>
                            <a:srgbClr val="000000"/>
                          </a:solidFill>
                          <a:effectLst/>
                          <a:latin typeface="Adani Regular" panose="02000503000000020004" pitchFamily="2" charset="0"/>
                          <a:ea typeface="+mn-ea"/>
                          <a:cs typeface="+mn-cs"/>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dani Regular" panose="02000503000000020004" pitchFamily="2" charset="0"/>
                          <a:ea typeface="+mn-ea"/>
                          <a:cs typeface="+mn-cs"/>
                        </a:rPr>
                        <a:t> 4510021111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rtl="0" fontAlgn="ctr">
                        <a:buNone/>
                      </a:pPr>
                      <a:r>
                        <a:rPr lang="en-US" sz="800" b="0" i="0" u="none" strike="noStrike">
                          <a:solidFill>
                            <a:srgbClr val="000000"/>
                          </a:solidFill>
                          <a:effectLst/>
                          <a:latin typeface="Adani Regular" panose="02000503000000020004" pitchFamily="2" charset="0"/>
                          <a:ea typeface="+mn-ea"/>
                          <a:cs typeface="+mn-cs"/>
                        </a:rPr>
                        <a:t>1-Jan-26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kern="1200">
                          <a:solidFill>
                            <a:srgbClr val="00B050"/>
                          </a:solidFill>
                          <a:effectLst/>
                          <a:latin typeface="Adani Light"/>
                          <a:ea typeface="+mn-ea"/>
                          <a:cs typeface="+mn-cs"/>
                        </a:rPr>
                        <a:t>25-Aug-26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30-Apr-26</a:t>
                      </a:r>
                    </a:p>
                    <a:p>
                      <a:pPr algn="ctr" fontAlgn="ctr">
                        <a:buNone/>
                      </a:pPr>
                      <a:r>
                        <a:rPr lang="en-US" sz="800" b="0" i="0" u="none" strike="sngStrike">
                          <a:solidFill>
                            <a:srgbClr val="000000"/>
                          </a:solidFill>
                          <a:effectLst/>
                          <a:latin typeface="Adani Regular" panose="02000503000000020004" pitchFamily="2" charset="0"/>
                        </a:rPr>
                        <a:t>30-Jun-26</a:t>
                      </a:r>
                    </a:p>
                    <a:p>
                      <a:pPr algn="ctr" fontAlgn="ctr">
                        <a:buNone/>
                      </a:pPr>
                      <a:r>
                        <a:rPr lang="en-US" sz="800" b="0" i="0" u="none" strike="sngStrike" kern="1200">
                          <a:solidFill>
                            <a:schemeClr val="tx1"/>
                          </a:solidFill>
                          <a:effectLst/>
                          <a:latin typeface="Adani Light"/>
                          <a:ea typeface="+mn-ea"/>
                          <a:cs typeface="+mn-cs"/>
                        </a:rPr>
                        <a:t>30-Aug-26</a:t>
                      </a:r>
                    </a:p>
                    <a:p>
                      <a:pPr algn="ctr" fontAlgn="ctr">
                        <a:buNone/>
                      </a:pPr>
                      <a:r>
                        <a:rPr lang="en-US" sz="800" b="0" i="0" u="none" strike="sngStrike" kern="1200">
                          <a:solidFill>
                            <a:schemeClr val="tx1"/>
                          </a:solidFill>
                          <a:effectLst/>
                          <a:latin typeface="Adani Light"/>
                          <a:ea typeface="+mn-ea"/>
                          <a:cs typeface="+mn-cs"/>
                        </a:rPr>
                        <a:t>15-Oct-26</a:t>
                      </a:r>
                    </a:p>
                    <a:p>
                      <a:pPr algn="ctr" fontAlgn="ctr">
                        <a:buNone/>
                      </a:pPr>
                      <a:r>
                        <a:rPr lang="en-US" sz="800" b="0" i="0" u="none" strike="noStrike" kern="1200">
                          <a:solidFill>
                            <a:schemeClr val="tx1"/>
                          </a:solidFill>
                          <a:effectLst/>
                          <a:latin typeface="Adani Light"/>
                          <a:ea typeface="+mn-ea"/>
                          <a:cs typeface="+mn-cs"/>
                        </a:rPr>
                        <a:t>30-Sep-26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same as of phase one (03/06/25)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dani Regular" panose="02000503000000020004" pitchFamily="2"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496878907"/>
                  </a:ext>
                </a:extLst>
              </a:tr>
              <a:tr h="111675">
                <a:tc>
                  <a:txBody>
                    <a:bodyPr/>
                    <a:lstStyle/>
                    <a:p>
                      <a:pPr algn="ctr" rtl="0" fontAlgn="ctr">
                        <a:buNone/>
                      </a:pPr>
                      <a:r>
                        <a:rPr lang="en-US" sz="800" b="0" i="0" u="none" strike="noStrike">
                          <a:solidFill>
                            <a:srgbClr val="00B050"/>
                          </a:solidFill>
                          <a:effectLst/>
                          <a:latin typeface="Adani Regular" panose="02000503000000020004" pitchFamily="2" charset="0"/>
                        </a:rPr>
                        <a:t>7</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HT Cable</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Paramount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4510021149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31-Dec-25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28-Feb-26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9-Mar-26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16-Jan-26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rowSpan="5" gridSpan="3">
                  <a:txBody>
                    <a:bodyPr/>
                    <a:lstStyle/>
                    <a:p>
                      <a:pPr algn="ctr" rtl="0" fontAlgn="ctr">
                        <a:buNone/>
                      </a:pPr>
                      <a:r>
                        <a:rPr lang="en-US" sz="800" b="0" i="0" u="none" strike="noStrike">
                          <a:solidFill>
                            <a:srgbClr val="00B050"/>
                          </a:solidFill>
                          <a:effectLst/>
                          <a:latin typeface="Adani Regular" panose="02000503000000020004" pitchFamily="2" charset="0"/>
                        </a:rPr>
                        <a:t>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rowSpan="5"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rowSpan="5" hMerge="1">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rowSpan="5">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771289328"/>
                  </a:ext>
                </a:extLst>
              </a:tr>
              <a:tr h="223350">
                <a:tc>
                  <a:txBody>
                    <a:bodyPr/>
                    <a:lstStyle/>
                    <a:p>
                      <a:pPr algn="ctr" rtl="0" fontAlgn="ctr">
                        <a:buNone/>
                      </a:pPr>
                      <a:r>
                        <a:rPr lang="en-US" sz="800" b="0" i="0" u="none" strike="noStrike">
                          <a:solidFill>
                            <a:srgbClr val="00B050"/>
                          </a:solidFill>
                          <a:effectLst/>
                          <a:latin typeface="Adani Regular" panose="02000503000000020004" pitchFamily="2" charset="0"/>
                        </a:rPr>
                        <a:t>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DC &amp; LT Cables</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Diamond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962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822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4510021289 &amp; 4510021286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28-Feb-26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15-Apr-26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12-Jan-26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962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3" vMerge="1">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737123"/>
                  </a:ext>
                </a:extLst>
              </a:tr>
              <a:tr h="202717">
                <a:tc>
                  <a:txBody>
                    <a:bodyPr/>
                    <a:lstStyle/>
                    <a:p>
                      <a:pPr algn="ctr" rtl="0" fontAlgn="ctr">
                        <a:buNone/>
                      </a:pPr>
                      <a:r>
                        <a:rPr lang="en-US" sz="800" b="0" i="0" u="none" strike="noStrike">
                          <a:solidFill>
                            <a:srgbClr val="00B050"/>
                          </a:solidFill>
                          <a:effectLst/>
                          <a:latin typeface="Adani Regular" panose="02000503000000020004" pitchFamily="2" charset="0"/>
                        </a:rPr>
                        <a:t>9</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Control Cable</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err="1">
                          <a:solidFill>
                            <a:srgbClr val="00B050"/>
                          </a:solidFill>
                          <a:effectLst/>
                          <a:latin typeface="Adani Regular" panose="02000503000000020004" pitchFamily="2" charset="0"/>
                        </a:rPr>
                        <a:t>Gemscab</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4510021265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14400" rtl="0" eaLnBrk="1" fontAlgn="ctr" latinLnBrk="0" hangingPunct="1">
                        <a:buNone/>
                      </a:pPr>
                      <a:r>
                        <a:rPr lang="en-US" sz="800" b="0" i="0" u="none" strike="noStrike" kern="1200">
                          <a:solidFill>
                            <a:srgbClr val="00B050"/>
                          </a:solidFill>
                          <a:effectLst/>
                          <a:latin typeface="Adani Light"/>
                          <a:ea typeface="+mn-ea"/>
                          <a:cs typeface="+mn-cs"/>
                        </a:rPr>
                        <a:t>5-Apr-26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algn="ctr" defTabSz="914400" rtl="0" eaLnBrk="1" fontAlgn="ctr" latinLnBrk="0" hangingPunct="1">
                        <a:buNone/>
                      </a:pPr>
                      <a:r>
                        <a:rPr lang="en-US" sz="800" b="0" i="0" u="none" strike="noStrike" kern="1200">
                          <a:solidFill>
                            <a:srgbClr val="00B050"/>
                          </a:solidFill>
                          <a:effectLst/>
                          <a:latin typeface="Adani Light"/>
                          <a:ea typeface="+mn-ea"/>
                          <a:cs typeface="+mn-cs"/>
                        </a:rPr>
                        <a:t>15-Apr-26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16-Jan-26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3" vMerge="1">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2367592191"/>
                  </a:ext>
                </a:extLst>
              </a:tr>
              <a:tr h="272801">
                <a:tc>
                  <a:txBody>
                    <a:bodyPr/>
                    <a:lstStyle/>
                    <a:p>
                      <a:pPr algn="ctr" rtl="0" fontAlgn="ctr">
                        <a:buNone/>
                      </a:pPr>
                      <a:r>
                        <a:rPr lang="en-US" sz="800" b="0" i="0" u="none" strike="noStrike">
                          <a:solidFill>
                            <a:srgbClr val="00B050"/>
                          </a:solidFill>
                          <a:effectLst/>
                          <a:latin typeface="Adani Regular" panose="02000503000000020004" pitchFamily="2" charset="0"/>
                        </a:rPr>
                        <a:t>10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SCADA Cable</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M/s Delton &amp; M/s Suyog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4510021162 &amp; 4510021167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14400" rtl="0" eaLnBrk="1" fontAlgn="ctr" latinLnBrk="0" hangingPunct="1">
                        <a:buNone/>
                      </a:pPr>
                      <a:r>
                        <a:rPr lang="en-US" sz="800" b="0" i="0" u="none" strike="noStrike" kern="1200">
                          <a:solidFill>
                            <a:srgbClr val="00B050"/>
                          </a:solidFill>
                          <a:effectLst/>
                          <a:latin typeface="Adani Light"/>
                          <a:ea typeface="+mn-ea"/>
                          <a:cs typeface="+mn-cs"/>
                        </a:rPr>
                        <a:t>15-Mar-26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algn="ctr" defTabSz="914400" rtl="0" eaLnBrk="1" fontAlgn="ctr" latinLnBrk="0" hangingPunct="1">
                        <a:buNone/>
                      </a:pPr>
                      <a:r>
                        <a:rPr lang="en-US" sz="800" b="0" i="0" u="none" strike="noStrike" kern="1200">
                          <a:solidFill>
                            <a:srgbClr val="00B050"/>
                          </a:solidFill>
                          <a:effectLst/>
                          <a:latin typeface="Adani Light"/>
                          <a:ea typeface="+mn-ea"/>
                          <a:cs typeface="+mn-cs"/>
                        </a:rPr>
                        <a:t>15-Jun-26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16-Jan-26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3" vMerge="1">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266642142"/>
                  </a:ext>
                </a:extLst>
              </a:tr>
              <a:tr h="335025">
                <a:tc>
                  <a:txBody>
                    <a:bodyPr/>
                    <a:lstStyle/>
                    <a:p>
                      <a:pPr algn="ctr" rtl="0" fontAlgn="ctr">
                        <a:buNone/>
                      </a:pPr>
                      <a:r>
                        <a:rPr lang="en-US" sz="800" b="0" i="0" u="none" strike="noStrike">
                          <a:solidFill>
                            <a:srgbClr val="00B050"/>
                          </a:solidFill>
                          <a:effectLst/>
                          <a:latin typeface="Adani Regular" panose="02000503000000020004" pitchFamily="2" charset="0"/>
                        </a:rPr>
                        <a:t>11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FO Cable</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l" fontAlgn="ctr">
                        <a:buNone/>
                      </a:pPr>
                      <a:r>
                        <a:rPr lang="en-US" sz="800" b="0" i="0" u="none" strike="sngStrike">
                          <a:solidFill>
                            <a:srgbClr val="00B050"/>
                          </a:solidFill>
                          <a:effectLst/>
                          <a:latin typeface="Adani Regular" panose="02000503000000020004" pitchFamily="2" charset="0"/>
                        </a:rPr>
                        <a:t>Paramount</a:t>
                      </a:r>
                      <a:br>
                        <a:rPr lang="en-US" sz="800" b="0" i="0" u="none" strike="noStrike">
                          <a:solidFill>
                            <a:srgbClr val="00B050"/>
                          </a:solidFill>
                          <a:effectLst/>
                          <a:latin typeface="Adani Regular" panose="02000503000000020004" pitchFamily="2" charset="0"/>
                        </a:rPr>
                      </a:br>
                      <a:r>
                        <a:rPr lang="en-US" sz="800" b="0" i="0" u="none" strike="noStrike" err="1">
                          <a:solidFill>
                            <a:srgbClr val="00B050"/>
                          </a:solidFill>
                          <a:effectLst/>
                          <a:latin typeface="Adani Regular" panose="02000503000000020004" pitchFamily="2" charset="0"/>
                        </a:rPr>
                        <a:t>WestCoast</a:t>
                      </a:r>
                      <a:endParaRPr lang="en-US" sz="800" b="0" i="0" u="none" strike="noStrike">
                        <a:solidFill>
                          <a:srgbClr val="00B050"/>
                        </a:solidFill>
                        <a:effectLst/>
                        <a:latin typeface="Adani Regular" panose="02000503000000020004" pitchFamily="2"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B050"/>
                          </a:solidFill>
                          <a:effectLst/>
                          <a:latin typeface="Adani Regular" panose="02000503000000020004" pitchFamily="2" charset="0"/>
                        </a:rPr>
                        <a:t>4510021124</a:t>
                      </a:r>
                    </a:p>
                    <a:p>
                      <a:pPr algn="ctr" fontAlgn="ctr">
                        <a:buNone/>
                      </a:pPr>
                      <a:r>
                        <a:rPr lang="en-US" sz="800" b="0" i="0" u="none" strike="noStrike">
                          <a:solidFill>
                            <a:srgbClr val="00B050"/>
                          </a:solidFill>
                          <a:effectLst/>
                          <a:latin typeface="Adani Regular" panose="02000503000000020004" pitchFamily="2" charset="0"/>
                        </a:rPr>
                        <a:t>4510022323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3-Jan-26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algn="ctr" defTabSz="914400" rtl="0" eaLnBrk="1" fontAlgn="ctr" latinLnBrk="0" hangingPunct="1">
                        <a:buNone/>
                      </a:pPr>
                      <a:r>
                        <a:rPr lang="en-US" sz="800" b="0" i="0" u="none" strike="noStrike" kern="1200">
                          <a:solidFill>
                            <a:srgbClr val="00B050"/>
                          </a:solidFill>
                          <a:effectLst/>
                          <a:latin typeface="Adani Light"/>
                          <a:ea typeface="+mn-ea"/>
                          <a:cs typeface="+mn-cs"/>
                        </a:rPr>
                        <a:t>25-Jun-26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marL="0" algn="ctr" defTabSz="914400" rtl="0" eaLnBrk="1" fontAlgn="ctr" latinLnBrk="0" hangingPunct="1">
                        <a:buNone/>
                      </a:pPr>
                      <a:r>
                        <a:rPr lang="en-US" sz="800" b="0" i="0" u="none" strike="noStrike" kern="1200">
                          <a:solidFill>
                            <a:srgbClr val="00B050"/>
                          </a:solidFill>
                          <a:effectLst/>
                          <a:latin typeface="Adani Light"/>
                          <a:ea typeface="+mn-ea"/>
                          <a:cs typeface="+mn-cs"/>
                        </a:rPr>
                        <a:t>25-Jun-26</a:t>
                      </a:r>
                      <a:endParaRPr lang="en-US" sz="800" b="0" i="0" u="none" strike="noStrike" kern="1200">
                        <a:solidFill>
                          <a:srgbClr val="00B050"/>
                        </a:solidFill>
                        <a:effectLst/>
                        <a:highlight>
                          <a:srgbClr val="FFFF00"/>
                        </a:highlight>
                        <a:latin typeface="Adani Light"/>
                        <a:ea typeface="+mn-ea"/>
                        <a:cs typeface="+mn-cs"/>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same as of phase one (14/05/25)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dirty="0">
                          <a:solidFill>
                            <a:srgbClr val="00B050"/>
                          </a:solidFill>
                          <a:effectLst/>
                          <a:latin typeface="Adani Regular" panose="02000503000000020004" pitchFamily="2"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gridSpan="3" vMerge="1">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hMerge="1"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450089288"/>
                  </a:ext>
                </a:extLst>
              </a:tr>
            </a:tbl>
          </a:graphicData>
        </a:graphic>
      </p:graphicFrame>
    </p:spTree>
    <p:extLst>
      <p:ext uri="{BB962C8B-B14F-4D97-AF65-F5344CB8AC3E}">
        <p14:creationId xmlns:p14="http://schemas.microsoft.com/office/powerpoint/2010/main" val="174386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4A3B2-A76E-C1F6-4F6F-EFACFD0C7C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31D376-2531-7818-5C74-7BA7BD12FBB1}"/>
              </a:ext>
            </a:extLst>
          </p:cNvPr>
          <p:cNvSpPr>
            <a:spLocks noGrp="1"/>
          </p:cNvSpPr>
          <p:nvPr>
            <p:ph type="ctrTitle"/>
          </p:nvPr>
        </p:nvSpPr>
        <p:spPr>
          <a:xfrm>
            <a:off x="0" y="52879"/>
            <a:ext cx="12466390" cy="461382"/>
          </a:xfrm>
          <a:noFill/>
        </p:spPr>
        <p:txBody>
          <a:bodyPr vert="horz" wrap="square" lIns="91157" tIns="45580" rIns="91157" bIns="45580" rtlCol="0" anchor="b">
            <a:spAutoFit/>
          </a:bodyPr>
          <a:lstStyle/>
          <a:p>
            <a:pPr algn="l">
              <a:spcBef>
                <a:spcPts val="1000"/>
              </a:spcBef>
              <a:defRPr/>
            </a:pPr>
            <a:r>
              <a:rPr lang="en-US" sz="2400" b="1">
                <a:gradFill>
                  <a:gsLst>
                    <a:gs pos="9735">
                      <a:schemeClr val="tx2"/>
                    </a:gs>
                    <a:gs pos="63000">
                      <a:srgbClr val="8E278F"/>
                    </a:gs>
                    <a:gs pos="38000">
                      <a:srgbClr val="57499E"/>
                    </a:gs>
                  </a:gsLst>
                  <a:lin ang="0" scaled="0"/>
                </a:gradFill>
                <a:highlight>
                  <a:srgbClr val="33CC33"/>
                </a:highlight>
                <a:ea typeface="+mn-ea"/>
                <a:cs typeface="+mn-cs"/>
              </a:rPr>
              <a:t>Procurement &amp; Monthly Rolling Plan for Supply of Equipment – </a:t>
            </a:r>
            <a:r>
              <a:rPr lang="en-IN" sz="2400" b="1">
                <a:gradFill>
                  <a:gsLst>
                    <a:gs pos="9735">
                      <a:schemeClr val="tx2"/>
                    </a:gs>
                    <a:gs pos="63000">
                      <a:srgbClr val="8E278F"/>
                    </a:gs>
                    <a:gs pos="38000">
                      <a:srgbClr val="57499E"/>
                    </a:gs>
                  </a:gsLst>
                  <a:lin ang="0" scaled="0"/>
                </a:gradFill>
                <a:highlight>
                  <a:srgbClr val="33CC33"/>
                </a:highlight>
              </a:rPr>
              <a:t>PSS 05B</a:t>
            </a:r>
            <a:endParaRPr lang="en-US" sz="2400" b="1">
              <a:gradFill>
                <a:gsLst>
                  <a:gs pos="9735">
                    <a:schemeClr val="tx2"/>
                  </a:gs>
                  <a:gs pos="63000">
                    <a:srgbClr val="8E278F"/>
                  </a:gs>
                  <a:gs pos="38000">
                    <a:srgbClr val="57499E"/>
                  </a:gs>
                </a:gsLst>
                <a:lin ang="0" scaled="0"/>
              </a:gradFill>
              <a:highlight>
                <a:srgbClr val="33CC33"/>
              </a:highlight>
              <a:ea typeface="+mn-ea"/>
              <a:cs typeface="+mn-cs"/>
            </a:endParaRPr>
          </a:p>
        </p:txBody>
      </p:sp>
      <p:pic>
        <p:nvPicPr>
          <p:cNvPr id="11" name="Picture 10">
            <a:extLst>
              <a:ext uri="{FF2B5EF4-FFF2-40B4-BE49-F238E27FC236}">
                <a16:creationId xmlns:a16="http://schemas.microsoft.com/office/drawing/2014/main" id="{64EE00D4-ED89-1229-FE40-016562A9E96F}"/>
              </a:ext>
            </a:extLst>
          </p:cNvPr>
          <p:cNvPicPr>
            <a:picLocks noChangeAspect="1"/>
          </p:cNvPicPr>
          <p:nvPr/>
        </p:nvPicPr>
        <p:blipFill>
          <a:blip r:embed="rId3"/>
          <a:stretch>
            <a:fillRect/>
          </a:stretch>
        </p:blipFill>
        <p:spPr>
          <a:xfrm>
            <a:off x="6086475" y="3419475"/>
            <a:ext cx="19050" cy="19050"/>
          </a:xfrm>
          <a:prstGeom prst="rect">
            <a:avLst/>
          </a:prstGeom>
        </p:spPr>
      </p:pic>
      <p:sp>
        <p:nvSpPr>
          <p:cNvPr id="3" name="Slide Number Placeholder 2">
            <a:extLst>
              <a:ext uri="{FF2B5EF4-FFF2-40B4-BE49-F238E27FC236}">
                <a16:creationId xmlns:a16="http://schemas.microsoft.com/office/drawing/2014/main" id="{1FBC7719-0729-D63C-CDF7-5C4B7BF49D94}"/>
              </a:ext>
            </a:extLst>
          </p:cNvPr>
          <p:cNvSpPr>
            <a:spLocks noGrp="1"/>
          </p:cNvSpPr>
          <p:nvPr>
            <p:ph type="sldNum" sz="quarter" idx="12"/>
          </p:nvPr>
        </p:nvSpPr>
        <p:spPr/>
        <p:txBody>
          <a:bodyPr/>
          <a:lstStyle/>
          <a:p>
            <a:fld id="{98B285C1-D8A8-4E98-B28C-1FD972D8EC54}" type="slidenum">
              <a:rPr lang="en-IN" smtClean="0"/>
              <a:t>18</a:t>
            </a:fld>
            <a:endParaRPr lang="en-IN"/>
          </a:p>
        </p:txBody>
      </p:sp>
      <p:graphicFrame>
        <p:nvGraphicFramePr>
          <p:cNvPr id="5" name="Table 4">
            <a:extLst>
              <a:ext uri="{FF2B5EF4-FFF2-40B4-BE49-F238E27FC236}">
                <a16:creationId xmlns:a16="http://schemas.microsoft.com/office/drawing/2014/main" id="{C142B41A-3F72-8566-CBA7-A0C6BD90001D}"/>
              </a:ext>
            </a:extLst>
          </p:cNvPr>
          <p:cNvGraphicFramePr>
            <a:graphicFrameLocks noGrp="1"/>
          </p:cNvGraphicFramePr>
          <p:nvPr>
            <p:extLst>
              <p:ext uri="{D42A27DB-BD31-4B8C-83A1-F6EECF244321}">
                <p14:modId xmlns:p14="http://schemas.microsoft.com/office/powerpoint/2010/main" val="3004858023"/>
              </p:ext>
            </p:extLst>
          </p:nvPr>
        </p:nvGraphicFramePr>
        <p:xfrm>
          <a:off x="83817" y="801827"/>
          <a:ext cx="11965308" cy="5797121"/>
        </p:xfrm>
        <a:graphic>
          <a:graphicData uri="http://schemas.openxmlformats.org/drawingml/2006/table">
            <a:tbl>
              <a:tblPr/>
              <a:tblGrid>
                <a:gridCol w="529643">
                  <a:extLst>
                    <a:ext uri="{9D8B030D-6E8A-4147-A177-3AD203B41FA5}">
                      <a16:colId xmlns:a16="http://schemas.microsoft.com/office/drawing/2014/main" val="3112453971"/>
                    </a:ext>
                  </a:extLst>
                </a:gridCol>
                <a:gridCol w="1023791">
                  <a:extLst>
                    <a:ext uri="{9D8B030D-6E8A-4147-A177-3AD203B41FA5}">
                      <a16:colId xmlns:a16="http://schemas.microsoft.com/office/drawing/2014/main" val="3928194573"/>
                    </a:ext>
                  </a:extLst>
                </a:gridCol>
                <a:gridCol w="1145223">
                  <a:extLst>
                    <a:ext uri="{9D8B030D-6E8A-4147-A177-3AD203B41FA5}">
                      <a16:colId xmlns:a16="http://schemas.microsoft.com/office/drawing/2014/main" val="3964343167"/>
                    </a:ext>
                  </a:extLst>
                </a:gridCol>
                <a:gridCol w="395129">
                  <a:extLst>
                    <a:ext uri="{9D8B030D-6E8A-4147-A177-3AD203B41FA5}">
                      <a16:colId xmlns:a16="http://schemas.microsoft.com/office/drawing/2014/main" val="3024018081"/>
                    </a:ext>
                  </a:extLst>
                </a:gridCol>
                <a:gridCol w="388949">
                  <a:extLst>
                    <a:ext uri="{9D8B030D-6E8A-4147-A177-3AD203B41FA5}">
                      <a16:colId xmlns:a16="http://schemas.microsoft.com/office/drawing/2014/main" val="3855426317"/>
                    </a:ext>
                  </a:extLst>
                </a:gridCol>
                <a:gridCol w="632472">
                  <a:extLst>
                    <a:ext uri="{9D8B030D-6E8A-4147-A177-3AD203B41FA5}">
                      <a16:colId xmlns:a16="http://schemas.microsoft.com/office/drawing/2014/main" val="4214995260"/>
                    </a:ext>
                  </a:extLst>
                </a:gridCol>
                <a:gridCol w="594832">
                  <a:extLst>
                    <a:ext uri="{9D8B030D-6E8A-4147-A177-3AD203B41FA5}">
                      <a16:colId xmlns:a16="http://schemas.microsoft.com/office/drawing/2014/main" val="3297842989"/>
                    </a:ext>
                  </a:extLst>
                </a:gridCol>
                <a:gridCol w="729529">
                  <a:extLst>
                    <a:ext uri="{9D8B030D-6E8A-4147-A177-3AD203B41FA5}">
                      <a16:colId xmlns:a16="http://schemas.microsoft.com/office/drawing/2014/main" val="3294441451"/>
                    </a:ext>
                  </a:extLst>
                </a:gridCol>
                <a:gridCol w="800731">
                  <a:extLst>
                    <a:ext uri="{9D8B030D-6E8A-4147-A177-3AD203B41FA5}">
                      <a16:colId xmlns:a16="http://schemas.microsoft.com/office/drawing/2014/main" val="487261673"/>
                    </a:ext>
                  </a:extLst>
                </a:gridCol>
                <a:gridCol w="592409">
                  <a:extLst>
                    <a:ext uri="{9D8B030D-6E8A-4147-A177-3AD203B41FA5}">
                      <a16:colId xmlns:a16="http://schemas.microsoft.com/office/drawing/2014/main" val="721798400"/>
                    </a:ext>
                  </a:extLst>
                </a:gridCol>
                <a:gridCol w="769895">
                  <a:extLst>
                    <a:ext uri="{9D8B030D-6E8A-4147-A177-3AD203B41FA5}">
                      <a16:colId xmlns:a16="http://schemas.microsoft.com/office/drawing/2014/main" val="3268721938"/>
                    </a:ext>
                  </a:extLst>
                </a:gridCol>
                <a:gridCol w="1260509">
                  <a:extLst>
                    <a:ext uri="{9D8B030D-6E8A-4147-A177-3AD203B41FA5}">
                      <a16:colId xmlns:a16="http://schemas.microsoft.com/office/drawing/2014/main" val="2947093917"/>
                    </a:ext>
                  </a:extLst>
                </a:gridCol>
                <a:gridCol w="504420">
                  <a:extLst>
                    <a:ext uri="{9D8B030D-6E8A-4147-A177-3AD203B41FA5}">
                      <a16:colId xmlns:a16="http://schemas.microsoft.com/office/drawing/2014/main" val="1589345658"/>
                    </a:ext>
                  </a:extLst>
                </a:gridCol>
                <a:gridCol w="521239">
                  <a:extLst>
                    <a:ext uri="{9D8B030D-6E8A-4147-A177-3AD203B41FA5}">
                      <a16:colId xmlns:a16="http://schemas.microsoft.com/office/drawing/2014/main" val="882294613"/>
                    </a:ext>
                  </a:extLst>
                </a:gridCol>
                <a:gridCol w="411945">
                  <a:extLst>
                    <a:ext uri="{9D8B030D-6E8A-4147-A177-3AD203B41FA5}">
                      <a16:colId xmlns:a16="http://schemas.microsoft.com/office/drawing/2014/main" val="2870258526"/>
                    </a:ext>
                  </a:extLst>
                </a:gridCol>
                <a:gridCol w="428758">
                  <a:extLst>
                    <a:ext uri="{9D8B030D-6E8A-4147-A177-3AD203B41FA5}">
                      <a16:colId xmlns:a16="http://schemas.microsoft.com/office/drawing/2014/main" val="2412527903"/>
                    </a:ext>
                  </a:extLst>
                </a:gridCol>
                <a:gridCol w="428758">
                  <a:extLst>
                    <a:ext uri="{9D8B030D-6E8A-4147-A177-3AD203B41FA5}">
                      <a16:colId xmlns:a16="http://schemas.microsoft.com/office/drawing/2014/main" val="2143662660"/>
                    </a:ext>
                  </a:extLst>
                </a:gridCol>
                <a:gridCol w="403538">
                  <a:extLst>
                    <a:ext uri="{9D8B030D-6E8A-4147-A177-3AD203B41FA5}">
                      <a16:colId xmlns:a16="http://schemas.microsoft.com/office/drawing/2014/main" val="1137484111"/>
                    </a:ext>
                  </a:extLst>
                </a:gridCol>
                <a:gridCol w="403538">
                  <a:extLst>
                    <a:ext uri="{9D8B030D-6E8A-4147-A177-3AD203B41FA5}">
                      <a16:colId xmlns:a16="http://schemas.microsoft.com/office/drawing/2014/main" val="3995370201"/>
                    </a:ext>
                  </a:extLst>
                </a:gridCol>
              </a:tblGrid>
              <a:tr h="173801">
                <a:tc rowSpan="2">
                  <a:txBody>
                    <a:bodyPr/>
                    <a:lstStyle/>
                    <a:p>
                      <a:pPr algn="ctr" rtl="0" fontAlgn="ctr">
                        <a:buNone/>
                      </a:pPr>
                      <a:r>
                        <a:rPr lang="en-US" sz="800" b="1" i="0" u="none" strike="noStrike">
                          <a:solidFill>
                            <a:srgbClr val="FFFFFF"/>
                          </a:solidFill>
                          <a:effectLst/>
                          <a:latin typeface="Adani Regular" panose="02000503000000020004" pitchFamily="2" charset="0"/>
                        </a:rPr>
                        <a:t>Sr. No.</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Packages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Manufacturer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UOM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Scope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Ordering 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Balance Ordering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PO Number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PO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gridSpan="2">
                  <a:txBody>
                    <a:bodyPr/>
                    <a:lstStyle/>
                    <a:p>
                      <a:pPr algn="ctr" rtl="0" fontAlgn="ctr">
                        <a:buNone/>
                      </a:pPr>
                      <a:r>
                        <a:rPr lang="en-US" sz="800" b="1" i="0" u="none" strike="noStrike">
                          <a:solidFill>
                            <a:srgbClr val="FFFFFF"/>
                          </a:solidFill>
                          <a:effectLst/>
                          <a:latin typeface="Adani Regular" panose="02000503000000020004" pitchFamily="2" charset="0"/>
                        </a:rPr>
                        <a:t>Expected Delivery at Site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gridSpan="2">
                  <a:txBody>
                    <a:bodyPr/>
                    <a:lstStyle/>
                    <a:p>
                      <a:pPr algn="ctr" fontAlgn="b">
                        <a:buNone/>
                      </a:pPr>
                      <a:r>
                        <a:rPr lang="en-US" sz="800" b="1" i="0" u="none" strike="noStrike">
                          <a:solidFill>
                            <a:srgbClr val="FFFFFF"/>
                          </a:solidFill>
                          <a:effectLst/>
                          <a:latin typeface="Adani Regular" panose="02000503000000020004" pitchFamily="2" charset="0"/>
                        </a:rPr>
                        <a:t>Manufacturing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Delivered At Site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gridSpan="4">
                  <a:txBody>
                    <a:bodyPr/>
                    <a:lstStyle/>
                    <a:p>
                      <a:pPr algn="ctr" rtl="0" fontAlgn="ctr">
                        <a:buNone/>
                      </a:pPr>
                      <a:r>
                        <a:rPr lang="en-US" sz="800" b="1" i="0" u="none" strike="noStrike">
                          <a:solidFill>
                            <a:srgbClr val="FFFFFF"/>
                          </a:solidFill>
                          <a:effectLst/>
                          <a:latin typeface="Adani Regular" panose="02000503000000020004" pitchFamily="2" charset="0"/>
                        </a:rPr>
                        <a:t>Forecast Delivery Schedule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Remarks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extLst>
                  <a:ext uri="{0D108BD9-81ED-4DB2-BD59-A6C34878D82A}">
                    <a16:rowId xmlns:a16="http://schemas.microsoft.com/office/drawing/2014/main" val="1432171440"/>
                  </a:ext>
                </a:extLst>
              </a:tr>
              <a:tr h="173801">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1" i="0" u="none" strike="noStrike">
                          <a:solidFill>
                            <a:srgbClr val="FFFFFF"/>
                          </a:solidFill>
                          <a:effectLst/>
                          <a:latin typeface="Adani Regular" panose="02000503000000020004" pitchFamily="2" charset="0"/>
                        </a:rPr>
                        <a:t>Start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Finish</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fontAlgn="ctr">
                        <a:buNone/>
                      </a:pPr>
                      <a:r>
                        <a:rPr lang="en-US" sz="800" b="1" i="0" u="none" strike="noStrike">
                          <a:solidFill>
                            <a:srgbClr val="FFFFFF"/>
                          </a:solidFill>
                          <a:effectLst/>
                          <a:latin typeface="Adani Regular" panose="02000503000000020004" pitchFamily="2" charset="0"/>
                        </a:rPr>
                        <a:t>QAP Acceptance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fontAlgn="ctr">
                        <a:buNone/>
                      </a:pPr>
                      <a:r>
                        <a:rPr lang="en-US" sz="800" b="1" i="0" u="none" strike="noStrike">
                          <a:solidFill>
                            <a:srgbClr val="FFFFFF"/>
                          </a:solidFill>
                          <a:effectLst/>
                          <a:latin typeface="Adani Regular" panose="02000503000000020004" pitchFamily="2" charset="0"/>
                        </a:rPr>
                        <a:t>MC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vMerge="1">
                  <a:txBody>
                    <a:bodyPr/>
                    <a:lstStyle/>
                    <a:p>
                      <a:endParaRPr lang="en-US"/>
                    </a:p>
                  </a:txBody>
                  <a:tcPr/>
                </a:tc>
                <a:tc>
                  <a:txBody>
                    <a:bodyPr/>
                    <a:lstStyle/>
                    <a:p>
                      <a:pPr algn="ctr" rtl="0" fontAlgn="ctr">
                        <a:buNone/>
                      </a:pPr>
                      <a:r>
                        <a:rPr lang="en-US" sz="800" b="1" i="0" u="none" strike="noStrike">
                          <a:solidFill>
                            <a:srgbClr val="FFFFFF"/>
                          </a:solidFill>
                          <a:effectLst/>
                          <a:latin typeface="Adani Regular" panose="02000503000000020004" pitchFamily="2" charset="0"/>
                        </a:rPr>
                        <a:t>Sep-26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Oct-26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Nov-26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Dec-26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vMerge="1">
                  <a:txBody>
                    <a:bodyPr/>
                    <a:lstStyle/>
                    <a:p>
                      <a:pPr algn="ctr" rtl="0" fontAlgn="ctr">
                        <a:buNone/>
                      </a:pPr>
                      <a:endParaRPr lang="en-US" sz="800" b="1" i="0" u="none" strike="noStrike">
                        <a:solidFill>
                          <a:srgbClr val="FFFFFF"/>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extLst>
                  <a:ext uri="{0D108BD9-81ED-4DB2-BD59-A6C34878D82A}">
                    <a16:rowId xmlns:a16="http://schemas.microsoft.com/office/drawing/2014/main" val="4011059014"/>
                  </a:ext>
                </a:extLst>
              </a:tr>
              <a:tr h="1738021">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Battery Container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CATL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448</a:t>
                      </a:r>
                    </a:p>
                    <a:p>
                      <a:pPr algn="ctr" rtl="0" fontAlgn="ctr">
                        <a:buNone/>
                      </a:pPr>
                      <a:r>
                        <a:rPr lang="en-US" sz="800" b="0" i="0" u="none" strike="noStrike">
                          <a:solidFill>
                            <a:srgbClr val="000000"/>
                          </a:solidFill>
                          <a:effectLst/>
                          <a:latin typeface="Adani Regular" panose="02000503000000020004" pitchFamily="2" charset="0"/>
                        </a:rPr>
                        <a:t>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448</a:t>
                      </a:r>
                    </a:p>
                    <a:p>
                      <a:pPr algn="ctr" rtl="0" fontAlgn="ctr">
                        <a:buNone/>
                      </a:pPr>
                      <a:r>
                        <a:rPr lang="en-US" sz="800" b="0" i="0" u="none" strike="noStrike">
                          <a:solidFill>
                            <a:srgbClr val="000000"/>
                          </a:solidFill>
                          <a:effectLst/>
                          <a:latin typeface="Adani Regular" panose="02000503000000020004" pitchFamily="2" charset="0"/>
                        </a:rPr>
                        <a:t>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5310000938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25-Oct-26</a:t>
                      </a:r>
                    </a:p>
                    <a:p>
                      <a:pPr algn="ctr" fontAlgn="ctr">
                        <a:buNone/>
                      </a:pPr>
                      <a:r>
                        <a:rPr lang="en-US" sz="800" b="0" i="0" u="none" strike="sngStrike">
                          <a:solidFill>
                            <a:srgbClr val="000000"/>
                          </a:solidFill>
                          <a:effectLst/>
                          <a:latin typeface="Adani Regular" panose="02000503000000020004" pitchFamily="2" charset="0"/>
                        </a:rPr>
                        <a:t>01-Aug-26</a:t>
                      </a:r>
                    </a:p>
                    <a:p>
                      <a:pPr algn="ctr" fontAlgn="ctr">
                        <a:buNone/>
                      </a:pPr>
                      <a:r>
                        <a:rPr lang="en-US" sz="800" b="0" i="0" u="none" strike="sngStrike">
                          <a:solidFill>
                            <a:srgbClr val="000000"/>
                          </a:solidFill>
                          <a:effectLst/>
                          <a:latin typeface="Adani Regular" panose="02000503000000020004" pitchFamily="2" charset="0"/>
                        </a:rPr>
                        <a:t>01-Oct-26</a:t>
                      </a:r>
                    </a:p>
                    <a:p>
                      <a:pPr algn="ctr" fontAlgn="ctr">
                        <a:buNone/>
                      </a:pPr>
                      <a:r>
                        <a:rPr lang="en-US" sz="800" b="0" i="0" u="none" strike="noStrike" kern="1200">
                          <a:solidFill>
                            <a:schemeClr val="tx1"/>
                          </a:solidFill>
                          <a:effectLst/>
                          <a:latin typeface="Adani Light"/>
                          <a:ea typeface="+mn-ea"/>
                          <a:cs typeface="+mn-cs"/>
                        </a:rPr>
                        <a:t>31-Oct-26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25-Feb-27</a:t>
                      </a:r>
                    </a:p>
                    <a:p>
                      <a:pPr algn="ctr" fontAlgn="ctr">
                        <a:buNone/>
                      </a:pPr>
                      <a:r>
                        <a:rPr lang="en-US" sz="800" b="0" i="0" u="none" strike="sngStrike">
                          <a:solidFill>
                            <a:srgbClr val="000000"/>
                          </a:solidFill>
                          <a:effectLst/>
                          <a:latin typeface="Adani Regular" panose="02000503000000020004" pitchFamily="2" charset="0"/>
                        </a:rPr>
                        <a:t>20-Nov-26</a:t>
                      </a:r>
                    </a:p>
                    <a:p>
                      <a:pPr algn="ctr" fontAlgn="ctr">
                        <a:buNone/>
                      </a:pPr>
                      <a:r>
                        <a:rPr lang="en-US" sz="800" b="0" i="0" u="none" strike="sngStrike">
                          <a:solidFill>
                            <a:srgbClr val="000000"/>
                          </a:solidFill>
                          <a:effectLst/>
                          <a:latin typeface="Adani Regular" panose="02000503000000020004" pitchFamily="2" charset="0"/>
                        </a:rPr>
                        <a:t>1-Jan-27</a:t>
                      </a:r>
                    </a:p>
                    <a:p>
                      <a:pPr algn="ctr" fontAlgn="ctr">
                        <a:buNone/>
                      </a:pPr>
                      <a:r>
                        <a:rPr lang="en-US" sz="800" b="0" i="0" u="none" strike="sngStrike">
                          <a:solidFill>
                            <a:srgbClr val="000000"/>
                          </a:solidFill>
                          <a:effectLst/>
                          <a:latin typeface="Adani Regular" panose="02000503000000020004" pitchFamily="2" charset="0"/>
                        </a:rPr>
                        <a:t>22-Dec-26</a:t>
                      </a:r>
                    </a:p>
                    <a:p>
                      <a:pPr algn="ctr" fontAlgn="ctr">
                        <a:buNone/>
                      </a:pPr>
                      <a:r>
                        <a:rPr lang="en-US" sz="800" b="0" i="0" u="none" strike="noStrike">
                          <a:solidFill>
                            <a:srgbClr val="000000"/>
                          </a:solidFill>
                          <a:effectLst/>
                          <a:latin typeface="Adani Regular" panose="02000503000000020004" pitchFamily="2" charset="0"/>
                        </a:rPr>
                        <a:t>15-Dec-26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26 Nov 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dani Regular" panose="02000503000000020004" pitchFamily="2" charset="0"/>
                        </a:rPr>
                        <a:t>11 Feb 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172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dirty="0">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2268461763"/>
                  </a:ext>
                </a:extLst>
              </a:tr>
              <a:tr h="867203">
                <a:tc>
                  <a:txBody>
                    <a:bodyPr/>
                    <a:lstStyle/>
                    <a:p>
                      <a:pPr algn="ctr" rtl="0" fontAlgn="ctr">
                        <a:buNone/>
                      </a:pPr>
                      <a:r>
                        <a:rPr lang="en-US" sz="800" b="0" i="0" u="none" strike="noStrike">
                          <a:solidFill>
                            <a:srgbClr val="000000"/>
                          </a:solidFill>
                          <a:effectLst/>
                          <a:latin typeface="Adani Regular" panose="02000503000000020004" pitchFamily="2" charset="0"/>
                        </a:rPr>
                        <a:t>2</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PCS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err="1">
                          <a:solidFill>
                            <a:srgbClr val="000000"/>
                          </a:solidFill>
                          <a:effectLst/>
                          <a:latin typeface="Adani Regular" panose="02000503000000020004" pitchFamily="2" charset="0"/>
                        </a:rPr>
                        <a:t>Shenzen</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Set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56</a:t>
                      </a:r>
                    </a:p>
                    <a:p>
                      <a:pPr algn="ctr" rtl="0" fontAlgn="ctr">
                        <a:buNone/>
                      </a:pPr>
                      <a:r>
                        <a:rPr lang="en-US" sz="800" b="0" i="0" u="none" strike="noStrike">
                          <a:solidFill>
                            <a:srgbClr val="000000"/>
                          </a:solidFill>
                          <a:effectLst/>
                          <a:latin typeface="Adani Regular" panose="02000503000000020004" pitchFamily="2" charset="0"/>
                        </a:rPr>
                        <a:t>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56</a:t>
                      </a:r>
                    </a:p>
                    <a:p>
                      <a:pPr algn="ctr" rtl="0" fontAlgn="ctr">
                        <a:buNone/>
                      </a:pPr>
                      <a:r>
                        <a:rPr lang="en-US" sz="800" b="0" i="0" u="none" strike="noStrike">
                          <a:solidFill>
                            <a:srgbClr val="000000"/>
                          </a:solidFill>
                          <a:effectLst/>
                          <a:latin typeface="Adani Regular" panose="02000503000000020004" pitchFamily="2" charset="0"/>
                        </a:rPr>
                        <a:t>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5310000936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25-Sep-26</a:t>
                      </a:r>
                    </a:p>
                    <a:p>
                      <a:pPr algn="ctr" fontAlgn="ctr">
                        <a:buNone/>
                      </a:pPr>
                      <a:r>
                        <a:rPr lang="en-US" sz="800" b="0" i="0" u="none" strike="noStrike" kern="1200">
                          <a:solidFill>
                            <a:schemeClr val="tx1"/>
                          </a:solidFill>
                          <a:effectLst/>
                          <a:latin typeface="Adani Light"/>
                          <a:ea typeface="+mn-ea"/>
                          <a:cs typeface="+mn-cs"/>
                        </a:rPr>
                        <a:t>4-Oct-26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25-Nov-26</a:t>
                      </a:r>
                    </a:p>
                    <a:p>
                      <a:pPr algn="ctr" fontAlgn="ctr">
                        <a:buNone/>
                      </a:pPr>
                      <a:r>
                        <a:rPr lang="en-US" sz="800" b="0" i="0" u="none" strike="sngStrike">
                          <a:solidFill>
                            <a:srgbClr val="000000"/>
                          </a:solidFill>
                          <a:effectLst/>
                          <a:latin typeface="Adani Regular" panose="02000503000000020004" pitchFamily="2" charset="0"/>
                        </a:rPr>
                        <a:t>31-Dec-26</a:t>
                      </a:r>
                    </a:p>
                    <a:p>
                      <a:pPr algn="ctr" fontAlgn="ctr">
                        <a:buNone/>
                      </a:pPr>
                      <a:r>
                        <a:rPr lang="en-US" sz="800" b="0" i="0" u="none" strike="sngStrike" kern="1200">
                          <a:solidFill>
                            <a:schemeClr val="tx1"/>
                          </a:solidFill>
                          <a:effectLst/>
                          <a:latin typeface="Adani Light"/>
                          <a:ea typeface="+mn-ea"/>
                          <a:cs typeface="+mn-cs"/>
                        </a:rPr>
                        <a:t>29-Nov-26</a:t>
                      </a:r>
                    </a:p>
                    <a:p>
                      <a:pPr algn="ctr" fontAlgn="ctr">
                        <a:buNone/>
                      </a:pPr>
                      <a:r>
                        <a:rPr lang="en-US" sz="800" b="0" i="0" u="none" strike="noStrike" kern="1200">
                          <a:solidFill>
                            <a:schemeClr val="tx1"/>
                          </a:solidFill>
                          <a:effectLst/>
                          <a:latin typeface="Adani Light"/>
                          <a:ea typeface="+mn-ea"/>
                          <a:cs typeface="+mn-cs"/>
                        </a:rPr>
                        <a:t>04-Nov-26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72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1902448858"/>
                  </a:ext>
                </a:extLst>
              </a:tr>
              <a:tr h="433601">
                <a:tc>
                  <a:txBody>
                    <a:bodyPr/>
                    <a:lstStyle/>
                    <a:p>
                      <a:pPr algn="ctr" rtl="0" fontAlgn="ctr">
                        <a:buNone/>
                      </a:pPr>
                      <a:r>
                        <a:rPr lang="en-US" sz="800" b="0" i="0" u="none" strike="noStrike">
                          <a:solidFill>
                            <a:srgbClr val="000000"/>
                          </a:solidFill>
                          <a:effectLst/>
                          <a:latin typeface="Adani Regular" panose="02000503000000020004" pitchFamily="2" charset="0"/>
                        </a:rPr>
                        <a:t>3</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EMS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Emerson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Set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4510021125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15-Aug-26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31-Aug-26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03-Sep-26</a:t>
                      </a:r>
                    </a:p>
                    <a:p>
                      <a:pPr marL="0" algn="ctr" defTabSz="914400" rtl="0" eaLnBrk="1" fontAlgn="ctr" latinLnBrk="0" hangingPunct="1">
                        <a:buNone/>
                      </a:pPr>
                      <a:r>
                        <a:rPr lang="en-US" sz="800" b="0" i="0" u="none" strike="noStrike" kern="1200">
                          <a:solidFill>
                            <a:schemeClr val="tx1"/>
                          </a:solidFill>
                          <a:effectLst/>
                          <a:latin typeface="Adani Light"/>
                          <a:ea typeface="+mn-ea"/>
                          <a:cs typeface="+mn-cs"/>
                        </a:rPr>
                        <a:t>07-Oct-26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25-Sep-26</a:t>
                      </a:r>
                    </a:p>
                    <a:p>
                      <a:pPr algn="ctr" fontAlgn="ctr">
                        <a:buNone/>
                      </a:pPr>
                      <a:r>
                        <a:rPr lang="en-US" sz="800" b="0" i="0" u="none" strike="sngStrike">
                          <a:solidFill>
                            <a:srgbClr val="000000"/>
                          </a:solidFill>
                          <a:effectLst/>
                          <a:latin typeface="Adani Regular" panose="02000503000000020004" pitchFamily="2" charset="0"/>
                        </a:rPr>
                        <a:t>1-Oct-26</a:t>
                      </a:r>
                    </a:p>
                    <a:p>
                      <a:pPr algn="ctr" fontAlgn="ctr">
                        <a:buNone/>
                      </a:pPr>
                      <a:r>
                        <a:rPr lang="en-US" sz="800" b="0" i="0" u="none" strike="sngStrike" kern="1200">
                          <a:solidFill>
                            <a:schemeClr val="tx1"/>
                          </a:solidFill>
                          <a:effectLst/>
                          <a:latin typeface="Adani Light"/>
                          <a:ea typeface="+mn-ea"/>
                          <a:cs typeface="+mn-cs"/>
                        </a:rPr>
                        <a:t>03-Sep-26</a:t>
                      </a:r>
                    </a:p>
                    <a:p>
                      <a:pPr algn="ctr" fontAlgn="ctr">
                        <a:buNone/>
                      </a:pPr>
                      <a:r>
                        <a:rPr lang="en-US" sz="800" b="0" i="0" u="none" strike="noStrike" kern="1200">
                          <a:solidFill>
                            <a:schemeClr val="tx1"/>
                          </a:solidFill>
                          <a:effectLst/>
                          <a:latin typeface="Adani Light"/>
                          <a:ea typeface="+mn-ea"/>
                          <a:cs typeface="+mn-cs"/>
                        </a:rPr>
                        <a:t>30-Oct-26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same as of phase one (28/05/25)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4217735645"/>
                  </a:ext>
                </a:extLst>
              </a:tr>
              <a:tr h="331788">
                <a:tc>
                  <a:txBody>
                    <a:bodyPr/>
                    <a:lstStyle/>
                    <a:p>
                      <a:pPr algn="ctr" rtl="0" fontAlgn="ctr">
                        <a:buNone/>
                      </a:pPr>
                      <a:r>
                        <a:rPr lang="en-US" sz="800" b="0" i="0" u="none" strike="noStrike">
                          <a:solidFill>
                            <a:srgbClr val="000000"/>
                          </a:solidFill>
                          <a:effectLst/>
                          <a:latin typeface="Adani Regular" panose="02000503000000020004" pitchFamily="2" charset="0"/>
                        </a:rPr>
                        <a:t>4</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Converter Transformer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Tesla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57</a:t>
                      </a:r>
                    </a:p>
                    <a:p>
                      <a:pPr algn="ctr" rtl="0" fontAlgn="ctr">
                        <a:buNone/>
                      </a:pPr>
                      <a:r>
                        <a:rPr lang="en-US" sz="800" b="0" i="0" u="none" strike="noStrike">
                          <a:solidFill>
                            <a:srgbClr val="000000"/>
                          </a:solidFill>
                          <a:effectLst/>
                          <a:latin typeface="Adani Regular" panose="02000503000000020004" pitchFamily="2" charset="0"/>
                        </a:rPr>
                        <a:t>51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57</a:t>
                      </a:r>
                    </a:p>
                    <a:p>
                      <a:pPr algn="ctr" rtl="0" fontAlgn="ctr">
                        <a:buNone/>
                      </a:pPr>
                      <a:r>
                        <a:rPr lang="en-US" sz="800" b="0" i="0" u="none" strike="noStrike">
                          <a:solidFill>
                            <a:srgbClr val="000000"/>
                          </a:solidFill>
                          <a:effectLst/>
                          <a:latin typeface="Adani Regular" panose="02000503000000020004" pitchFamily="2" charset="0"/>
                        </a:rPr>
                        <a:t>51</a:t>
                      </a:r>
                      <a:endParaRPr lang="en-US" sz="800" b="0" i="0" u="none" strike="sng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4510021192 &amp; 4510021248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13-Jan-26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30-May-26</a:t>
                      </a:r>
                    </a:p>
                    <a:p>
                      <a:pPr algn="ctr" fontAlgn="ctr">
                        <a:buNone/>
                      </a:pPr>
                      <a:r>
                        <a:rPr lang="en-US" sz="800" b="0" i="0" u="none" strike="noStrike" kern="1200">
                          <a:solidFill>
                            <a:schemeClr val="tx1"/>
                          </a:solidFill>
                          <a:effectLst/>
                          <a:latin typeface="Adani Light"/>
                          <a:ea typeface="+mn-ea"/>
                          <a:cs typeface="+mn-cs"/>
                        </a:rPr>
                        <a:t>01-Sep-26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30-Sep-26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7-Feb-26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9-Feb-26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895190210"/>
                  </a:ext>
                </a:extLst>
              </a:tr>
              <a:tr h="228425">
                <a:tc>
                  <a:txBody>
                    <a:bodyPr/>
                    <a:lstStyle/>
                    <a:p>
                      <a:pPr algn="ctr" rtl="0" fontAlgn="ctr">
                        <a:buNone/>
                      </a:pPr>
                      <a:r>
                        <a:rPr lang="en-US" sz="800" b="0" i="0" u="none" strike="noStrike">
                          <a:solidFill>
                            <a:srgbClr val="000000"/>
                          </a:solidFill>
                          <a:effectLst/>
                          <a:latin typeface="Adani Regular" panose="02000503000000020004" pitchFamily="2" charset="0"/>
                        </a:rPr>
                        <a:t>5</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CSS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M/S Akshar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10</a:t>
                      </a:r>
                    </a:p>
                    <a:p>
                      <a:pPr algn="ctr" rtl="0" fontAlgn="ctr">
                        <a:buNone/>
                      </a:pPr>
                      <a:r>
                        <a:rPr lang="en-US" sz="800" b="0" i="0" u="none" strike="noStrike">
                          <a:solidFill>
                            <a:srgbClr val="000000"/>
                          </a:solidFill>
                          <a:effectLst/>
                          <a:latin typeface="Adani Regular" panose="02000503000000020004" pitchFamily="2"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10</a:t>
                      </a:r>
                    </a:p>
                    <a:p>
                      <a:pPr algn="ctr" rtl="0" fontAlgn="ctr">
                        <a:buNone/>
                      </a:pPr>
                      <a:r>
                        <a:rPr lang="en-US" sz="800" b="0" i="0" u="none" strike="noStrike">
                          <a:solidFill>
                            <a:srgbClr val="000000"/>
                          </a:solidFill>
                          <a:effectLst/>
                          <a:latin typeface="Adani Regular" panose="02000503000000020004" pitchFamily="2" charset="0"/>
                        </a:rPr>
                        <a:t>9</a:t>
                      </a:r>
                      <a:endParaRPr lang="en-US" sz="800" b="0" i="0" u="none" strike="sng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4510021226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16-Jan-26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10-Jun-26</a:t>
                      </a:r>
                    </a:p>
                    <a:p>
                      <a:pPr algn="ctr" fontAlgn="ctr">
                        <a:buNone/>
                      </a:pPr>
                      <a:r>
                        <a:rPr lang="en-US" sz="800" b="0" i="0" u="none" strike="noStrike" kern="1200">
                          <a:solidFill>
                            <a:schemeClr val="tx1"/>
                          </a:solidFill>
                          <a:effectLst/>
                          <a:latin typeface="Adani Light"/>
                          <a:ea typeface="+mn-ea"/>
                          <a:cs typeface="+mn-cs"/>
                        </a:rPr>
                        <a:t>01-Sep-26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25-Jul-26</a:t>
                      </a:r>
                    </a:p>
                    <a:p>
                      <a:pPr algn="ctr" fontAlgn="ctr">
                        <a:buNone/>
                      </a:pPr>
                      <a:r>
                        <a:rPr lang="en-US" sz="800" b="0" i="0" u="none" strike="noStrike" kern="1200">
                          <a:solidFill>
                            <a:schemeClr val="tx1"/>
                          </a:solidFill>
                          <a:effectLst/>
                          <a:latin typeface="Adani Light"/>
                          <a:ea typeface="+mn-ea"/>
                          <a:cs typeface="+mn-cs"/>
                        </a:rPr>
                        <a:t>30-Sep-26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same as of phase one (27/05/25)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4011940401"/>
                  </a:ext>
                </a:extLst>
              </a:tr>
              <a:tr h="325201">
                <a:tc>
                  <a:txBody>
                    <a:bodyPr/>
                    <a:lstStyle/>
                    <a:p>
                      <a:pPr algn="ctr" rtl="0" fontAlgn="ctr">
                        <a:buNone/>
                      </a:pPr>
                      <a:r>
                        <a:rPr lang="en-US" sz="800" b="0" i="0" u="none" strike="noStrike">
                          <a:solidFill>
                            <a:srgbClr val="000000"/>
                          </a:solidFill>
                          <a:effectLst/>
                          <a:latin typeface="Adani Regular" panose="02000503000000020004" pitchFamily="2" charset="0"/>
                        </a:rPr>
                        <a:t>6</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MV Switchgear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err="1">
                          <a:solidFill>
                            <a:srgbClr val="000000"/>
                          </a:solidFill>
                          <a:effectLst/>
                          <a:latin typeface="Adani Regular" panose="02000503000000020004" pitchFamily="2" charset="0"/>
                        </a:rPr>
                        <a:t>Symatic</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20</a:t>
                      </a:r>
                    </a:p>
                    <a:p>
                      <a:pPr algn="ctr" rtl="0" fontAlgn="ctr">
                        <a:buNone/>
                      </a:pPr>
                      <a:r>
                        <a:rPr lang="en-US" sz="800" b="0" i="0" u="none" strike="noStrike">
                          <a:solidFill>
                            <a:srgbClr val="000000"/>
                          </a:solidFill>
                          <a:effectLst/>
                          <a:latin typeface="Adani Regular" panose="02000503000000020004" pitchFamily="2"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20</a:t>
                      </a:r>
                    </a:p>
                    <a:p>
                      <a:pPr algn="ctr" rtl="0" fontAlgn="ctr">
                        <a:buNone/>
                      </a:pPr>
                      <a:r>
                        <a:rPr lang="en-US" sz="800" b="0" i="0" u="none" strike="noStrike">
                          <a:solidFill>
                            <a:srgbClr val="000000"/>
                          </a:solidFill>
                          <a:effectLst/>
                          <a:latin typeface="Adani Regular" panose="02000503000000020004" pitchFamily="2" charset="0"/>
                        </a:rPr>
                        <a:t>18</a:t>
                      </a:r>
                      <a:endParaRPr lang="en-US" sz="800" b="0" i="0" u="none" strike="sng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 4510021115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23-Jul-26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30-Sep-26</a:t>
                      </a:r>
                    </a:p>
                    <a:p>
                      <a:pPr algn="ctr" fontAlgn="ctr">
                        <a:buNone/>
                      </a:pPr>
                      <a:r>
                        <a:rPr lang="en-US" sz="800" b="0" i="0" u="none" strike="sngStrike">
                          <a:solidFill>
                            <a:srgbClr val="000000"/>
                          </a:solidFill>
                          <a:effectLst/>
                          <a:latin typeface="Adani Regular" panose="02000503000000020004" pitchFamily="2" charset="0"/>
                        </a:rPr>
                        <a:t>30-Aug-26</a:t>
                      </a:r>
                    </a:p>
                    <a:p>
                      <a:pPr algn="ctr" fontAlgn="ctr">
                        <a:buNone/>
                      </a:pPr>
                      <a:r>
                        <a:rPr lang="en-US" sz="800" b="0" i="0" u="none" strike="noStrike">
                          <a:solidFill>
                            <a:srgbClr val="000000"/>
                          </a:solidFill>
                          <a:effectLst/>
                          <a:latin typeface="Adani Regular" panose="02000503000000020004" pitchFamily="2" charset="0"/>
                        </a:rPr>
                        <a:t>30-Sep-26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same as of phase one (21/05/25)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56982308"/>
                  </a:ext>
                </a:extLst>
              </a:tr>
              <a:tr h="221193">
                <a:tc>
                  <a:txBody>
                    <a:bodyPr/>
                    <a:lstStyle/>
                    <a:p>
                      <a:pPr algn="ctr" rtl="0" fontAlgn="ctr">
                        <a:buNone/>
                      </a:pPr>
                      <a:r>
                        <a:rPr lang="en-US" sz="800" b="0" i="0" u="none" strike="noStrike">
                          <a:solidFill>
                            <a:srgbClr val="00B050"/>
                          </a:solidFill>
                          <a:effectLst/>
                          <a:latin typeface="Adani Regular" panose="02000503000000020004" pitchFamily="2" charset="0"/>
                        </a:rPr>
                        <a:t>7</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HT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Paramount &amp; Diamond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4510021151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31-Dec-25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31-Mar-26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15-Apr-26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17-Jan-26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rowSpan="5" gridSpan="4">
                  <a:txBody>
                    <a:bodyPr/>
                    <a:lstStyle/>
                    <a:p>
                      <a:pPr algn="ctr" rtl="0" fontAlgn="ctr">
                        <a:buNone/>
                      </a:pPr>
                      <a:r>
                        <a:rPr kumimoji="0" lang="en-US" sz="800" b="0" i="0" u="none" strike="noStrike" kern="0" cap="none" spc="0" normalizeH="0" baseline="0" noProof="0">
                          <a:ln>
                            <a:noFill/>
                          </a:ln>
                          <a:solidFill>
                            <a:srgbClr val="00B050"/>
                          </a:solidFill>
                          <a:effectLst/>
                          <a:uLnTx/>
                          <a:uFillTx/>
                          <a:latin typeface="Adani Regular" panose="02000503000000020004" pitchFamily="2" charset="0"/>
                          <a:ea typeface="+mn-ea"/>
                          <a:cs typeface="+mn-cs"/>
                        </a:rPr>
                        <a:t>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rowSpan="5"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rowSpan="5"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rowSpan="5"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rowSpan="5">
                  <a:txBody>
                    <a:bodyPr/>
                    <a:lstStyle/>
                    <a:p>
                      <a:pPr algn="ctr" rtl="0" fontAlgn="ctr">
                        <a:buNone/>
                      </a:pPr>
                      <a:endParaRPr kumimoji="0" lang="en-US" sz="800" b="0" i="0" u="none" strike="noStrike" kern="0" cap="none" spc="0" normalizeH="0" baseline="0" noProof="0">
                        <a:ln>
                          <a:noFill/>
                        </a:ln>
                        <a:solidFill>
                          <a:srgbClr val="00B05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957365249"/>
                  </a:ext>
                </a:extLst>
              </a:tr>
              <a:tr h="331788">
                <a:tc>
                  <a:txBody>
                    <a:bodyPr/>
                    <a:lstStyle/>
                    <a:p>
                      <a:pPr algn="ctr" rtl="0" fontAlgn="ctr">
                        <a:buNone/>
                      </a:pPr>
                      <a:r>
                        <a:rPr lang="en-US" sz="800" b="0" i="0" u="none" strike="noStrike">
                          <a:solidFill>
                            <a:srgbClr val="00B050"/>
                          </a:solidFill>
                          <a:effectLst/>
                          <a:latin typeface="Adani Regular" panose="02000503000000020004" pitchFamily="2" charset="0"/>
                        </a:rPr>
                        <a:t>8</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DC &amp; LT Cables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APAR &amp; DYNAMIC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1001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1001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4510021283 &amp; 4510021285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30-May-26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15-01-2026 &amp; 23-01-26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1001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4"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vMerge="1">
                  <a:txBody>
                    <a:bodyPr/>
                    <a:lstStyle/>
                    <a:p>
                      <a:endParaRPr lang="en-US"/>
                    </a:p>
                  </a:txBody>
                  <a:tcPr/>
                </a:tc>
                <a:extLst>
                  <a:ext uri="{0D108BD9-81ED-4DB2-BD59-A6C34878D82A}">
                    <a16:rowId xmlns:a16="http://schemas.microsoft.com/office/drawing/2014/main" val="4255091766"/>
                  </a:ext>
                </a:extLst>
              </a:tr>
              <a:tr h="173801">
                <a:tc>
                  <a:txBody>
                    <a:bodyPr/>
                    <a:lstStyle/>
                    <a:p>
                      <a:pPr algn="ctr" rtl="0" fontAlgn="ctr">
                        <a:buNone/>
                      </a:pPr>
                      <a:r>
                        <a:rPr lang="en-US" sz="800" b="0" i="0" u="none" strike="noStrike">
                          <a:solidFill>
                            <a:srgbClr val="00B050"/>
                          </a:solidFill>
                          <a:effectLst/>
                          <a:latin typeface="Adani Regular" panose="02000503000000020004" pitchFamily="2" charset="0"/>
                        </a:rPr>
                        <a:t>9</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Control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Gemscab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146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146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4510021263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10-Mar-26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31-Mar-26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17-Jan-26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146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4"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vMerge="1">
                  <a:txBody>
                    <a:bodyPr/>
                    <a:lstStyle/>
                    <a:p>
                      <a:endParaRPr lang="en-US"/>
                    </a:p>
                  </a:txBody>
                  <a:tcPr/>
                </a:tc>
                <a:extLst>
                  <a:ext uri="{0D108BD9-81ED-4DB2-BD59-A6C34878D82A}">
                    <a16:rowId xmlns:a16="http://schemas.microsoft.com/office/drawing/2014/main" val="2089322544"/>
                  </a:ext>
                </a:extLst>
              </a:tr>
              <a:tr h="331788">
                <a:tc>
                  <a:txBody>
                    <a:bodyPr/>
                    <a:lstStyle/>
                    <a:p>
                      <a:pPr algn="ctr" rtl="0" fontAlgn="ctr">
                        <a:buNone/>
                      </a:pPr>
                      <a:r>
                        <a:rPr lang="en-US" sz="800" b="0" i="0" u="none" strike="noStrike">
                          <a:solidFill>
                            <a:srgbClr val="00B050"/>
                          </a:solidFill>
                          <a:effectLst/>
                          <a:latin typeface="Adani Regular" panose="02000503000000020004" pitchFamily="2" charset="0"/>
                        </a:rPr>
                        <a:t>10</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SCADA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M/s Delton &amp; M/s Suyog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4510021159 &amp; 4510021165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kern="1200">
                          <a:solidFill>
                            <a:srgbClr val="00B050"/>
                          </a:solidFill>
                          <a:effectLst/>
                          <a:latin typeface="Adani Light"/>
                          <a:ea typeface="+mn-ea"/>
                          <a:cs typeface="+mn-cs"/>
                        </a:rPr>
                        <a:t>18-May-26</a:t>
                      </a:r>
                      <a:endParaRPr lang="en-US" sz="800" b="0" i="0" u="none" strike="sng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04-Jul-26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10-Jan-26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4"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B05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B05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B05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vMerge="1">
                  <a:txBody>
                    <a:bodyPr/>
                    <a:lstStyle/>
                    <a:p>
                      <a:endParaRPr lang="en-US"/>
                    </a:p>
                  </a:txBody>
                  <a:tcPr/>
                </a:tc>
                <a:extLst>
                  <a:ext uri="{0D108BD9-81ED-4DB2-BD59-A6C34878D82A}">
                    <a16:rowId xmlns:a16="http://schemas.microsoft.com/office/drawing/2014/main" val="4156020570"/>
                  </a:ext>
                </a:extLst>
              </a:tr>
              <a:tr h="356657">
                <a:tc>
                  <a:txBody>
                    <a:bodyPr/>
                    <a:lstStyle/>
                    <a:p>
                      <a:pPr algn="ctr" rtl="0" fontAlgn="ctr">
                        <a:buNone/>
                      </a:pPr>
                      <a:r>
                        <a:rPr lang="en-US" sz="800" b="0" i="0" u="none" strike="noStrike">
                          <a:solidFill>
                            <a:srgbClr val="00B050"/>
                          </a:solidFill>
                          <a:effectLst/>
                          <a:latin typeface="Adani Regular" panose="02000503000000020004" pitchFamily="2" charset="0"/>
                        </a:rPr>
                        <a:t>11</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FO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l" fontAlgn="ctr">
                        <a:buNone/>
                      </a:pPr>
                      <a:r>
                        <a:rPr lang="en-US" sz="800" b="0" i="0" u="none" strike="sngStrike">
                          <a:solidFill>
                            <a:srgbClr val="00B050"/>
                          </a:solidFill>
                          <a:effectLst/>
                          <a:latin typeface="Adani Regular" panose="02000503000000020004" pitchFamily="2" charset="0"/>
                        </a:rPr>
                        <a:t>Paramount</a:t>
                      </a:r>
                      <a:br>
                        <a:rPr lang="en-US" sz="800" b="0" i="0" u="none" strike="sngStrike">
                          <a:solidFill>
                            <a:srgbClr val="00B050"/>
                          </a:solidFill>
                          <a:effectLst/>
                          <a:latin typeface="Adani Regular" panose="02000503000000020004" pitchFamily="2" charset="0"/>
                        </a:rPr>
                      </a:br>
                      <a:r>
                        <a:rPr lang="en-US" sz="800" b="0" i="0" u="none" strike="noStrike" err="1">
                          <a:solidFill>
                            <a:srgbClr val="00B050"/>
                          </a:solidFill>
                          <a:effectLst/>
                          <a:latin typeface="Adani Regular" panose="02000503000000020004" pitchFamily="2" charset="0"/>
                        </a:rPr>
                        <a:t>WestCoast</a:t>
                      </a:r>
                      <a:endParaRPr lang="en-US" sz="800" b="0" i="0" u="none" strike="noStrike">
                        <a:solidFill>
                          <a:srgbClr val="00B050"/>
                        </a:solidFill>
                        <a:effectLst/>
                        <a:latin typeface="Adani Regular" panose="02000503000000020004" pitchFamily="2"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4510021122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3-Jan-26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buNone/>
                      </a:pPr>
                      <a:r>
                        <a:rPr lang="en-US" sz="800" b="0" i="0" u="none" strike="noStrike" noProof="0">
                          <a:solidFill>
                            <a:srgbClr val="00B050"/>
                          </a:solidFill>
                          <a:effectLst/>
                          <a:latin typeface="Adani Regular" panose="02000503000000020004" pitchFamily="2" charset="0"/>
                          <a:ea typeface="+mn-ea"/>
                          <a:cs typeface="+mn-cs"/>
                        </a:rPr>
                        <a:t>17-Jun-26</a:t>
                      </a:r>
                      <a:endParaRPr lang="en-US" sz="800" b="0" i="0" u="none" strike="noStrike">
                        <a:solidFill>
                          <a:srgbClr val="00B050"/>
                        </a:solidFill>
                        <a:effectLst/>
                        <a:latin typeface="Adani Regular" panose="02000503000000020004" pitchFamily="2" charset="0"/>
                        <a:ea typeface="+mn-ea"/>
                        <a:cs typeface="+mn-cs"/>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buNone/>
                      </a:pPr>
                      <a:r>
                        <a:rPr lang="en-US" sz="800" b="0" i="0" u="none" strike="noStrike" noProof="0">
                          <a:solidFill>
                            <a:srgbClr val="00B050"/>
                          </a:solidFill>
                          <a:effectLst/>
                          <a:latin typeface="Adani Regular" panose="02000503000000020004" pitchFamily="2" charset="0"/>
                          <a:ea typeface="+mn-ea"/>
                          <a:cs typeface="+mn-cs"/>
                        </a:rPr>
                        <a:t>17-Jun-26</a:t>
                      </a:r>
                      <a:endParaRPr lang="en-US" sz="800" b="0" i="0" u="none" strike="noStrike">
                        <a:solidFill>
                          <a:srgbClr val="00B050"/>
                        </a:solidFill>
                        <a:effectLst/>
                        <a:latin typeface="Adani Regular" panose="02000503000000020004" pitchFamily="2" charset="0"/>
                        <a:ea typeface="+mn-ea"/>
                        <a:cs typeface="+mn-cs"/>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same as of phase one (14/05/25)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dirty="0">
                          <a:solidFill>
                            <a:srgbClr val="00B050"/>
                          </a:solidFill>
                          <a:effectLst/>
                          <a:latin typeface="Adani Regular" panose="02000503000000020004" pitchFamily="2"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gridSpan="4"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hMerge="1"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hMerge="1"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hMerge="1"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vMerge="1">
                  <a:txBody>
                    <a:bodyPr/>
                    <a:lstStyle/>
                    <a:p>
                      <a:endParaRPr lang="en-US"/>
                    </a:p>
                  </a:txBody>
                  <a:tcPr/>
                </a:tc>
                <a:extLst>
                  <a:ext uri="{0D108BD9-81ED-4DB2-BD59-A6C34878D82A}">
                    <a16:rowId xmlns:a16="http://schemas.microsoft.com/office/drawing/2014/main" val="3878861285"/>
                  </a:ext>
                </a:extLst>
              </a:tr>
            </a:tbl>
          </a:graphicData>
        </a:graphic>
      </p:graphicFrame>
    </p:spTree>
    <p:extLst>
      <p:ext uri="{BB962C8B-B14F-4D97-AF65-F5344CB8AC3E}">
        <p14:creationId xmlns:p14="http://schemas.microsoft.com/office/powerpoint/2010/main" val="14235159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A3645-E296-8FBF-0490-B92370DD79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AC575B-570E-B722-5703-1D8C4CE44585}"/>
              </a:ext>
            </a:extLst>
          </p:cNvPr>
          <p:cNvSpPr>
            <a:spLocks noGrp="1"/>
          </p:cNvSpPr>
          <p:nvPr>
            <p:ph type="ctrTitle"/>
          </p:nvPr>
        </p:nvSpPr>
        <p:spPr>
          <a:xfrm>
            <a:off x="0" y="52879"/>
            <a:ext cx="12466390" cy="461382"/>
          </a:xfrm>
          <a:noFill/>
        </p:spPr>
        <p:txBody>
          <a:bodyPr vert="horz" wrap="square" lIns="91157" tIns="45580" rIns="91157" bIns="45580" rtlCol="0" anchor="b">
            <a:spAutoFit/>
          </a:bodyPr>
          <a:lstStyle/>
          <a:p>
            <a:pPr algn="l">
              <a:spcBef>
                <a:spcPts val="1000"/>
              </a:spcBef>
              <a:defRPr/>
            </a:pPr>
            <a:r>
              <a:rPr lang="en-US" sz="2400" b="1">
                <a:gradFill>
                  <a:gsLst>
                    <a:gs pos="9735">
                      <a:schemeClr val="tx2"/>
                    </a:gs>
                    <a:gs pos="63000">
                      <a:srgbClr val="8E278F"/>
                    </a:gs>
                    <a:gs pos="38000">
                      <a:srgbClr val="57499E"/>
                    </a:gs>
                  </a:gsLst>
                  <a:lin ang="0" scaled="0"/>
                </a:gradFill>
                <a:highlight>
                  <a:srgbClr val="33CC33"/>
                </a:highlight>
                <a:ea typeface="+mn-ea"/>
                <a:cs typeface="+mn-cs"/>
              </a:rPr>
              <a:t>Procurement &amp; Monthly Rolling Plan for Supply of Equipment – </a:t>
            </a:r>
            <a:r>
              <a:rPr lang="en-IN" sz="2400" b="1">
                <a:gradFill>
                  <a:gsLst>
                    <a:gs pos="9735">
                      <a:schemeClr val="tx2"/>
                    </a:gs>
                    <a:gs pos="63000">
                      <a:srgbClr val="8E278F"/>
                    </a:gs>
                    <a:gs pos="38000">
                      <a:srgbClr val="57499E"/>
                    </a:gs>
                  </a:gsLst>
                  <a:lin ang="0" scaled="0"/>
                </a:gradFill>
                <a:highlight>
                  <a:srgbClr val="33CC33"/>
                </a:highlight>
              </a:rPr>
              <a:t>PSS 08B</a:t>
            </a:r>
            <a:endParaRPr lang="en-US" sz="2400" b="1">
              <a:gradFill>
                <a:gsLst>
                  <a:gs pos="9735">
                    <a:schemeClr val="tx2"/>
                  </a:gs>
                  <a:gs pos="63000">
                    <a:srgbClr val="8E278F"/>
                  </a:gs>
                  <a:gs pos="38000">
                    <a:srgbClr val="57499E"/>
                  </a:gs>
                </a:gsLst>
                <a:lin ang="0" scaled="0"/>
              </a:gradFill>
              <a:highlight>
                <a:srgbClr val="33CC33"/>
              </a:highlight>
              <a:ea typeface="+mn-ea"/>
              <a:cs typeface="+mn-cs"/>
            </a:endParaRPr>
          </a:p>
        </p:txBody>
      </p:sp>
      <p:pic>
        <p:nvPicPr>
          <p:cNvPr id="11" name="Picture 10">
            <a:extLst>
              <a:ext uri="{FF2B5EF4-FFF2-40B4-BE49-F238E27FC236}">
                <a16:creationId xmlns:a16="http://schemas.microsoft.com/office/drawing/2014/main" id="{3446EA0F-0739-747D-11AC-DB5B487497B2}"/>
              </a:ext>
            </a:extLst>
          </p:cNvPr>
          <p:cNvPicPr>
            <a:picLocks noChangeAspect="1"/>
          </p:cNvPicPr>
          <p:nvPr/>
        </p:nvPicPr>
        <p:blipFill>
          <a:blip r:embed="rId3"/>
          <a:stretch>
            <a:fillRect/>
          </a:stretch>
        </p:blipFill>
        <p:spPr>
          <a:xfrm>
            <a:off x="6086475" y="3419475"/>
            <a:ext cx="19050" cy="19050"/>
          </a:xfrm>
          <a:prstGeom prst="rect">
            <a:avLst/>
          </a:prstGeom>
        </p:spPr>
      </p:pic>
      <p:sp>
        <p:nvSpPr>
          <p:cNvPr id="3" name="Slide Number Placeholder 2">
            <a:extLst>
              <a:ext uri="{FF2B5EF4-FFF2-40B4-BE49-F238E27FC236}">
                <a16:creationId xmlns:a16="http://schemas.microsoft.com/office/drawing/2014/main" id="{8B461E0D-2557-E728-0FEC-6F82DBA7E542}"/>
              </a:ext>
            </a:extLst>
          </p:cNvPr>
          <p:cNvSpPr>
            <a:spLocks noGrp="1"/>
          </p:cNvSpPr>
          <p:nvPr>
            <p:ph type="sldNum" sz="quarter" idx="12"/>
          </p:nvPr>
        </p:nvSpPr>
        <p:spPr/>
        <p:txBody>
          <a:bodyPr/>
          <a:lstStyle/>
          <a:p>
            <a:fld id="{98B285C1-D8A8-4E98-B28C-1FD972D8EC54}" type="slidenum">
              <a:rPr lang="en-IN" smtClean="0"/>
              <a:t>19</a:t>
            </a:fld>
            <a:endParaRPr lang="en-IN"/>
          </a:p>
        </p:txBody>
      </p:sp>
      <p:graphicFrame>
        <p:nvGraphicFramePr>
          <p:cNvPr id="4" name="Table 3">
            <a:extLst>
              <a:ext uri="{FF2B5EF4-FFF2-40B4-BE49-F238E27FC236}">
                <a16:creationId xmlns:a16="http://schemas.microsoft.com/office/drawing/2014/main" id="{B1703883-10FA-5172-1C2B-51F29EC6DF87}"/>
              </a:ext>
            </a:extLst>
          </p:cNvPr>
          <p:cNvGraphicFramePr>
            <a:graphicFrameLocks noGrp="1"/>
          </p:cNvGraphicFramePr>
          <p:nvPr>
            <p:extLst>
              <p:ext uri="{D42A27DB-BD31-4B8C-83A1-F6EECF244321}">
                <p14:modId xmlns:p14="http://schemas.microsoft.com/office/powerpoint/2010/main" val="3757227127"/>
              </p:ext>
            </p:extLst>
          </p:nvPr>
        </p:nvGraphicFramePr>
        <p:xfrm>
          <a:off x="137159" y="653331"/>
          <a:ext cx="11911968" cy="6048684"/>
        </p:xfrm>
        <a:graphic>
          <a:graphicData uri="http://schemas.openxmlformats.org/drawingml/2006/table">
            <a:tbl>
              <a:tblPr/>
              <a:tblGrid>
                <a:gridCol w="386714">
                  <a:extLst>
                    <a:ext uri="{9D8B030D-6E8A-4147-A177-3AD203B41FA5}">
                      <a16:colId xmlns:a16="http://schemas.microsoft.com/office/drawing/2014/main" val="1750105837"/>
                    </a:ext>
                  </a:extLst>
                </a:gridCol>
                <a:gridCol w="589942">
                  <a:extLst>
                    <a:ext uri="{9D8B030D-6E8A-4147-A177-3AD203B41FA5}">
                      <a16:colId xmlns:a16="http://schemas.microsoft.com/office/drawing/2014/main" val="1570054097"/>
                    </a:ext>
                  </a:extLst>
                </a:gridCol>
                <a:gridCol w="1395221">
                  <a:extLst>
                    <a:ext uri="{9D8B030D-6E8A-4147-A177-3AD203B41FA5}">
                      <a16:colId xmlns:a16="http://schemas.microsoft.com/office/drawing/2014/main" val="1643830248"/>
                    </a:ext>
                  </a:extLst>
                </a:gridCol>
                <a:gridCol w="769914">
                  <a:extLst>
                    <a:ext uri="{9D8B030D-6E8A-4147-A177-3AD203B41FA5}">
                      <a16:colId xmlns:a16="http://schemas.microsoft.com/office/drawing/2014/main" val="3976109410"/>
                    </a:ext>
                  </a:extLst>
                </a:gridCol>
                <a:gridCol w="319878">
                  <a:extLst>
                    <a:ext uri="{9D8B030D-6E8A-4147-A177-3AD203B41FA5}">
                      <a16:colId xmlns:a16="http://schemas.microsoft.com/office/drawing/2014/main" val="3201281921"/>
                    </a:ext>
                  </a:extLst>
                </a:gridCol>
                <a:gridCol w="578831">
                  <a:extLst>
                    <a:ext uri="{9D8B030D-6E8A-4147-A177-3AD203B41FA5}">
                      <a16:colId xmlns:a16="http://schemas.microsoft.com/office/drawing/2014/main" val="1378247570"/>
                    </a:ext>
                  </a:extLst>
                </a:gridCol>
                <a:gridCol w="565501">
                  <a:extLst>
                    <a:ext uri="{9D8B030D-6E8A-4147-A177-3AD203B41FA5}">
                      <a16:colId xmlns:a16="http://schemas.microsoft.com/office/drawing/2014/main" val="1915441235"/>
                    </a:ext>
                  </a:extLst>
                </a:gridCol>
                <a:gridCol w="966687">
                  <a:extLst>
                    <a:ext uri="{9D8B030D-6E8A-4147-A177-3AD203B41FA5}">
                      <a16:colId xmlns:a16="http://schemas.microsoft.com/office/drawing/2014/main" val="1582997793"/>
                    </a:ext>
                  </a:extLst>
                </a:gridCol>
                <a:gridCol w="553190">
                  <a:extLst>
                    <a:ext uri="{9D8B030D-6E8A-4147-A177-3AD203B41FA5}">
                      <a16:colId xmlns:a16="http://schemas.microsoft.com/office/drawing/2014/main" val="1918419089"/>
                    </a:ext>
                  </a:extLst>
                </a:gridCol>
                <a:gridCol w="882492">
                  <a:extLst>
                    <a:ext uri="{9D8B030D-6E8A-4147-A177-3AD203B41FA5}">
                      <a16:colId xmlns:a16="http://schemas.microsoft.com/office/drawing/2014/main" val="181304142"/>
                    </a:ext>
                  </a:extLst>
                </a:gridCol>
                <a:gridCol w="796552">
                  <a:extLst>
                    <a:ext uri="{9D8B030D-6E8A-4147-A177-3AD203B41FA5}">
                      <a16:colId xmlns:a16="http://schemas.microsoft.com/office/drawing/2014/main" val="2034002417"/>
                    </a:ext>
                  </a:extLst>
                </a:gridCol>
                <a:gridCol w="1131567">
                  <a:extLst>
                    <a:ext uri="{9D8B030D-6E8A-4147-A177-3AD203B41FA5}">
                      <a16:colId xmlns:a16="http://schemas.microsoft.com/office/drawing/2014/main" val="1439566369"/>
                    </a:ext>
                  </a:extLst>
                </a:gridCol>
                <a:gridCol w="643002">
                  <a:extLst>
                    <a:ext uri="{9D8B030D-6E8A-4147-A177-3AD203B41FA5}">
                      <a16:colId xmlns:a16="http://schemas.microsoft.com/office/drawing/2014/main" val="2679719577"/>
                    </a:ext>
                  </a:extLst>
                </a:gridCol>
                <a:gridCol w="499961">
                  <a:extLst>
                    <a:ext uri="{9D8B030D-6E8A-4147-A177-3AD203B41FA5}">
                      <a16:colId xmlns:a16="http://schemas.microsoft.com/office/drawing/2014/main" val="2343521248"/>
                    </a:ext>
                  </a:extLst>
                </a:gridCol>
                <a:gridCol w="433028">
                  <a:extLst>
                    <a:ext uri="{9D8B030D-6E8A-4147-A177-3AD203B41FA5}">
                      <a16:colId xmlns:a16="http://schemas.microsoft.com/office/drawing/2014/main" val="718330108"/>
                    </a:ext>
                  </a:extLst>
                </a:gridCol>
                <a:gridCol w="466496">
                  <a:extLst>
                    <a:ext uri="{9D8B030D-6E8A-4147-A177-3AD203B41FA5}">
                      <a16:colId xmlns:a16="http://schemas.microsoft.com/office/drawing/2014/main" val="3790741006"/>
                    </a:ext>
                  </a:extLst>
                </a:gridCol>
                <a:gridCol w="466496">
                  <a:extLst>
                    <a:ext uri="{9D8B030D-6E8A-4147-A177-3AD203B41FA5}">
                      <a16:colId xmlns:a16="http://schemas.microsoft.com/office/drawing/2014/main" val="983513558"/>
                    </a:ext>
                  </a:extLst>
                </a:gridCol>
                <a:gridCol w="466496">
                  <a:extLst>
                    <a:ext uri="{9D8B030D-6E8A-4147-A177-3AD203B41FA5}">
                      <a16:colId xmlns:a16="http://schemas.microsoft.com/office/drawing/2014/main" val="3785530097"/>
                    </a:ext>
                  </a:extLst>
                </a:gridCol>
              </a:tblGrid>
              <a:tr h="113395">
                <a:tc rowSpan="2">
                  <a:txBody>
                    <a:bodyPr/>
                    <a:lstStyle/>
                    <a:p>
                      <a:pPr algn="ctr" rtl="0" fontAlgn="ctr">
                        <a:buNone/>
                      </a:pPr>
                      <a:r>
                        <a:rPr lang="en-US" sz="800" b="1" i="0" u="none" strike="noStrike">
                          <a:solidFill>
                            <a:srgbClr val="FFFFFF"/>
                          </a:solidFill>
                          <a:effectLst/>
                          <a:latin typeface="Adani Regular" panose="02000503000000020004" pitchFamily="2" charset="0"/>
                        </a:rPr>
                        <a:t>Sr. No.</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Packages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Manufacturer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UOM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Scope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Ordering 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Balance Ordering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PO Number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PO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gridSpan="2">
                  <a:txBody>
                    <a:bodyPr/>
                    <a:lstStyle/>
                    <a:p>
                      <a:pPr algn="ctr" rtl="0" fontAlgn="ctr">
                        <a:buNone/>
                      </a:pPr>
                      <a:r>
                        <a:rPr lang="en-US" sz="800" b="1" i="0" u="none" strike="noStrike">
                          <a:solidFill>
                            <a:srgbClr val="FFFFFF"/>
                          </a:solidFill>
                          <a:effectLst/>
                          <a:latin typeface="Adani Regular" panose="02000503000000020004" pitchFamily="2" charset="0"/>
                        </a:rPr>
                        <a:t>Expected Delivery at Site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gridSpan="2">
                  <a:txBody>
                    <a:bodyPr/>
                    <a:lstStyle/>
                    <a:p>
                      <a:pPr algn="ctr" fontAlgn="b">
                        <a:buNone/>
                      </a:pPr>
                      <a:r>
                        <a:rPr lang="en-US" sz="800" b="1" i="0" u="none" strike="noStrike">
                          <a:solidFill>
                            <a:srgbClr val="FFFFFF"/>
                          </a:solidFill>
                          <a:effectLst/>
                          <a:latin typeface="Adani Regular" panose="02000503000000020004" pitchFamily="2" charset="0"/>
                        </a:rPr>
                        <a:t>Manufacturing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Delivered At Site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gridSpan="3">
                  <a:txBody>
                    <a:bodyPr/>
                    <a:lstStyle/>
                    <a:p>
                      <a:pPr algn="ctr" rtl="0" fontAlgn="ctr">
                        <a:buNone/>
                      </a:pPr>
                      <a:r>
                        <a:rPr lang="en-US" sz="800" b="1" i="0" u="none" strike="noStrike">
                          <a:solidFill>
                            <a:srgbClr val="FFFFFF"/>
                          </a:solidFill>
                          <a:effectLst/>
                          <a:latin typeface="Adani Regular" panose="02000503000000020004" pitchFamily="2" charset="0"/>
                        </a:rPr>
                        <a:t>Forecast Delivery Schedule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hMerge="1">
                  <a:txBody>
                    <a:bodyPr/>
                    <a:lstStyle/>
                    <a:p>
                      <a:pPr algn="ctr" rtl="0" fontAlgn="ctr">
                        <a:buNone/>
                      </a:pPr>
                      <a:endParaRPr lang="en-US" sz="800" b="1" i="0" u="none" strike="noStrike">
                        <a:solidFill>
                          <a:srgbClr val="FFFFFF"/>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Remarks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extLst>
                  <a:ext uri="{0D108BD9-81ED-4DB2-BD59-A6C34878D82A}">
                    <a16:rowId xmlns:a16="http://schemas.microsoft.com/office/drawing/2014/main" val="1607064942"/>
                  </a:ext>
                </a:extLst>
              </a:tr>
              <a:tr h="226791">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1" i="0" u="none" strike="noStrike">
                          <a:solidFill>
                            <a:srgbClr val="FFFFFF"/>
                          </a:solidFill>
                          <a:effectLst/>
                          <a:latin typeface="Adani Regular" panose="02000503000000020004" pitchFamily="2" charset="0"/>
                        </a:rPr>
                        <a:t>Start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Finish</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fontAlgn="ctr">
                        <a:buNone/>
                      </a:pPr>
                      <a:r>
                        <a:rPr lang="en-US" sz="800" b="1" i="0" u="none" strike="noStrike">
                          <a:solidFill>
                            <a:srgbClr val="FFFFFF"/>
                          </a:solidFill>
                          <a:effectLst/>
                          <a:latin typeface="Adani Regular" panose="02000503000000020004" pitchFamily="2" charset="0"/>
                        </a:rPr>
                        <a:t>QAP Acceptance </a:t>
                      </a:r>
                    </a:p>
                    <a:p>
                      <a:pPr algn="ctr" fontAlgn="ctr">
                        <a:buNone/>
                      </a:pPr>
                      <a:r>
                        <a:rPr lang="en-US" sz="800" b="1" i="0" u="none" strike="noStrike">
                          <a:solidFill>
                            <a:srgbClr val="FFFFFF"/>
                          </a:solidFill>
                          <a:effectLst/>
                          <a:latin typeface="Adani Regular" panose="02000503000000020004" pitchFamily="2" charset="0"/>
                        </a:rPr>
                        <a:t>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fontAlgn="ctr">
                        <a:buNone/>
                      </a:pPr>
                      <a:r>
                        <a:rPr lang="en-US" sz="800" b="1" i="0" u="none" strike="noStrike">
                          <a:solidFill>
                            <a:srgbClr val="FFFFFF"/>
                          </a:solidFill>
                          <a:effectLst/>
                          <a:latin typeface="Adani Regular" panose="02000503000000020004" pitchFamily="2" charset="0"/>
                        </a:rPr>
                        <a:t>MC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vMerge="1">
                  <a:txBody>
                    <a:bodyPr/>
                    <a:lstStyle/>
                    <a:p>
                      <a:endParaRPr lang="en-US"/>
                    </a:p>
                  </a:txBody>
                  <a:tcPr/>
                </a:tc>
                <a:tc>
                  <a:txBody>
                    <a:bodyPr/>
                    <a:lstStyle/>
                    <a:p>
                      <a:pPr algn="ctr" rtl="0" fontAlgn="ctr">
                        <a:buNone/>
                      </a:pPr>
                      <a:r>
                        <a:rPr lang="en-US" sz="800" b="1" i="0" u="none" strike="noStrike">
                          <a:solidFill>
                            <a:srgbClr val="FFFFFF"/>
                          </a:solidFill>
                          <a:effectLst/>
                          <a:latin typeface="Adani Regular" panose="02000503000000020004" pitchFamily="2" charset="0"/>
                        </a:rPr>
                        <a:t>Sep-26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Oct-26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Nov-26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vMerge="1">
                  <a:txBody>
                    <a:bodyPr/>
                    <a:lstStyle/>
                    <a:p>
                      <a:pPr algn="ctr" rtl="0" fontAlgn="ctr">
                        <a:buNone/>
                      </a:pPr>
                      <a:endParaRPr lang="en-US" sz="800" b="1" i="0" u="none" strike="noStrike">
                        <a:solidFill>
                          <a:srgbClr val="FFFFFF"/>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extLst>
                  <a:ext uri="{0D108BD9-81ED-4DB2-BD59-A6C34878D82A}">
                    <a16:rowId xmlns:a16="http://schemas.microsoft.com/office/drawing/2014/main" val="1741606767"/>
                  </a:ext>
                </a:extLst>
              </a:tr>
              <a:tr h="1151344">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Battery Container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err="1">
                          <a:solidFill>
                            <a:srgbClr val="000000"/>
                          </a:solidFill>
                          <a:effectLst/>
                          <a:latin typeface="Adani Regular" panose="02000503000000020004" pitchFamily="2" charset="0"/>
                        </a:rPr>
                        <a:t>GreatPower</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168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168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5310000940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10-Sep-26</a:t>
                      </a:r>
                    </a:p>
                    <a:p>
                      <a:pPr algn="ctr" fontAlgn="ctr">
                        <a:buNone/>
                      </a:pPr>
                      <a:r>
                        <a:rPr lang="en-US" sz="800" b="0" i="0" u="none" strike="sngStrike">
                          <a:solidFill>
                            <a:srgbClr val="000000"/>
                          </a:solidFill>
                          <a:effectLst/>
                          <a:latin typeface="Adani Regular" panose="02000503000000020004" pitchFamily="2" charset="0"/>
                        </a:rPr>
                        <a:t>31-Oct-26</a:t>
                      </a:r>
                    </a:p>
                    <a:p>
                      <a:pPr algn="ctr" fontAlgn="ctr">
                        <a:buNone/>
                      </a:pPr>
                      <a:r>
                        <a:rPr lang="en-US" sz="800" b="0" i="0" u="none" strike="sngStrike">
                          <a:solidFill>
                            <a:srgbClr val="000000"/>
                          </a:solidFill>
                          <a:effectLst/>
                          <a:latin typeface="Adani Regular" panose="02000503000000020004" pitchFamily="2" charset="0"/>
                        </a:rPr>
                        <a:t>17-Dec-26</a:t>
                      </a:r>
                    </a:p>
                    <a:p>
                      <a:pPr algn="ctr" fontAlgn="ctr">
                        <a:buNone/>
                      </a:pPr>
                      <a:r>
                        <a:rPr lang="en-US" sz="800" b="0" i="0" u="none" strike="noStrike" kern="1200">
                          <a:solidFill>
                            <a:schemeClr val="tx1"/>
                          </a:solidFill>
                          <a:effectLst/>
                          <a:latin typeface="Adani Light"/>
                          <a:ea typeface="+mn-ea"/>
                          <a:cs typeface="+mn-cs"/>
                        </a:rPr>
                        <a:t>31-Aug-26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18-Nov-26</a:t>
                      </a:r>
                    </a:p>
                    <a:p>
                      <a:pPr algn="ctr" fontAlgn="ctr">
                        <a:buNone/>
                      </a:pPr>
                      <a:r>
                        <a:rPr lang="en-US" sz="800" b="0" i="0" u="none" strike="sngStrike">
                          <a:solidFill>
                            <a:srgbClr val="000000"/>
                          </a:solidFill>
                          <a:effectLst/>
                          <a:latin typeface="Adani Regular" panose="02000503000000020004" pitchFamily="2" charset="0"/>
                        </a:rPr>
                        <a:t>31-Dec-26</a:t>
                      </a:r>
                    </a:p>
                    <a:p>
                      <a:pPr algn="ctr" fontAlgn="ctr">
                        <a:buNone/>
                      </a:pPr>
                      <a:r>
                        <a:rPr lang="en-US" sz="800" b="0" i="0" u="none" strike="sngStrike">
                          <a:solidFill>
                            <a:srgbClr val="000000"/>
                          </a:solidFill>
                          <a:effectLst/>
                          <a:latin typeface="Adani Regular" panose="02000503000000020004" pitchFamily="2" charset="0"/>
                        </a:rPr>
                        <a:t>14-Jan-27</a:t>
                      </a:r>
                    </a:p>
                    <a:p>
                      <a:pPr algn="ctr" fontAlgn="ctr">
                        <a:buNone/>
                      </a:pPr>
                      <a:r>
                        <a:rPr lang="en-US" sz="800" b="0" i="0" u="none" strike="sngStrike" kern="1200">
                          <a:solidFill>
                            <a:schemeClr val="tx1"/>
                          </a:solidFill>
                          <a:effectLst/>
                          <a:latin typeface="Adani Light"/>
                          <a:ea typeface="+mn-ea"/>
                          <a:cs typeface="+mn-cs"/>
                        </a:rPr>
                        <a:t>31-Oct-26</a:t>
                      </a:r>
                    </a:p>
                    <a:p>
                      <a:pPr algn="ctr" fontAlgn="ctr">
                        <a:buNone/>
                      </a:pPr>
                      <a:r>
                        <a:rPr lang="en-US" sz="800" b="0" i="0" u="none" strike="noStrike" kern="1200">
                          <a:solidFill>
                            <a:schemeClr val="tx1"/>
                          </a:solidFill>
                          <a:effectLst/>
                          <a:latin typeface="Adani Light"/>
                          <a:ea typeface="+mn-ea"/>
                          <a:cs typeface="+mn-cs"/>
                        </a:rPr>
                        <a:t>27-Nov-26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17 Nov 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12 Mar 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78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buNone/>
                      </a:pPr>
                      <a:r>
                        <a:rPr lang="en-IN" sz="800" b="0" dirty="0">
                          <a:effectLst/>
                          <a:latin typeface="Adani Regular" panose="02000503000000020004" pitchFamily="2" charset="0"/>
                        </a:rPr>
                        <a:t>FOB 17 container: 04-Sep</a:t>
                      </a:r>
                      <a:endParaRPr lang="en-US" sz="800" b="0" i="0" u="none" strike="noStrike" dirty="0">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657264232"/>
                  </a:ext>
                </a:extLst>
              </a:tr>
              <a:tr h="453581">
                <a:tc>
                  <a:txBody>
                    <a:bodyPr/>
                    <a:lstStyle/>
                    <a:p>
                      <a:pPr algn="ctr" rtl="0" fontAlgn="ctr">
                        <a:buNone/>
                      </a:pPr>
                      <a:r>
                        <a:rPr lang="en-US" sz="800" b="0" i="0" u="none" strike="noStrike">
                          <a:solidFill>
                            <a:srgbClr val="000000"/>
                          </a:solidFill>
                          <a:effectLst/>
                          <a:latin typeface="Adani Regular" panose="02000503000000020004" pitchFamily="2" charset="0"/>
                        </a:rPr>
                        <a:t>2</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PCS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Sineng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Set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5310000935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25-Aug-26</a:t>
                      </a:r>
                    </a:p>
                    <a:p>
                      <a:pPr algn="ctr" fontAlgn="ctr">
                        <a:buNone/>
                      </a:pPr>
                      <a:r>
                        <a:rPr lang="en-US" sz="800" b="0" i="0" u="none" strike="sngStrike">
                          <a:solidFill>
                            <a:srgbClr val="000000"/>
                          </a:solidFill>
                          <a:effectLst/>
                          <a:latin typeface="Adani Regular" panose="02000503000000020004" pitchFamily="2" charset="0"/>
                        </a:rPr>
                        <a:t>15-Oct-26</a:t>
                      </a:r>
                    </a:p>
                    <a:p>
                      <a:pPr algn="ctr" fontAlgn="ctr">
                        <a:buNone/>
                      </a:pPr>
                      <a:r>
                        <a:rPr lang="en-US" sz="800" b="0" i="0" u="none" strike="sngStrike">
                          <a:solidFill>
                            <a:srgbClr val="000000"/>
                          </a:solidFill>
                          <a:effectLst/>
                          <a:latin typeface="Adani Regular" panose="02000503000000020004" pitchFamily="2" charset="0"/>
                        </a:rPr>
                        <a:t>Nov-26</a:t>
                      </a:r>
                    </a:p>
                    <a:p>
                      <a:pPr algn="ctr" fontAlgn="ctr">
                        <a:buNone/>
                      </a:pPr>
                      <a:r>
                        <a:rPr lang="en-US" sz="800" b="0" i="0" u="none" strike="noStrike" kern="1200">
                          <a:solidFill>
                            <a:schemeClr val="tx1"/>
                          </a:solidFill>
                          <a:effectLst/>
                          <a:latin typeface="Adani Light"/>
                          <a:ea typeface="+mn-ea"/>
                          <a:cs typeface="+mn-cs"/>
                        </a:rPr>
                        <a:t>24-Aug-26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25-Oct-26</a:t>
                      </a:r>
                    </a:p>
                    <a:p>
                      <a:pPr algn="ctr" fontAlgn="ctr">
                        <a:buNone/>
                      </a:pPr>
                      <a:r>
                        <a:rPr lang="en-US" sz="800" b="0" i="0" u="none" strike="sngStrike">
                          <a:solidFill>
                            <a:srgbClr val="000000"/>
                          </a:solidFill>
                          <a:effectLst/>
                          <a:latin typeface="Adani Regular" panose="02000503000000020004" pitchFamily="2" charset="0"/>
                        </a:rPr>
                        <a:t>15-Dec-26</a:t>
                      </a:r>
                    </a:p>
                    <a:p>
                      <a:pPr algn="ctr" fontAlgn="ctr">
                        <a:buNone/>
                      </a:pPr>
                      <a:r>
                        <a:rPr lang="en-US" sz="800" b="0" i="0" u="none" strike="sngStrike">
                          <a:solidFill>
                            <a:srgbClr val="000000"/>
                          </a:solidFill>
                          <a:effectLst/>
                          <a:latin typeface="Adani Regular" panose="02000503000000020004" pitchFamily="2" charset="0"/>
                        </a:rPr>
                        <a:t>Jan-27</a:t>
                      </a:r>
                    </a:p>
                    <a:p>
                      <a:pPr algn="ctr" fontAlgn="ctr">
                        <a:buNone/>
                      </a:pPr>
                      <a:r>
                        <a:rPr lang="en-US" sz="800" b="0" i="0" u="none" strike="noStrike" kern="1200">
                          <a:solidFill>
                            <a:schemeClr val="tx1"/>
                          </a:solidFill>
                          <a:effectLst/>
                          <a:latin typeface="Adani Light"/>
                          <a:ea typeface="+mn-ea"/>
                          <a:cs typeface="+mn-cs"/>
                        </a:rPr>
                        <a:t>04-Oct-26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10-Jan-26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72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96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271924260"/>
                  </a:ext>
                </a:extLst>
              </a:tr>
              <a:tr h="453581">
                <a:tc>
                  <a:txBody>
                    <a:bodyPr/>
                    <a:lstStyle/>
                    <a:p>
                      <a:pPr algn="ctr" rtl="0" fontAlgn="ctr">
                        <a:buNone/>
                      </a:pPr>
                      <a:r>
                        <a:rPr lang="en-US" sz="800" b="0" i="0" u="none" strike="noStrike">
                          <a:solidFill>
                            <a:srgbClr val="000000"/>
                          </a:solidFill>
                          <a:effectLst/>
                          <a:latin typeface="Adani Regular" panose="02000503000000020004" pitchFamily="2" charset="0"/>
                        </a:rPr>
                        <a:t>3</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EMS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Emerson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Set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4510021126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5-Oct-26</a:t>
                      </a:r>
                    </a:p>
                    <a:p>
                      <a:pPr algn="ctr" fontAlgn="ctr">
                        <a:buNone/>
                      </a:pPr>
                      <a:r>
                        <a:rPr lang="en-US" sz="800" b="0" i="0" u="none" strike="sngStrike">
                          <a:solidFill>
                            <a:srgbClr val="000000"/>
                          </a:solidFill>
                          <a:effectLst/>
                          <a:latin typeface="Adani Regular" panose="02000503000000020004" pitchFamily="2" charset="0"/>
                        </a:rPr>
                        <a:t>1-Dec-26</a:t>
                      </a:r>
                    </a:p>
                    <a:p>
                      <a:pPr algn="ctr" fontAlgn="ctr">
                        <a:buNone/>
                      </a:pPr>
                      <a:r>
                        <a:rPr lang="en-US" sz="800" b="0" i="0" u="none" strike="noStrike" kern="1200">
                          <a:solidFill>
                            <a:schemeClr val="tx1"/>
                          </a:solidFill>
                          <a:effectLst/>
                          <a:latin typeface="Adani Light"/>
                          <a:ea typeface="+mn-ea"/>
                          <a:cs typeface="+mn-cs"/>
                        </a:rPr>
                        <a:t>31-Aug-26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25-Oct-26</a:t>
                      </a:r>
                    </a:p>
                    <a:p>
                      <a:pPr algn="ctr" fontAlgn="ctr">
                        <a:buNone/>
                      </a:pPr>
                      <a:r>
                        <a:rPr lang="en-US" sz="800" b="0" i="0" u="none" strike="sngStrike">
                          <a:solidFill>
                            <a:srgbClr val="000000"/>
                          </a:solidFill>
                          <a:effectLst/>
                          <a:latin typeface="Adani Regular" panose="02000503000000020004" pitchFamily="2" charset="0"/>
                        </a:rPr>
                        <a:t>1-Dec-26</a:t>
                      </a:r>
                    </a:p>
                    <a:p>
                      <a:pPr algn="ctr" fontAlgn="ctr">
                        <a:buNone/>
                      </a:pPr>
                      <a:r>
                        <a:rPr lang="en-US" sz="800" b="0" i="0" u="none" strike="sngStrike" kern="1200">
                          <a:solidFill>
                            <a:schemeClr val="tx1"/>
                          </a:solidFill>
                          <a:effectLst/>
                          <a:latin typeface="Adani Light"/>
                          <a:ea typeface="+mn-ea"/>
                          <a:cs typeface="+mn-cs"/>
                        </a:rPr>
                        <a:t>31-Aug-26</a:t>
                      </a:r>
                    </a:p>
                    <a:p>
                      <a:pPr algn="ctr" fontAlgn="ctr">
                        <a:buNone/>
                      </a:pPr>
                      <a:r>
                        <a:rPr lang="en-US" sz="800" b="0" i="0" u="none" strike="noStrike" kern="1200">
                          <a:solidFill>
                            <a:schemeClr val="tx1"/>
                          </a:solidFill>
                          <a:effectLst/>
                          <a:latin typeface="Adani Light"/>
                          <a:ea typeface="+mn-ea"/>
                          <a:cs typeface="+mn-cs"/>
                        </a:rPr>
                        <a:t>30-Sep-26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same as of phase one (28/05/25)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dani Regular" panose="02000503000000020004" pitchFamily="2" charset="0"/>
                        </a:rPr>
                        <a:t>-</a:t>
                      </a:r>
                    </a:p>
                    <a:p>
                      <a:pPr algn="ctr" fontAlgn="ctr">
                        <a:buNone/>
                      </a:pPr>
                      <a:r>
                        <a:rPr lang="en-US" sz="800" b="0" i="0" u="none" strike="noStrike">
                          <a:solidFill>
                            <a:srgbClr val="000000"/>
                          </a:solidFill>
                          <a:effectLst/>
                          <a:latin typeface="Adani Regular" panose="02000503000000020004" pitchFamily="2"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715324750"/>
                  </a:ext>
                </a:extLst>
              </a:tr>
              <a:tr h="453581">
                <a:tc>
                  <a:txBody>
                    <a:bodyPr/>
                    <a:lstStyle/>
                    <a:p>
                      <a:pPr algn="ctr" rtl="0" fontAlgn="ctr">
                        <a:buNone/>
                      </a:pPr>
                      <a:r>
                        <a:rPr lang="en-US" sz="800" b="0" i="0" u="none" strike="noStrike">
                          <a:solidFill>
                            <a:srgbClr val="000000"/>
                          </a:solidFill>
                          <a:effectLst/>
                          <a:latin typeface="Adani Regular" panose="02000503000000020004" pitchFamily="2" charset="0"/>
                        </a:rPr>
                        <a:t>4</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Converter Transformer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err="1">
                          <a:solidFill>
                            <a:srgbClr val="000000"/>
                          </a:solidFill>
                          <a:effectLst/>
                          <a:latin typeface="Adani Regular" panose="02000503000000020004" pitchFamily="2" charset="0"/>
                        </a:rPr>
                        <a:t>Ornet</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4510021222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13-Jan-26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22-Sep-26</a:t>
                      </a:r>
                    </a:p>
                    <a:p>
                      <a:pPr algn="ctr" fontAlgn="ctr">
                        <a:buNone/>
                      </a:pPr>
                      <a:r>
                        <a:rPr lang="en-US" sz="800" b="0" i="0" u="none" strike="noStrike" kern="1200">
                          <a:solidFill>
                            <a:schemeClr val="tx1"/>
                          </a:solidFill>
                          <a:effectLst/>
                          <a:latin typeface="Adani Light"/>
                          <a:ea typeface="+mn-ea"/>
                          <a:cs typeface="+mn-cs"/>
                        </a:rPr>
                        <a:t>01-Aug-26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30-Sep-26</a:t>
                      </a:r>
                    </a:p>
                    <a:p>
                      <a:pPr algn="ctr" fontAlgn="ctr">
                        <a:buNone/>
                      </a:pPr>
                      <a:r>
                        <a:rPr lang="en-US" sz="800" b="0" i="0" u="none" strike="sngStrike">
                          <a:solidFill>
                            <a:srgbClr val="000000"/>
                          </a:solidFill>
                          <a:effectLst/>
                          <a:latin typeface="Adani Regular" panose="02000503000000020004" pitchFamily="2" charset="0"/>
                        </a:rPr>
                        <a:t>24-Oct-26</a:t>
                      </a:r>
                    </a:p>
                    <a:p>
                      <a:pPr algn="ctr" fontAlgn="ctr">
                        <a:buNone/>
                      </a:pPr>
                      <a:r>
                        <a:rPr lang="en-US" sz="800" b="0" i="0" u="none" strike="sngStrike" kern="1200">
                          <a:solidFill>
                            <a:schemeClr val="tx1"/>
                          </a:solidFill>
                          <a:effectLst/>
                          <a:latin typeface="Adani Light"/>
                          <a:ea typeface="+mn-ea"/>
                          <a:cs typeface="+mn-cs"/>
                        </a:rPr>
                        <a:t>31-Aug-26</a:t>
                      </a:r>
                    </a:p>
                    <a:p>
                      <a:pPr algn="ctr" fontAlgn="ctr">
                        <a:buNone/>
                      </a:pPr>
                      <a:r>
                        <a:rPr lang="en-US" sz="800" b="0" i="0" u="none" strike="noStrike" kern="1200">
                          <a:solidFill>
                            <a:schemeClr val="tx1"/>
                          </a:solidFill>
                          <a:effectLst/>
                          <a:latin typeface="Adani Light"/>
                          <a:ea typeface="+mn-ea"/>
                          <a:cs typeface="+mn-cs"/>
                        </a:rPr>
                        <a:t>30-Sep-26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25-Feb-26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27-Feb-26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chemeClr val="tx1"/>
                          </a:solidFill>
                          <a:effectLst/>
                          <a:latin typeface="Adani Regular" panose="02000503000000020004" pitchFamily="2"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800" b="0" i="0" u="none" strike="noStrike" dirty="0">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2874194624"/>
                  </a:ext>
                </a:extLst>
              </a:tr>
              <a:tr h="453581">
                <a:tc>
                  <a:txBody>
                    <a:bodyPr/>
                    <a:lstStyle/>
                    <a:p>
                      <a:pPr algn="ctr" rtl="0" fontAlgn="ctr">
                        <a:buNone/>
                      </a:pPr>
                      <a:r>
                        <a:rPr lang="en-US" sz="800" b="0" i="0" u="none" strike="noStrike">
                          <a:solidFill>
                            <a:srgbClr val="000000"/>
                          </a:solidFill>
                          <a:effectLst/>
                          <a:latin typeface="Adani Regular" panose="02000503000000020004" pitchFamily="2" charset="0"/>
                        </a:rPr>
                        <a:t>5</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CSS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M/S Akshar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4510021225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16-Jan-26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25-Jul-26</a:t>
                      </a:r>
                    </a:p>
                    <a:p>
                      <a:pPr algn="ctr" fontAlgn="ctr">
                        <a:buNone/>
                      </a:pPr>
                      <a:r>
                        <a:rPr lang="en-US" sz="800" b="0" i="0" u="none" strike="sngStrike" kern="1200">
                          <a:solidFill>
                            <a:schemeClr val="tx1"/>
                          </a:solidFill>
                          <a:effectLst/>
                          <a:latin typeface="Adani Light"/>
                          <a:ea typeface="+mn-ea"/>
                          <a:cs typeface="+mn-cs"/>
                        </a:rPr>
                        <a:t>15-Jul-26</a:t>
                      </a:r>
                    </a:p>
                    <a:p>
                      <a:pPr algn="ctr" fontAlgn="ctr">
                        <a:buNone/>
                      </a:pPr>
                      <a:r>
                        <a:rPr lang="en-US" sz="800" b="0" i="0" u="none" strike="sngStrike" kern="1200">
                          <a:solidFill>
                            <a:schemeClr val="tx1"/>
                          </a:solidFill>
                          <a:effectLst/>
                          <a:latin typeface="Adani Light"/>
                          <a:ea typeface="+mn-ea"/>
                          <a:cs typeface="+mn-cs"/>
                        </a:rPr>
                        <a:t>15-Aug-26</a:t>
                      </a:r>
                    </a:p>
                    <a:p>
                      <a:pPr algn="ctr" fontAlgn="ctr">
                        <a:buNone/>
                      </a:pPr>
                      <a:r>
                        <a:rPr lang="en-US" sz="800" b="0" i="0" u="none" strike="noStrike" kern="1200">
                          <a:solidFill>
                            <a:schemeClr val="tx1"/>
                          </a:solidFill>
                          <a:effectLst/>
                          <a:latin typeface="Adani Light"/>
                          <a:ea typeface="+mn-ea"/>
                          <a:cs typeface="+mn-cs"/>
                        </a:rPr>
                        <a:t>05-Sep-26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30-Aug-26</a:t>
                      </a:r>
                    </a:p>
                    <a:p>
                      <a:pPr algn="ctr" fontAlgn="ctr">
                        <a:buNone/>
                      </a:pPr>
                      <a:r>
                        <a:rPr lang="en-US" sz="800" b="0" i="0" u="none" strike="sngStrike" kern="1200">
                          <a:solidFill>
                            <a:schemeClr val="tx1"/>
                          </a:solidFill>
                          <a:effectLst/>
                          <a:latin typeface="Adani Light"/>
                          <a:ea typeface="+mn-ea"/>
                          <a:cs typeface="+mn-cs"/>
                        </a:rPr>
                        <a:t>15-Aug-26</a:t>
                      </a:r>
                    </a:p>
                    <a:p>
                      <a:pPr algn="ctr" fontAlgn="ctr">
                        <a:buNone/>
                      </a:pPr>
                      <a:r>
                        <a:rPr lang="en-US" sz="800" b="0" i="0" u="none" strike="sngStrike" kern="1200">
                          <a:solidFill>
                            <a:schemeClr val="tx1"/>
                          </a:solidFill>
                          <a:effectLst/>
                          <a:latin typeface="Adani Light"/>
                          <a:ea typeface="+mn-ea"/>
                          <a:cs typeface="+mn-cs"/>
                        </a:rPr>
                        <a:t>31-Aug-26</a:t>
                      </a:r>
                    </a:p>
                    <a:p>
                      <a:pPr algn="ctr" fontAlgn="ctr">
                        <a:buNone/>
                      </a:pPr>
                      <a:r>
                        <a:rPr lang="en-US" sz="800" b="0" i="0" u="none" strike="noStrike" kern="1200">
                          <a:solidFill>
                            <a:schemeClr val="tx1"/>
                          </a:solidFill>
                          <a:effectLst/>
                          <a:latin typeface="Adani Light"/>
                          <a:ea typeface="+mn-ea"/>
                          <a:cs typeface="+mn-cs"/>
                        </a:rPr>
                        <a:t>05-Sep-26</a:t>
                      </a:r>
                      <a:endParaRPr lang="en-US" sz="800" b="0" i="0" u="none" strike="sng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same as of phase one (27/05/25)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4037893912"/>
                  </a:ext>
                </a:extLst>
              </a:tr>
              <a:tr h="453581">
                <a:tc>
                  <a:txBody>
                    <a:bodyPr/>
                    <a:lstStyle/>
                    <a:p>
                      <a:pPr algn="ctr" rtl="0" fontAlgn="ctr">
                        <a:buNone/>
                      </a:pPr>
                      <a:r>
                        <a:rPr lang="en-US" sz="800" b="0" i="0" u="none" strike="noStrike">
                          <a:solidFill>
                            <a:srgbClr val="000000"/>
                          </a:solidFill>
                          <a:effectLst/>
                          <a:latin typeface="Adani Regular" panose="02000503000000020004" pitchFamily="2" charset="0"/>
                        </a:rPr>
                        <a:t>6</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MV Switchgear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err="1">
                          <a:solidFill>
                            <a:srgbClr val="000000"/>
                          </a:solidFill>
                          <a:effectLst/>
                          <a:latin typeface="Adani Regular" panose="02000503000000020004" pitchFamily="2" charset="0"/>
                        </a:rPr>
                        <a:t>Symatic</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 4510021119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22-Sep-26</a:t>
                      </a:r>
                    </a:p>
                    <a:p>
                      <a:pPr algn="ctr" fontAlgn="ctr">
                        <a:buNone/>
                      </a:pPr>
                      <a:r>
                        <a:rPr lang="en-US" sz="800" b="0" i="0" u="none" strike="sngStrike" kern="1200">
                          <a:solidFill>
                            <a:schemeClr val="tx1"/>
                          </a:solidFill>
                          <a:effectLst/>
                          <a:latin typeface="Adani Light"/>
                          <a:ea typeface="+mn-ea"/>
                          <a:cs typeface="+mn-cs"/>
                        </a:rPr>
                        <a:t>01-Jul-26</a:t>
                      </a:r>
                    </a:p>
                    <a:p>
                      <a:pPr algn="ctr" fontAlgn="ctr">
                        <a:buNone/>
                      </a:pPr>
                      <a:r>
                        <a:rPr lang="en-US" sz="800" b="0" i="0" u="none" strike="sngStrike">
                          <a:solidFill>
                            <a:schemeClr val="tx1"/>
                          </a:solidFill>
                          <a:effectLst/>
                          <a:latin typeface="Adani Regular" panose="02000503000000020004" pitchFamily="2" charset="0"/>
                        </a:rPr>
                        <a:t>01-Aug-26</a:t>
                      </a:r>
                    </a:p>
                    <a:p>
                      <a:pPr algn="ctr" fontAlgn="ctr">
                        <a:buNone/>
                      </a:pPr>
                      <a:r>
                        <a:rPr lang="en-US" sz="800" b="0" i="0" u="none" strike="noStrike" kern="1200">
                          <a:solidFill>
                            <a:schemeClr val="tx1"/>
                          </a:solidFill>
                          <a:effectLst/>
                          <a:latin typeface="Adani Light"/>
                          <a:ea typeface="+mn-ea"/>
                          <a:cs typeface="+mn-cs"/>
                        </a:rPr>
                        <a:t>05-Sep-26</a:t>
                      </a:r>
                      <a:endParaRPr lang="en-US" sz="800" b="0" i="0" u="none" strike="sngStrike">
                        <a:solidFill>
                          <a:schemeClr val="tx1"/>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24-Oct-26</a:t>
                      </a:r>
                    </a:p>
                    <a:p>
                      <a:pPr algn="ctr" fontAlgn="ctr">
                        <a:buNone/>
                      </a:pPr>
                      <a:r>
                        <a:rPr lang="en-US" sz="800" b="0" i="0" u="none" strike="sngStrike" kern="1200">
                          <a:solidFill>
                            <a:schemeClr val="tx1"/>
                          </a:solidFill>
                          <a:effectLst/>
                          <a:latin typeface="Adani Light"/>
                          <a:ea typeface="+mn-ea"/>
                          <a:cs typeface="+mn-cs"/>
                        </a:rPr>
                        <a:t>31-Jul-26</a:t>
                      </a:r>
                    </a:p>
                    <a:p>
                      <a:pPr algn="ctr" fontAlgn="ctr">
                        <a:buNone/>
                      </a:pPr>
                      <a:r>
                        <a:rPr lang="en-US" sz="800" b="0" i="0" u="none" strike="sngStrike" kern="1200">
                          <a:solidFill>
                            <a:schemeClr val="tx1"/>
                          </a:solidFill>
                          <a:effectLst/>
                          <a:latin typeface="Adani Light"/>
                          <a:ea typeface="+mn-ea"/>
                          <a:cs typeface="+mn-cs"/>
                        </a:rPr>
                        <a:t>15-Aug-26</a:t>
                      </a:r>
                    </a:p>
                    <a:p>
                      <a:pPr algn="ctr" fontAlgn="ctr">
                        <a:buNone/>
                      </a:pPr>
                      <a:r>
                        <a:rPr lang="en-US" sz="800" b="0" i="0" u="none" strike="noStrike" kern="1200">
                          <a:solidFill>
                            <a:schemeClr val="tx1"/>
                          </a:solidFill>
                          <a:effectLst/>
                          <a:latin typeface="Adani Light"/>
                          <a:ea typeface="+mn-ea"/>
                          <a:cs typeface="+mn-cs"/>
                        </a:rPr>
                        <a:t>05-Sep-26</a:t>
                      </a:r>
                      <a:endParaRPr lang="en-US" sz="800" b="0" i="0" u="none" strike="sng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same as of phase one (21/05/25)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Adani Regular" panose="02000503000000020004" pitchFamily="2"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810701182"/>
                  </a:ext>
                </a:extLst>
              </a:tr>
              <a:tr h="708721">
                <a:tc>
                  <a:txBody>
                    <a:bodyPr/>
                    <a:lstStyle/>
                    <a:p>
                      <a:pPr algn="ctr" rtl="0" fontAlgn="ctr">
                        <a:buNone/>
                      </a:pPr>
                      <a:r>
                        <a:rPr lang="en-US" sz="800" b="0" i="0" u="none" strike="noStrike">
                          <a:solidFill>
                            <a:srgbClr val="00B050"/>
                          </a:solidFill>
                          <a:effectLst/>
                          <a:latin typeface="Adani Regular" panose="02000503000000020004" pitchFamily="2" charset="0"/>
                        </a:rPr>
                        <a:t>7</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HT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Diamond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sngStrike">
                          <a:solidFill>
                            <a:srgbClr val="00B050"/>
                          </a:solidFill>
                          <a:effectLst/>
                          <a:latin typeface="Adani Regular" panose="02000503000000020004" pitchFamily="2" charset="0"/>
                        </a:rPr>
                        <a:t>40</a:t>
                      </a:r>
                    </a:p>
                    <a:p>
                      <a:pPr algn="ctr" rtl="0" fontAlgn="ctr">
                        <a:buNone/>
                      </a:pPr>
                      <a:r>
                        <a:rPr lang="en-US" sz="800" b="0" i="0" u="none" strike="noStrike">
                          <a:solidFill>
                            <a:srgbClr val="00B050"/>
                          </a:solidFill>
                          <a:effectLst/>
                          <a:latin typeface="Adani Regular" panose="02000503000000020004" pitchFamily="2" charset="0"/>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4510021119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31-Dec-25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kern="1200">
                          <a:solidFill>
                            <a:srgbClr val="00B050"/>
                          </a:solidFill>
                          <a:effectLst/>
                          <a:latin typeface="Adani Light"/>
                          <a:ea typeface="+mn-ea"/>
                          <a:cs typeface="+mn-cs"/>
                        </a:rPr>
                        <a:t>10-Jul-26</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kern="1200">
                          <a:solidFill>
                            <a:srgbClr val="00B050"/>
                          </a:solidFill>
                          <a:effectLst/>
                          <a:latin typeface="Adani Light"/>
                          <a:ea typeface="+mn-ea"/>
                          <a:cs typeface="+mn-cs"/>
                        </a:rPr>
                        <a:t>10-Jul-26</a:t>
                      </a:r>
                      <a:endParaRPr lang="en-US" sz="800" b="0" i="0" u="none" strike="sngStrike">
                        <a:solidFill>
                          <a:srgbClr val="00B050"/>
                        </a:solidFill>
                        <a:effectLst/>
                        <a:highlight>
                          <a:srgbClr val="FFFF00"/>
                        </a:highligh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12-Jan-26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14-Jan-26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rowSpan="5" gridSpan="4">
                  <a:txBody>
                    <a:bodyPr/>
                    <a:lstStyle/>
                    <a:p>
                      <a:pPr marL="0" algn="ctr" rtl="0" fontAlgn="ctr">
                        <a:buNone/>
                      </a:pPr>
                      <a:r>
                        <a:rPr lang="en-US" sz="900" b="0" i="0" u="none" strike="noStrike">
                          <a:solidFill>
                            <a:srgbClr val="00B050"/>
                          </a:solidFill>
                          <a:effectLst/>
                          <a:latin typeface="Adani Regular" panose="02000503000000020004" pitchFamily="2" charset="0"/>
                        </a:rPr>
                        <a:t>Completed</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rowSpan="5" hMerge="1">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rowSpan="5" hMerge="1">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rowSpan="5" hMerge="1">
                  <a:txBody>
                    <a:bodyPr/>
                    <a:lstStyle/>
                    <a:p>
                      <a:pPr marL="0"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4177348849"/>
                  </a:ext>
                </a:extLst>
              </a:tr>
              <a:tr h="566976">
                <a:tc>
                  <a:txBody>
                    <a:bodyPr/>
                    <a:lstStyle/>
                    <a:p>
                      <a:pPr algn="ctr" rtl="0" fontAlgn="ctr">
                        <a:buNone/>
                      </a:pPr>
                      <a:r>
                        <a:rPr lang="en-US" sz="800" b="0" i="0" u="none" strike="noStrike">
                          <a:solidFill>
                            <a:srgbClr val="00B050"/>
                          </a:solidFill>
                          <a:effectLst/>
                          <a:latin typeface="Adani Regular" panose="02000503000000020004" pitchFamily="2" charset="0"/>
                        </a:rPr>
                        <a:t>8</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DC &amp; LT Cables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PARAMOUNT, Diamond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480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480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4510021280 &amp; 4510021284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marR="0" lvl="0" indent="0" algn="ctr" defTabSz="914400" eaLnBrk="1" fontAlgn="ctr" latinLnBrk="0" hangingPunct="1">
                        <a:lnSpc>
                          <a:spcPct val="100000"/>
                        </a:lnSpc>
                        <a:spcBef>
                          <a:spcPts val="0"/>
                        </a:spcBef>
                        <a:spcAft>
                          <a:spcPts val="0"/>
                        </a:spcAft>
                        <a:buClrTx/>
                        <a:buSzTx/>
                        <a:buFontTx/>
                        <a:buNone/>
                        <a:tabLst/>
                        <a:defRPr/>
                      </a:pPr>
                      <a:r>
                        <a:rPr lang="en-US" sz="800" b="0" i="0" u="none" strike="noStrike">
                          <a:solidFill>
                            <a:srgbClr val="00B050"/>
                          </a:solidFill>
                          <a:effectLst/>
                          <a:latin typeface="Adani Regular" panose="02000503000000020004" pitchFamily="2" charset="0"/>
                        </a:rPr>
                        <a:t>18-May-26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kern="1200">
                          <a:solidFill>
                            <a:srgbClr val="00B050"/>
                          </a:solidFill>
                          <a:effectLst/>
                          <a:latin typeface="Adani Light"/>
                          <a:ea typeface="+mn-ea"/>
                          <a:cs typeface="+mn-cs"/>
                        </a:rPr>
                        <a:t>31-Jul-26</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07-02-26 &amp;</a:t>
                      </a:r>
                    </a:p>
                    <a:p>
                      <a:pPr algn="ctr" fontAlgn="ctr">
                        <a:buNone/>
                      </a:pPr>
                      <a:r>
                        <a:rPr lang="en-US" sz="800" b="0" i="0" u="none" strike="noStrike">
                          <a:solidFill>
                            <a:srgbClr val="00B050"/>
                          </a:solidFill>
                          <a:effectLst/>
                          <a:latin typeface="Adani Regular" panose="02000503000000020004" pitchFamily="2" charset="0"/>
                        </a:rPr>
                        <a:t>23-01-26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9-Feb-26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4"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hMerge="1" vMerge="1">
                  <a:txBody>
                    <a:bodyPr/>
                    <a:lstStyle/>
                    <a:p>
                      <a:endParaRPr lang="en-US"/>
                    </a:p>
                  </a:txBody>
                  <a:tcPr/>
                </a:tc>
                <a:extLst>
                  <a:ext uri="{0D108BD9-81ED-4DB2-BD59-A6C34878D82A}">
                    <a16:rowId xmlns:a16="http://schemas.microsoft.com/office/drawing/2014/main" val="3135914725"/>
                  </a:ext>
                </a:extLst>
              </a:tr>
              <a:tr h="226791">
                <a:tc>
                  <a:txBody>
                    <a:bodyPr/>
                    <a:lstStyle/>
                    <a:p>
                      <a:pPr algn="ctr" rtl="0" fontAlgn="ctr">
                        <a:buNone/>
                      </a:pPr>
                      <a:r>
                        <a:rPr lang="en-US" sz="800" b="0" i="0" u="none" strike="noStrike">
                          <a:solidFill>
                            <a:srgbClr val="00B050"/>
                          </a:solidFill>
                          <a:effectLst/>
                          <a:latin typeface="Adani Regular" panose="02000503000000020004" pitchFamily="2" charset="0"/>
                        </a:rPr>
                        <a:t>9</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Control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Gemscab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4510021264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01-May-26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31-May-26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17-Jan-26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4"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hMerge="1" vMerge="1">
                  <a:txBody>
                    <a:bodyPr/>
                    <a:lstStyle/>
                    <a:p>
                      <a:pPr algn="ctr" rtl="0" fontAlgn="ctr">
                        <a:buNone/>
                      </a:pPr>
                      <a:endParaRPr lang="en-US" sz="900" b="0" i="0" u="none" strike="noStrike">
                        <a:solidFill>
                          <a:srgbClr val="33CC33"/>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lang="en-US"/>
                    </a:p>
                  </a:txBody>
                  <a:tcPr/>
                </a:tc>
                <a:extLst>
                  <a:ext uri="{0D108BD9-81ED-4DB2-BD59-A6C34878D82A}">
                    <a16:rowId xmlns:a16="http://schemas.microsoft.com/office/drawing/2014/main" val="2788931383"/>
                  </a:ext>
                </a:extLst>
              </a:tr>
              <a:tr h="269823">
                <a:tc>
                  <a:txBody>
                    <a:bodyPr/>
                    <a:lstStyle/>
                    <a:p>
                      <a:pPr algn="ctr" rtl="0" fontAlgn="ctr">
                        <a:buNone/>
                      </a:pPr>
                      <a:r>
                        <a:rPr lang="en-US" sz="800" b="0" i="0" u="none" strike="noStrike">
                          <a:solidFill>
                            <a:srgbClr val="00B050"/>
                          </a:solidFill>
                          <a:effectLst/>
                          <a:latin typeface="Adani Regular" panose="02000503000000020004" pitchFamily="2" charset="0"/>
                        </a:rPr>
                        <a:t>10</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SCADA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M/s Delton &amp; M/s Suyog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4510021160 &amp; 4510021166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18-May-26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B050"/>
                          </a:solidFill>
                          <a:effectLst/>
                          <a:latin typeface="Adani Regular" panose="02000503000000020004" pitchFamily="2" charset="0"/>
                        </a:rPr>
                        <a:t>20-Jun-26</a:t>
                      </a:r>
                    </a:p>
                    <a:p>
                      <a:pPr algn="ctr" fontAlgn="ctr">
                        <a:buNone/>
                      </a:pPr>
                      <a:r>
                        <a:rPr lang="en-US" sz="800" b="0" i="0" u="none" strike="sngStrike" kern="1200">
                          <a:solidFill>
                            <a:srgbClr val="00B050"/>
                          </a:solidFill>
                          <a:effectLst/>
                          <a:latin typeface="Adani Light"/>
                          <a:ea typeface="+mn-ea"/>
                          <a:cs typeface="+mn-cs"/>
                        </a:rPr>
                        <a:t>30-Jun-26</a:t>
                      </a:r>
                      <a:endParaRPr lang="en-US" sz="800" b="0" i="0" u="none" strike="sng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10-Jan-26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4"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vMerge="1">
                  <a:txBody>
                    <a:bodyPr/>
                    <a:lstStyle/>
                    <a:p>
                      <a:endParaRPr lang="en-US"/>
                    </a:p>
                  </a:txBody>
                  <a:tcPr/>
                </a:tc>
                <a:extLst>
                  <a:ext uri="{0D108BD9-81ED-4DB2-BD59-A6C34878D82A}">
                    <a16:rowId xmlns:a16="http://schemas.microsoft.com/office/drawing/2014/main" val="2720629220"/>
                  </a:ext>
                </a:extLst>
              </a:tr>
              <a:tr h="303820">
                <a:tc>
                  <a:txBody>
                    <a:bodyPr/>
                    <a:lstStyle/>
                    <a:p>
                      <a:pPr algn="ctr" rtl="0" fontAlgn="ctr">
                        <a:buNone/>
                      </a:pPr>
                      <a:r>
                        <a:rPr lang="en-US" sz="800" b="0" i="0" u="none" strike="noStrike">
                          <a:solidFill>
                            <a:srgbClr val="00B050"/>
                          </a:solidFill>
                          <a:effectLst/>
                          <a:latin typeface="Adani Regular" panose="02000503000000020004" pitchFamily="2" charset="0"/>
                        </a:rPr>
                        <a:t>11</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FO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B050"/>
                          </a:solidFill>
                          <a:effectLst/>
                          <a:latin typeface="Adani Regular" panose="02000503000000020004" pitchFamily="2" charset="0"/>
                        </a:rPr>
                        <a:t>Paramount</a:t>
                      </a:r>
                      <a:br>
                        <a:rPr lang="en-US" sz="800" b="0" i="0" u="none" strike="sngStrike">
                          <a:solidFill>
                            <a:srgbClr val="00B050"/>
                          </a:solidFill>
                          <a:effectLst/>
                          <a:latin typeface="Adani Regular" panose="02000503000000020004" pitchFamily="2" charset="0"/>
                        </a:rPr>
                      </a:br>
                      <a:r>
                        <a:rPr lang="en-US" sz="800" b="0" i="0" u="none" strike="noStrike" err="1">
                          <a:solidFill>
                            <a:srgbClr val="00B050"/>
                          </a:solidFill>
                          <a:effectLst/>
                          <a:latin typeface="Adani Regular" panose="02000503000000020004" pitchFamily="2" charset="0"/>
                        </a:rPr>
                        <a:t>WestCoast</a:t>
                      </a:r>
                      <a:endParaRPr lang="en-US" sz="800" b="0" i="0" u="none" strike="noStrike">
                        <a:solidFill>
                          <a:srgbClr val="00B050"/>
                        </a:solidFill>
                        <a:effectLst/>
                        <a:latin typeface="Adani Regular" panose="02000503000000020004" pitchFamily="2"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4510021123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3-Jan-26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algn="ctr" defTabSz="914400" rtl="0" eaLnBrk="1" fontAlgn="ctr" latinLnBrk="0" hangingPunct="1">
                        <a:buNone/>
                      </a:pPr>
                      <a:r>
                        <a:rPr lang="en-US" sz="800" b="0" i="0" u="none" strike="noStrike" kern="1200">
                          <a:solidFill>
                            <a:srgbClr val="00B050"/>
                          </a:solidFill>
                          <a:effectLst/>
                          <a:latin typeface="Adani Light"/>
                          <a:ea typeface="+mn-ea"/>
                          <a:cs typeface="+mn-cs"/>
                        </a:rPr>
                        <a:t>08-Jun-26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a:solidFill>
                            <a:srgbClr val="00B050"/>
                          </a:solidFill>
                          <a:effectLst/>
                          <a:latin typeface="Adani Light"/>
                          <a:ea typeface="+mn-ea"/>
                          <a:cs typeface="+mn-cs"/>
                        </a:rPr>
                        <a:t>08-Jun-26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same as of phase one (14/05/25)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B050"/>
                          </a:solidFill>
                          <a:effectLst/>
                          <a:latin typeface="Adani Regular" panose="02000503000000020004" pitchFamily="2"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dirty="0">
                          <a:solidFill>
                            <a:srgbClr val="00B050"/>
                          </a:solidFill>
                          <a:effectLst/>
                          <a:latin typeface="Adani Regular" panose="02000503000000020004" pitchFamily="2"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gridSpan="4" v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hMerge="1" vMerge="1">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hMerge="1" vMerge="1">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hMerge="1" vMerge="1">
                  <a:txBody>
                    <a:bodyPr/>
                    <a:lstStyle/>
                    <a:p>
                      <a:endParaRPr lang="en-US"/>
                    </a:p>
                  </a:txBody>
                  <a:tcPr/>
                </a:tc>
                <a:extLst>
                  <a:ext uri="{0D108BD9-81ED-4DB2-BD59-A6C34878D82A}">
                    <a16:rowId xmlns:a16="http://schemas.microsoft.com/office/drawing/2014/main" val="3116042122"/>
                  </a:ext>
                </a:extLst>
              </a:tr>
            </a:tbl>
          </a:graphicData>
        </a:graphic>
      </p:graphicFrame>
    </p:spTree>
    <p:extLst>
      <p:ext uri="{BB962C8B-B14F-4D97-AF65-F5344CB8AC3E}">
        <p14:creationId xmlns:p14="http://schemas.microsoft.com/office/powerpoint/2010/main" val="19245552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C77E9-C850-3A12-8E1C-9D35943DB682}"/>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761CE2EE-7CA6-C13C-5841-14A38F2E4095}"/>
              </a:ext>
            </a:extLst>
          </p:cNvPr>
          <p:cNvSpPr txBox="1">
            <a:spLocks/>
          </p:cNvSpPr>
          <p:nvPr/>
        </p:nvSpPr>
        <p:spPr>
          <a:xfrm>
            <a:off x="0" y="4407108"/>
            <a:ext cx="12192000" cy="719528"/>
          </a:xfrm>
          <a:prstGeom prst="rect">
            <a:avLst/>
          </a:prstGeom>
        </p:spPr>
        <p:txBody>
          <a:bodyPr vert="horz" lIns="91440" tIns="45720" rIns="91440" bIns="45720" rtlCol="0" anchor="t">
            <a:normAutofit/>
          </a:bodyPr>
          <a:lstStyle>
            <a:lvl1pPr algn="l" defTabSz="1219170" rtl="0" eaLnBrk="1" latinLnBrk="0" hangingPunct="1">
              <a:spcBef>
                <a:spcPct val="0"/>
              </a:spcBef>
              <a:buNone/>
              <a:defRPr sz="3733" b="0" kern="1200" cap="none" baseline="0">
                <a:solidFill>
                  <a:schemeClr val="bg1"/>
                </a:solidFill>
                <a:latin typeface="Adani Regular" pitchFamily="2" charset="0"/>
                <a:ea typeface="+mj-ea"/>
                <a:cs typeface="+mj-cs"/>
              </a:defRPr>
            </a:lvl1pPr>
          </a:lstStyle>
          <a:p>
            <a:pPr algn="ctr"/>
            <a:r>
              <a:rPr lang="en-IN" b="1"/>
              <a:t>PSS-11, 12 &amp; 10B Progress</a:t>
            </a:r>
          </a:p>
        </p:txBody>
      </p:sp>
    </p:spTree>
    <p:extLst>
      <p:ext uri="{BB962C8B-B14F-4D97-AF65-F5344CB8AC3E}">
        <p14:creationId xmlns:p14="http://schemas.microsoft.com/office/powerpoint/2010/main" val="13389606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C16B6-2A10-BDE5-26AF-43F0AFD886F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F40F8E-D3FE-0C1B-F86F-F7135505CE79}"/>
              </a:ext>
            </a:extLst>
          </p:cNvPr>
          <p:cNvSpPr>
            <a:spLocks noGrp="1"/>
          </p:cNvSpPr>
          <p:nvPr>
            <p:ph type="sldNum" sz="quarter" idx="12"/>
          </p:nvPr>
        </p:nvSpPr>
        <p:spPr>
          <a:xfrm>
            <a:off x="9329408" y="6542887"/>
            <a:ext cx="2844800" cy="365125"/>
          </a:xfrm>
        </p:spPr>
        <p:txBody>
          <a:bodyPr/>
          <a:lstStyle/>
          <a:p>
            <a:fld id="{98B285C1-D8A8-4E98-B28C-1FD972D8EC54}" type="slidenum">
              <a:rPr lang="en-IN" smtClean="0"/>
              <a:t>21</a:t>
            </a:fld>
            <a:endParaRPr lang="en-IN"/>
          </a:p>
        </p:txBody>
      </p:sp>
      <p:sp>
        <p:nvSpPr>
          <p:cNvPr id="5" name="Rectangle 2">
            <a:extLst>
              <a:ext uri="{FF2B5EF4-FFF2-40B4-BE49-F238E27FC236}">
                <a16:creationId xmlns:a16="http://schemas.microsoft.com/office/drawing/2014/main" id="{FF2B2BB0-1033-6900-6529-044A202E7C6C}"/>
              </a:ext>
            </a:extLst>
          </p:cNvPr>
          <p:cNvSpPr txBox="1">
            <a:spLocks noChangeArrowheads="1"/>
          </p:cNvSpPr>
          <p:nvPr/>
        </p:nvSpPr>
        <p:spPr>
          <a:xfrm>
            <a:off x="130740" y="93821"/>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highlight>
                  <a:srgbClr val="33CC33"/>
                </a:highlight>
              </a:rPr>
              <a:t>Civil Construction Progress (Plan vs Actual) (PSS-11)</a:t>
            </a:r>
          </a:p>
        </p:txBody>
      </p:sp>
      <p:graphicFrame>
        <p:nvGraphicFramePr>
          <p:cNvPr id="9" name="Table 8">
            <a:extLst>
              <a:ext uri="{FF2B5EF4-FFF2-40B4-BE49-F238E27FC236}">
                <a16:creationId xmlns:a16="http://schemas.microsoft.com/office/drawing/2014/main" id="{D2CCECF9-1921-8B71-C9E4-FEBB125C7D70}"/>
              </a:ext>
            </a:extLst>
          </p:cNvPr>
          <p:cNvGraphicFramePr>
            <a:graphicFrameLocks noGrp="1"/>
          </p:cNvGraphicFramePr>
          <p:nvPr>
            <p:extLst>
              <p:ext uri="{D42A27DB-BD31-4B8C-83A1-F6EECF244321}">
                <p14:modId xmlns:p14="http://schemas.microsoft.com/office/powerpoint/2010/main" val="3173040473"/>
              </p:ext>
            </p:extLst>
          </p:nvPr>
        </p:nvGraphicFramePr>
        <p:xfrm>
          <a:off x="4867595" y="6365129"/>
          <a:ext cx="4457700" cy="464820"/>
        </p:xfrm>
        <a:graphic>
          <a:graphicData uri="http://schemas.openxmlformats.org/drawingml/2006/table">
            <a:tbl>
              <a:tblPr/>
              <a:tblGrid>
                <a:gridCol w="800100">
                  <a:extLst>
                    <a:ext uri="{9D8B030D-6E8A-4147-A177-3AD203B41FA5}">
                      <a16:colId xmlns:a16="http://schemas.microsoft.com/office/drawing/2014/main" val="2003022228"/>
                    </a:ext>
                  </a:extLst>
                </a:gridCol>
                <a:gridCol w="609600">
                  <a:extLst>
                    <a:ext uri="{9D8B030D-6E8A-4147-A177-3AD203B41FA5}">
                      <a16:colId xmlns:a16="http://schemas.microsoft.com/office/drawing/2014/main" val="386611681"/>
                    </a:ext>
                  </a:extLst>
                </a:gridCol>
                <a:gridCol w="609600">
                  <a:extLst>
                    <a:ext uri="{9D8B030D-6E8A-4147-A177-3AD203B41FA5}">
                      <a16:colId xmlns:a16="http://schemas.microsoft.com/office/drawing/2014/main" val="4175942649"/>
                    </a:ext>
                  </a:extLst>
                </a:gridCol>
                <a:gridCol w="609600">
                  <a:extLst>
                    <a:ext uri="{9D8B030D-6E8A-4147-A177-3AD203B41FA5}">
                      <a16:colId xmlns:a16="http://schemas.microsoft.com/office/drawing/2014/main" val="1926220521"/>
                    </a:ext>
                  </a:extLst>
                </a:gridCol>
                <a:gridCol w="1828800">
                  <a:extLst>
                    <a:ext uri="{9D8B030D-6E8A-4147-A177-3AD203B41FA5}">
                      <a16:colId xmlns:a16="http://schemas.microsoft.com/office/drawing/2014/main" val="2452885526"/>
                    </a:ext>
                  </a:extLst>
                </a:gridCol>
              </a:tblGrid>
              <a:tr h="190500">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0070C0"/>
                    </a:solidFill>
                  </a:tcPr>
                </a:tc>
                <a:tc>
                  <a:txBody>
                    <a:bodyPr/>
                    <a:lstStyle/>
                    <a:p>
                      <a:pPr algn="l" fontAlgn="ctr">
                        <a:buNone/>
                      </a:pPr>
                      <a:r>
                        <a:rPr lang="en-US" sz="900" b="0" i="0" u="none" strike="noStrike">
                          <a:solidFill>
                            <a:srgbClr val="000000"/>
                          </a:solidFill>
                          <a:effectLst/>
                          <a:latin typeface="Adani Light" panose="02000503000000020004" pitchFamily="2" charset="0"/>
                        </a:rPr>
                        <a:t>Plan</a:t>
                      </a:r>
                    </a:p>
                  </a:txBody>
                  <a:tcPr marL="0" marR="0" marT="0" marB="0" anchor="ctr">
                    <a:lnL>
                      <a:noFill/>
                    </a:lnL>
                    <a:lnR>
                      <a:noFill/>
                    </a:lnR>
                    <a:lnT>
                      <a:noFill/>
                    </a:lnT>
                    <a:lnB>
                      <a:noFill/>
                    </a:lnB>
                    <a:noFill/>
                  </a:tcPr>
                </a:tc>
                <a:tc>
                  <a:txBody>
                    <a:bodyPr/>
                    <a:lstStyle/>
                    <a:p>
                      <a:pPr algn="l" fontAlgn="ctr">
                        <a:buNone/>
                      </a:pPr>
                      <a:endParaRPr lang="en-US" sz="900" b="0" i="0" u="none" strike="noStrike">
                        <a:solidFill>
                          <a:srgbClr val="000000"/>
                        </a:solidFill>
                        <a:effectLst/>
                        <a:latin typeface="Adani Light" panose="02000503000000020004" pitchFamily="2" charset="0"/>
                      </a:endParaRPr>
                    </a:p>
                  </a:txBody>
                  <a:tcPr marL="0" marR="0" marT="0" marB="0" anchor="ctr">
                    <a:lnL>
                      <a:noFill/>
                    </a:lnL>
                    <a:lnR>
                      <a:noFill/>
                    </a:lnR>
                    <a:lnT>
                      <a:noFill/>
                    </a:lnT>
                    <a:lnB>
                      <a:noFill/>
                    </a:lnB>
                    <a:noFill/>
                  </a:tcPr>
                </a:tc>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00B050"/>
                    </a:solidFill>
                  </a:tcPr>
                </a:tc>
                <a:tc>
                  <a:txBody>
                    <a:bodyPr/>
                    <a:lstStyle/>
                    <a:p>
                      <a:pPr algn="l" fontAlgn="ctr">
                        <a:buNone/>
                      </a:pPr>
                      <a:r>
                        <a:rPr lang="en-US" sz="900" b="0" i="0" u="none" strike="noStrike">
                          <a:solidFill>
                            <a:srgbClr val="000000"/>
                          </a:solidFill>
                          <a:effectLst/>
                          <a:latin typeface="Adani Light" panose="02000503000000020004" pitchFamily="2" charset="0"/>
                        </a:rPr>
                        <a:t>Actual (80% plan achieved)</a:t>
                      </a:r>
                    </a:p>
                  </a:txBody>
                  <a:tcPr marL="0" marR="0" marT="0" marB="0" anchor="ctr">
                    <a:lnL>
                      <a:noFill/>
                    </a:lnL>
                    <a:lnR>
                      <a:noFill/>
                    </a:lnR>
                    <a:lnT>
                      <a:noFill/>
                    </a:lnT>
                    <a:lnB>
                      <a:noFill/>
                    </a:lnB>
                    <a:noFill/>
                  </a:tcPr>
                </a:tc>
                <a:extLst>
                  <a:ext uri="{0D108BD9-81ED-4DB2-BD59-A6C34878D82A}">
                    <a16:rowId xmlns:a16="http://schemas.microsoft.com/office/drawing/2014/main" val="3436216477"/>
                  </a:ext>
                </a:extLst>
              </a:tr>
              <a:tr h="190500">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FFFF00"/>
                    </a:solidFill>
                  </a:tcPr>
                </a:tc>
                <a:tc gridSpan="2">
                  <a:txBody>
                    <a:bodyPr/>
                    <a:lstStyle/>
                    <a:p>
                      <a:pPr algn="l" fontAlgn="ctr">
                        <a:buNone/>
                      </a:pPr>
                      <a:r>
                        <a:rPr lang="en-US" sz="900" b="0" i="0" u="none" strike="noStrike">
                          <a:solidFill>
                            <a:srgbClr val="000000"/>
                          </a:solidFill>
                          <a:effectLst/>
                          <a:latin typeface="Adani Light" panose="02000503000000020004" pitchFamily="2" charset="0"/>
                        </a:rPr>
                        <a:t>Actual (between 40% to 80% plan achieved)</a:t>
                      </a:r>
                    </a:p>
                  </a:txBody>
                  <a:tcPr marL="0" marR="0" marT="0" marB="0" anchor="ctr">
                    <a:lnL>
                      <a:noFill/>
                    </a:lnL>
                    <a:lnR>
                      <a:noFill/>
                    </a:lnR>
                    <a:lnT>
                      <a:noFill/>
                    </a:lnT>
                    <a:lnB>
                      <a:noFill/>
                    </a:lnB>
                    <a:noFill/>
                  </a:tcPr>
                </a:tc>
                <a:tc hMerge="1">
                  <a:txBody>
                    <a:bodyPr/>
                    <a:lstStyle/>
                    <a:p>
                      <a:endParaRPr lang="en-US"/>
                    </a:p>
                  </a:txBody>
                  <a:tcPr/>
                </a:tc>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FF0000"/>
                    </a:solidFill>
                  </a:tcPr>
                </a:tc>
                <a:tc>
                  <a:txBody>
                    <a:bodyPr/>
                    <a:lstStyle/>
                    <a:p>
                      <a:pPr algn="l" fontAlgn="ctr">
                        <a:buNone/>
                      </a:pPr>
                      <a:r>
                        <a:rPr lang="en-US" sz="900" b="0" i="0" u="none" strike="noStrike">
                          <a:solidFill>
                            <a:srgbClr val="000000"/>
                          </a:solidFill>
                          <a:effectLst/>
                          <a:latin typeface="Adani Light" panose="02000503000000020004" pitchFamily="2" charset="0"/>
                        </a:rPr>
                        <a:t>Actual (below 40% plan achieved)</a:t>
                      </a:r>
                    </a:p>
                  </a:txBody>
                  <a:tcPr marL="0" marR="0" marT="0" marB="0" anchor="ctr">
                    <a:lnL>
                      <a:noFill/>
                    </a:lnL>
                    <a:lnR>
                      <a:noFill/>
                    </a:lnR>
                    <a:lnT>
                      <a:noFill/>
                    </a:lnT>
                    <a:lnB>
                      <a:noFill/>
                    </a:lnB>
                    <a:noFill/>
                  </a:tcPr>
                </a:tc>
                <a:extLst>
                  <a:ext uri="{0D108BD9-81ED-4DB2-BD59-A6C34878D82A}">
                    <a16:rowId xmlns:a16="http://schemas.microsoft.com/office/drawing/2014/main" val="3622008970"/>
                  </a:ext>
                </a:extLst>
              </a:tr>
            </a:tbl>
          </a:graphicData>
        </a:graphic>
      </p:graphicFrame>
      <p:sp>
        <p:nvSpPr>
          <p:cNvPr id="7" name="Arrow: Right 6">
            <a:hlinkClick r:id="rId3" action="ppaction://hlinksldjump"/>
            <a:extLst>
              <a:ext uri="{FF2B5EF4-FFF2-40B4-BE49-F238E27FC236}">
                <a16:creationId xmlns:a16="http://schemas.microsoft.com/office/drawing/2014/main" id="{A9442922-B6BA-AAD5-BC09-880DF7F54260}"/>
              </a:ext>
            </a:extLst>
          </p:cNvPr>
          <p:cNvSpPr/>
          <p:nvPr/>
        </p:nvSpPr>
        <p:spPr>
          <a:xfrm>
            <a:off x="11381603" y="6702539"/>
            <a:ext cx="237764" cy="155461"/>
          </a:xfrm>
          <a:prstGeom prst="righ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D6EEE2C5-4060-A4B2-7471-178924BA82F1}"/>
              </a:ext>
            </a:extLst>
          </p:cNvPr>
          <p:cNvPicPr>
            <a:picLocks noChangeAspect="1"/>
          </p:cNvPicPr>
          <p:nvPr/>
        </p:nvPicPr>
        <p:blipFill>
          <a:blip r:embed="rId4"/>
          <a:stretch>
            <a:fillRect/>
          </a:stretch>
        </p:blipFill>
        <p:spPr>
          <a:xfrm>
            <a:off x="53975" y="5035635"/>
            <a:ext cx="7048500" cy="1206457"/>
          </a:xfrm>
          <a:prstGeom prst="rect">
            <a:avLst/>
          </a:prstGeom>
        </p:spPr>
      </p:pic>
      <p:graphicFrame>
        <p:nvGraphicFramePr>
          <p:cNvPr id="16" name="Chart 15">
            <a:extLst>
              <a:ext uri="{FF2B5EF4-FFF2-40B4-BE49-F238E27FC236}">
                <a16:creationId xmlns:a16="http://schemas.microsoft.com/office/drawing/2014/main" id="{70F6314A-3424-4A70-8EBC-784553BF3E4A}"/>
              </a:ext>
            </a:extLst>
          </p:cNvPr>
          <p:cNvGraphicFramePr>
            <a:graphicFrameLocks/>
          </p:cNvGraphicFramePr>
          <p:nvPr>
            <p:extLst>
              <p:ext uri="{D42A27DB-BD31-4B8C-83A1-F6EECF244321}">
                <p14:modId xmlns:p14="http://schemas.microsoft.com/office/powerpoint/2010/main" val="3528913101"/>
              </p:ext>
            </p:extLst>
          </p:nvPr>
        </p:nvGraphicFramePr>
        <p:xfrm>
          <a:off x="7212542" y="5035635"/>
          <a:ext cx="4864475" cy="1273963"/>
        </p:xfrm>
        <a:graphic>
          <a:graphicData uri="http://schemas.openxmlformats.org/drawingml/2006/chart">
            <c:chart xmlns:c="http://schemas.openxmlformats.org/drawingml/2006/chart" xmlns:r="http://schemas.openxmlformats.org/officeDocument/2006/relationships" r:id="rId5"/>
          </a:graphicData>
        </a:graphic>
      </p:graphicFrame>
      <p:pic>
        <p:nvPicPr>
          <p:cNvPr id="6" name="Picture 5">
            <a:extLst>
              <a:ext uri="{FF2B5EF4-FFF2-40B4-BE49-F238E27FC236}">
                <a16:creationId xmlns:a16="http://schemas.microsoft.com/office/drawing/2014/main" id="{2291C63B-5174-109B-32FC-541956F45470}"/>
              </a:ext>
            </a:extLst>
          </p:cNvPr>
          <p:cNvPicPr>
            <a:picLocks noChangeAspect="1"/>
          </p:cNvPicPr>
          <p:nvPr/>
        </p:nvPicPr>
        <p:blipFill>
          <a:blip r:embed="rId6"/>
          <a:stretch>
            <a:fillRect/>
          </a:stretch>
        </p:blipFill>
        <p:spPr>
          <a:xfrm>
            <a:off x="47943" y="570655"/>
            <a:ext cx="7048501" cy="4258206"/>
          </a:xfrm>
          <a:prstGeom prst="rect">
            <a:avLst/>
          </a:prstGeom>
        </p:spPr>
      </p:pic>
      <p:graphicFrame>
        <p:nvGraphicFramePr>
          <p:cNvPr id="10" name="Chart 9">
            <a:extLst>
              <a:ext uri="{FF2B5EF4-FFF2-40B4-BE49-F238E27FC236}">
                <a16:creationId xmlns:a16="http://schemas.microsoft.com/office/drawing/2014/main" id="{9EA5DAF1-2FEE-431D-9DEC-7162D82DCB4C}"/>
              </a:ext>
            </a:extLst>
          </p:cNvPr>
          <p:cNvGraphicFramePr>
            <a:graphicFrameLocks/>
          </p:cNvGraphicFramePr>
          <p:nvPr>
            <p:extLst>
              <p:ext uri="{D42A27DB-BD31-4B8C-83A1-F6EECF244321}">
                <p14:modId xmlns:p14="http://schemas.microsoft.com/office/powerpoint/2010/main" val="848540296"/>
              </p:ext>
            </p:extLst>
          </p:nvPr>
        </p:nvGraphicFramePr>
        <p:xfrm>
          <a:off x="7212542" y="570654"/>
          <a:ext cx="4864475" cy="4231692"/>
        </p:xfrm>
        <a:graphic>
          <a:graphicData uri="http://schemas.openxmlformats.org/drawingml/2006/chart">
            <c:chart xmlns:c="http://schemas.openxmlformats.org/drawingml/2006/chart" xmlns:r="http://schemas.openxmlformats.org/officeDocument/2006/relationships" r:id="rId7"/>
          </a:graphicData>
        </a:graphic>
      </p:graphicFrame>
      <p:sp>
        <p:nvSpPr>
          <p:cNvPr id="8" name="TextBox 7">
            <a:hlinkClick r:id="rId8"/>
            <a:extLst>
              <a:ext uri="{FF2B5EF4-FFF2-40B4-BE49-F238E27FC236}">
                <a16:creationId xmlns:a16="http://schemas.microsoft.com/office/drawing/2014/main" id="{A95EDF04-A138-2CD1-BB7B-1EA27E84412F}"/>
              </a:ext>
            </a:extLst>
          </p:cNvPr>
          <p:cNvSpPr txBox="1"/>
          <p:nvPr/>
        </p:nvSpPr>
        <p:spPr>
          <a:xfrm>
            <a:off x="130740" y="6365129"/>
            <a:ext cx="4579483" cy="369332"/>
          </a:xfrm>
          <a:prstGeom prst="rect">
            <a:avLst/>
          </a:prstGeom>
          <a:noFill/>
        </p:spPr>
        <p:txBody>
          <a:bodyPr wrap="square" rtlCol="0">
            <a:spAutoFit/>
          </a:bodyPr>
          <a:lstStyle/>
          <a:p>
            <a:r>
              <a:rPr lang="en-US">
                <a:hlinkClick r:id="rId9"/>
              </a:rPr>
              <a:t>Link</a:t>
            </a:r>
            <a:r>
              <a:rPr lang="en-US"/>
              <a:t> </a:t>
            </a:r>
          </a:p>
        </p:txBody>
      </p:sp>
    </p:spTree>
    <p:extLst>
      <p:ext uri="{BB962C8B-B14F-4D97-AF65-F5344CB8AC3E}">
        <p14:creationId xmlns:p14="http://schemas.microsoft.com/office/powerpoint/2010/main" val="887929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2A643-EECB-D2B9-E1BB-E706F44C0477}"/>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F62246D1-BBE3-02E2-8512-5BDD3D309FB0}"/>
              </a:ext>
            </a:extLst>
          </p:cNvPr>
          <p:cNvSpPr txBox="1">
            <a:spLocks noChangeArrowheads="1"/>
          </p:cNvSpPr>
          <p:nvPr/>
        </p:nvSpPr>
        <p:spPr>
          <a:xfrm>
            <a:off x="185413" y="141975"/>
            <a:ext cx="11067531" cy="433120"/>
          </a:xfrm>
          <a:prstGeom prst="rect">
            <a:avLst/>
          </a:prstGeom>
        </p:spPr>
        <p:txBody>
          <a:bodyPr lIns="91440" tIns="45720" rIns="91440" bIns="4572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IN" sz="2200" b="1">
                <a:solidFill>
                  <a:srgbClr val="912A82"/>
                </a:solidFill>
                <a:highlight>
                  <a:srgbClr val="33CC33"/>
                </a:highlight>
              </a:rPr>
              <a:t>Electrical Plan Vs Actual Summary PSS 11 </a:t>
            </a:r>
          </a:p>
        </p:txBody>
      </p:sp>
      <p:sp>
        <p:nvSpPr>
          <p:cNvPr id="4" name="Arrow: Left 3">
            <a:hlinkClick r:id="" action="ppaction://noaction"/>
            <a:extLst>
              <a:ext uri="{FF2B5EF4-FFF2-40B4-BE49-F238E27FC236}">
                <a16:creationId xmlns:a16="http://schemas.microsoft.com/office/drawing/2014/main" id="{8DB15E9E-6E9B-2B43-449E-5D07D875D4DA}"/>
              </a:ext>
            </a:extLst>
          </p:cNvPr>
          <p:cNvSpPr/>
          <p:nvPr/>
        </p:nvSpPr>
        <p:spPr>
          <a:xfrm>
            <a:off x="10928057" y="6710745"/>
            <a:ext cx="209862" cy="122744"/>
          </a:xfrm>
          <a:prstGeom prst="leftArrow">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row: Right 2">
            <a:hlinkClick r:id="" action="ppaction://noaction"/>
            <a:extLst>
              <a:ext uri="{FF2B5EF4-FFF2-40B4-BE49-F238E27FC236}">
                <a16:creationId xmlns:a16="http://schemas.microsoft.com/office/drawing/2014/main" id="{3F2CD7AF-C79D-0C4E-6E36-193C9061B27E}"/>
              </a:ext>
            </a:extLst>
          </p:cNvPr>
          <p:cNvSpPr/>
          <p:nvPr/>
        </p:nvSpPr>
        <p:spPr>
          <a:xfrm>
            <a:off x="11255997" y="6710745"/>
            <a:ext cx="209862" cy="123898"/>
          </a:xfrm>
          <a:prstGeom prst="rightArrow">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F389AF0-7510-CDD2-BD30-5C2AA911CFEB}"/>
              </a:ext>
            </a:extLst>
          </p:cNvPr>
          <p:cNvPicPr>
            <a:picLocks noChangeAspect="1"/>
          </p:cNvPicPr>
          <p:nvPr/>
        </p:nvPicPr>
        <p:blipFill>
          <a:blip r:embed="rId4"/>
          <a:stretch>
            <a:fillRect/>
          </a:stretch>
        </p:blipFill>
        <p:spPr>
          <a:xfrm>
            <a:off x="340464" y="819011"/>
            <a:ext cx="6343650" cy="5219978"/>
          </a:xfrm>
          <a:prstGeom prst="rect">
            <a:avLst/>
          </a:prstGeom>
        </p:spPr>
      </p:pic>
      <p:graphicFrame>
        <p:nvGraphicFramePr>
          <p:cNvPr id="8" name="Chart 7">
            <a:extLst>
              <a:ext uri="{FF2B5EF4-FFF2-40B4-BE49-F238E27FC236}">
                <a16:creationId xmlns:a16="http://schemas.microsoft.com/office/drawing/2014/main" id="{90987D53-DFC1-E761-07C8-7817095197EC}"/>
              </a:ext>
            </a:extLst>
          </p:cNvPr>
          <p:cNvGraphicFramePr>
            <a:graphicFrameLocks/>
          </p:cNvGraphicFramePr>
          <p:nvPr>
            <p:extLst>
              <p:ext uri="{D42A27DB-BD31-4B8C-83A1-F6EECF244321}">
                <p14:modId xmlns:p14="http://schemas.microsoft.com/office/powerpoint/2010/main" val="1948375147"/>
              </p:ext>
            </p:extLst>
          </p:nvPr>
        </p:nvGraphicFramePr>
        <p:xfrm>
          <a:off x="6885455" y="802204"/>
          <a:ext cx="4580404" cy="5219978"/>
        </p:xfrm>
        <a:graphic>
          <a:graphicData uri="http://schemas.openxmlformats.org/drawingml/2006/chart">
            <c:chart xmlns:c="http://schemas.openxmlformats.org/drawingml/2006/chart" xmlns:r="http://schemas.openxmlformats.org/officeDocument/2006/relationships" r:id="rId5"/>
          </a:graphicData>
        </a:graphic>
      </p:graphicFrame>
      <p:sp>
        <p:nvSpPr>
          <p:cNvPr id="6" name="TextBox 5">
            <a:hlinkClick r:id="rId6"/>
            <a:extLst>
              <a:ext uri="{FF2B5EF4-FFF2-40B4-BE49-F238E27FC236}">
                <a16:creationId xmlns:a16="http://schemas.microsoft.com/office/drawing/2014/main" id="{6B6AA83D-5E02-0F7E-8C69-A6AFAD627BE9}"/>
              </a:ext>
            </a:extLst>
          </p:cNvPr>
          <p:cNvSpPr txBox="1"/>
          <p:nvPr/>
        </p:nvSpPr>
        <p:spPr>
          <a:xfrm>
            <a:off x="130740" y="6365129"/>
            <a:ext cx="4579483" cy="369332"/>
          </a:xfrm>
          <a:prstGeom prst="rect">
            <a:avLst/>
          </a:prstGeom>
          <a:noFill/>
        </p:spPr>
        <p:txBody>
          <a:bodyPr wrap="square" rtlCol="0">
            <a:spAutoFit/>
          </a:bodyPr>
          <a:lstStyle/>
          <a:p>
            <a:r>
              <a:rPr lang="en-US">
                <a:hlinkClick r:id="rId7"/>
              </a:rPr>
              <a:t>Link</a:t>
            </a:r>
            <a:r>
              <a:rPr lang="en-US"/>
              <a:t> </a:t>
            </a:r>
          </a:p>
        </p:txBody>
      </p:sp>
    </p:spTree>
    <p:extLst>
      <p:ext uri="{BB962C8B-B14F-4D97-AF65-F5344CB8AC3E}">
        <p14:creationId xmlns:p14="http://schemas.microsoft.com/office/powerpoint/2010/main" val="427714138"/>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11FEC-A218-CF85-B9A0-7505C0DFDA6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8417EE-9C64-9FE6-A280-9A430E66A6A6}"/>
              </a:ext>
            </a:extLst>
          </p:cNvPr>
          <p:cNvSpPr>
            <a:spLocks noGrp="1"/>
          </p:cNvSpPr>
          <p:nvPr>
            <p:ph type="sldNum" sz="quarter" idx="12"/>
          </p:nvPr>
        </p:nvSpPr>
        <p:spPr>
          <a:xfrm>
            <a:off x="9347200" y="6399054"/>
            <a:ext cx="2844800" cy="365125"/>
          </a:xfrm>
        </p:spPr>
        <p:txBody>
          <a:bodyPr/>
          <a:lstStyle/>
          <a:p>
            <a:fld id="{98B285C1-D8A8-4E98-B28C-1FD972D8EC54}" type="slidenum">
              <a:rPr lang="en-IN" smtClean="0"/>
              <a:t>23</a:t>
            </a:fld>
            <a:endParaRPr lang="en-IN"/>
          </a:p>
        </p:txBody>
      </p:sp>
      <p:sp>
        <p:nvSpPr>
          <p:cNvPr id="5" name="Rectangle 2">
            <a:extLst>
              <a:ext uri="{FF2B5EF4-FFF2-40B4-BE49-F238E27FC236}">
                <a16:creationId xmlns:a16="http://schemas.microsoft.com/office/drawing/2014/main" id="{BBA50B37-0F76-6C62-CE3E-C22E2772763F}"/>
              </a:ext>
            </a:extLst>
          </p:cNvPr>
          <p:cNvSpPr txBox="1">
            <a:spLocks noChangeArrowheads="1"/>
          </p:cNvSpPr>
          <p:nvPr/>
        </p:nvSpPr>
        <p:spPr>
          <a:xfrm>
            <a:off x="130740" y="93821"/>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highlight>
                  <a:srgbClr val="33CC33"/>
                </a:highlight>
              </a:rPr>
              <a:t>Construction Progress (Plan VS Actual) (PSS-12)</a:t>
            </a:r>
          </a:p>
        </p:txBody>
      </p:sp>
      <p:graphicFrame>
        <p:nvGraphicFramePr>
          <p:cNvPr id="8" name="Table 7">
            <a:extLst>
              <a:ext uri="{FF2B5EF4-FFF2-40B4-BE49-F238E27FC236}">
                <a16:creationId xmlns:a16="http://schemas.microsoft.com/office/drawing/2014/main" id="{8DBF99F2-F715-3422-EA25-646E2B8B8492}"/>
              </a:ext>
            </a:extLst>
          </p:cNvPr>
          <p:cNvGraphicFramePr>
            <a:graphicFrameLocks noGrp="1"/>
          </p:cNvGraphicFramePr>
          <p:nvPr>
            <p:extLst>
              <p:ext uri="{D42A27DB-BD31-4B8C-83A1-F6EECF244321}">
                <p14:modId xmlns:p14="http://schemas.microsoft.com/office/powerpoint/2010/main" val="3810040762"/>
              </p:ext>
            </p:extLst>
          </p:nvPr>
        </p:nvGraphicFramePr>
        <p:xfrm>
          <a:off x="4889500" y="6376571"/>
          <a:ext cx="4457700" cy="423962"/>
        </p:xfrm>
        <a:graphic>
          <a:graphicData uri="http://schemas.openxmlformats.org/drawingml/2006/table">
            <a:tbl>
              <a:tblPr/>
              <a:tblGrid>
                <a:gridCol w="800100">
                  <a:extLst>
                    <a:ext uri="{9D8B030D-6E8A-4147-A177-3AD203B41FA5}">
                      <a16:colId xmlns:a16="http://schemas.microsoft.com/office/drawing/2014/main" val="612424164"/>
                    </a:ext>
                  </a:extLst>
                </a:gridCol>
                <a:gridCol w="609600">
                  <a:extLst>
                    <a:ext uri="{9D8B030D-6E8A-4147-A177-3AD203B41FA5}">
                      <a16:colId xmlns:a16="http://schemas.microsoft.com/office/drawing/2014/main" val="2294293670"/>
                    </a:ext>
                  </a:extLst>
                </a:gridCol>
                <a:gridCol w="609600">
                  <a:extLst>
                    <a:ext uri="{9D8B030D-6E8A-4147-A177-3AD203B41FA5}">
                      <a16:colId xmlns:a16="http://schemas.microsoft.com/office/drawing/2014/main" val="2614982559"/>
                    </a:ext>
                  </a:extLst>
                </a:gridCol>
                <a:gridCol w="609600">
                  <a:extLst>
                    <a:ext uri="{9D8B030D-6E8A-4147-A177-3AD203B41FA5}">
                      <a16:colId xmlns:a16="http://schemas.microsoft.com/office/drawing/2014/main" val="1030459174"/>
                    </a:ext>
                  </a:extLst>
                </a:gridCol>
                <a:gridCol w="1828800">
                  <a:extLst>
                    <a:ext uri="{9D8B030D-6E8A-4147-A177-3AD203B41FA5}">
                      <a16:colId xmlns:a16="http://schemas.microsoft.com/office/drawing/2014/main" val="1044490668"/>
                    </a:ext>
                  </a:extLst>
                </a:gridCol>
              </a:tblGrid>
              <a:tr h="149642">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0070C0"/>
                    </a:solidFill>
                  </a:tcPr>
                </a:tc>
                <a:tc>
                  <a:txBody>
                    <a:bodyPr/>
                    <a:lstStyle/>
                    <a:p>
                      <a:pPr algn="l" fontAlgn="ctr">
                        <a:buNone/>
                      </a:pPr>
                      <a:r>
                        <a:rPr lang="en-US" sz="900" b="0" i="0" u="none" strike="noStrike">
                          <a:solidFill>
                            <a:srgbClr val="000000"/>
                          </a:solidFill>
                          <a:effectLst/>
                          <a:latin typeface="Adani Light" panose="02000503000000020004" pitchFamily="2" charset="0"/>
                        </a:rPr>
                        <a:t>Plan</a:t>
                      </a:r>
                    </a:p>
                  </a:txBody>
                  <a:tcPr marL="0" marR="0" marT="0" marB="0" anchor="ctr">
                    <a:lnL>
                      <a:noFill/>
                    </a:lnL>
                    <a:lnR>
                      <a:noFill/>
                    </a:lnR>
                    <a:lnT>
                      <a:noFill/>
                    </a:lnT>
                    <a:lnB>
                      <a:noFill/>
                    </a:lnB>
                    <a:noFill/>
                  </a:tcPr>
                </a:tc>
                <a:tc>
                  <a:txBody>
                    <a:bodyPr/>
                    <a:lstStyle/>
                    <a:p>
                      <a:pPr algn="l" fontAlgn="ctr">
                        <a:buNone/>
                      </a:pPr>
                      <a:endParaRPr lang="en-US" sz="900" b="0" i="0" u="none" strike="noStrike">
                        <a:solidFill>
                          <a:srgbClr val="000000"/>
                        </a:solidFill>
                        <a:effectLst/>
                        <a:latin typeface="Adani Light" panose="02000503000000020004" pitchFamily="2" charset="0"/>
                      </a:endParaRPr>
                    </a:p>
                  </a:txBody>
                  <a:tcPr marL="0" marR="0" marT="0" marB="0" anchor="ctr">
                    <a:lnL>
                      <a:noFill/>
                    </a:lnL>
                    <a:lnR>
                      <a:noFill/>
                    </a:lnR>
                    <a:lnT>
                      <a:noFill/>
                    </a:lnT>
                    <a:lnB>
                      <a:noFill/>
                    </a:lnB>
                    <a:noFill/>
                  </a:tcPr>
                </a:tc>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00B050"/>
                    </a:solidFill>
                  </a:tcPr>
                </a:tc>
                <a:tc>
                  <a:txBody>
                    <a:bodyPr/>
                    <a:lstStyle/>
                    <a:p>
                      <a:pPr algn="l" fontAlgn="ctr">
                        <a:buNone/>
                      </a:pPr>
                      <a:r>
                        <a:rPr lang="en-US" sz="900" b="0" i="0" u="none" strike="noStrike">
                          <a:solidFill>
                            <a:srgbClr val="000000"/>
                          </a:solidFill>
                          <a:effectLst/>
                          <a:latin typeface="Adani Light" panose="02000503000000020004" pitchFamily="2" charset="0"/>
                        </a:rPr>
                        <a:t>Actual (80% plan achieved)</a:t>
                      </a:r>
                    </a:p>
                  </a:txBody>
                  <a:tcPr marL="0" marR="0" marT="0" marB="0" anchor="ctr">
                    <a:lnL>
                      <a:noFill/>
                    </a:lnL>
                    <a:lnR>
                      <a:noFill/>
                    </a:lnR>
                    <a:lnT>
                      <a:noFill/>
                    </a:lnT>
                    <a:lnB>
                      <a:noFill/>
                    </a:lnB>
                    <a:noFill/>
                  </a:tcPr>
                </a:tc>
                <a:extLst>
                  <a:ext uri="{0D108BD9-81ED-4DB2-BD59-A6C34878D82A}">
                    <a16:rowId xmlns:a16="http://schemas.microsoft.com/office/drawing/2014/main" val="2559921640"/>
                  </a:ext>
                </a:extLst>
              </a:tr>
              <a:tr h="215484">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FFFF00"/>
                    </a:solidFill>
                  </a:tcPr>
                </a:tc>
                <a:tc gridSpan="2">
                  <a:txBody>
                    <a:bodyPr/>
                    <a:lstStyle/>
                    <a:p>
                      <a:pPr algn="l" fontAlgn="ctr">
                        <a:buNone/>
                      </a:pPr>
                      <a:r>
                        <a:rPr lang="en-US" sz="900" b="0" i="0" u="none" strike="noStrike">
                          <a:solidFill>
                            <a:srgbClr val="000000"/>
                          </a:solidFill>
                          <a:effectLst/>
                          <a:latin typeface="Adani Light" panose="02000503000000020004" pitchFamily="2" charset="0"/>
                        </a:rPr>
                        <a:t>Actual (between 40% to 80% plan achieved)</a:t>
                      </a:r>
                    </a:p>
                  </a:txBody>
                  <a:tcPr marL="0" marR="0" marT="0" marB="0" anchor="ctr">
                    <a:lnL>
                      <a:noFill/>
                    </a:lnL>
                    <a:lnR>
                      <a:noFill/>
                    </a:lnR>
                    <a:lnT>
                      <a:noFill/>
                    </a:lnT>
                    <a:lnB>
                      <a:noFill/>
                    </a:lnB>
                    <a:noFill/>
                  </a:tcPr>
                </a:tc>
                <a:tc hMerge="1">
                  <a:txBody>
                    <a:bodyPr/>
                    <a:lstStyle/>
                    <a:p>
                      <a:endParaRPr lang="en-US"/>
                    </a:p>
                  </a:txBody>
                  <a:tcPr/>
                </a:tc>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FF0000"/>
                    </a:solidFill>
                  </a:tcPr>
                </a:tc>
                <a:tc>
                  <a:txBody>
                    <a:bodyPr/>
                    <a:lstStyle/>
                    <a:p>
                      <a:pPr algn="l" fontAlgn="ctr">
                        <a:buNone/>
                      </a:pPr>
                      <a:r>
                        <a:rPr lang="en-US" sz="900" b="0" i="0" u="none" strike="noStrike">
                          <a:solidFill>
                            <a:srgbClr val="000000"/>
                          </a:solidFill>
                          <a:effectLst/>
                          <a:latin typeface="Adani Light" panose="02000503000000020004" pitchFamily="2" charset="0"/>
                        </a:rPr>
                        <a:t>Actual (below 40% plan achieved)</a:t>
                      </a:r>
                    </a:p>
                  </a:txBody>
                  <a:tcPr marL="0" marR="0" marT="0" marB="0" anchor="ctr">
                    <a:lnL>
                      <a:noFill/>
                    </a:lnL>
                    <a:lnR>
                      <a:noFill/>
                    </a:lnR>
                    <a:lnT>
                      <a:noFill/>
                    </a:lnT>
                    <a:lnB>
                      <a:noFill/>
                    </a:lnB>
                    <a:noFill/>
                  </a:tcPr>
                </a:tc>
                <a:extLst>
                  <a:ext uri="{0D108BD9-81ED-4DB2-BD59-A6C34878D82A}">
                    <a16:rowId xmlns:a16="http://schemas.microsoft.com/office/drawing/2014/main" val="1783054965"/>
                  </a:ext>
                </a:extLst>
              </a:tr>
            </a:tbl>
          </a:graphicData>
        </a:graphic>
      </p:graphicFrame>
      <p:sp>
        <p:nvSpPr>
          <p:cNvPr id="11" name="Arrow: Right 10">
            <a:hlinkClick r:id="rId3" action="ppaction://hlinksldjump"/>
            <a:extLst>
              <a:ext uri="{FF2B5EF4-FFF2-40B4-BE49-F238E27FC236}">
                <a16:creationId xmlns:a16="http://schemas.microsoft.com/office/drawing/2014/main" id="{B6E6AF0B-C823-FEBC-4511-43E04007A544}"/>
              </a:ext>
            </a:extLst>
          </p:cNvPr>
          <p:cNvSpPr/>
          <p:nvPr/>
        </p:nvSpPr>
        <p:spPr>
          <a:xfrm>
            <a:off x="11381603" y="6702539"/>
            <a:ext cx="237764" cy="155461"/>
          </a:xfrm>
          <a:prstGeom prst="righ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Left 11">
            <a:hlinkClick r:id="rId4" action="ppaction://hlinksldjump"/>
            <a:extLst>
              <a:ext uri="{FF2B5EF4-FFF2-40B4-BE49-F238E27FC236}">
                <a16:creationId xmlns:a16="http://schemas.microsoft.com/office/drawing/2014/main" id="{55517D72-5C19-0AED-F237-4FCFA3C7E235}"/>
              </a:ext>
            </a:extLst>
          </p:cNvPr>
          <p:cNvSpPr>
            <a:spLocks/>
          </p:cNvSpPr>
          <p:nvPr/>
        </p:nvSpPr>
        <p:spPr>
          <a:xfrm>
            <a:off x="10927070" y="6702539"/>
            <a:ext cx="237764" cy="155461"/>
          </a:xfrm>
          <a:prstGeom prst="lef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24AF2E66-BF71-E6CD-CF6A-4277352AF886}"/>
              </a:ext>
            </a:extLst>
          </p:cNvPr>
          <p:cNvPicPr>
            <a:picLocks noChangeAspect="1"/>
          </p:cNvPicPr>
          <p:nvPr/>
        </p:nvPicPr>
        <p:blipFill>
          <a:blip r:embed="rId5"/>
          <a:stretch>
            <a:fillRect/>
          </a:stretch>
        </p:blipFill>
        <p:spPr>
          <a:xfrm>
            <a:off x="85770" y="4877646"/>
            <a:ext cx="6942093" cy="1409700"/>
          </a:xfrm>
          <a:prstGeom prst="rect">
            <a:avLst/>
          </a:prstGeom>
        </p:spPr>
      </p:pic>
      <p:graphicFrame>
        <p:nvGraphicFramePr>
          <p:cNvPr id="10" name="Chart 9">
            <a:extLst>
              <a:ext uri="{FF2B5EF4-FFF2-40B4-BE49-F238E27FC236}">
                <a16:creationId xmlns:a16="http://schemas.microsoft.com/office/drawing/2014/main" id="{A7786F4C-1985-49B4-9858-AA1F18462EAB}"/>
              </a:ext>
            </a:extLst>
          </p:cNvPr>
          <p:cNvGraphicFramePr>
            <a:graphicFrameLocks/>
          </p:cNvGraphicFramePr>
          <p:nvPr>
            <p:extLst>
              <p:ext uri="{D42A27DB-BD31-4B8C-83A1-F6EECF244321}">
                <p14:modId xmlns:p14="http://schemas.microsoft.com/office/powerpoint/2010/main" val="3409463466"/>
              </p:ext>
            </p:extLst>
          </p:nvPr>
        </p:nvGraphicFramePr>
        <p:xfrm>
          <a:off x="7118350" y="4877647"/>
          <a:ext cx="4900332" cy="1405104"/>
        </p:xfrm>
        <a:graphic>
          <a:graphicData uri="http://schemas.openxmlformats.org/drawingml/2006/chart">
            <c:chart xmlns:c="http://schemas.openxmlformats.org/drawingml/2006/chart" xmlns:r="http://schemas.openxmlformats.org/officeDocument/2006/relationships" r:id="rId6"/>
          </a:graphicData>
        </a:graphic>
      </p:graphicFrame>
      <p:pic>
        <p:nvPicPr>
          <p:cNvPr id="6" name="Picture 5">
            <a:extLst>
              <a:ext uri="{FF2B5EF4-FFF2-40B4-BE49-F238E27FC236}">
                <a16:creationId xmlns:a16="http://schemas.microsoft.com/office/drawing/2014/main" id="{A0515F2C-AD11-1851-BFBA-785F9C96C233}"/>
              </a:ext>
            </a:extLst>
          </p:cNvPr>
          <p:cNvPicPr>
            <a:picLocks noChangeAspect="1"/>
          </p:cNvPicPr>
          <p:nvPr/>
        </p:nvPicPr>
        <p:blipFill>
          <a:blip r:embed="rId7"/>
          <a:stretch>
            <a:fillRect/>
          </a:stretch>
        </p:blipFill>
        <p:spPr>
          <a:xfrm>
            <a:off x="85770" y="659879"/>
            <a:ext cx="6942093" cy="4066026"/>
          </a:xfrm>
          <a:prstGeom prst="rect">
            <a:avLst/>
          </a:prstGeom>
        </p:spPr>
      </p:pic>
      <p:graphicFrame>
        <p:nvGraphicFramePr>
          <p:cNvPr id="9" name="Chart 8">
            <a:extLst>
              <a:ext uri="{FF2B5EF4-FFF2-40B4-BE49-F238E27FC236}">
                <a16:creationId xmlns:a16="http://schemas.microsoft.com/office/drawing/2014/main" id="{4751D7C7-94AB-4597-BEB7-F3890D8B7E63}"/>
              </a:ext>
            </a:extLst>
          </p:cNvPr>
          <p:cNvGraphicFramePr>
            <a:graphicFrameLocks/>
          </p:cNvGraphicFramePr>
          <p:nvPr>
            <p:extLst>
              <p:ext uri="{D42A27DB-BD31-4B8C-83A1-F6EECF244321}">
                <p14:modId xmlns:p14="http://schemas.microsoft.com/office/powerpoint/2010/main" val="2546291702"/>
              </p:ext>
            </p:extLst>
          </p:nvPr>
        </p:nvGraphicFramePr>
        <p:xfrm>
          <a:off x="7118350" y="659879"/>
          <a:ext cx="4900332" cy="4066026"/>
        </p:xfrm>
        <a:graphic>
          <a:graphicData uri="http://schemas.openxmlformats.org/drawingml/2006/chart">
            <c:chart xmlns:c="http://schemas.openxmlformats.org/drawingml/2006/chart" xmlns:r="http://schemas.openxmlformats.org/officeDocument/2006/relationships" r:id="rId8"/>
          </a:graphicData>
        </a:graphic>
      </p:graphicFrame>
      <p:sp>
        <p:nvSpPr>
          <p:cNvPr id="4" name="TextBox 3">
            <a:hlinkClick r:id="rId9"/>
            <a:extLst>
              <a:ext uri="{FF2B5EF4-FFF2-40B4-BE49-F238E27FC236}">
                <a16:creationId xmlns:a16="http://schemas.microsoft.com/office/drawing/2014/main" id="{FDDA980E-FE14-9D96-99DC-03319E8AD2D2}"/>
              </a:ext>
            </a:extLst>
          </p:cNvPr>
          <p:cNvSpPr txBox="1"/>
          <p:nvPr/>
        </p:nvSpPr>
        <p:spPr>
          <a:xfrm>
            <a:off x="130740" y="6365129"/>
            <a:ext cx="4579483" cy="369332"/>
          </a:xfrm>
          <a:prstGeom prst="rect">
            <a:avLst/>
          </a:prstGeom>
          <a:noFill/>
        </p:spPr>
        <p:txBody>
          <a:bodyPr wrap="square" rtlCol="0">
            <a:spAutoFit/>
          </a:bodyPr>
          <a:lstStyle/>
          <a:p>
            <a:r>
              <a:rPr lang="en-US">
                <a:hlinkClick r:id="rId10"/>
              </a:rPr>
              <a:t>Link</a:t>
            </a:r>
            <a:r>
              <a:rPr lang="en-US"/>
              <a:t> </a:t>
            </a:r>
          </a:p>
        </p:txBody>
      </p:sp>
    </p:spTree>
    <p:extLst>
      <p:ext uri="{BB962C8B-B14F-4D97-AF65-F5344CB8AC3E}">
        <p14:creationId xmlns:p14="http://schemas.microsoft.com/office/powerpoint/2010/main" val="14969505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9B3BA-0A87-FC26-8568-FAC4BC2B934B}"/>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1607AD3E-C0A2-D939-6634-1099ADF73104}"/>
              </a:ext>
            </a:extLst>
          </p:cNvPr>
          <p:cNvSpPr txBox="1">
            <a:spLocks noChangeArrowheads="1"/>
          </p:cNvSpPr>
          <p:nvPr/>
        </p:nvSpPr>
        <p:spPr>
          <a:xfrm>
            <a:off x="185413" y="141975"/>
            <a:ext cx="11067531" cy="433120"/>
          </a:xfrm>
          <a:prstGeom prst="rect">
            <a:avLst/>
          </a:prstGeom>
        </p:spPr>
        <p:txBody>
          <a:bodyPr lIns="91440" tIns="45720" rIns="91440" bIns="4572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IN" sz="2200" b="1">
                <a:solidFill>
                  <a:srgbClr val="912A82"/>
                </a:solidFill>
                <a:highlight>
                  <a:srgbClr val="33CC33"/>
                </a:highlight>
              </a:rPr>
              <a:t>Electrical Plan Vs Actual Summary PSS 12 </a:t>
            </a:r>
          </a:p>
        </p:txBody>
      </p:sp>
      <p:sp>
        <p:nvSpPr>
          <p:cNvPr id="4" name="Arrow: Left 3">
            <a:hlinkClick r:id="" action="ppaction://noaction"/>
            <a:extLst>
              <a:ext uri="{FF2B5EF4-FFF2-40B4-BE49-F238E27FC236}">
                <a16:creationId xmlns:a16="http://schemas.microsoft.com/office/drawing/2014/main" id="{84A17E7D-F68D-219C-EA58-73F81AB8273A}"/>
              </a:ext>
            </a:extLst>
          </p:cNvPr>
          <p:cNvSpPr/>
          <p:nvPr/>
        </p:nvSpPr>
        <p:spPr>
          <a:xfrm>
            <a:off x="10928057" y="6710745"/>
            <a:ext cx="209862" cy="122744"/>
          </a:xfrm>
          <a:prstGeom prst="leftArrow">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row: Right 2">
            <a:hlinkClick r:id="" action="ppaction://noaction"/>
            <a:extLst>
              <a:ext uri="{FF2B5EF4-FFF2-40B4-BE49-F238E27FC236}">
                <a16:creationId xmlns:a16="http://schemas.microsoft.com/office/drawing/2014/main" id="{65CDE444-A2E9-9202-DC28-2F3057C64DBB}"/>
              </a:ext>
            </a:extLst>
          </p:cNvPr>
          <p:cNvSpPr/>
          <p:nvPr/>
        </p:nvSpPr>
        <p:spPr>
          <a:xfrm>
            <a:off x="11255997" y="6710745"/>
            <a:ext cx="209862" cy="123898"/>
          </a:xfrm>
          <a:prstGeom prst="rightArrow">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04BBA27A-640C-AA36-96C3-33AEC77BDB92}"/>
              </a:ext>
            </a:extLst>
          </p:cNvPr>
          <p:cNvPicPr>
            <a:picLocks noChangeAspect="1"/>
          </p:cNvPicPr>
          <p:nvPr/>
        </p:nvPicPr>
        <p:blipFill>
          <a:blip r:embed="rId3"/>
          <a:stretch>
            <a:fillRect/>
          </a:stretch>
        </p:blipFill>
        <p:spPr>
          <a:xfrm>
            <a:off x="705403" y="722349"/>
            <a:ext cx="5762625" cy="5200650"/>
          </a:xfrm>
          <a:prstGeom prst="rect">
            <a:avLst/>
          </a:prstGeom>
        </p:spPr>
      </p:pic>
      <p:graphicFrame>
        <p:nvGraphicFramePr>
          <p:cNvPr id="7" name="Chart 6">
            <a:extLst>
              <a:ext uri="{FF2B5EF4-FFF2-40B4-BE49-F238E27FC236}">
                <a16:creationId xmlns:a16="http://schemas.microsoft.com/office/drawing/2014/main" id="{EE08B3C9-43F5-3C9B-FEF4-5E36D6F82A1A}"/>
              </a:ext>
            </a:extLst>
          </p:cNvPr>
          <p:cNvGraphicFramePr>
            <a:graphicFrameLocks/>
          </p:cNvGraphicFramePr>
          <p:nvPr>
            <p:extLst>
              <p:ext uri="{D42A27DB-BD31-4B8C-83A1-F6EECF244321}">
                <p14:modId xmlns:p14="http://schemas.microsoft.com/office/powerpoint/2010/main" val="2758818262"/>
              </p:ext>
            </p:extLst>
          </p:nvPr>
        </p:nvGraphicFramePr>
        <p:xfrm>
          <a:off x="6734182" y="722349"/>
          <a:ext cx="4752415" cy="5170394"/>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Box 7">
            <a:hlinkClick r:id="rId5"/>
            <a:extLst>
              <a:ext uri="{FF2B5EF4-FFF2-40B4-BE49-F238E27FC236}">
                <a16:creationId xmlns:a16="http://schemas.microsoft.com/office/drawing/2014/main" id="{D307E5F8-19ED-1894-31BC-1133025FF1FC}"/>
              </a:ext>
            </a:extLst>
          </p:cNvPr>
          <p:cNvSpPr txBox="1"/>
          <p:nvPr/>
        </p:nvSpPr>
        <p:spPr>
          <a:xfrm>
            <a:off x="130740" y="6365129"/>
            <a:ext cx="4579483" cy="369332"/>
          </a:xfrm>
          <a:prstGeom prst="rect">
            <a:avLst/>
          </a:prstGeom>
          <a:noFill/>
        </p:spPr>
        <p:txBody>
          <a:bodyPr wrap="square" rtlCol="0">
            <a:spAutoFit/>
          </a:bodyPr>
          <a:lstStyle/>
          <a:p>
            <a:r>
              <a:rPr lang="en-US">
                <a:hlinkClick r:id="rId6"/>
              </a:rPr>
              <a:t>Link</a:t>
            </a:r>
            <a:r>
              <a:rPr lang="en-US"/>
              <a:t> </a:t>
            </a:r>
          </a:p>
        </p:txBody>
      </p:sp>
    </p:spTree>
    <p:extLst>
      <p:ext uri="{BB962C8B-B14F-4D97-AF65-F5344CB8AC3E}">
        <p14:creationId xmlns:p14="http://schemas.microsoft.com/office/powerpoint/2010/main" val="32370377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F010A-2491-0594-0F69-8A362DF057A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2AAE62-EE9A-1A6C-81AB-FF92FB5EB331}"/>
              </a:ext>
            </a:extLst>
          </p:cNvPr>
          <p:cNvSpPr>
            <a:spLocks noGrp="1"/>
          </p:cNvSpPr>
          <p:nvPr>
            <p:ph type="sldNum" sz="quarter" idx="12"/>
          </p:nvPr>
        </p:nvSpPr>
        <p:spPr>
          <a:xfrm>
            <a:off x="9197828" y="6492875"/>
            <a:ext cx="2844800" cy="365125"/>
          </a:xfrm>
        </p:spPr>
        <p:txBody>
          <a:bodyPr/>
          <a:lstStyle/>
          <a:p>
            <a:fld id="{98B285C1-D8A8-4E98-B28C-1FD972D8EC54}" type="slidenum">
              <a:rPr lang="en-IN" smtClean="0"/>
              <a:t>25</a:t>
            </a:fld>
            <a:endParaRPr lang="en-IN"/>
          </a:p>
        </p:txBody>
      </p:sp>
      <p:sp>
        <p:nvSpPr>
          <p:cNvPr id="5" name="Rectangle 2">
            <a:extLst>
              <a:ext uri="{FF2B5EF4-FFF2-40B4-BE49-F238E27FC236}">
                <a16:creationId xmlns:a16="http://schemas.microsoft.com/office/drawing/2014/main" id="{9F1A35A4-4AA6-6DB3-0C37-14B99E7289B0}"/>
              </a:ext>
            </a:extLst>
          </p:cNvPr>
          <p:cNvSpPr txBox="1">
            <a:spLocks noChangeArrowheads="1"/>
          </p:cNvSpPr>
          <p:nvPr/>
        </p:nvSpPr>
        <p:spPr>
          <a:xfrm>
            <a:off x="130740" y="93821"/>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highlight>
                  <a:srgbClr val="33CC33"/>
                </a:highlight>
              </a:rPr>
              <a:t>Construction Progress (Plan VS Actual) (PSS-10(B))</a:t>
            </a:r>
          </a:p>
        </p:txBody>
      </p:sp>
      <p:graphicFrame>
        <p:nvGraphicFramePr>
          <p:cNvPr id="9" name="Table 8">
            <a:extLst>
              <a:ext uri="{FF2B5EF4-FFF2-40B4-BE49-F238E27FC236}">
                <a16:creationId xmlns:a16="http://schemas.microsoft.com/office/drawing/2014/main" id="{B07BF965-E5B5-CE62-563D-06B7605A4415}"/>
              </a:ext>
            </a:extLst>
          </p:cNvPr>
          <p:cNvGraphicFramePr>
            <a:graphicFrameLocks noGrp="1"/>
          </p:cNvGraphicFramePr>
          <p:nvPr>
            <p:extLst>
              <p:ext uri="{D42A27DB-BD31-4B8C-83A1-F6EECF244321}">
                <p14:modId xmlns:p14="http://schemas.microsoft.com/office/powerpoint/2010/main" val="1685397048"/>
              </p:ext>
            </p:extLst>
          </p:nvPr>
        </p:nvGraphicFramePr>
        <p:xfrm>
          <a:off x="4740128" y="6345039"/>
          <a:ext cx="4457700" cy="464820"/>
        </p:xfrm>
        <a:graphic>
          <a:graphicData uri="http://schemas.openxmlformats.org/drawingml/2006/table">
            <a:tbl>
              <a:tblPr/>
              <a:tblGrid>
                <a:gridCol w="800100">
                  <a:extLst>
                    <a:ext uri="{9D8B030D-6E8A-4147-A177-3AD203B41FA5}">
                      <a16:colId xmlns:a16="http://schemas.microsoft.com/office/drawing/2014/main" val="3191902834"/>
                    </a:ext>
                  </a:extLst>
                </a:gridCol>
                <a:gridCol w="609600">
                  <a:extLst>
                    <a:ext uri="{9D8B030D-6E8A-4147-A177-3AD203B41FA5}">
                      <a16:colId xmlns:a16="http://schemas.microsoft.com/office/drawing/2014/main" val="3440374471"/>
                    </a:ext>
                  </a:extLst>
                </a:gridCol>
                <a:gridCol w="609600">
                  <a:extLst>
                    <a:ext uri="{9D8B030D-6E8A-4147-A177-3AD203B41FA5}">
                      <a16:colId xmlns:a16="http://schemas.microsoft.com/office/drawing/2014/main" val="4154648303"/>
                    </a:ext>
                  </a:extLst>
                </a:gridCol>
                <a:gridCol w="609600">
                  <a:extLst>
                    <a:ext uri="{9D8B030D-6E8A-4147-A177-3AD203B41FA5}">
                      <a16:colId xmlns:a16="http://schemas.microsoft.com/office/drawing/2014/main" val="423793554"/>
                    </a:ext>
                  </a:extLst>
                </a:gridCol>
                <a:gridCol w="1828800">
                  <a:extLst>
                    <a:ext uri="{9D8B030D-6E8A-4147-A177-3AD203B41FA5}">
                      <a16:colId xmlns:a16="http://schemas.microsoft.com/office/drawing/2014/main" val="634941952"/>
                    </a:ext>
                  </a:extLst>
                </a:gridCol>
              </a:tblGrid>
              <a:tr h="190500">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0070C0"/>
                    </a:solidFill>
                  </a:tcPr>
                </a:tc>
                <a:tc>
                  <a:txBody>
                    <a:bodyPr/>
                    <a:lstStyle/>
                    <a:p>
                      <a:pPr algn="l" fontAlgn="ctr">
                        <a:buNone/>
                      </a:pPr>
                      <a:r>
                        <a:rPr lang="en-US" sz="900" b="0" i="0" u="none" strike="noStrike">
                          <a:solidFill>
                            <a:srgbClr val="000000"/>
                          </a:solidFill>
                          <a:effectLst/>
                          <a:latin typeface="Adani Light" panose="02000503000000020004" pitchFamily="2" charset="0"/>
                        </a:rPr>
                        <a:t>Plan</a:t>
                      </a:r>
                    </a:p>
                  </a:txBody>
                  <a:tcPr marL="0" marR="0" marT="0" marB="0" anchor="ctr">
                    <a:lnL>
                      <a:noFill/>
                    </a:lnL>
                    <a:lnR>
                      <a:noFill/>
                    </a:lnR>
                    <a:lnT>
                      <a:noFill/>
                    </a:lnT>
                    <a:lnB>
                      <a:noFill/>
                    </a:lnB>
                    <a:noFill/>
                  </a:tcPr>
                </a:tc>
                <a:tc>
                  <a:txBody>
                    <a:bodyPr/>
                    <a:lstStyle/>
                    <a:p>
                      <a:pPr algn="l" fontAlgn="ctr">
                        <a:buNone/>
                      </a:pPr>
                      <a:endParaRPr lang="en-US" sz="900" b="0" i="0" u="none" strike="noStrike">
                        <a:solidFill>
                          <a:srgbClr val="000000"/>
                        </a:solidFill>
                        <a:effectLst/>
                        <a:latin typeface="Adani Light" panose="02000503000000020004" pitchFamily="2" charset="0"/>
                      </a:endParaRPr>
                    </a:p>
                  </a:txBody>
                  <a:tcPr marL="0" marR="0" marT="0" marB="0" anchor="ctr">
                    <a:lnL>
                      <a:noFill/>
                    </a:lnL>
                    <a:lnR>
                      <a:noFill/>
                    </a:lnR>
                    <a:lnT>
                      <a:noFill/>
                    </a:lnT>
                    <a:lnB>
                      <a:noFill/>
                    </a:lnB>
                    <a:noFill/>
                  </a:tcPr>
                </a:tc>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00B050"/>
                    </a:solidFill>
                  </a:tcPr>
                </a:tc>
                <a:tc>
                  <a:txBody>
                    <a:bodyPr/>
                    <a:lstStyle/>
                    <a:p>
                      <a:pPr algn="l" fontAlgn="ctr">
                        <a:buNone/>
                      </a:pPr>
                      <a:r>
                        <a:rPr lang="en-US" sz="900" b="0" i="0" u="none" strike="noStrike">
                          <a:solidFill>
                            <a:srgbClr val="000000"/>
                          </a:solidFill>
                          <a:effectLst/>
                          <a:latin typeface="Adani Light" panose="02000503000000020004" pitchFamily="2" charset="0"/>
                        </a:rPr>
                        <a:t>Actual (80% plan achieved)</a:t>
                      </a:r>
                    </a:p>
                  </a:txBody>
                  <a:tcPr marL="0" marR="0" marT="0" marB="0" anchor="ctr">
                    <a:lnL>
                      <a:noFill/>
                    </a:lnL>
                    <a:lnR>
                      <a:noFill/>
                    </a:lnR>
                    <a:lnT>
                      <a:noFill/>
                    </a:lnT>
                    <a:lnB>
                      <a:noFill/>
                    </a:lnB>
                    <a:noFill/>
                  </a:tcPr>
                </a:tc>
                <a:extLst>
                  <a:ext uri="{0D108BD9-81ED-4DB2-BD59-A6C34878D82A}">
                    <a16:rowId xmlns:a16="http://schemas.microsoft.com/office/drawing/2014/main" val="3827591337"/>
                  </a:ext>
                </a:extLst>
              </a:tr>
              <a:tr h="190500">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FFFF00"/>
                    </a:solidFill>
                  </a:tcPr>
                </a:tc>
                <a:tc gridSpan="2">
                  <a:txBody>
                    <a:bodyPr/>
                    <a:lstStyle/>
                    <a:p>
                      <a:pPr algn="l" fontAlgn="ctr">
                        <a:buNone/>
                      </a:pPr>
                      <a:r>
                        <a:rPr lang="en-US" sz="900" b="0" i="0" u="none" strike="noStrike">
                          <a:solidFill>
                            <a:srgbClr val="000000"/>
                          </a:solidFill>
                          <a:effectLst/>
                          <a:latin typeface="Adani Light" panose="02000503000000020004" pitchFamily="2" charset="0"/>
                        </a:rPr>
                        <a:t>Actual (between 40% to 80% plan achieved)</a:t>
                      </a:r>
                    </a:p>
                  </a:txBody>
                  <a:tcPr marL="0" marR="0" marT="0" marB="0" anchor="ctr">
                    <a:lnL>
                      <a:noFill/>
                    </a:lnL>
                    <a:lnR>
                      <a:noFill/>
                    </a:lnR>
                    <a:lnT>
                      <a:noFill/>
                    </a:lnT>
                    <a:lnB>
                      <a:noFill/>
                    </a:lnB>
                    <a:noFill/>
                  </a:tcPr>
                </a:tc>
                <a:tc hMerge="1">
                  <a:txBody>
                    <a:bodyPr/>
                    <a:lstStyle/>
                    <a:p>
                      <a:endParaRPr lang="en-US"/>
                    </a:p>
                  </a:txBody>
                  <a:tcPr/>
                </a:tc>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FF0000"/>
                    </a:solidFill>
                  </a:tcPr>
                </a:tc>
                <a:tc>
                  <a:txBody>
                    <a:bodyPr/>
                    <a:lstStyle/>
                    <a:p>
                      <a:pPr algn="l" fontAlgn="ctr">
                        <a:buNone/>
                      </a:pPr>
                      <a:r>
                        <a:rPr lang="en-US" sz="900" b="0" i="0" u="none" strike="noStrike">
                          <a:solidFill>
                            <a:srgbClr val="000000"/>
                          </a:solidFill>
                          <a:effectLst/>
                          <a:latin typeface="Adani Light" panose="02000503000000020004" pitchFamily="2" charset="0"/>
                        </a:rPr>
                        <a:t>Actual (below 40% plan achieved)</a:t>
                      </a:r>
                    </a:p>
                  </a:txBody>
                  <a:tcPr marL="0" marR="0" marT="0" marB="0" anchor="ctr">
                    <a:lnL>
                      <a:noFill/>
                    </a:lnL>
                    <a:lnR>
                      <a:noFill/>
                    </a:lnR>
                    <a:lnT>
                      <a:noFill/>
                    </a:lnT>
                    <a:lnB>
                      <a:noFill/>
                    </a:lnB>
                    <a:noFill/>
                  </a:tcPr>
                </a:tc>
                <a:extLst>
                  <a:ext uri="{0D108BD9-81ED-4DB2-BD59-A6C34878D82A}">
                    <a16:rowId xmlns:a16="http://schemas.microsoft.com/office/drawing/2014/main" val="2803369911"/>
                  </a:ext>
                </a:extLst>
              </a:tr>
            </a:tbl>
          </a:graphicData>
        </a:graphic>
      </p:graphicFrame>
      <p:sp>
        <p:nvSpPr>
          <p:cNvPr id="7" name="Arrow: Left 6">
            <a:hlinkClick r:id="rId2" action="ppaction://hlinksldjump"/>
            <a:extLst>
              <a:ext uri="{FF2B5EF4-FFF2-40B4-BE49-F238E27FC236}">
                <a16:creationId xmlns:a16="http://schemas.microsoft.com/office/drawing/2014/main" id="{B55772D6-D437-44B5-7235-606F99EEE9E2}"/>
              </a:ext>
            </a:extLst>
          </p:cNvPr>
          <p:cNvSpPr>
            <a:spLocks/>
          </p:cNvSpPr>
          <p:nvPr/>
        </p:nvSpPr>
        <p:spPr>
          <a:xfrm>
            <a:off x="10927070" y="6702539"/>
            <a:ext cx="237764" cy="155461"/>
          </a:xfrm>
          <a:prstGeom prst="lef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row: Right 2">
            <a:hlinkClick r:id="rId3" action="ppaction://hlinksldjump"/>
            <a:extLst>
              <a:ext uri="{FF2B5EF4-FFF2-40B4-BE49-F238E27FC236}">
                <a16:creationId xmlns:a16="http://schemas.microsoft.com/office/drawing/2014/main" id="{3436807E-6C77-00A2-7ACE-D5FE51E8C9E5}"/>
              </a:ext>
            </a:extLst>
          </p:cNvPr>
          <p:cNvSpPr/>
          <p:nvPr/>
        </p:nvSpPr>
        <p:spPr>
          <a:xfrm>
            <a:off x="11381603" y="6702539"/>
            <a:ext cx="237764" cy="155461"/>
          </a:xfrm>
          <a:prstGeom prst="righ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0896A4A8-40F3-D37D-1F4D-880B6AD0C1F6}"/>
              </a:ext>
            </a:extLst>
          </p:cNvPr>
          <p:cNvPicPr>
            <a:picLocks noChangeAspect="1"/>
          </p:cNvPicPr>
          <p:nvPr/>
        </p:nvPicPr>
        <p:blipFill>
          <a:blip r:embed="rId4"/>
          <a:stretch>
            <a:fillRect/>
          </a:stretch>
        </p:blipFill>
        <p:spPr>
          <a:xfrm>
            <a:off x="57508" y="4828141"/>
            <a:ext cx="7002512" cy="1365982"/>
          </a:xfrm>
          <a:prstGeom prst="rect">
            <a:avLst/>
          </a:prstGeom>
        </p:spPr>
      </p:pic>
      <p:graphicFrame>
        <p:nvGraphicFramePr>
          <p:cNvPr id="14" name="Chart 13">
            <a:extLst>
              <a:ext uri="{FF2B5EF4-FFF2-40B4-BE49-F238E27FC236}">
                <a16:creationId xmlns:a16="http://schemas.microsoft.com/office/drawing/2014/main" id="{F29E3806-8082-4433-A464-64CE3AEE135A}"/>
              </a:ext>
            </a:extLst>
          </p:cNvPr>
          <p:cNvGraphicFramePr>
            <a:graphicFrameLocks/>
          </p:cNvGraphicFramePr>
          <p:nvPr>
            <p:extLst>
              <p:ext uri="{D42A27DB-BD31-4B8C-83A1-F6EECF244321}">
                <p14:modId xmlns:p14="http://schemas.microsoft.com/office/powerpoint/2010/main" val="344093397"/>
              </p:ext>
            </p:extLst>
          </p:nvPr>
        </p:nvGraphicFramePr>
        <p:xfrm>
          <a:off x="7160355" y="4839770"/>
          <a:ext cx="4895850" cy="1354353"/>
        </p:xfrm>
        <a:graphic>
          <a:graphicData uri="http://schemas.openxmlformats.org/drawingml/2006/chart">
            <c:chart xmlns:c="http://schemas.openxmlformats.org/drawingml/2006/chart" xmlns:r="http://schemas.openxmlformats.org/officeDocument/2006/relationships" r:id="rId5"/>
          </a:graphicData>
        </a:graphic>
      </p:graphicFrame>
      <p:pic>
        <p:nvPicPr>
          <p:cNvPr id="6" name="Picture 5">
            <a:extLst>
              <a:ext uri="{FF2B5EF4-FFF2-40B4-BE49-F238E27FC236}">
                <a16:creationId xmlns:a16="http://schemas.microsoft.com/office/drawing/2014/main" id="{42566AEA-B455-57DF-FF02-8BDD8068854A}"/>
              </a:ext>
            </a:extLst>
          </p:cNvPr>
          <p:cNvPicPr>
            <a:picLocks noChangeAspect="1"/>
          </p:cNvPicPr>
          <p:nvPr/>
        </p:nvPicPr>
        <p:blipFill>
          <a:blip r:embed="rId6"/>
          <a:stretch>
            <a:fillRect/>
          </a:stretch>
        </p:blipFill>
        <p:spPr>
          <a:xfrm>
            <a:off x="26131" y="663877"/>
            <a:ext cx="7002512" cy="4013348"/>
          </a:xfrm>
          <a:prstGeom prst="rect">
            <a:avLst/>
          </a:prstGeom>
        </p:spPr>
      </p:pic>
      <p:graphicFrame>
        <p:nvGraphicFramePr>
          <p:cNvPr id="10" name="Chart 9">
            <a:extLst>
              <a:ext uri="{FF2B5EF4-FFF2-40B4-BE49-F238E27FC236}">
                <a16:creationId xmlns:a16="http://schemas.microsoft.com/office/drawing/2014/main" id="{11B61A27-B8C1-4405-A83C-AF1A20C1E783}"/>
              </a:ext>
            </a:extLst>
          </p:cNvPr>
          <p:cNvGraphicFramePr>
            <a:graphicFrameLocks/>
          </p:cNvGraphicFramePr>
          <p:nvPr>
            <p:extLst>
              <p:ext uri="{D42A27DB-BD31-4B8C-83A1-F6EECF244321}">
                <p14:modId xmlns:p14="http://schemas.microsoft.com/office/powerpoint/2010/main" val="2968973716"/>
              </p:ext>
            </p:extLst>
          </p:nvPr>
        </p:nvGraphicFramePr>
        <p:xfrm>
          <a:off x="7160355" y="663877"/>
          <a:ext cx="4895850" cy="4013348"/>
        </p:xfrm>
        <a:graphic>
          <a:graphicData uri="http://schemas.openxmlformats.org/drawingml/2006/chart">
            <c:chart xmlns:c="http://schemas.openxmlformats.org/drawingml/2006/chart" xmlns:r="http://schemas.openxmlformats.org/officeDocument/2006/relationships" r:id="rId7"/>
          </a:graphicData>
        </a:graphic>
      </p:graphicFrame>
      <p:sp>
        <p:nvSpPr>
          <p:cNvPr id="8" name="TextBox 7">
            <a:hlinkClick r:id="rId8"/>
            <a:extLst>
              <a:ext uri="{FF2B5EF4-FFF2-40B4-BE49-F238E27FC236}">
                <a16:creationId xmlns:a16="http://schemas.microsoft.com/office/drawing/2014/main" id="{466F8257-B4FE-3197-965D-D7224CA4BC4F}"/>
              </a:ext>
            </a:extLst>
          </p:cNvPr>
          <p:cNvSpPr txBox="1"/>
          <p:nvPr/>
        </p:nvSpPr>
        <p:spPr>
          <a:xfrm>
            <a:off x="130740" y="6365129"/>
            <a:ext cx="4579483" cy="369332"/>
          </a:xfrm>
          <a:prstGeom prst="rect">
            <a:avLst/>
          </a:prstGeom>
          <a:noFill/>
        </p:spPr>
        <p:txBody>
          <a:bodyPr wrap="square" rtlCol="0">
            <a:spAutoFit/>
          </a:bodyPr>
          <a:lstStyle/>
          <a:p>
            <a:r>
              <a:rPr lang="en-US">
                <a:hlinkClick r:id="rId9"/>
              </a:rPr>
              <a:t>Link</a:t>
            </a:r>
            <a:r>
              <a:rPr lang="en-US"/>
              <a:t> </a:t>
            </a:r>
          </a:p>
        </p:txBody>
      </p:sp>
    </p:spTree>
    <p:extLst>
      <p:ext uri="{BB962C8B-B14F-4D97-AF65-F5344CB8AC3E}">
        <p14:creationId xmlns:p14="http://schemas.microsoft.com/office/powerpoint/2010/main" val="562062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2A8D3-2DA9-4C45-67C8-D0DB1C93DF9F}"/>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CB926AA7-C3B1-B30E-FCC0-7D806CBDDED4}"/>
              </a:ext>
            </a:extLst>
          </p:cNvPr>
          <p:cNvSpPr txBox="1">
            <a:spLocks noChangeArrowheads="1"/>
          </p:cNvSpPr>
          <p:nvPr/>
        </p:nvSpPr>
        <p:spPr>
          <a:xfrm>
            <a:off x="185413" y="141975"/>
            <a:ext cx="11067531" cy="433120"/>
          </a:xfrm>
          <a:prstGeom prst="rect">
            <a:avLst/>
          </a:prstGeom>
        </p:spPr>
        <p:txBody>
          <a:bodyPr lIns="91440" tIns="45720" rIns="91440" bIns="4572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IN" sz="2200" b="1">
                <a:solidFill>
                  <a:srgbClr val="912A82"/>
                </a:solidFill>
                <a:highlight>
                  <a:srgbClr val="33CC33"/>
                </a:highlight>
              </a:rPr>
              <a:t>Electrical Plan Vs Actual Summary PSS 10B </a:t>
            </a:r>
          </a:p>
        </p:txBody>
      </p:sp>
      <p:sp>
        <p:nvSpPr>
          <p:cNvPr id="4" name="Arrow: Left 3">
            <a:hlinkClick r:id="" action="ppaction://noaction"/>
            <a:extLst>
              <a:ext uri="{FF2B5EF4-FFF2-40B4-BE49-F238E27FC236}">
                <a16:creationId xmlns:a16="http://schemas.microsoft.com/office/drawing/2014/main" id="{ECD5B12B-FFC7-46DB-B87F-D77D96D678D4}"/>
              </a:ext>
            </a:extLst>
          </p:cNvPr>
          <p:cNvSpPr/>
          <p:nvPr/>
        </p:nvSpPr>
        <p:spPr>
          <a:xfrm>
            <a:off x="10928057" y="6710745"/>
            <a:ext cx="209862" cy="122744"/>
          </a:xfrm>
          <a:prstGeom prst="leftArrow">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row: Right 2">
            <a:hlinkClick r:id="" action="ppaction://noaction"/>
            <a:extLst>
              <a:ext uri="{FF2B5EF4-FFF2-40B4-BE49-F238E27FC236}">
                <a16:creationId xmlns:a16="http://schemas.microsoft.com/office/drawing/2014/main" id="{1CBD81FB-DD08-0461-8FC0-1FCA43A712DE}"/>
              </a:ext>
            </a:extLst>
          </p:cNvPr>
          <p:cNvSpPr/>
          <p:nvPr/>
        </p:nvSpPr>
        <p:spPr>
          <a:xfrm>
            <a:off x="11255997" y="6710745"/>
            <a:ext cx="209862" cy="123898"/>
          </a:xfrm>
          <a:prstGeom prst="rightArrow">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D2FF0C6-2F83-682C-97E4-496329E5E23D}"/>
              </a:ext>
            </a:extLst>
          </p:cNvPr>
          <p:cNvPicPr>
            <a:picLocks noChangeAspect="1"/>
          </p:cNvPicPr>
          <p:nvPr/>
        </p:nvPicPr>
        <p:blipFill>
          <a:blip r:embed="rId4"/>
          <a:stretch>
            <a:fillRect/>
          </a:stretch>
        </p:blipFill>
        <p:spPr>
          <a:xfrm>
            <a:off x="485775" y="835816"/>
            <a:ext cx="5904392" cy="5065253"/>
          </a:xfrm>
          <a:prstGeom prst="rect">
            <a:avLst/>
          </a:prstGeom>
        </p:spPr>
      </p:pic>
      <p:graphicFrame>
        <p:nvGraphicFramePr>
          <p:cNvPr id="10" name="Chart 9">
            <a:extLst>
              <a:ext uri="{FF2B5EF4-FFF2-40B4-BE49-F238E27FC236}">
                <a16:creationId xmlns:a16="http://schemas.microsoft.com/office/drawing/2014/main" id="{B62A3376-24B4-C3B1-ECC9-4707DCCA7905}"/>
              </a:ext>
            </a:extLst>
          </p:cNvPr>
          <p:cNvGraphicFramePr>
            <a:graphicFrameLocks/>
          </p:cNvGraphicFramePr>
          <p:nvPr>
            <p:extLst>
              <p:ext uri="{D42A27DB-BD31-4B8C-83A1-F6EECF244321}">
                <p14:modId xmlns:p14="http://schemas.microsoft.com/office/powerpoint/2010/main" val="2359633029"/>
              </p:ext>
            </p:extLst>
          </p:nvPr>
        </p:nvGraphicFramePr>
        <p:xfrm>
          <a:off x="6582285" y="835816"/>
          <a:ext cx="4883573" cy="5065252"/>
        </p:xfrm>
        <a:graphic>
          <a:graphicData uri="http://schemas.openxmlformats.org/drawingml/2006/chart">
            <c:chart xmlns:c="http://schemas.openxmlformats.org/drawingml/2006/chart" xmlns:r="http://schemas.openxmlformats.org/officeDocument/2006/relationships" r:id="rId5"/>
          </a:graphicData>
        </a:graphic>
      </p:graphicFrame>
      <p:sp>
        <p:nvSpPr>
          <p:cNvPr id="6" name="TextBox 5">
            <a:hlinkClick r:id="rId6"/>
            <a:extLst>
              <a:ext uri="{FF2B5EF4-FFF2-40B4-BE49-F238E27FC236}">
                <a16:creationId xmlns:a16="http://schemas.microsoft.com/office/drawing/2014/main" id="{85EBF5F3-9047-45DD-7159-674830D25402}"/>
              </a:ext>
            </a:extLst>
          </p:cNvPr>
          <p:cNvSpPr txBox="1"/>
          <p:nvPr/>
        </p:nvSpPr>
        <p:spPr>
          <a:xfrm>
            <a:off x="130740" y="6365129"/>
            <a:ext cx="4579483" cy="369332"/>
          </a:xfrm>
          <a:prstGeom prst="rect">
            <a:avLst/>
          </a:prstGeom>
          <a:noFill/>
        </p:spPr>
        <p:txBody>
          <a:bodyPr wrap="square" rtlCol="0">
            <a:spAutoFit/>
          </a:bodyPr>
          <a:lstStyle/>
          <a:p>
            <a:r>
              <a:rPr lang="en-US">
                <a:hlinkClick r:id="rId7"/>
              </a:rPr>
              <a:t>Link</a:t>
            </a:r>
            <a:r>
              <a:rPr lang="en-US"/>
              <a:t> </a:t>
            </a:r>
          </a:p>
        </p:txBody>
      </p:sp>
    </p:spTree>
    <p:extLst>
      <p:ext uri="{BB962C8B-B14F-4D97-AF65-F5344CB8AC3E}">
        <p14:creationId xmlns:p14="http://schemas.microsoft.com/office/powerpoint/2010/main" val="2315442245"/>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3862B-B8C4-765D-B095-E7461350CC6A}"/>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1DA6D2FF-117E-B8D9-F53F-C2D3E037D986}"/>
              </a:ext>
            </a:extLst>
          </p:cNvPr>
          <p:cNvSpPr txBox="1">
            <a:spLocks/>
          </p:cNvSpPr>
          <p:nvPr/>
        </p:nvSpPr>
        <p:spPr>
          <a:xfrm>
            <a:off x="0" y="4407108"/>
            <a:ext cx="12192000" cy="719528"/>
          </a:xfrm>
          <a:prstGeom prst="rect">
            <a:avLst/>
          </a:prstGeom>
        </p:spPr>
        <p:txBody>
          <a:bodyPr vert="horz" lIns="91440" tIns="45720" rIns="91440" bIns="45720" rtlCol="0" anchor="t">
            <a:normAutofit/>
          </a:bodyPr>
          <a:lstStyle>
            <a:lvl1pPr algn="l" defTabSz="1219170" rtl="0" eaLnBrk="1" latinLnBrk="0" hangingPunct="1">
              <a:spcBef>
                <a:spcPct val="0"/>
              </a:spcBef>
              <a:buNone/>
              <a:defRPr sz="3733" b="0" kern="1200" cap="none" baseline="0">
                <a:solidFill>
                  <a:schemeClr val="bg1"/>
                </a:solidFill>
                <a:latin typeface="Adani Regular" pitchFamily="2" charset="0"/>
                <a:ea typeface="+mj-ea"/>
                <a:cs typeface="+mj-cs"/>
              </a:defRPr>
            </a:lvl1pPr>
          </a:lstStyle>
          <a:p>
            <a:pPr algn="ctr"/>
            <a:r>
              <a:rPr lang="en-IN" b="1"/>
              <a:t>PSS-09, 5B &amp; 8B Progress</a:t>
            </a:r>
          </a:p>
        </p:txBody>
      </p:sp>
      <p:sp>
        <p:nvSpPr>
          <p:cNvPr id="2" name="Slide Number Placeholder 1">
            <a:extLst>
              <a:ext uri="{FF2B5EF4-FFF2-40B4-BE49-F238E27FC236}">
                <a16:creationId xmlns:a16="http://schemas.microsoft.com/office/drawing/2014/main" id="{293C0540-1F55-C668-DF9C-FBBA4EE08D58}"/>
              </a:ext>
            </a:extLst>
          </p:cNvPr>
          <p:cNvSpPr>
            <a:spLocks noGrp="1"/>
          </p:cNvSpPr>
          <p:nvPr>
            <p:ph type="sldNum" sz="quarter" idx="12"/>
          </p:nvPr>
        </p:nvSpPr>
        <p:spPr>
          <a:xfrm>
            <a:off x="11560028" y="6492875"/>
            <a:ext cx="482599" cy="365125"/>
          </a:xfrm>
        </p:spPr>
        <p:txBody>
          <a:bodyPr/>
          <a:lstStyle/>
          <a:p>
            <a:fld id="{98B285C1-D8A8-4E98-B28C-1FD972D8EC54}" type="slidenum">
              <a:rPr lang="en-IN" smtClean="0"/>
              <a:t>27</a:t>
            </a:fld>
            <a:endParaRPr lang="en-IN"/>
          </a:p>
        </p:txBody>
      </p:sp>
    </p:spTree>
    <p:extLst>
      <p:ext uri="{BB962C8B-B14F-4D97-AF65-F5344CB8AC3E}">
        <p14:creationId xmlns:p14="http://schemas.microsoft.com/office/powerpoint/2010/main" val="4159728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F9E9E-B262-52E1-4139-70A49F16FD3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7E3D21F-38BC-4D5F-F467-D5BDD9B28AB9}"/>
              </a:ext>
            </a:extLst>
          </p:cNvPr>
          <p:cNvSpPr>
            <a:spLocks noGrp="1"/>
          </p:cNvSpPr>
          <p:nvPr>
            <p:ph type="sldNum" sz="quarter" idx="12"/>
          </p:nvPr>
        </p:nvSpPr>
        <p:spPr>
          <a:xfrm>
            <a:off x="9197828" y="6492875"/>
            <a:ext cx="2844800" cy="365125"/>
          </a:xfrm>
        </p:spPr>
        <p:txBody>
          <a:bodyPr/>
          <a:lstStyle/>
          <a:p>
            <a:fld id="{98B285C1-D8A8-4E98-B28C-1FD972D8EC54}" type="slidenum">
              <a:rPr lang="en-IN" smtClean="0"/>
              <a:t>28</a:t>
            </a:fld>
            <a:endParaRPr lang="en-IN"/>
          </a:p>
        </p:txBody>
      </p:sp>
      <p:sp>
        <p:nvSpPr>
          <p:cNvPr id="5" name="Rectangle 2">
            <a:extLst>
              <a:ext uri="{FF2B5EF4-FFF2-40B4-BE49-F238E27FC236}">
                <a16:creationId xmlns:a16="http://schemas.microsoft.com/office/drawing/2014/main" id="{9EE81A8C-81E0-8DA3-02C1-D3A5CDF2541B}"/>
              </a:ext>
            </a:extLst>
          </p:cNvPr>
          <p:cNvSpPr txBox="1">
            <a:spLocks noChangeArrowheads="1"/>
          </p:cNvSpPr>
          <p:nvPr/>
        </p:nvSpPr>
        <p:spPr>
          <a:xfrm>
            <a:off x="130740" y="93821"/>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highlight>
                  <a:srgbClr val="33CC33"/>
                </a:highlight>
              </a:rPr>
              <a:t>Construction Progress (Plan VS Actual) (PSS-09)</a:t>
            </a:r>
          </a:p>
        </p:txBody>
      </p:sp>
      <p:graphicFrame>
        <p:nvGraphicFramePr>
          <p:cNvPr id="9" name="Table 8">
            <a:extLst>
              <a:ext uri="{FF2B5EF4-FFF2-40B4-BE49-F238E27FC236}">
                <a16:creationId xmlns:a16="http://schemas.microsoft.com/office/drawing/2014/main" id="{49D179B5-7A0F-81FA-866B-406333C4E064}"/>
              </a:ext>
            </a:extLst>
          </p:cNvPr>
          <p:cNvGraphicFramePr>
            <a:graphicFrameLocks noGrp="1"/>
          </p:cNvGraphicFramePr>
          <p:nvPr>
            <p:extLst>
              <p:ext uri="{D42A27DB-BD31-4B8C-83A1-F6EECF244321}">
                <p14:modId xmlns:p14="http://schemas.microsoft.com/office/powerpoint/2010/main" val="2776689744"/>
              </p:ext>
            </p:extLst>
          </p:nvPr>
        </p:nvGraphicFramePr>
        <p:xfrm>
          <a:off x="4740128" y="6397964"/>
          <a:ext cx="4457700" cy="464820"/>
        </p:xfrm>
        <a:graphic>
          <a:graphicData uri="http://schemas.openxmlformats.org/drawingml/2006/table">
            <a:tbl>
              <a:tblPr/>
              <a:tblGrid>
                <a:gridCol w="800100">
                  <a:extLst>
                    <a:ext uri="{9D8B030D-6E8A-4147-A177-3AD203B41FA5}">
                      <a16:colId xmlns:a16="http://schemas.microsoft.com/office/drawing/2014/main" val="3191902834"/>
                    </a:ext>
                  </a:extLst>
                </a:gridCol>
                <a:gridCol w="609600">
                  <a:extLst>
                    <a:ext uri="{9D8B030D-6E8A-4147-A177-3AD203B41FA5}">
                      <a16:colId xmlns:a16="http://schemas.microsoft.com/office/drawing/2014/main" val="3440374471"/>
                    </a:ext>
                  </a:extLst>
                </a:gridCol>
                <a:gridCol w="609600">
                  <a:extLst>
                    <a:ext uri="{9D8B030D-6E8A-4147-A177-3AD203B41FA5}">
                      <a16:colId xmlns:a16="http://schemas.microsoft.com/office/drawing/2014/main" val="4154648303"/>
                    </a:ext>
                  </a:extLst>
                </a:gridCol>
                <a:gridCol w="609600">
                  <a:extLst>
                    <a:ext uri="{9D8B030D-6E8A-4147-A177-3AD203B41FA5}">
                      <a16:colId xmlns:a16="http://schemas.microsoft.com/office/drawing/2014/main" val="423793554"/>
                    </a:ext>
                  </a:extLst>
                </a:gridCol>
                <a:gridCol w="1828800">
                  <a:extLst>
                    <a:ext uri="{9D8B030D-6E8A-4147-A177-3AD203B41FA5}">
                      <a16:colId xmlns:a16="http://schemas.microsoft.com/office/drawing/2014/main" val="634941952"/>
                    </a:ext>
                  </a:extLst>
                </a:gridCol>
              </a:tblGrid>
              <a:tr h="190500">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0070C0"/>
                    </a:solidFill>
                  </a:tcPr>
                </a:tc>
                <a:tc>
                  <a:txBody>
                    <a:bodyPr/>
                    <a:lstStyle/>
                    <a:p>
                      <a:pPr algn="l" fontAlgn="ctr">
                        <a:buNone/>
                      </a:pPr>
                      <a:r>
                        <a:rPr lang="en-US" sz="900" b="0" i="0" u="none" strike="noStrike">
                          <a:solidFill>
                            <a:srgbClr val="000000"/>
                          </a:solidFill>
                          <a:effectLst/>
                          <a:latin typeface="Adani Light" panose="02000503000000020004" pitchFamily="2" charset="0"/>
                        </a:rPr>
                        <a:t>Plan</a:t>
                      </a:r>
                    </a:p>
                  </a:txBody>
                  <a:tcPr marL="0" marR="0" marT="0" marB="0" anchor="ctr">
                    <a:lnL>
                      <a:noFill/>
                    </a:lnL>
                    <a:lnR>
                      <a:noFill/>
                    </a:lnR>
                    <a:lnT>
                      <a:noFill/>
                    </a:lnT>
                    <a:lnB>
                      <a:noFill/>
                    </a:lnB>
                    <a:noFill/>
                  </a:tcPr>
                </a:tc>
                <a:tc>
                  <a:txBody>
                    <a:bodyPr/>
                    <a:lstStyle/>
                    <a:p>
                      <a:pPr algn="l" fontAlgn="ctr">
                        <a:buNone/>
                      </a:pPr>
                      <a:endParaRPr lang="en-US" sz="900" b="0" i="0" u="none" strike="noStrike">
                        <a:solidFill>
                          <a:srgbClr val="000000"/>
                        </a:solidFill>
                        <a:effectLst/>
                        <a:latin typeface="Adani Light" panose="02000503000000020004" pitchFamily="2" charset="0"/>
                      </a:endParaRPr>
                    </a:p>
                  </a:txBody>
                  <a:tcPr marL="0" marR="0" marT="0" marB="0" anchor="ctr">
                    <a:lnL>
                      <a:noFill/>
                    </a:lnL>
                    <a:lnR>
                      <a:noFill/>
                    </a:lnR>
                    <a:lnT>
                      <a:noFill/>
                    </a:lnT>
                    <a:lnB>
                      <a:noFill/>
                    </a:lnB>
                    <a:noFill/>
                  </a:tcPr>
                </a:tc>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00B050"/>
                    </a:solidFill>
                  </a:tcPr>
                </a:tc>
                <a:tc>
                  <a:txBody>
                    <a:bodyPr/>
                    <a:lstStyle/>
                    <a:p>
                      <a:pPr algn="l" fontAlgn="ctr">
                        <a:buNone/>
                      </a:pPr>
                      <a:r>
                        <a:rPr lang="en-US" sz="900" b="0" i="0" u="none" strike="noStrike">
                          <a:solidFill>
                            <a:srgbClr val="000000"/>
                          </a:solidFill>
                          <a:effectLst/>
                          <a:latin typeface="Adani Light" panose="02000503000000020004" pitchFamily="2" charset="0"/>
                        </a:rPr>
                        <a:t>Actual (80% plan achieved)</a:t>
                      </a:r>
                    </a:p>
                  </a:txBody>
                  <a:tcPr marL="0" marR="0" marT="0" marB="0" anchor="ctr">
                    <a:lnL>
                      <a:noFill/>
                    </a:lnL>
                    <a:lnR>
                      <a:noFill/>
                    </a:lnR>
                    <a:lnT>
                      <a:noFill/>
                    </a:lnT>
                    <a:lnB>
                      <a:noFill/>
                    </a:lnB>
                    <a:noFill/>
                  </a:tcPr>
                </a:tc>
                <a:extLst>
                  <a:ext uri="{0D108BD9-81ED-4DB2-BD59-A6C34878D82A}">
                    <a16:rowId xmlns:a16="http://schemas.microsoft.com/office/drawing/2014/main" val="3827591337"/>
                  </a:ext>
                </a:extLst>
              </a:tr>
              <a:tr h="190500">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FFFF00"/>
                    </a:solidFill>
                  </a:tcPr>
                </a:tc>
                <a:tc gridSpan="2">
                  <a:txBody>
                    <a:bodyPr/>
                    <a:lstStyle/>
                    <a:p>
                      <a:pPr algn="l" fontAlgn="ctr">
                        <a:buNone/>
                      </a:pPr>
                      <a:r>
                        <a:rPr lang="en-US" sz="900" b="0" i="0" u="none" strike="noStrike">
                          <a:solidFill>
                            <a:srgbClr val="000000"/>
                          </a:solidFill>
                          <a:effectLst/>
                          <a:latin typeface="Adani Light" panose="02000503000000020004" pitchFamily="2" charset="0"/>
                        </a:rPr>
                        <a:t>Actual (between 40% to 80% plan achieved)</a:t>
                      </a:r>
                    </a:p>
                  </a:txBody>
                  <a:tcPr marL="0" marR="0" marT="0" marB="0" anchor="ctr">
                    <a:lnL>
                      <a:noFill/>
                    </a:lnL>
                    <a:lnR>
                      <a:noFill/>
                    </a:lnR>
                    <a:lnT>
                      <a:noFill/>
                    </a:lnT>
                    <a:lnB>
                      <a:noFill/>
                    </a:lnB>
                    <a:noFill/>
                  </a:tcPr>
                </a:tc>
                <a:tc hMerge="1">
                  <a:txBody>
                    <a:bodyPr/>
                    <a:lstStyle/>
                    <a:p>
                      <a:endParaRPr lang="en-US"/>
                    </a:p>
                  </a:txBody>
                  <a:tcPr/>
                </a:tc>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FF0000"/>
                    </a:solidFill>
                  </a:tcPr>
                </a:tc>
                <a:tc>
                  <a:txBody>
                    <a:bodyPr/>
                    <a:lstStyle/>
                    <a:p>
                      <a:pPr algn="l" fontAlgn="ctr">
                        <a:buNone/>
                      </a:pPr>
                      <a:r>
                        <a:rPr lang="en-US" sz="900" b="0" i="0" u="none" strike="noStrike">
                          <a:solidFill>
                            <a:srgbClr val="000000"/>
                          </a:solidFill>
                          <a:effectLst/>
                          <a:latin typeface="Adani Light" panose="02000503000000020004" pitchFamily="2" charset="0"/>
                        </a:rPr>
                        <a:t>Actual (below 40% plan achieved)</a:t>
                      </a:r>
                    </a:p>
                  </a:txBody>
                  <a:tcPr marL="0" marR="0" marT="0" marB="0" anchor="ctr">
                    <a:lnL>
                      <a:noFill/>
                    </a:lnL>
                    <a:lnR>
                      <a:noFill/>
                    </a:lnR>
                    <a:lnT>
                      <a:noFill/>
                    </a:lnT>
                    <a:lnB>
                      <a:noFill/>
                    </a:lnB>
                    <a:noFill/>
                  </a:tcPr>
                </a:tc>
                <a:extLst>
                  <a:ext uri="{0D108BD9-81ED-4DB2-BD59-A6C34878D82A}">
                    <a16:rowId xmlns:a16="http://schemas.microsoft.com/office/drawing/2014/main" val="2803369911"/>
                  </a:ext>
                </a:extLst>
              </a:tr>
            </a:tbl>
          </a:graphicData>
        </a:graphic>
      </p:graphicFrame>
      <p:sp>
        <p:nvSpPr>
          <p:cNvPr id="3" name="Arrow: Right 2">
            <a:hlinkClick r:id="rId2" action="ppaction://hlinksldjump"/>
            <a:extLst>
              <a:ext uri="{FF2B5EF4-FFF2-40B4-BE49-F238E27FC236}">
                <a16:creationId xmlns:a16="http://schemas.microsoft.com/office/drawing/2014/main" id="{10103EF8-E48F-AF85-89D1-D27AE18B64D0}"/>
              </a:ext>
            </a:extLst>
          </p:cNvPr>
          <p:cNvSpPr/>
          <p:nvPr/>
        </p:nvSpPr>
        <p:spPr>
          <a:xfrm>
            <a:off x="11381603" y="6702539"/>
            <a:ext cx="237764" cy="155461"/>
          </a:xfrm>
          <a:prstGeom prst="righ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Left 5">
            <a:hlinkClick r:id="rId3" action="ppaction://hlinksldjump"/>
            <a:extLst>
              <a:ext uri="{FF2B5EF4-FFF2-40B4-BE49-F238E27FC236}">
                <a16:creationId xmlns:a16="http://schemas.microsoft.com/office/drawing/2014/main" id="{B41A95E7-916D-5CFB-65A3-4F80D988DB69}"/>
              </a:ext>
            </a:extLst>
          </p:cNvPr>
          <p:cNvSpPr/>
          <p:nvPr/>
        </p:nvSpPr>
        <p:spPr>
          <a:xfrm>
            <a:off x="10927070" y="6702539"/>
            <a:ext cx="237764" cy="155461"/>
          </a:xfrm>
          <a:prstGeom prst="lef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727D4F40-0A3C-850B-BC69-6D4B9AECE60D}"/>
              </a:ext>
            </a:extLst>
          </p:cNvPr>
          <p:cNvPicPr>
            <a:picLocks noChangeAspect="1"/>
          </p:cNvPicPr>
          <p:nvPr/>
        </p:nvPicPr>
        <p:blipFill>
          <a:blip r:embed="rId4"/>
          <a:stretch>
            <a:fillRect/>
          </a:stretch>
        </p:blipFill>
        <p:spPr>
          <a:xfrm>
            <a:off x="94624" y="802137"/>
            <a:ext cx="7229475" cy="4265897"/>
          </a:xfrm>
          <a:prstGeom prst="rect">
            <a:avLst/>
          </a:prstGeom>
        </p:spPr>
      </p:pic>
      <p:graphicFrame>
        <p:nvGraphicFramePr>
          <p:cNvPr id="11" name="Chart 10">
            <a:extLst>
              <a:ext uri="{FF2B5EF4-FFF2-40B4-BE49-F238E27FC236}">
                <a16:creationId xmlns:a16="http://schemas.microsoft.com/office/drawing/2014/main" id="{356D414C-F19C-4C0C-BDD7-668B0AC692E8}"/>
              </a:ext>
            </a:extLst>
          </p:cNvPr>
          <p:cNvGraphicFramePr>
            <a:graphicFrameLocks/>
          </p:cNvGraphicFramePr>
          <p:nvPr>
            <p:extLst>
              <p:ext uri="{D42A27DB-BD31-4B8C-83A1-F6EECF244321}">
                <p14:modId xmlns:p14="http://schemas.microsoft.com/office/powerpoint/2010/main" val="3603428818"/>
              </p:ext>
            </p:extLst>
          </p:nvPr>
        </p:nvGraphicFramePr>
        <p:xfrm>
          <a:off x="7401855" y="813423"/>
          <a:ext cx="4695521" cy="4253814"/>
        </p:xfrm>
        <a:graphic>
          <a:graphicData uri="http://schemas.openxmlformats.org/drawingml/2006/chart">
            <c:chart xmlns:c="http://schemas.openxmlformats.org/drawingml/2006/chart" xmlns:r="http://schemas.openxmlformats.org/officeDocument/2006/relationships" r:id="rId5"/>
          </a:graphicData>
        </a:graphic>
      </p:graphicFrame>
      <p:pic>
        <p:nvPicPr>
          <p:cNvPr id="13" name="Picture 12">
            <a:extLst>
              <a:ext uri="{FF2B5EF4-FFF2-40B4-BE49-F238E27FC236}">
                <a16:creationId xmlns:a16="http://schemas.microsoft.com/office/drawing/2014/main" id="{11FA1145-F037-47BF-B235-BE9E6F8171FB}"/>
              </a:ext>
            </a:extLst>
          </p:cNvPr>
          <p:cNvPicPr>
            <a:picLocks noChangeAspect="1"/>
          </p:cNvPicPr>
          <p:nvPr/>
        </p:nvPicPr>
        <p:blipFill>
          <a:blip r:embed="rId6"/>
          <a:stretch>
            <a:fillRect/>
          </a:stretch>
        </p:blipFill>
        <p:spPr>
          <a:xfrm>
            <a:off x="94624" y="5215094"/>
            <a:ext cx="7229475" cy="1079379"/>
          </a:xfrm>
          <a:prstGeom prst="rect">
            <a:avLst/>
          </a:prstGeom>
        </p:spPr>
      </p:pic>
      <p:graphicFrame>
        <p:nvGraphicFramePr>
          <p:cNvPr id="16" name="Chart 15">
            <a:extLst>
              <a:ext uri="{FF2B5EF4-FFF2-40B4-BE49-F238E27FC236}">
                <a16:creationId xmlns:a16="http://schemas.microsoft.com/office/drawing/2014/main" id="{3A401DA3-2D57-4652-8F8B-1AA4888B7A95}"/>
              </a:ext>
            </a:extLst>
          </p:cNvPr>
          <p:cNvGraphicFramePr>
            <a:graphicFrameLocks/>
          </p:cNvGraphicFramePr>
          <p:nvPr>
            <p:extLst>
              <p:ext uri="{D42A27DB-BD31-4B8C-83A1-F6EECF244321}">
                <p14:modId xmlns:p14="http://schemas.microsoft.com/office/powerpoint/2010/main" val="531999408"/>
              </p:ext>
            </p:extLst>
          </p:nvPr>
        </p:nvGraphicFramePr>
        <p:xfrm>
          <a:off x="7401855" y="5215095"/>
          <a:ext cx="4640773" cy="1079377"/>
        </p:xfrm>
        <a:graphic>
          <a:graphicData uri="http://schemas.openxmlformats.org/drawingml/2006/chart">
            <c:chart xmlns:c="http://schemas.openxmlformats.org/drawingml/2006/chart" xmlns:r="http://schemas.openxmlformats.org/officeDocument/2006/relationships" r:id="rId7"/>
          </a:graphicData>
        </a:graphic>
      </p:graphicFrame>
      <p:sp>
        <p:nvSpPr>
          <p:cNvPr id="7" name="TextBox 6">
            <a:hlinkClick r:id="rId8"/>
            <a:extLst>
              <a:ext uri="{FF2B5EF4-FFF2-40B4-BE49-F238E27FC236}">
                <a16:creationId xmlns:a16="http://schemas.microsoft.com/office/drawing/2014/main" id="{73102226-430F-1D5C-0D37-B30A3017ABC0}"/>
              </a:ext>
            </a:extLst>
          </p:cNvPr>
          <p:cNvSpPr txBox="1"/>
          <p:nvPr/>
        </p:nvSpPr>
        <p:spPr>
          <a:xfrm>
            <a:off x="130740" y="6365129"/>
            <a:ext cx="4579483" cy="369332"/>
          </a:xfrm>
          <a:prstGeom prst="rect">
            <a:avLst/>
          </a:prstGeom>
          <a:noFill/>
        </p:spPr>
        <p:txBody>
          <a:bodyPr wrap="square" rtlCol="0">
            <a:spAutoFit/>
          </a:bodyPr>
          <a:lstStyle/>
          <a:p>
            <a:r>
              <a:rPr lang="en-US">
                <a:hlinkClick r:id="rId9"/>
              </a:rPr>
              <a:t>Link</a:t>
            </a:r>
            <a:r>
              <a:rPr lang="en-US"/>
              <a:t> </a:t>
            </a:r>
          </a:p>
        </p:txBody>
      </p:sp>
    </p:spTree>
    <p:extLst>
      <p:ext uri="{BB962C8B-B14F-4D97-AF65-F5344CB8AC3E}">
        <p14:creationId xmlns:p14="http://schemas.microsoft.com/office/powerpoint/2010/main" val="20794022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E8917-5B75-6B66-2F0A-0FA7FFEC558E}"/>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30D09083-A2B5-2745-958D-7826380F7641}"/>
              </a:ext>
            </a:extLst>
          </p:cNvPr>
          <p:cNvSpPr txBox="1">
            <a:spLocks noChangeArrowheads="1"/>
          </p:cNvSpPr>
          <p:nvPr/>
        </p:nvSpPr>
        <p:spPr>
          <a:xfrm>
            <a:off x="185413" y="141975"/>
            <a:ext cx="11067531" cy="433120"/>
          </a:xfrm>
          <a:prstGeom prst="rect">
            <a:avLst/>
          </a:prstGeom>
        </p:spPr>
        <p:txBody>
          <a:bodyPr lIns="91440" tIns="45720" rIns="91440" bIns="4572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IN" sz="2200" b="1">
                <a:solidFill>
                  <a:srgbClr val="912A82"/>
                </a:solidFill>
                <a:highlight>
                  <a:srgbClr val="33CC33"/>
                </a:highlight>
              </a:rPr>
              <a:t>Electrical Plan Vs Actual Summary PSS 09 </a:t>
            </a:r>
          </a:p>
        </p:txBody>
      </p:sp>
      <p:sp>
        <p:nvSpPr>
          <p:cNvPr id="4" name="Arrow: Left 3">
            <a:hlinkClick r:id="" action="ppaction://noaction"/>
            <a:extLst>
              <a:ext uri="{FF2B5EF4-FFF2-40B4-BE49-F238E27FC236}">
                <a16:creationId xmlns:a16="http://schemas.microsoft.com/office/drawing/2014/main" id="{08C8678A-5682-F876-4A8E-DD33FD6C28CA}"/>
              </a:ext>
            </a:extLst>
          </p:cNvPr>
          <p:cNvSpPr/>
          <p:nvPr/>
        </p:nvSpPr>
        <p:spPr>
          <a:xfrm>
            <a:off x="10928057" y="6710745"/>
            <a:ext cx="209862" cy="122744"/>
          </a:xfrm>
          <a:prstGeom prst="leftArrow">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row: Right 2">
            <a:hlinkClick r:id="" action="ppaction://noaction"/>
            <a:extLst>
              <a:ext uri="{FF2B5EF4-FFF2-40B4-BE49-F238E27FC236}">
                <a16:creationId xmlns:a16="http://schemas.microsoft.com/office/drawing/2014/main" id="{90CF22B8-7123-B981-05A4-093DDABABC8A}"/>
              </a:ext>
            </a:extLst>
          </p:cNvPr>
          <p:cNvSpPr/>
          <p:nvPr/>
        </p:nvSpPr>
        <p:spPr>
          <a:xfrm>
            <a:off x="11255997" y="6710745"/>
            <a:ext cx="209862" cy="123898"/>
          </a:xfrm>
          <a:prstGeom prst="rightArrow">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7C9EF0B1-5A54-A986-805E-4806726873E6}"/>
              </a:ext>
            </a:extLst>
          </p:cNvPr>
          <p:cNvPicPr>
            <a:picLocks noChangeAspect="1"/>
          </p:cNvPicPr>
          <p:nvPr/>
        </p:nvPicPr>
        <p:blipFill>
          <a:blip r:embed="rId3"/>
          <a:stretch>
            <a:fillRect/>
          </a:stretch>
        </p:blipFill>
        <p:spPr>
          <a:xfrm>
            <a:off x="684803" y="835817"/>
            <a:ext cx="5769160" cy="5186363"/>
          </a:xfrm>
          <a:prstGeom prst="rect">
            <a:avLst/>
          </a:prstGeom>
        </p:spPr>
      </p:pic>
      <p:graphicFrame>
        <p:nvGraphicFramePr>
          <p:cNvPr id="7" name="Chart 6">
            <a:extLst>
              <a:ext uri="{FF2B5EF4-FFF2-40B4-BE49-F238E27FC236}">
                <a16:creationId xmlns:a16="http://schemas.microsoft.com/office/drawing/2014/main" id="{EC596A5E-0E2A-B871-A06E-E739694ED8CC}"/>
              </a:ext>
            </a:extLst>
          </p:cNvPr>
          <p:cNvGraphicFramePr>
            <a:graphicFrameLocks/>
          </p:cNvGraphicFramePr>
          <p:nvPr>
            <p:extLst>
              <p:ext uri="{D42A27DB-BD31-4B8C-83A1-F6EECF244321}">
                <p14:modId xmlns:p14="http://schemas.microsoft.com/office/powerpoint/2010/main" val="892796717"/>
              </p:ext>
            </p:extLst>
          </p:nvPr>
        </p:nvGraphicFramePr>
        <p:xfrm>
          <a:off x="6500969" y="835816"/>
          <a:ext cx="5006228" cy="5186363"/>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Box 7">
            <a:hlinkClick r:id="rId5"/>
            <a:extLst>
              <a:ext uri="{FF2B5EF4-FFF2-40B4-BE49-F238E27FC236}">
                <a16:creationId xmlns:a16="http://schemas.microsoft.com/office/drawing/2014/main" id="{F2BE12D8-C566-ABAF-31C9-A394BA2C8D3A}"/>
              </a:ext>
            </a:extLst>
          </p:cNvPr>
          <p:cNvSpPr txBox="1"/>
          <p:nvPr/>
        </p:nvSpPr>
        <p:spPr>
          <a:xfrm>
            <a:off x="130740" y="6365129"/>
            <a:ext cx="4579483" cy="369332"/>
          </a:xfrm>
          <a:prstGeom prst="rect">
            <a:avLst/>
          </a:prstGeom>
          <a:noFill/>
        </p:spPr>
        <p:txBody>
          <a:bodyPr wrap="square" rtlCol="0">
            <a:spAutoFit/>
          </a:bodyPr>
          <a:lstStyle/>
          <a:p>
            <a:r>
              <a:rPr lang="en-US">
                <a:hlinkClick r:id="rId6"/>
              </a:rPr>
              <a:t>Link</a:t>
            </a:r>
            <a:r>
              <a:rPr lang="en-US"/>
              <a:t> </a:t>
            </a:r>
          </a:p>
        </p:txBody>
      </p:sp>
    </p:spTree>
    <p:extLst>
      <p:ext uri="{BB962C8B-B14F-4D97-AF65-F5344CB8AC3E}">
        <p14:creationId xmlns:p14="http://schemas.microsoft.com/office/powerpoint/2010/main" val="31043077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C23D0-AA76-7736-A2D2-C55862EA572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D0D8EF-7EF7-485F-F9A1-8FE98697346B}"/>
              </a:ext>
            </a:extLst>
          </p:cNvPr>
          <p:cNvSpPr>
            <a:spLocks noGrp="1"/>
          </p:cNvSpPr>
          <p:nvPr>
            <p:ph type="sldNum" sz="quarter" idx="12"/>
          </p:nvPr>
        </p:nvSpPr>
        <p:spPr>
          <a:xfrm>
            <a:off x="9197828" y="6492875"/>
            <a:ext cx="2844800" cy="365125"/>
          </a:xfrm>
        </p:spPr>
        <p:txBody>
          <a:bodyPr/>
          <a:lstStyle/>
          <a:p>
            <a:fld id="{98B285C1-D8A8-4E98-B28C-1FD972D8EC54}" type="slidenum">
              <a:rPr lang="en-IN" smtClean="0"/>
              <a:t>30</a:t>
            </a:fld>
            <a:endParaRPr lang="en-IN"/>
          </a:p>
        </p:txBody>
      </p:sp>
      <p:sp>
        <p:nvSpPr>
          <p:cNvPr id="5" name="Rectangle 2">
            <a:extLst>
              <a:ext uri="{FF2B5EF4-FFF2-40B4-BE49-F238E27FC236}">
                <a16:creationId xmlns:a16="http://schemas.microsoft.com/office/drawing/2014/main" id="{89B89C20-D829-FD2F-064A-DFB802C57910}"/>
              </a:ext>
            </a:extLst>
          </p:cNvPr>
          <p:cNvSpPr txBox="1">
            <a:spLocks noChangeArrowheads="1"/>
          </p:cNvSpPr>
          <p:nvPr/>
        </p:nvSpPr>
        <p:spPr>
          <a:xfrm>
            <a:off x="130740" y="93821"/>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highlight>
                  <a:srgbClr val="33CC33"/>
                </a:highlight>
              </a:rPr>
              <a:t>Construction Progress (Plan VS Actual) (PSS-05(B))</a:t>
            </a:r>
          </a:p>
          <a:p>
            <a:endParaRPr lang="en-US" sz="2400" b="1">
              <a:solidFill>
                <a:srgbClr val="912A82"/>
              </a:solidFill>
              <a:highlight>
                <a:srgbClr val="FFFF00"/>
              </a:highlight>
            </a:endParaRPr>
          </a:p>
        </p:txBody>
      </p:sp>
      <p:graphicFrame>
        <p:nvGraphicFramePr>
          <p:cNvPr id="9" name="Table 8">
            <a:extLst>
              <a:ext uri="{FF2B5EF4-FFF2-40B4-BE49-F238E27FC236}">
                <a16:creationId xmlns:a16="http://schemas.microsoft.com/office/drawing/2014/main" id="{6D6D8FC1-A2C7-3C26-B387-97E7287693E3}"/>
              </a:ext>
            </a:extLst>
          </p:cNvPr>
          <p:cNvGraphicFramePr>
            <a:graphicFrameLocks noGrp="1"/>
          </p:cNvGraphicFramePr>
          <p:nvPr>
            <p:extLst>
              <p:ext uri="{D42A27DB-BD31-4B8C-83A1-F6EECF244321}">
                <p14:modId xmlns:p14="http://schemas.microsoft.com/office/powerpoint/2010/main" val="2390204698"/>
              </p:ext>
            </p:extLst>
          </p:nvPr>
        </p:nvGraphicFramePr>
        <p:xfrm>
          <a:off x="4740128" y="6392631"/>
          <a:ext cx="4457700" cy="464820"/>
        </p:xfrm>
        <a:graphic>
          <a:graphicData uri="http://schemas.openxmlformats.org/drawingml/2006/table">
            <a:tbl>
              <a:tblPr/>
              <a:tblGrid>
                <a:gridCol w="800100">
                  <a:extLst>
                    <a:ext uri="{9D8B030D-6E8A-4147-A177-3AD203B41FA5}">
                      <a16:colId xmlns:a16="http://schemas.microsoft.com/office/drawing/2014/main" val="3191902834"/>
                    </a:ext>
                  </a:extLst>
                </a:gridCol>
                <a:gridCol w="609600">
                  <a:extLst>
                    <a:ext uri="{9D8B030D-6E8A-4147-A177-3AD203B41FA5}">
                      <a16:colId xmlns:a16="http://schemas.microsoft.com/office/drawing/2014/main" val="3440374471"/>
                    </a:ext>
                  </a:extLst>
                </a:gridCol>
                <a:gridCol w="609600">
                  <a:extLst>
                    <a:ext uri="{9D8B030D-6E8A-4147-A177-3AD203B41FA5}">
                      <a16:colId xmlns:a16="http://schemas.microsoft.com/office/drawing/2014/main" val="4154648303"/>
                    </a:ext>
                  </a:extLst>
                </a:gridCol>
                <a:gridCol w="609600">
                  <a:extLst>
                    <a:ext uri="{9D8B030D-6E8A-4147-A177-3AD203B41FA5}">
                      <a16:colId xmlns:a16="http://schemas.microsoft.com/office/drawing/2014/main" val="423793554"/>
                    </a:ext>
                  </a:extLst>
                </a:gridCol>
                <a:gridCol w="1828800">
                  <a:extLst>
                    <a:ext uri="{9D8B030D-6E8A-4147-A177-3AD203B41FA5}">
                      <a16:colId xmlns:a16="http://schemas.microsoft.com/office/drawing/2014/main" val="634941952"/>
                    </a:ext>
                  </a:extLst>
                </a:gridCol>
              </a:tblGrid>
              <a:tr h="190500">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0070C0"/>
                    </a:solidFill>
                  </a:tcPr>
                </a:tc>
                <a:tc>
                  <a:txBody>
                    <a:bodyPr/>
                    <a:lstStyle/>
                    <a:p>
                      <a:pPr algn="l" fontAlgn="ctr">
                        <a:buNone/>
                      </a:pPr>
                      <a:r>
                        <a:rPr lang="en-US" sz="900" b="0" i="0" u="none" strike="noStrike">
                          <a:solidFill>
                            <a:srgbClr val="000000"/>
                          </a:solidFill>
                          <a:effectLst/>
                          <a:latin typeface="Adani Light" panose="02000503000000020004" pitchFamily="2" charset="0"/>
                        </a:rPr>
                        <a:t>Plan</a:t>
                      </a:r>
                    </a:p>
                  </a:txBody>
                  <a:tcPr marL="0" marR="0" marT="0" marB="0" anchor="ctr">
                    <a:lnL>
                      <a:noFill/>
                    </a:lnL>
                    <a:lnR>
                      <a:noFill/>
                    </a:lnR>
                    <a:lnT>
                      <a:noFill/>
                    </a:lnT>
                    <a:lnB>
                      <a:noFill/>
                    </a:lnB>
                    <a:noFill/>
                  </a:tcPr>
                </a:tc>
                <a:tc>
                  <a:txBody>
                    <a:bodyPr/>
                    <a:lstStyle/>
                    <a:p>
                      <a:pPr algn="l" fontAlgn="ctr">
                        <a:buNone/>
                      </a:pPr>
                      <a:endParaRPr lang="en-US" sz="900" b="0" i="0" u="none" strike="noStrike">
                        <a:solidFill>
                          <a:srgbClr val="000000"/>
                        </a:solidFill>
                        <a:effectLst/>
                        <a:latin typeface="Adani Light" panose="02000503000000020004" pitchFamily="2" charset="0"/>
                      </a:endParaRPr>
                    </a:p>
                  </a:txBody>
                  <a:tcPr marL="0" marR="0" marT="0" marB="0" anchor="ctr">
                    <a:lnL>
                      <a:noFill/>
                    </a:lnL>
                    <a:lnR>
                      <a:noFill/>
                    </a:lnR>
                    <a:lnT>
                      <a:noFill/>
                    </a:lnT>
                    <a:lnB>
                      <a:noFill/>
                    </a:lnB>
                    <a:noFill/>
                  </a:tcPr>
                </a:tc>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00B050"/>
                    </a:solidFill>
                  </a:tcPr>
                </a:tc>
                <a:tc>
                  <a:txBody>
                    <a:bodyPr/>
                    <a:lstStyle/>
                    <a:p>
                      <a:pPr algn="l" fontAlgn="ctr">
                        <a:buNone/>
                      </a:pPr>
                      <a:r>
                        <a:rPr lang="en-US" sz="900" b="0" i="0" u="none" strike="noStrike">
                          <a:solidFill>
                            <a:srgbClr val="000000"/>
                          </a:solidFill>
                          <a:effectLst/>
                          <a:latin typeface="Adani Light" panose="02000503000000020004" pitchFamily="2" charset="0"/>
                        </a:rPr>
                        <a:t>Actual (80% plan achieved)</a:t>
                      </a:r>
                    </a:p>
                  </a:txBody>
                  <a:tcPr marL="0" marR="0" marT="0" marB="0" anchor="ctr">
                    <a:lnL>
                      <a:noFill/>
                    </a:lnL>
                    <a:lnR>
                      <a:noFill/>
                    </a:lnR>
                    <a:lnT>
                      <a:noFill/>
                    </a:lnT>
                    <a:lnB>
                      <a:noFill/>
                    </a:lnB>
                    <a:noFill/>
                  </a:tcPr>
                </a:tc>
                <a:extLst>
                  <a:ext uri="{0D108BD9-81ED-4DB2-BD59-A6C34878D82A}">
                    <a16:rowId xmlns:a16="http://schemas.microsoft.com/office/drawing/2014/main" val="3827591337"/>
                  </a:ext>
                </a:extLst>
              </a:tr>
              <a:tr h="190500">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FFFF00"/>
                    </a:solidFill>
                  </a:tcPr>
                </a:tc>
                <a:tc gridSpan="2">
                  <a:txBody>
                    <a:bodyPr/>
                    <a:lstStyle/>
                    <a:p>
                      <a:pPr algn="l" fontAlgn="ctr">
                        <a:buNone/>
                      </a:pPr>
                      <a:r>
                        <a:rPr lang="en-US" sz="900" b="0" i="0" u="none" strike="noStrike">
                          <a:solidFill>
                            <a:srgbClr val="000000"/>
                          </a:solidFill>
                          <a:effectLst/>
                          <a:latin typeface="Adani Light" panose="02000503000000020004" pitchFamily="2" charset="0"/>
                        </a:rPr>
                        <a:t>Actual (between 40% to 80% plan achieved)</a:t>
                      </a:r>
                    </a:p>
                  </a:txBody>
                  <a:tcPr marL="0" marR="0" marT="0" marB="0" anchor="ctr">
                    <a:lnL>
                      <a:noFill/>
                    </a:lnL>
                    <a:lnR>
                      <a:noFill/>
                    </a:lnR>
                    <a:lnT>
                      <a:noFill/>
                    </a:lnT>
                    <a:lnB>
                      <a:noFill/>
                    </a:lnB>
                    <a:noFill/>
                  </a:tcPr>
                </a:tc>
                <a:tc hMerge="1">
                  <a:txBody>
                    <a:bodyPr/>
                    <a:lstStyle/>
                    <a:p>
                      <a:endParaRPr lang="en-US"/>
                    </a:p>
                  </a:txBody>
                  <a:tcPr/>
                </a:tc>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FF0000"/>
                    </a:solidFill>
                  </a:tcPr>
                </a:tc>
                <a:tc>
                  <a:txBody>
                    <a:bodyPr/>
                    <a:lstStyle/>
                    <a:p>
                      <a:pPr algn="l" fontAlgn="ctr">
                        <a:buNone/>
                      </a:pPr>
                      <a:r>
                        <a:rPr lang="en-US" sz="900" b="0" i="0" u="none" strike="noStrike">
                          <a:solidFill>
                            <a:srgbClr val="000000"/>
                          </a:solidFill>
                          <a:effectLst/>
                          <a:latin typeface="Adani Light" panose="02000503000000020004" pitchFamily="2" charset="0"/>
                        </a:rPr>
                        <a:t>Actual (below 40% plan achieved)</a:t>
                      </a:r>
                    </a:p>
                  </a:txBody>
                  <a:tcPr marL="0" marR="0" marT="0" marB="0" anchor="ctr">
                    <a:lnL>
                      <a:noFill/>
                    </a:lnL>
                    <a:lnR>
                      <a:noFill/>
                    </a:lnR>
                    <a:lnT>
                      <a:noFill/>
                    </a:lnT>
                    <a:lnB>
                      <a:noFill/>
                    </a:lnB>
                    <a:noFill/>
                  </a:tcPr>
                </a:tc>
                <a:extLst>
                  <a:ext uri="{0D108BD9-81ED-4DB2-BD59-A6C34878D82A}">
                    <a16:rowId xmlns:a16="http://schemas.microsoft.com/office/drawing/2014/main" val="2803369911"/>
                  </a:ext>
                </a:extLst>
              </a:tr>
            </a:tbl>
          </a:graphicData>
        </a:graphic>
      </p:graphicFrame>
      <p:sp>
        <p:nvSpPr>
          <p:cNvPr id="4" name="Arrow: Right 3">
            <a:hlinkClick r:id="rId2" action="ppaction://hlinksldjump"/>
            <a:extLst>
              <a:ext uri="{FF2B5EF4-FFF2-40B4-BE49-F238E27FC236}">
                <a16:creationId xmlns:a16="http://schemas.microsoft.com/office/drawing/2014/main" id="{33043C08-A862-40FA-E2F3-A565330052A1}"/>
              </a:ext>
            </a:extLst>
          </p:cNvPr>
          <p:cNvSpPr/>
          <p:nvPr/>
        </p:nvSpPr>
        <p:spPr>
          <a:xfrm>
            <a:off x="11381603" y="6702539"/>
            <a:ext cx="237764" cy="155461"/>
          </a:xfrm>
          <a:prstGeom prst="righ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Left 6">
            <a:hlinkClick r:id="rId3" action="ppaction://hlinksldjump"/>
            <a:extLst>
              <a:ext uri="{FF2B5EF4-FFF2-40B4-BE49-F238E27FC236}">
                <a16:creationId xmlns:a16="http://schemas.microsoft.com/office/drawing/2014/main" id="{66E1FF4E-5D0D-0133-FF21-662339B60E82}"/>
              </a:ext>
            </a:extLst>
          </p:cNvPr>
          <p:cNvSpPr/>
          <p:nvPr/>
        </p:nvSpPr>
        <p:spPr>
          <a:xfrm>
            <a:off x="10927070" y="6702539"/>
            <a:ext cx="237764" cy="155461"/>
          </a:xfrm>
          <a:prstGeom prst="lef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7DF80E1A-24A5-3311-16FB-9C25D1DE1CB0}"/>
              </a:ext>
            </a:extLst>
          </p:cNvPr>
          <p:cNvPicPr>
            <a:picLocks noChangeAspect="1"/>
          </p:cNvPicPr>
          <p:nvPr/>
        </p:nvPicPr>
        <p:blipFill>
          <a:blip r:embed="rId4"/>
          <a:stretch>
            <a:fillRect/>
          </a:stretch>
        </p:blipFill>
        <p:spPr>
          <a:xfrm>
            <a:off x="130741" y="5015410"/>
            <a:ext cx="7205726" cy="1249833"/>
          </a:xfrm>
          <a:prstGeom prst="rect">
            <a:avLst/>
          </a:prstGeom>
        </p:spPr>
      </p:pic>
      <p:graphicFrame>
        <p:nvGraphicFramePr>
          <p:cNvPr id="19" name="Chart 18">
            <a:extLst>
              <a:ext uri="{FF2B5EF4-FFF2-40B4-BE49-F238E27FC236}">
                <a16:creationId xmlns:a16="http://schemas.microsoft.com/office/drawing/2014/main" id="{9B9A09F0-E4D3-4A1C-BB3F-4A49A332B238}"/>
              </a:ext>
            </a:extLst>
          </p:cNvPr>
          <p:cNvGraphicFramePr>
            <a:graphicFrameLocks/>
          </p:cNvGraphicFramePr>
          <p:nvPr>
            <p:extLst>
              <p:ext uri="{D42A27DB-BD31-4B8C-83A1-F6EECF244321}">
                <p14:modId xmlns:p14="http://schemas.microsoft.com/office/powerpoint/2010/main" val="291109901"/>
              </p:ext>
            </p:extLst>
          </p:nvPr>
        </p:nvGraphicFramePr>
        <p:xfrm>
          <a:off x="7420390" y="5015410"/>
          <a:ext cx="4622237" cy="1233167"/>
        </p:xfrm>
        <a:graphic>
          <a:graphicData uri="http://schemas.openxmlformats.org/drawingml/2006/chart">
            <c:chart xmlns:c="http://schemas.openxmlformats.org/drawingml/2006/chart" xmlns:r="http://schemas.openxmlformats.org/officeDocument/2006/relationships" r:id="rId5"/>
          </a:graphicData>
        </a:graphic>
      </p:graphicFrame>
      <p:pic>
        <p:nvPicPr>
          <p:cNvPr id="23" name="Picture 22">
            <a:extLst>
              <a:ext uri="{FF2B5EF4-FFF2-40B4-BE49-F238E27FC236}">
                <a16:creationId xmlns:a16="http://schemas.microsoft.com/office/drawing/2014/main" id="{A8362FD7-91C8-CE4D-FD6C-B44DBFD7ADC6}"/>
              </a:ext>
            </a:extLst>
          </p:cNvPr>
          <p:cNvPicPr>
            <a:picLocks noChangeAspect="1"/>
          </p:cNvPicPr>
          <p:nvPr/>
        </p:nvPicPr>
        <p:blipFill>
          <a:blip r:embed="rId6"/>
          <a:stretch>
            <a:fillRect/>
          </a:stretch>
        </p:blipFill>
        <p:spPr>
          <a:xfrm>
            <a:off x="130740" y="698041"/>
            <a:ext cx="7205727" cy="4167877"/>
          </a:xfrm>
          <a:prstGeom prst="rect">
            <a:avLst/>
          </a:prstGeom>
        </p:spPr>
      </p:pic>
      <p:graphicFrame>
        <p:nvGraphicFramePr>
          <p:cNvPr id="24" name="Chart 23">
            <a:extLst>
              <a:ext uri="{FF2B5EF4-FFF2-40B4-BE49-F238E27FC236}">
                <a16:creationId xmlns:a16="http://schemas.microsoft.com/office/drawing/2014/main" id="{010AE0CF-139C-48A5-ACF0-17A561F52EF9}"/>
              </a:ext>
            </a:extLst>
          </p:cNvPr>
          <p:cNvGraphicFramePr>
            <a:graphicFrameLocks/>
          </p:cNvGraphicFramePr>
          <p:nvPr>
            <p:extLst>
              <p:ext uri="{D42A27DB-BD31-4B8C-83A1-F6EECF244321}">
                <p14:modId xmlns:p14="http://schemas.microsoft.com/office/powerpoint/2010/main" val="1674334104"/>
              </p:ext>
            </p:extLst>
          </p:nvPr>
        </p:nvGraphicFramePr>
        <p:xfrm>
          <a:off x="7420391" y="698041"/>
          <a:ext cx="4640869" cy="4167877"/>
        </p:xfrm>
        <a:graphic>
          <a:graphicData uri="http://schemas.openxmlformats.org/drawingml/2006/chart">
            <c:chart xmlns:c="http://schemas.openxmlformats.org/drawingml/2006/chart" xmlns:r="http://schemas.openxmlformats.org/officeDocument/2006/relationships" r:id="rId7"/>
          </a:graphicData>
        </a:graphic>
      </p:graphicFrame>
      <p:sp>
        <p:nvSpPr>
          <p:cNvPr id="6" name="TextBox 5">
            <a:hlinkClick r:id="rId8"/>
            <a:extLst>
              <a:ext uri="{FF2B5EF4-FFF2-40B4-BE49-F238E27FC236}">
                <a16:creationId xmlns:a16="http://schemas.microsoft.com/office/drawing/2014/main" id="{DF1A6642-19C4-2E5E-0A2C-BD5F0E0AFF87}"/>
              </a:ext>
            </a:extLst>
          </p:cNvPr>
          <p:cNvSpPr txBox="1"/>
          <p:nvPr/>
        </p:nvSpPr>
        <p:spPr>
          <a:xfrm>
            <a:off x="130740" y="6365129"/>
            <a:ext cx="4579483" cy="369332"/>
          </a:xfrm>
          <a:prstGeom prst="rect">
            <a:avLst/>
          </a:prstGeom>
          <a:noFill/>
        </p:spPr>
        <p:txBody>
          <a:bodyPr wrap="square" rtlCol="0">
            <a:spAutoFit/>
          </a:bodyPr>
          <a:lstStyle/>
          <a:p>
            <a:r>
              <a:rPr lang="en-US">
                <a:hlinkClick r:id="rId9"/>
              </a:rPr>
              <a:t>Link</a:t>
            </a:r>
            <a:r>
              <a:rPr lang="en-US"/>
              <a:t> </a:t>
            </a:r>
          </a:p>
        </p:txBody>
      </p:sp>
      <p:sp>
        <p:nvSpPr>
          <p:cNvPr id="3" name="TextBox 2">
            <a:extLst>
              <a:ext uri="{FF2B5EF4-FFF2-40B4-BE49-F238E27FC236}">
                <a16:creationId xmlns:a16="http://schemas.microsoft.com/office/drawing/2014/main" id="{87CFBEA9-3C96-FF41-3375-BB26AA3BCC6A}"/>
              </a:ext>
            </a:extLst>
          </p:cNvPr>
          <p:cNvSpPr txBox="1"/>
          <p:nvPr/>
        </p:nvSpPr>
        <p:spPr>
          <a:xfrm>
            <a:off x="858252" y="6488697"/>
            <a:ext cx="3569369" cy="415498"/>
          </a:xfrm>
          <a:prstGeom prst="rect">
            <a:avLst/>
          </a:prstGeom>
          <a:noFill/>
        </p:spPr>
        <p:txBody>
          <a:bodyPr wrap="square" rtlCol="0">
            <a:spAutoFit/>
          </a:bodyPr>
          <a:lstStyle/>
          <a:p>
            <a:r>
              <a:rPr lang="en-US" sz="1050" dirty="0">
                <a:latin typeface="Adani Regular" panose="02000503000000020004" pitchFamily="2" charset="0"/>
              </a:rPr>
              <a:t>Note: * 06 </a:t>
            </a:r>
            <a:r>
              <a:rPr lang="en-US" sz="1050">
                <a:latin typeface="Adani Regular" panose="02000503000000020004" pitchFamily="2" charset="0"/>
              </a:rPr>
              <a:t>IDTs</a:t>
            </a:r>
            <a:r>
              <a:rPr lang="en-US" sz="1050" dirty="0">
                <a:latin typeface="Adani Regular" panose="02000503000000020004" pitchFamily="2" charset="0"/>
              </a:rPr>
              <a:t> descoped. Accordingly, 06 PCS, 01 SGR , MCR &amp; CSS are reduced</a:t>
            </a:r>
            <a:endParaRPr lang="en-US" dirty="0"/>
          </a:p>
        </p:txBody>
      </p:sp>
    </p:spTree>
    <p:extLst>
      <p:ext uri="{BB962C8B-B14F-4D97-AF65-F5344CB8AC3E}">
        <p14:creationId xmlns:p14="http://schemas.microsoft.com/office/powerpoint/2010/main" val="3930866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DB210-C93E-F5DA-727E-0ED84BDD712C}"/>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5AAA2D5D-9169-D501-E09E-5763D25B2CBD}"/>
              </a:ext>
            </a:extLst>
          </p:cNvPr>
          <p:cNvSpPr txBox="1">
            <a:spLocks noChangeArrowheads="1"/>
          </p:cNvSpPr>
          <p:nvPr/>
        </p:nvSpPr>
        <p:spPr>
          <a:xfrm>
            <a:off x="185413" y="141975"/>
            <a:ext cx="11067531" cy="433120"/>
          </a:xfrm>
          <a:prstGeom prst="rect">
            <a:avLst/>
          </a:prstGeom>
        </p:spPr>
        <p:txBody>
          <a:bodyPr lIns="91440" tIns="45720" rIns="91440" bIns="4572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IN" sz="2200" b="1">
                <a:solidFill>
                  <a:srgbClr val="912A82"/>
                </a:solidFill>
                <a:highlight>
                  <a:srgbClr val="33CC33"/>
                </a:highlight>
              </a:rPr>
              <a:t>Electrical Plan Vs Actual Summary PSS 05B </a:t>
            </a:r>
          </a:p>
        </p:txBody>
      </p:sp>
      <p:sp>
        <p:nvSpPr>
          <p:cNvPr id="4" name="Arrow: Left 3">
            <a:hlinkClick r:id="" action="ppaction://noaction"/>
            <a:extLst>
              <a:ext uri="{FF2B5EF4-FFF2-40B4-BE49-F238E27FC236}">
                <a16:creationId xmlns:a16="http://schemas.microsoft.com/office/drawing/2014/main" id="{DCF190C6-70E9-CD8F-F28A-DE65825DD133}"/>
              </a:ext>
            </a:extLst>
          </p:cNvPr>
          <p:cNvSpPr/>
          <p:nvPr/>
        </p:nvSpPr>
        <p:spPr>
          <a:xfrm>
            <a:off x="10928057" y="6710745"/>
            <a:ext cx="209862" cy="122744"/>
          </a:xfrm>
          <a:prstGeom prst="leftArrow">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row: Right 2">
            <a:hlinkClick r:id="" action="ppaction://noaction"/>
            <a:extLst>
              <a:ext uri="{FF2B5EF4-FFF2-40B4-BE49-F238E27FC236}">
                <a16:creationId xmlns:a16="http://schemas.microsoft.com/office/drawing/2014/main" id="{99865854-6E70-277A-BA95-06DD9DC912C8}"/>
              </a:ext>
            </a:extLst>
          </p:cNvPr>
          <p:cNvSpPr/>
          <p:nvPr/>
        </p:nvSpPr>
        <p:spPr>
          <a:xfrm>
            <a:off x="11255997" y="6710745"/>
            <a:ext cx="209862" cy="123898"/>
          </a:xfrm>
          <a:prstGeom prst="rightArrow">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6EB28A5C-9B7E-0BDB-8A9B-A4376E33174C}"/>
              </a:ext>
            </a:extLst>
          </p:cNvPr>
          <p:cNvPicPr>
            <a:picLocks noChangeAspect="1"/>
          </p:cNvPicPr>
          <p:nvPr/>
        </p:nvPicPr>
        <p:blipFill>
          <a:blip r:embed="rId3"/>
          <a:stretch>
            <a:fillRect/>
          </a:stretch>
        </p:blipFill>
        <p:spPr>
          <a:xfrm>
            <a:off x="279373" y="878045"/>
            <a:ext cx="6048375" cy="5101909"/>
          </a:xfrm>
          <a:prstGeom prst="rect">
            <a:avLst/>
          </a:prstGeom>
        </p:spPr>
      </p:pic>
      <p:graphicFrame>
        <p:nvGraphicFramePr>
          <p:cNvPr id="9" name="Chart 8">
            <a:extLst>
              <a:ext uri="{FF2B5EF4-FFF2-40B4-BE49-F238E27FC236}">
                <a16:creationId xmlns:a16="http://schemas.microsoft.com/office/drawing/2014/main" id="{C3DFC659-E0AF-9451-A452-82D3B0DE66B3}"/>
              </a:ext>
            </a:extLst>
          </p:cNvPr>
          <p:cNvGraphicFramePr>
            <a:graphicFrameLocks/>
          </p:cNvGraphicFramePr>
          <p:nvPr>
            <p:extLst>
              <p:ext uri="{D42A27DB-BD31-4B8C-83A1-F6EECF244321}">
                <p14:modId xmlns:p14="http://schemas.microsoft.com/office/powerpoint/2010/main" val="3381427494"/>
              </p:ext>
            </p:extLst>
          </p:nvPr>
        </p:nvGraphicFramePr>
        <p:xfrm>
          <a:off x="6441449" y="905484"/>
          <a:ext cx="5546272" cy="5101909"/>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Box 10">
            <a:hlinkClick r:id="rId5"/>
            <a:extLst>
              <a:ext uri="{FF2B5EF4-FFF2-40B4-BE49-F238E27FC236}">
                <a16:creationId xmlns:a16="http://schemas.microsoft.com/office/drawing/2014/main" id="{2F4803D3-46AC-4A0C-F76C-4ECB3BED930E}"/>
              </a:ext>
            </a:extLst>
          </p:cNvPr>
          <p:cNvSpPr txBox="1"/>
          <p:nvPr/>
        </p:nvSpPr>
        <p:spPr>
          <a:xfrm>
            <a:off x="130740" y="6365129"/>
            <a:ext cx="4579483" cy="369332"/>
          </a:xfrm>
          <a:prstGeom prst="rect">
            <a:avLst/>
          </a:prstGeom>
          <a:noFill/>
        </p:spPr>
        <p:txBody>
          <a:bodyPr wrap="square" rtlCol="0">
            <a:spAutoFit/>
          </a:bodyPr>
          <a:lstStyle/>
          <a:p>
            <a:r>
              <a:rPr lang="en-US">
                <a:hlinkClick r:id="rId6"/>
              </a:rPr>
              <a:t>Link</a:t>
            </a:r>
            <a:r>
              <a:rPr lang="en-US"/>
              <a:t> </a:t>
            </a:r>
          </a:p>
        </p:txBody>
      </p:sp>
      <p:sp>
        <p:nvSpPr>
          <p:cNvPr id="10" name="TextBox 9">
            <a:extLst>
              <a:ext uri="{FF2B5EF4-FFF2-40B4-BE49-F238E27FC236}">
                <a16:creationId xmlns:a16="http://schemas.microsoft.com/office/drawing/2014/main" id="{D7B0289B-28FC-9972-B67B-CF14821CFCB5}"/>
              </a:ext>
            </a:extLst>
          </p:cNvPr>
          <p:cNvSpPr txBox="1"/>
          <p:nvPr/>
        </p:nvSpPr>
        <p:spPr>
          <a:xfrm>
            <a:off x="6198425" y="6417991"/>
            <a:ext cx="4611554" cy="415498"/>
          </a:xfrm>
          <a:prstGeom prst="rect">
            <a:avLst/>
          </a:prstGeom>
          <a:noFill/>
        </p:spPr>
        <p:txBody>
          <a:bodyPr wrap="square" rtlCol="0">
            <a:spAutoFit/>
          </a:bodyPr>
          <a:lstStyle/>
          <a:p>
            <a:r>
              <a:rPr lang="en-US" sz="1050" dirty="0">
                <a:latin typeface="Adani Regular" panose="02000503000000020004" pitchFamily="2" charset="0"/>
              </a:rPr>
              <a:t>Note: * 06 IDT’s descoped. Accordingly, 06 PCS, 01 SGR , MCR &amp; CSS are reduced</a:t>
            </a:r>
            <a:endParaRPr lang="en-US" dirty="0"/>
          </a:p>
        </p:txBody>
      </p:sp>
      <p:sp>
        <p:nvSpPr>
          <p:cNvPr id="7" name="TextBox 6">
            <a:extLst>
              <a:ext uri="{FF2B5EF4-FFF2-40B4-BE49-F238E27FC236}">
                <a16:creationId xmlns:a16="http://schemas.microsoft.com/office/drawing/2014/main" id="{43730ED7-692C-DFE0-186B-D00D4580D593}"/>
              </a:ext>
            </a:extLst>
          </p:cNvPr>
          <p:cNvSpPr txBox="1"/>
          <p:nvPr/>
        </p:nvSpPr>
        <p:spPr>
          <a:xfrm>
            <a:off x="858252" y="6424529"/>
            <a:ext cx="5469496" cy="415498"/>
          </a:xfrm>
          <a:prstGeom prst="rect">
            <a:avLst/>
          </a:prstGeom>
          <a:noFill/>
        </p:spPr>
        <p:txBody>
          <a:bodyPr wrap="square" rtlCol="0">
            <a:spAutoFit/>
          </a:bodyPr>
          <a:lstStyle/>
          <a:p>
            <a:r>
              <a:rPr lang="en-US" sz="1050">
                <a:latin typeface="Adani Regular" panose="02000503000000020004" pitchFamily="2" charset="0"/>
              </a:rPr>
              <a:t>Note: * 06 IDTs descoped. Accordingly, 15,763 RM, HT Cable Laying, 14,312 RM DC Cable laying, 47,053 RM LT Cable laying 48 Battery Containers &amp; PCS, 6 CT &amp; 1 CSS reduced.</a:t>
            </a:r>
            <a:endParaRPr lang="en-US"/>
          </a:p>
        </p:txBody>
      </p:sp>
    </p:spTree>
    <p:extLst>
      <p:ext uri="{BB962C8B-B14F-4D97-AF65-F5344CB8AC3E}">
        <p14:creationId xmlns:p14="http://schemas.microsoft.com/office/powerpoint/2010/main" val="6310866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A7267-FDC1-D0B2-7E1C-5D6818F7F51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7340DF-9711-8EE1-9CC0-CD2DFC79AA9A}"/>
              </a:ext>
            </a:extLst>
          </p:cNvPr>
          <p:cNvSpPr>
            <a:spLocks noGrp="1"/>
          </p:cNvSpPr>
          <p:nvPr>
            <p:ph type="sldNum" sz="quarter" idx="12"/>
          </p:nvPr>
        </p:nvSpPr>
        <p:spPr>
          <a:xfrm>
            <a:off x="9197828" y="6492875"/>
            <a:ext cx="2844800" cy="365125"/>
          </a:xfrm>
        </p:spPr>
        <p:txBody>
          <a:bodyPr/>
          <a:lstStyle/>
          <a:p>
            <a:fld id="{98B285C1-D8A8-4E98-B28C-1FD972D8EC54}" type="slidenum">
              <a:rPr lang="en-IN" smtClean="0"/>
              <a:t>32</a:t>
            </a:fld>
            <a:endParaRPr lang="en-IN"/>
          </a:p>
        </p:txBody>
      </p:sp>
      <p:sp>
        <p:nvSpPr>
          <p:cNvPr id="5" name="Rectangle 2">
            <a:extLst>
              <a:ext uri="{FF2B5EF4-FFF2-40B4-BE49-F238E27FC236}">
                <a16:creationId xmlns:a16="http://schemas.microsoft.com/office/drawing/2014/main" id="{0A24B50F-3133-B306-C521-BBB32193D62E}"/>
              </a:ext>
            </a:extLst>
          </p:cNvPr>
          <p:cNvSpPr txBox="1">
            <a:spLocks noChangeArrowheads="1"/>
          </p:cNvSpPr>
          <p:nvPr/>
        </p:nvSpPr>
        <p:spPr>
          <a:xfrm>
            <a:off x="130740" y="93821"/>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highlight>
                  <a:srgbClr val="33CC33"/>
                </a:highlight>
              </a:rPr>
              <a:t>Construction Progress (Plan VS Actual) (PSS-08(B))</a:t>
            </a:r>
          </a:p>
          <a:p>
            <a:endParaRPr lang="en-US" sz="2400" b="1">
              <a:solidFill>
                <a:srgbClr val="912A82"/>
              </a:solidFill>
              <a:highlight>
                <a:srgbClr val="FFFF00"/>
              </a:highlight>
            </a:endParaRPr>
          </a:p>
        </p:txBody>
      </p:sp>
      <p:graphicFrame>
        <p:nvGraphicFramePr>
          <p:cNvPr id="9" name="Table 8">
            <a:extLst>
              <a:ext uri="{FF2B5EF4-FFF2-40B4-BE49-F238E27FC236}">
                <a16:creationId xmlns:a16="http://schemas.microsoft.com/office/drawing/2014/main" id="{FE3EA0C9-4F9E-55A8-F83B-58FD6A4834F3}"/>
              </a:ext>
            </a:extLst>
          </p:cNvPr>
          <p:cNvGraphicFramePr>
            <a:graphicFrameLocks noGrp="1"/>
          </p:cNvGraphicFramePr>
          <p:nvPr>
            <p:extLst>
              <p:ext uri="{D42A27DB-BD31-4B8C-83A1-F6EECF244321}">
                <p14:modId xmlns:p14="http://schemas.microsoft.com/office/powerpoint/2010/main" val="4038966243"/>
              </p:ext>
            </p:extLst>
          </p:nvPr>
        </p:nvGraphicFramePr>
        <p:xfrm>
          <a:off x="4740128" y="6393180"/>
          <a:ext cx="4457700" cy="464820"/>
        </p:xfrm>
        <a:graphic>
          <a:graphicData uri="http://schemas.openxmlformats.org/drawingml/2006/table">
            <a:tbl>
              <a:tblPr/>
              <a:tblGrid>
                <a:gridCol w="800100">
                  <a:extLst>
                    <a:ext uri="{9D8B030D-6E8A-4147-A177-3AD203B41FA5}">
                      <a16:colId xmlns:a16="http://schemas.microsoft.com/office/drawing/2014/main" val="3191902834"/>
                    </a:ext>
                  </a:extLst>
                </a:gridCol>
                <a:gridCol w="609600">
                  <a:extLst>
                    <a:ext uri="{9D8B030D-6E8A-4147-A177-3AD203B41FA5}">
                      <a16:colId xmlns:a16="http://schemas.microsoft.com/office/drawing/2014/main" val="3440374471"/>
                    </a:ext>
                  </a:extLst>
                </a:gridCol>
                <a:gridCol w="609600">
                  <a:extLst>
                    <a:ext uri="{9D8B030D-6E8A-4147-A177-3AD203B41FA5}">
                      <a16:colId xmlns:a16="http://schemas.microsoft.com/office/drawing/2014/main" val="4154648303"/>
                    </a:ext>
                  </a:extLst>
                </a:gridCol>
                <a:gridCol w="609600">
                  <a:extLst>
                    <a:ext uri="{9D8B030D-6E8A-4147-A177-3AD203B41FA5}">
                      <a16:colId xmlns:a16="http://schemas.microsoft.com/office/drawing/2014/main" val="423793554"/>
                    </a:ext>
                  </a:extLst>
                </a:gridCol>
                <a:gridCol w="1828800">
                  <a:extLst>
                    <a:ext uri="{9D8B030D-6E8A-4147-A177-3AD203B41FA5}">
                      <a16:colId xmlns:a16="http://schemas.microsoft.com/office/drawing/2014/main" val="634941952"/>
                    </a:ext>
                  </a:extLst>
                </a:gridCol>
              </a:tblGrid>
              <a:tr h="190500">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0070C0"/>
                    </a:solidFill>
                  </a:tcPr>
                </a:tc>
                <a:tc>
                  <a:txBody>
                    <a:bodyPr/>
                    <a:lstStyle/>
                    <a:p>
                      <a:pPr algn="l" fontAlgn="ctr">
                        <a:buNone/>
                      </a:pPr>
                      <a:r>
                        <a:rPr lang="en-US" sz="900" b="0" i="0" u="none" strike="noStrike">
                          <a:solidFill>
                            <a:srgbClr val="000000"/>
                          </a:solidFill>
                          <a:effectLst/>
                          <a:latin typeface="Adani Light" panose="02000503000000020004" pitchFamily="2" charset="0"/>
                        </a:rPr>
                        <a:t>Plan</a:t>
                      </a:r>
                    </a:p>
                  </a:txBody>
                  <a:tcPr marL="0" marR="0" marT="0" marB="0" anchor="ctr">
                    <a:lnL>
                      <a:noFill/>
                    </a:lnL>
                    <a:lnR>
                      <a:noFill/>
                    </a:lnR>
                    <a:lnT>
                      <a:noFill/>
                    </a:lnT>
                    <a:lnB>
                      <a:noFill/>
                    </a:lnB>
                    <a:noFill/>
                  </a:tcPr>
                </a:tc>
                <a:tc>
                  <a:txBody>
                    <a:bodyPr/>
                    <a:lstStyle/>
                    <a:p>
                      <a:pPr algn="l" fontAlgn="ctr">
                        <a:buNone/>
                      </a:pPr>
                      <a:endParaRPr lang="en-US" sz="900" b="0" i="0" u="none" strike="noStrike">
                        <a:solidFill>
                          <a:srgbClr val="000000"/>
                        </a:solidFill>
                        <a:effectLst/>
                        <a:latin typeface="Adani Light" panose="02000503000000020004" pitchFamily="2" charset="0"/>
                      </a:endParaRPr>
                    </a:p>
                  </a:txBody>
                  <a:tcPr marL="0" marR="0" marT="0" marB="0" anchor="ctr">
                    <a:lnL>
                      <a:noFill/>
                    </a:lnL>
                    <a:lnR>
                      <a:noFill/>
                    </a:lnR>
                    <a:lnT>
                      <a:noFill/>
                    </a:lnT>
                    <a:lnB>
                      <a:noFill/>
                    </a:lnB>
                    <a:noFill/>
                  </a:tcPr>
                </a:tc>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00B050"/>
                    </a:solidFill>
                  </a:tcPr>
                </a:tc>
                <a:tc>
                  <a:txBody>
                    <a:bodyPr/>
                    <a:lstStyle/>
                    <a:p>
                      <a:pPr algn="l" fontAlgn="ctr">
                        <a:buNone/>
                      </a:pPr>
                      <a:r>
                        <a:rPr lang="en-US" sz="900" b="0" i="0" u="none" strike="noStrike">
                          <a:solidFill>
                            <a:srgbClr val="000000"/>
                          </a:solidFill>
                          <a:effectLst/>
                          <a:latin typeface="Adani Light" panose="02000503000000020004" pitchFamily="2" charset="0"/>
                        </a:rPr>
                        <a:t>Actual (80% plan achieved)</a:t>
                      </a:r>
                    </a:p>
                  </a:txBody>
                  <a:tcPr marL="0" marR="0" marT="0" marB="0" anchor="ctr">
                    <a:lnL>
                      <a:noFill/>
                    </a:lnL>
                    <a:lnR>
                      <a:noFill/>
                    </a:lnR>
                    <a:lnT>
                      <a:noFill/>
                    </a:lnT>
                    <a:lnB>
                      <a:noFill/>
                    </a:lnB>
                    <a:noFill/>
                  </a:tcPr>
                </a:tc>
                <a:extLst>
                  <a:ext uri="{0D108BD9-81ED-4DB2-BD59-A6C34878D82A}">
                    <a16:rowId xmlns:a16="http://schemas.microsoft.com/office/drawing/2014/main" val="3827591337"/>
                  </a:ext>
                </a:extLst>
              </a:tr>
              <a:tr h="190500">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FFFF00"/>
                    </a:solidFill>
                  </a:tcPr>
                </a:tc>
                <a:tc gridSpan="2">
                  <a:txBody>
                    <a:bodyPr/>
                    <a:lstStyle/>
                    <a:p>
                      <a:pPr algn="l" fontAlgn="ctr">
                        <a:buNone/>
                      </a:pPr>
                      <a:r>
                        <a:rPr lang="en-US" sz="900" b="0" i="0" u="none" strike="noStrike">
                          <a:solidFill>
                            <a:srgbClr val="000000"/>
                          </a:solidFill>
                          <a:effectLst/>
                          <a:latin typeface="Adani Light" panose="02000503000000020004" pitchFamily="2" charset="0"/>
                        </a:rPr>
                        <a:t>Actual (between 40% to 80% plan achieved)</a:t>
                      </a:r>
                    </a:p>
                  </a:txBody>
                  <a:tcPr marL="0" marR="0" marT="0" marB="0" anchor="ctr">
                    <a:lnL>
                      <a:noFill/>
                    </a:lnL>
                    <a:lnR>
                      <a:noFill/>
                    </a:lnR>
                    <a:lnT>
                      <a:noFill/>
                    </a:lnT>
                    <a:lnB>
                      <a:noFill/>
                    </a:lnB>
                    <a:noFill/>
                  </a:tcPr>
                </a:tc>
                <a:tc hMerge="1">
                  <a:txBody>
                    <a:bodyPr/>
                    <a:lstStyle/>
                    <a:p>
                      <a:endParaRPr lang="en-US"/>
                    </a:p>
                  </a:txBody>
                  <a:tcPr/>
                </a:tc>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FF0000"/>
                    </a:solidFill>
                  </a:tcPr>
                </a:tc>
                <a:tc>
                  <a:txBody>
                    <a:bodyPr/>
                    <a:lstStyle/>
                    <a:p>
                      <a:pPr algn="l" fontAlgn="ctr">
                        <a:buNone/>
                      </a:pPr>
                      <a:r>
                        <a:rPr lang="en-US" sz="900" b="0" i="0" u="none" strike="noStrike">
                          <a:solidFill>
                            <a:srgbClr val="000000"/>
                          </a:solidFill>
                          <a:effectLst/>
                          <a:latin typeface="Adani Light" panose="02000503000000020004" pitchFamily="2" charset="0"/>
                        </a:rPr>
                        <a:t>Actual (below 40% plan achieved)</a:t>
                      </a:r>
                    </a:p>
                  </a:txBody>
                  <a:tcPr marL="0" marR="0" marT="0" marB="0" anchor="ctr">
                    <a:lnL>
                      <a:noFill/>
                    </a:lnL>
                    <a:lnR>
                      <a:noFill/>
                    </a:lnR>
                    <a:lnT>
                      <a:noFill/>
                    </a:lnT>
                    <a:lnB>
                      <a:noFill/>
                    </a:lnB>
                    <a:noFill/>
                  </a:tcPr>
                </a:tc>
                <a:extLst>
                  <a:ext uri="{0D108BD9-81ED-4DB2-BD59-A6C34878D82A}">
                    <a16:rowId xmlns:a16="http://schemas.microsoft.com/office/drawing/2014/main" val="2803369911"/>
                  </a:ext>
                </a:extLst>
              </a:tr>
            </a:tbl>
          </a:graphicData>
        </a:graphic>
      </p:graphicFrame>
      <p:sp>
        <p:nvSpPr>
          <p:cNvPr id="4" name="Arrow: Left 3">
            <a:hlinkClick r:id="rId2" action="ppaction://hlinksldjump"/>
            <a:extLst>
              <a:ext uri="{FF2B5EF4-FFF2-40B4-BE49-F238E27FC236}">
                <a16:creationId xmlns:a16="http://schemas.microsoft.com/office/drawing/2014/main" id="{D50824D7-DD1E-34EF-7B63-43B2F0077AD3}"/>
              </a:ext>
            </a:extLst>
          </p:cNvPr>
          <p:cNvSpPr/>
          <p:nvPr/>
        </p:nvSpPr>
        <p:spPr>
          <a:xfrm>
            <a:off x="10927070" y="6702539"/>
            <a:ext cx="237764" cy="155461"/>
          </a:xfrm>
          <a:prstGeom prst="lef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AAA58F60-46F1-8541-D42B-CF7B1051E954}"/>
              </a:ext>
            </a:extLst>
          </p:cNvPr>
          <p:cNvPicPr>
            <a:picLocks noChangeAspect="1"/>
          </p:cNvPicPr>
          <p:nvPr/>
        </p:nvPicPr>
        <p:blipFill>
          <a:blip r:embed="rId3"/>
          <a:stretch>
            <a:fillRect/>
          </a:stretch>
        </p:blipFill>
        <p:spPr>
          <a:xfrm>
            <a:off x="74612" y="651999"/>
            <a:ext cx="7573960" cy="4543425"/>
          </a:xfrm>
          <a:prstGeom prst="rect">
            <a:avLst/>
          </a:prstGeom>
        </p:spPr>
      </p:pic>
      <p:graphicFrame>
        <p:nvGraphicFramePr>
          <p:cNvPr id="10" name="Chart 9">
            <a:extLst>
              <a:ext uri="{FF2B5EF4-FFF2-40B4-BE49-F238E27FC236}">
                <a16:creationId xmlns:a16="http://schemas.microsoft.com/office/drawing/2014/main" id="{9022CC91-EF99-426E-8DF0-58F577CAFBCD}"/>
              </a:ext>
            </a:extLst>
          </p:cNvPr>
          <p:cNvGraphicFramePr>
            <a:graphicFrameLocks/>
          </p:cNvGraphicFramePr>
          <p:nvPr>
            <p:extLst>
              <p:ext uri="{D42A27DB-BD31-4B8C-83A1-F6EECF244321}">
                <p14:modId xmlns:p14="http://schemas.microsoft.com/office/powerpoint/2010/main" val="336766935"/>
              </p:ext>
            </p:extLst>
          </p:nvPr>
        </p:nvGraphicFramePr>
        <p:xfrm>
          <a:off x="7731691" y="651999"/>
          <a:ext cx="4385697" cy="4543425"/>
        </p:xfrm>
        <a:graphic>
          <a:graphicData uri="http://schemas.openxmlformats.org/drawingml/2006/chart">
            <c:chart xmlns:c="http://schemas.openxmlformats.org/drawingml/2006/chart" xmlns:r="http://schemas.openxmlformats.org/officeDocument/2006/relationships" r:id="rId4"/>
          </a:graphicData>
        </a:graphic>
      </p:graphicFrame>
      <p:pic>
        <p:nvPicPr>
          <p:cNvPr id="14" name="Picture 13">
            <a:extLst>
              <a:ext uri="{FF2B5EF4-FFF2-40B4-BE49-F238E27FC236}">
                <a16:creationId xmlns:a16="http://schemas.microsoft.com/office/drawing/2014/main" id="{05C05D41-4BEA-E056-7F00-AF573D97EA48}"/>
              </a:ext>
            </a:extLst>
          </p:cNvPr>
          <p:cNvPicPr>
            <a:picLocks noChangeAspect="1"/>
          </p:cNvPicPr>
          <p:nvPr/>
        </p:nvPicPr>
        <p:blipFill>
          <a:blip r:embed="rId5"/>
          <a:stretch>
            <a:fillRect/>
          </a:stretch>
        </p:blipFill>
        <p:spPr>
          <a:xfrm>
            <a:off x="74611" y="5308527"/>
            <a:ext cx="7573959" cy="971550"/>
          </a:xfrm>
          <a:prstGeom prst="rect">
            <a:avLst/>
          </a:prstGeom>
        </p:spPr>
      </p:pic>
      <p:graphicFrame>
        <p:nvGraphicFramePr>
          <p:cNvPr id="15" name="Chart 14">
            <a:extLst>
              <a:ext uri="{FF2B5EF4-FFF2-40B4-BE49-F238E27FC236}">
                <a16:creationId xmlns:a16="http://schemas.microsoft.com/office/drawing/2014/main" id="{E92F70DD-DA7A-4665-81F0-BEED5B178DBC}"/>
              </a:ext>
            </a:extLst>
          </p:cNvPr>
          <p:cNvGraphicFramePr>
            <a:graphicFrameLocks/>
          </p:cNvGraphicFramePr>
          <p:nvPr>
            <p:extLst>
              <p:ext uri="{D42A27DB-BD31-4B8C-83A1-F6EECF244321}">
                <p14:modId xmlns:p14="http://schemas.microsoft.com/office/powerpoint/2010/main" val="1094431404"/>
              </p:ext>
            </p:extLst>
          </p:nvPr>
        </p:nvGraphicFramePr>
        <p:xfrm>
          <a:off x="7731691" y="5308527"/>
          <a:ext cx="4385697" cy="897474"/>
        </p:xfrm>
        <a:graphic>
          <a:graphicData uri="http://schemas.openxmlformats.org/drawingml/2006/chart">
            <c:chart xmlns:c="http://schemas.openxmlformats.org/drawingml/2006/chart" xmlns:r="http://schemas.openxmlformats.org/officeDocument/2006/relationships" r:id="rId6"/>
          </a:graphicData>
        </a:graphic>
      </p:graphicFrame>
      <p:sp>
        <p:nvSpPr>
          <p:cNvPr id="6" name="TextBox 5">
            <a:hlinkClick r:id="rId7"/>
            <a:extLst>
              <a:ext uri="{FF2B5EF4-FFF2-40B4-BE49-F238E27FC236}">
                <a16:creationId xmlns:a16="http://schemas.microsoft.com/office/drawing/2014/main" id="{672684E9-A547-BD23-F65A-8FD4F43516A1}"/>
              </a:ext>
            </a:extLst>
          </p:cNvPr>
          <p:cNvSpPr txBox="1"/>
          <p:nvPr/>
        </p:nvSpPr>
        <p:spPr>
          <a:xfrm>
            <a:off x="130740" y="6365129"/>
            <a:ext cx="4579483" cy="369332"/>
          </a:xfrm>
          <a:prstGeom prst="rect">
            <a:avLst/>
          </a:prstGeom>
          <a:noFill/>
        </p:spPr>
        <p:txBody>
          <a:bodyPr wrap="square" rtlCol="0">
            <a:spAutoFit/>
          </a:bodyPr>
          <a:lstStyle/>
          <a:p>
            <a:r>
              <a:rPr lang="en-US">
                <a:hlinkClick r:id="rId8"/>
              </a:rPr>
              <a:t>Link</a:t>
            </a:r>
            <a:r>
              <a:rPr lang="en-US"/>
              <a:t> </a:t>
            </a:r>
          </a:p>
        </p:txBody>
      </p:sp>
    </p:spTree>
    <p:extLst>
      <p:ext uri="{BB962C8B-B14F-4D97-AF65-F5344CB8AC3E}">
        <p14:creationId xmlns:p14="http://schemas.microsoft.com/office/powerpoint/2010/main" val="41133950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17121-56A9-DC69-C637-4A3E2F3CA67C}"/>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F0F2FDB4-FFAA-7F38-9383-BD639001E024}"/>
              </a:ext>
            </a:extLst>
          </p:cNvPr>
          <p:cNvSpPr txBox="1">
            <a:spLocks noChangeArrowheads="1"/>
          </p:cNvSpPr>
          <p:nvPr/>
        </p:nvSpPr>
        <p:spPr>
          <a:xfrm>
            <a:off x="185413" y="141975"/>
            <a:ext cx="11067531" cy="433120"/>
          </a:xfrm>
          <a:prstGeom prst="rect">
            <a:avLst/>
          </a:prstGeom>
        </p:spPr>
        <p:txBody>
          <a:bodyPr lIns="91440" tIns="45720" rIns="91440" bIns="4572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IN" sz="2200" b="1">
                <a:solidFill>
                  <a:srgbClr val="912A82"/>
                </a:solidFill>
                <a:highlight>
                  <a:srgbClr val="33CC33"/>
                </a:highlight>
              </a:rPr>
              <a:t>Electrical Plan Vs Actual Summary PSS 08B </a:t>
            </a:r>
          </a:p>
        </p:txBody>
      </p:sp>
      <p:sp>
        <p:nvSpPr>
          <p:cNvPr id="4" name="Arrow: Left 3">
            <a:hlinkClick r:id="" action="ppaction://noaction"/>
            <a:extLst>
              <a:ext uri="{FF2B5EF4-FFF2-40B4-BE49-F238E27FC236}">
                <a16:creationId xmlns:a16="http://schemas.microsoft.com/office/drawing/2014/main" id="{196C8005-0271-1B64-CED1-396C03E7BF49}"/>
              </a:ext>
            </a:extLst>
          </p:cNvPr>
          <p:cNvSpPr/>
          <p:nvPr/>
        </p:nvSpPr>
        <p:spPr>
          <a:xfrm>
            <a:off x="10928057" y="6710745"/>
            <a:ext cx="209862" cy="122744"/>
          </a:xfrm>
          <a:prstGeom prst="leftArrow">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row: Right 2">
            <a:hlinkClick r:id="" action="ppaction://noaction"/>
            <a:extLst>
              <a:ext uri="{FF2B5EF4-FFF2-40B4-BE49-F238E27FC236}">
                <a16:creationId xmlns:a16="http://schemas.microsoft.com/office/drawing/2014/main" id="{27EACECB-D5ED-44D2-4AFC-F3AA8B39CE63}"/>
              </a:ext>
            </a:extLst>
          </p:cNvPr>
          <p:cNvSpPr/>
          <p:nvPr/>
        </p:nvSpPr>
        <p:spPr>
          <a:xfrm>
            <a:off x="11255997" y="6710745"/>
            <a:ext cx="209862" cy="123898"/>
          </a:xfrm>
          <a:prstGeom prst="rightArrow">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591D9F42-E0C4-9547-D72B-B3224DCBE84F}"/>
              </a:ext>
            </a:extLst>
          </p:cNvPr>
          <p:cNvPicPr>
            <a:picLocks noChangeAspect="1"/>
          </p:cNvPicPr>
          <p:nvPr/>
        </p:nvPicPr>
        <p:blipFill>
          <a:blip r:embed="rId3"/>
          <a:stretch>
            <a:fillRect/>
          </a:stretch>
        </p:blipFill>
        <p:spPr>
          <a:xfrm>
            <a:off x="424305" y="738962"/>
            <a:ext cx="6048375" cy="5332229"/>
          </a:xfrm>
          <a:prstGeom prst="rect">
            <a:avLst/>
          </a:prstGeom>
        </p:spPr>
      </p:pic>
      <p:graphicFrame>
        <p:nvGraphicFramePr>
          <p:cNvPr id="7" name="Chart 6">
            <a:extLst>
              <a:ext uri="{FF2B5EF4-FFF2-40B4-BE49-F238E27FC236}">
                <a16:creationId xmlns:a16="http://schemas.microsoft.com/office/drawing/2014/main" id="{CF826E7F-2911-94EA-2628-A732C77ED1C5}"/>
              </a:ext>
            </a:extLst>
          </p:cNvPr>
          <p:cNvGraphicFramePr>
            <a:graphicFrameLocks/>
          </p:cNvGraphicFramePr>
          <p:nvPr>
            <p:extLst>
              <p:ext uri="{D42A27DB-BD31-4B8C-83A1-F6EECF244321}">
                <p14:modId xmlns:p14="http://schemas.microsoft.com/office/powerpoint/2010/main" val="3438267097"/>
              </p:ext>
            </p:extLst>
          </p:nvPr>
        </p:nvGraphicFramePr>
        <p:xfrm>
          <a:off x="6581553" y="738961"/>
          <a:ext cx="5348177" cy="5332229"/>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Box 7">
            <a:hlinkClick r:id="rId5"/>
            <a:extLst>
              <a:ext uri="{FF2B5EF4-FFF2-40B4-BE49-F238E27FC236}">
                <a16:creationId xmlns:a16="http://schemas.microsoft.com/office/drawing/2014/main" id="{5E2D9846-6BDE-AB0A-BDBB-C3DB55B87451}"/>
              </a:ext>
            </a:extLst>
          </p:cNvPr>
          <p:cNvSpPr txBox="1"/>
          <p:nvPr/>
        </p:nvSpPr>
        <p:spPr>
          <a:xfrm>
            <a:off x="130740" y="6365129"/>
            <a:ext cx="4579483" cy="369332"/>
          </a:xfrm>
          <a:prstGeom prst="rect">
            <a:avLst/>
          </a:prstGeom>
          <a:noFill/>
        </p:spPr>
        <p:txBody>
          <a:bodyPr wrap="square" rtlCol="0">
            <a:spAutoFit/>
          </a:bodyPr>
          <a:lstStyle/>
          <a:p>
            <a:r>
              <a:rPr lang="en-US">
                <a:hlinkClick r:id="rId6"/>
              </a:rPr>
              <a:t>Link</a:t>
            </a:r>
            <a:r>
              <a:rPr lang="en-US"/>
              <a:t> </a:t>
            </a:r>
          </a:p>
        </p:txBody>
      </p:sp>
    </p:spTree>
    <p:extLst>
      <p:ext uri="{BB962C8B-B14F-4D97-AF65-F5344CB8AC3E}">
        <p14:creationId xmlns:p14="http://schemas.microsoft.com/office/powerpoint/2010/main" val="24022807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17BD-3A80-87D8-9B3F-E558FF489C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DD2D04-6513-D04F-4902-64B6EBA9FA66}"/>
              </a:ext>
            </a:extLst>
          </p:cNvPr>
          <p:cNvSpPr>
            <a:spLocks noGrp="1"/>
          </p:cNvSpPr>
          <p:nvPr>
            <p:ph type="title"/>
          </p:nvPr>
        </p:nvSpPr>
        <p:spPr/>
        <p:txBody>
          <a:bodyPr/>
          <a:lstStyle/>
          <a:p>
            <a:r>
              <a:rPr lang="en-US"/>
              <a:t>Manpower &amp; </a:t>
            </a:r>
            <a:r>
              <a:rPr lang="en-US" err="1"/>
              <a:t>Mandays</a:t>
            </a:r>
            <a:r>
              <a:rPr lang="en-US"/>
              <a:t> Status: PSS 11, 12, 10B, 9, 05B &amp; 08B </a:t>
            </a:r>
          </a:p>
        </p:txBody>
      </p:sp>
    </p:spTree>
    <p:extLst>
      <p:ext uri="{BB962C8B-B14F-4D97-AF65-F5344CB8AC3E}">
        <p14:creationId xmlns:p14="http://schemas.microsoft.com/office/powerpoint/2010/main" val="191012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A2B1B-FD51-C500-CD55-47ED13C727D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7129A40-6F44-9069-3E58-FBB70110F58C}"/>
              </a:ext>
            </a:extLst>
          </p:cNvPr>
          <p:cNvSpPr txBox="1">
            <a:spLocks/>
          </p:cNvSpPr>
          <p:nvPr/>
        </p:nvSpPr>
        <p:spPr>
          <a:xfrm>
            <a:off x="323941" y="125885"/>
            <a:ext cx="11853369" cy="341349"/>
          </a:xfrm>
          <a:prstGeom prst="rect">
            <a:avLst/>
          </a:prstGeom>
          <a:noFill/>
        </p:spPr>
        <p:txBody>
          <a:bodyPr vert="horz" wrap="square" lIns="0" tIns="45580" rIns="91157" bIns="45580" rtlCol="0" anchor="b">
            <a:spAutoFit/>
          </a:bodyPr>
          <a:lstStyle>
            <a:lvl1pPr marL="109192" defTabSz="911377">
              <a:lnSpc>
                <a:spcPct val="90000"/>
              </a:lnSpc>
              <a:spcBef>
                <a:spcPct val="0"/>
              </a:spcBef>
              <a:buNone/>
              <a:defRPr sz="2400" b="1">
                <a:gradFill>
                  <a:gsLst>
                    <a:gs pos="9735">
                      <a:schemeClr val="tx2"/>
                    </a:gs>
                    <a:gs pos="63000">
                      <a:srgbClr val="8E278F"/>
                    </a:gs>
                    <a:gs pos="38000">
                      <a:srgbClr val="57499E"/>
                    </a:gs>
                  </a:gsLst>
                  <a:lin ang="0" scaled="0"/>
                </a:gradFill>
                <a:latin typeface="Adani Regular" panose="02000503000000020004" pitchFamily="2" charset="0"/>
              </a:defRPr>
            </a:lvl1pPr>
          </a:lstStyle>
          <a:p>
            <a:pPr marL="0" lvl="0">
              <a:defRPr/>
            </a:pPr>
            <a:r>
              <a:rPr kumimoji="0" lang="en-US" sz="1800" b="1" i="0" u="none" strike="noStrike" kern="1200" cap="none" spc="0" normalizeH="0" baseline="0" noProof="0">
                <a:ln>
                  <a:noFill/>
                </a:ln>
                <a:gradFill>
                  <a:gsLst>
                    <a:gs pos="9735">
                      <a:srgbClr val="1F497D"/>
                    </a:gs>
                    <a:gs pos="63000">
                      <a:srgbClr val="8E278F"/>
                    </a:gs>
                    <a:gs pos="38000">
                      <a:srgbClr val="57499E"/>
                    </a:gs>
                  </a:gsLst>
                  <a:lin ang="0" scaled="0"/>
                </a:gradFill>
                <a:effectLst/>
                <a:highlight>
                  <a:srgbClr val="33CC33"/>
                </a:highlight>
                <a:uLnTx/>
                <a:uFillTx/>
                <a:latin typeface="Adani Regular" panose="02000503000000020004" pitchFamily="2" charset="0"/>
                <a:ea typeface="+mn-ea"/>
                <a:cs typeface="+mn-cs"/>
              </a:rPr>
              <a:t>Mandays Deployment Plan vs Actual for Overall Project Execution-</a:t>
            </a:r>
            <a:r>
              <a:rPr lang="en-US" sz="1800">
                <a:gradFill>
                  <a:gsLst>
                    <a:gs pos="9735">
                      <a:srgbClr val="1F497D"/>
                    </a:gs>
                    <a:gs pos="63000">
                      <a:srgbClr val="8E278F"/>
                    </a:gs>
                    <a:gs pos="38000">
                      <a:srgbClr val="57499E"/>
                    </a:gs>
                  </a:gsLst>
                  <a:lin ang="0" scaled="0"/>
                </a:gradFill>
                <a:highlight>
                  <a:srgbClr val="33CC33"/>
                </a:highlight>
              </a:rPr>
              <a:t> PSS </a:t>
            </a:r>
            <a:r>
              <a:rPr lang="en-US" sz="1800">
                <a:highlight>
                  <a:srgbClr val="33CC33"/>
                </a:highlight>
              </a:rPr>
              <a:t>11, 12, 10B, 09, 08B &amp; 05B</a:t>
            </a:r>
            <a:endParaRPr kumimoji="0" lang="en-US" sz="1800" b="1" i="0" u="none" strike="noStrike" kern="1200" cap="none" spc="0" normalizeH="0" baseline="0" noProof="0">
              <a:ln>
                <a:noFill/>
              </a:ln>
              <a:gradFill>
                <a:gsLst>
                  <a:gs pos="9735">
                    <a:srgbClr val="1F497D"/>
                  </a:gs>
                  <a:gs pos="63000">
                    <a:srgbClr val="8E278F"/>
                  </a:gs>
                  <a:gs pos="38000">
                    <a:srgbClr val="57499E"/>
                  </a:gs>
                </a:gsLst>
                <a:lin ang="0" scaled="0"/>
              </a:gradFill>
              <a:effectLst/>
              <a:highlight>
                <a:srgbClr val="33CC33"/>
              </a:highlight>
              <a:uLnTx/>
              <a:uFillTx/>
              <a:latin typeface="Adani Regular" panose="02000503000000020004" pitchFamily="2" charset="0"/>
              <a:ea typeface="+mn-ea"/>
              <a:cs typeface="+mn-cs"/>
            </a:endParaRPr>
          </a:p>
        </p:txBody>
      </p:sp>
      <p:sp>
        <p:nvSpPr>
          <p:cNvPr id="4" name="Slide Number Placeholder 3">
            <a:extLst>
              <a:ext uri="{FF2B5EF4-FFF2-40B4-BE49-F238E27FC236}">
                <a16:creationId xmlns:a16="http://schemas.microsoft.com/office/drawing/2014/main" id="{C236B912-CB4F-0083-6ED3-E059838D99AE}"/>
              </a:ext>
            </a:extLst>
          </p:cNvPr>
          <p:cNvSpPr>
            <a:spLocks noGrp="1"/>
          </p:cNvSpPr>
          <p:nvPr>
            <p:ph type="sldNum" sz="quarter" idx="12"/>
          </p:nvPr>
        </p:nvSpPr>
        <p:spPr/>
        <p:txBody>
          <a:bodyPr/>
          <a:lstStyle/>
          <a:p>
            <a:fld id="{98B285C1-D8A8-4E98-B28C-1FD972D8EC54}" type="slidenum">
              <a:rPr lang="en-IN" smtClean="0"/>
              <a:t>35</a:t>
            </a:fld>
            <a:endParaRPr lang="en-IN"/>
          </a:p>
        </p:txBody>
      </p:sp>
      <p:sp>
        <p:nvSpPr>
          <p:cNvPr id="3" name="TextBox 2">
            <a:extLst>
              <a:ext uri="{FF2B5EF4-FFF2-40B4-BE49-F238E27FC236}">
                <a16:creationId xmlns:a16="http://schemas.microsoft.com/office/drawing/2014/main" id="{90DF3B9F-0E9A-075D-38A9-859FC8F8F247}"/>
              </a:ext>
            </a:extLst>
          </p:cNvPr>
          <p:cNvSpPr txBox="1"/>
          <p:nvPr/>
        </p:nvSpPr>
        <p:spPr>
          <a:xfrm>
            <a:off x="619239" y="6350729"/>
            <a:ext cx="10601325" cy="292388"/>
          </a:xfrm>
          <a:prstGeom prst="rect">
            <a:avLst/>
          </a:prstGeom>
          <a:noFill/>
        </p:spPr>
        <p:txBody>
          <a:bodyPr wrap="square" rtlCol="0">
            <a:spAutoFit/>
          </a:bodyPr>
          <a:lstStyle/>
          <a:p>
            <a:r>
              <a:rPr lang="en-US" sz="1200" b="1" i="1">
                <a:solidFill>
                  <a:srgbClr val="0000FF"/>
                </a:solidFill>
                <a:latin typeface="Adani Regular" panose="02000503000000020004" pitchFamily="2" charset="0"/>
              </a:rPr>
              <a:t>Note: Shortage of Contractor’s Manpower is impacting planned completion timelines. As a result, the work timelines will get extended</a:t>
            </a:r>
            <a:r>
              <a:rPr lang="en-US" sz="1300" b="1" i="1">
                <a:solidFill>
                  <a:srgbClr val="0000FF"/>
                </a:solidFill>
                <a:latin typeface="Adani Regular" panose="02000503000000020004" pitchFamily="2" charset="0"/>
              </a:rPr>
              <a:t>.</a:t>
            </a:r>
          </a:p>
        </p:txBody>
      </p:sp>
      <p:pic>
        <p:nvPicPr>
          <p:cNvPr id="11" name="Picture 10">
            <a:extLst>
              <a:ext uri="{FF2B5EF4-FFF2-40B4-BE49-F238E27FC236}">
                <a16:creationId xmlns:a16="http://schemas.microsoft.com/office/drawing/2014/main" id="{EF55535B-8817-AE1D-CB70-234BACC1A7EE}"/>
              </a:ext>
            </a:extLst>
          </p:cNvPr>
          <p:cNvPicPr>
            <a:picLocks noChangeAspect="1"/>
          </p:cNvPicPr>
          <p:nvPr/>
        </p:nvPicPr>
        <p:blipFill>
          <a:blip r:embed="rId3"/>
          <a:stretch>
            <a:fillRect/>
          </a:stretch>
        </p:blipFill>
        <p:spPr>
          <a:xfrm>
            <a:off x="323941" y="1155031"/>
            <a:ext cx="11360058" cy="4796589"/>
          </a:xfrm>
          <a:prstGeom prst="rect">
            <a:avLst/>
          </a:prstGeom>
        </p:spPr>
      </p:pic>
    </p:spTree>
    <p:extLst>
      <p:ext uri="{BB962C8B-B14F-4D97-AF65-F5344CB8AC3E}">
        <p14:creationId xmlns:p14="http://schemas.microsoft.com/office/powerpoint/2010/main" val="3206605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8E36F-D2E6-0E7A-AF9E-1A4EC3AA627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2070D60-3AC6-876F-1FC1-A6140399EF18}"/>
              </a:ext>
            </a:extLst>
          </p:cNvPr>
          <p:cNvSpPr txBox="1">
            <a:spLocks/>
          </p:cNvSpPr>
          <p:nvPr/>
        </p:nvSpPr>
        <p:spPr>
          <a:xfrm>
            <a:off x="323941" y="125885"/>
            <a:ext cx="11853369" cy="341349"/>
          </a:xfrm>
          <a:prstGeom prst="rect">
            <a:avLst/>
          </a:prstGeom>
          <a:noFill/>
        </p:spPr>
        <p:txBody>
          <a:bodyPr vert="horz" wrap="square" lIns="0" tIns="45580" rIns="91157" bIns="45580" rtlCol="0" anchor="b">
            <a:spAutoFit/>
          </a:bodyPr>
          <a:lstStyle>
            <a:lvl1pPr marL="109192" defTabSz="911377">
              <a:lnSpc>
                <a:spcPct val="90000"/>
              </a:lnSpc>
              <a:spcBef>
                <a:spcPct val="0"/>
              </a:spcBef>
              <a:buNone/>
              <a:defRPr sz="2400" b="1">
                <a:gradFill>
                  <a:gsLst>
                    <a:gs pos="9735">
                      <a:schemeClr val="tx2"/>
                    </a:gs>
                    <a:gs pos="63000">
                      <a:srgbClr val="8E278F"/>
                    </a:gs>
                    <a:gs pos="38000">
                      <a:srgbClr val="57499E"/>
                    </a:gs>
                  </a:gsLst>
                  <a:lin ang="0" scaled="0"/>
                </a:gradFill>
                <a:latin typeface="Adani Regular" panose="02000503000000020004" pitchFamily="2" charset="0"/>
              </a:defRPr>
            </a:lvl1pPr>
          </a:lstStyle>
          <a:p>
            <a:pPr marL="0" lvl="0">
              <a:defRPr/>
            </a:pPr>
            <a:r>
              <a:rPr kumimoji="0" lang="en-US" sz="1800" b="1" i="0" u="none" strike="noStrike" kern="1200" cap="none" spc="0" normalizeH="0" baseline="0" noProof="0" dirty="0">
                <a:ln>
                  <a:noFill/>
                </a:ln>
                <a:gradFill>
                  <a:gsLst>
                    <a:gs pos="9735">
                      <a:srgbClr val="1F497D"/>
                    </a:gs>
                    <a:gs pos="63000">
                      <a:srgbClr val="8E278F"/>
                    </a:gs>
                    <a:gs pos="38000">
                      <a:srgbClr val="57499E"/>
                    </a:gs>
                  </a:gsLst>
                  <a:lin ang="0" scaled="0"/>
                </a:gradFill>
                <a:effectLst/>
                <a:highlight>
                  <a:srgbClr val="33CC33"/>
                </a:highlight>
                <a:uLnTx/>
                <a:uFillTx/>
                <a:latin typeface="Adani Regular" panose="02000503000000020004" pitchFamily="2" charset="0"/>
                <a:ea typeface="+mn-ea"/>
                <a:cs typeface="+mn-cs"/>
              </a:rPr>
              <a:t>Manpower Deployment Plan vs Actual for Overall Project Execution-</a:t>
            </a:r>
            <a:r>
              <a:rPr lang="en-US" sz="1800" dirty="0">
                <a:gradFill>
                  <a:gsLst>
                    <a:gs pos="9735">
                      <a:srgbClr val="1F497D"/>
                    </a:gs>
                    <a:gs pos="63000">
                      <a:srgbClr val="8E278F"/>
                    </a:gs>
                    <a:gs pos="38000">
                      <a:srgbClr val="57499E"/>
                    </a:gs>
                  </a:gsLst>
                  <a:lin ang="0" scaled="0"/>
                </a:gradFill>
                <a:highlight>
                  <a:srgbClr val="33CC33"/>
                </a:highlight>
              </a:rPr>
              <a:t> PSS </a:t>
            </a:r>
            <a:r>
              <a:rPr lang="en-US" sz="1800" dirty="0">
                <a:highlight>
                  <a:srgbClr val="33CC33"/>
                </a:highlight>
              </a:rPr>
              <a:t>11, 12, 10B, 09, 08B &amp; 05B</a:t>
            </a:r>
            <a:endParaRPr kumimoji="0" lang="en-US" sz="1800" b="1" i="0" u="none" strike="noStrike" kern="1200" cap="none" spc="0" normalizeH="0" baseline="0" noProof="0" dirty="0">
              <a:ln>
                <a:noFill/>
              </a:ln>
              <a:gradFill>
                <a:gsLst>
                  <a:gs pos="9735">
                    <a:srgbClr val="1F497D"/>
                  </a:gs>
                  <a:gs pos="63000">
                    <a:srgbClr val="8E278F"/>
                  </a:gs>
                  <a:gs pos="38000">
                    <a:srgbClr val="57499E"/>
                  </a:gs>
                </a:gsLst>
                <a:lin ang="0" scaled="0"/>
              </a:gradFill>
              <a:effectLst/>
              <a:highlight>
                <a:srgbClr val="33CC33"/>
              </a:highlight>
              <a:uLnTx/>
              <a:uFillTx/>
              <a:latin typeface="Adani Regular" panose="02000503000000020004" pitchFamily="2" charset="0"/>
              <a:ea typeface="+mn-ea"/>
              <a:cs typeface="+mn-cs"/>
            </a:endParaRPr>
          </a:p>
        </p:txBody>
      </p:sp>
      <p:sp>
        <p:nvSpPr>
          <p:cNvPr id="4" name="Slide Number Placeholder 3">
            <a:extLst>
              <a:ext uri="{FF2B5EF4-FFF2-40B4-BE49-F238E27FC236}">
                <a16:creationId xmlns:a16="http://schemas.microsoft.com/office/drawing/2014/main" id="{2771DFEC-200B-AAEB-B5F7-349CD8B1D701}"/>
              </a:ext>
            </a:extLst>
          </p:cNvPr>
          <p:cNvSpPr>
            <a:spLocks noGrp="1"/>
          </p:cNvSpPr>
          <p:nvPr>
            <p:ph type="sldNum" sz="quarter" idx="12"/>
          </p:nvPr>
        </p:nvSpPr>
        <p:spPr/>
        <p:txBody>
          <a:bodyPr/>
          <a:lstStyle/>
          <a:p>
            <a:fld id="{98B285C1-D8A8-4E98-B28C-1FD972D8EC54}" type="slidenum">
              <a:rPr lang="en-IN" smtClean="0"/>
              <a:t>36</a:t>
            </a:fld>
            <a:endParaRPr lang="en-IN"/>
          </a:p>
        </p:txBody>
      </p:sp>
      <p:sp>
        <p:nvSpPr>
          <p:cNvPr id="3" name="TextBox 2">
            <a:extLst>
              <a:ext uri="{FF2B5EF4-FFF2-40B4-BE49-F238E27FC236}">
                <a16:creationId xmlns:a16="http://schemas.microsoft.com/office/drawing/2014/main" id="{FD6884E1-3FBB-A433-2911-F286CB95C8C8}"/>
              </a:ext>
            </a:extLst>
          </p:cNvPr>
          <p:cNvSpPr txBox="1"/>
          <p:nvPr/>
        </p:nvSpPr>
        <p:spPr>
          <a:xfrm>
            <a:off x="619239" y="6350729"/>
            <a:ext cx="10601325" cy="292388"/>
          </a:xfrm>
          <a:prstGeom prst="rect">
            <a:avLst/>
          </a:prstGeom>
          <a:noFill/>
        </p:spPr>
        <p:txBody>
          <a:bodyPr wrap="square" rtlCol="0">
            <a:spAutoFit/>
          </a:bodyPr>
          <a:lstStyle/>
          <a:p>
            <a:r>
              <a:rPr lang="en-US" sz="1200" b="1" i="1">
                <a:solidFill>
                  <a:srgbClr val="0000FF"/>
                </a:solidFill>
                <a:latin typeface="Adani Regular" panose="02000503000000020004" pitchFamily="2" charset="0"/>
              </a:rPr>
              <a:t>Note: Shortage of Contractor’s Manpower is impacting planned completion timelines. As a result, the work timelines will get extended</a:t>
            </a:r>
            <a:r>
              <a:rPr lang="en-US" sz="1300" b="1" i="1">
                <a:solidFill>
                  <a:srgbClr val="0000FF"/>
                </a:solidFill>
                <a:latin typeface="Adani Regular" panose="02000503000000020004" pitchFamily="2" charset="0"/>
              </a:rPr>
              <a:t>.</a:t>
            </a:r>
          </a:p>
        </p:txBody>
      </p:sp>
      <p:pic>
        <p:nvPicPr>
          <p:cNvPr id="10" name="Picture 9">
            <a:extLst>
              <a:ext uri="{FF2B5EF4-FFF2-40B4-BE49-F238E27FC236}">
                <a16:creationId xmlns:a16="http://schemas.microsoft.com/office/drawing/2014/main" id="{ED19AE98-4E54-6846-8988-8E0AEB03CC77}"/>
              </a:ext>
            </a:extLst>
          </p:cNvPr>
          <p:cNvPicPr>
            <a:picLocks noChangeAspect="1"/>
          </p:cNvPicPr>
          <p:nvPr/>
        </p:nvPicPr>
        <p:blipFill>
          <a:blip r:embed="rId3"/>
          <a:stretch>
            <a:fillRect/>
          </a:stretch>
        </p:blipFill>
        <p:spPr>
          <a:xfrm>
            <a:off x="282960" y="1042737"/>
            <a:ext cx="11626080" cy="4924926"/>
          </a:xfrm>
          <a:prstGeom prst="rect">
            <a:avLst/>
          </a:prstGeom>
        </p:spPr>
      </p:pic>
    </p:spTree>
    <p:extLst>
      <p:ext uri="{BB962C8B-B14F-4D97-AF65-F5344CB8AC3E}">
        <p14:creationId xmlns:p14="http://schemas.microsoft.com/office/powerpoint/2010/main" val="22293455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B19EF-1FF4-A4D5-5550-1B0F2CBC4D9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50365AB-494D-821A-2369-392FF4E674DE}"/>
              </a:ext>
            </a:extLst>
          </p:cNvPr>
          <p:cNvSpPr txBox="1"/>
          <p:nvPr/>
        </p:nvSpPr>
        <p:spPr>
          <a:xfrm>
            <a:off x="554182" y="63476"/>
            <a:ext cx="5046518"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912A82"/>
                </a:solidFill>
                <a:effectLst/>
                <a:highlight>
                  <a:srgbClr val="33CC33"/>
                </a:highlight>
                <a:uLnTx/>
                <a:uFillTx/>
                <a:latin typeface="Adani Regular" panose="02000503000000020004" pitchFamily="2" charset="0"/>
                <a:ea typeface="+mn-ea"/>
                <a:cs typeface="+mn-cs"/>
              </a:rPr>
              <a:t>Contractor Manpower Status PSS-11</a:t>
            </a:r>
          </a:p>
        </p:txBody>
      </p:sp>
      <p:sp>
        <p:nvSpPr>
          <p:cNvPr id="5" name="Arrow: Right 4">
            <a:hlinkClick r:id="rId4" action="ppaction://hlinksldjump"/>
            <a:extLst>
              <a:ext uri="{FF2B5EF4-FFF2-40B4-BE49-F238E27FC236}">
                <a16:creationId xmlns:a16="http://schemas.microsoft.com/office/drawing/2014/main" id="{E10F68E6-8AA7-9F45-0B84-CBE7F717198B}"/>
              </a:ext>
            </a:extLst>
          </p:cNvPr>
          <p:cNvSpPr/>
          <p:nvPr/>
        </p:nvSpPr>
        <p:spPr>
          <a:xfrm>
            <a:off x="11381603" y="6702539"/>
            <a:ext cx="237764" cy="155461"/>
          </a:xfrm>
          <a:prstGeom prst="righ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79CFB88F-7DC6-9442-37DE-C2B78ED9A97C}"/>
              </a:ext>
            </a:extLst>
          </p:cNvPr>
          <p:cNvPicPr>
            <a:picLocks noChangeAspect="1"/>
          </p:cNvPicPr>
          <p:nvPr/>
        </p:nvPicPr>
        <p:blipFill>
          <a:blip r:embed="rId5"/>
          <a:stretch>
            <a:fillRect/>
          </a:stretch>
        </p:blipFill>
        <p:spPr>
          <a:xfrm>
            <a:off x="127590" y="818707"/>
            <a:ext cx="11950996" cy="5326912"/>
          </a:xfrm>
          <a:prstGeom prst="rect">
            <a:avLst/>
          </a:prstGeom>
        </p:spPr>
      </p:pic>
    </p:spTree>
    <p:extLst>
      <p:ext uri="{BB962C8B-B14F-4D97-AF65-F5344CB8AC3E}">
        <p14:creationId xmlns:p14="http://schemas.microsoft.com/office/powerpoint/2010/main" val="2025334561"/>
      </p:ext>
    </p:extLst>
  </p:cSld>
  <p:clrMapOvr>
    <a:masterClrMapping/>
  </p:clrMapOvr>
  <p:extLst>
    <p:ext uri="{6950BFC3-D8DA-4A85-94F7-54DA5524770B}">
      <p188:commentRel xmlns:p188="http://schemas.microsoft.com/office/powerpoint/2018/8/main" r:id="rId3"/>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1B35F-B3EE-10DB-C7E6-6EDD2745F11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3E69952-A1CB-CAFC-BD41-5181BF7AEBFA}"/>
              </a:ext>
            </a:extLst>
          </p:cNvPr>
          <p:cNvSpPr txBox="1"/>
          <p:nvPr/>
        </p:nvSpPr>
        <p:spPr>
          <a:xfrm>
            <a:off x="319720" y="125525"/>
            <a:ext cx="6096000" cy="400110"/>
          </a:xfrm>
          <a:prstGeom prst="rect">
            <a:avLst/>
          </a:prstGeom>
          <a:noFill/>
        </p:spPr>
        <p:txBody>
          <a:bodyPr wrap="square">
            <a:spAutoFit/>
          </a:bodyPr>
          <a:lstStyle/>
          <a:p>
            <a:pPr lvl="0">
              <a:defRPr/>
            </a:pPr>
            <a:r>
              <a:rPr kumimoji="0" lang="en-US" sz="2000" b="1" i="0" u="none" strike="noStrike" kern="1200" cap="none" spc="0" normalizeH="0" baseline="0" noProof="0">
                <a:ln>
                  <a:noFill/>
                </a:ln>
                <a:solidFill>
                  <a:srgbClr val="912A82"/>
                </a:solidFill>
                <a:effectLst/>
                <a:highlight>
                  <a:srgbClr val="33CC33"/>
                </a:highlight>
                <a:uLnTx/>
                <a:uFillTx/>
                <a:latin typeface="Adani Regular" panose="02000503000000020004" pitchFamily="2" charset="0"/>
                <a:ea typeface="+mn-ea"/>
                <a:cs typeface="+mn-cs"/>
              </a:rPr>
              <a:t>Contractor </a:t>
            </a:r>
            <a:r>
              <a:rPr lang="en-US" sz="2000" b="1">
                <a:solidFill>
                  <a:srgbClr val="912A82"/>
                </a:solidFill>
                <a:highlight>
                  <a:srgbClr val="33CC33"/>
                </a:highlight>
                <a:latin typeface="Adani Regular" panose="02000503000000020004" pitchFamily="2" charset="0"/>
              </a:rPr>
              <a:t>Manpower</a:t>
            </a:r>
            <a:r>
              <a:rPr kumimoji="0" lang="en-US" sz="2000" b="1" i="0" u="none" strike="noStrike" kern="1200" cap="none" spc="0" normalizeH="0" baseline="0" noProof="0">
                <a:ln>
                  <a:noFill/>
                </a:ln>
                <a:solidFill>
                  <a:srgbClr val="912A82"/>
                </a:solidFill>
                <a:effectLst/>
                <a:highlight>
                  <a:srgbClr val="33CC33"/>
                </a:highlight>
                <a:uLnTx/>
                <a:uFillTx/>
                <a:latin typeface="Adani Regular" panose="02000503000000020004" pitchFamily="2" charset="0"/>
                <a:ea typeface="+mn-ea"/>
                <a:cs typeface="+mn-cs"/>
              </a:rPr>
              <a:t> Status (PSS-12)</a:t>
            </a:r>
          </a:p>
        </p:txBody>
      </p:sp>
      <p:sp>
        <p:nvSpPr>
          <p:cNvPr id="2" name="Arrow: Right 1">
            <a:hlinkClick r:id="rId3" action="ppaction://hlinksldjump"/>
            <a:extLst>
              <a:ext uri="{FF2B5EF4-FFF2-40B4-BE49-F238E27FC236}">
                <a16:creationId xmlns:a16="http://schemas.microsoft.com/office/drawing/2014/main" id="{7F6C82F0-DC25-BBE8-1BDA-198408A14D27}"/>
              </a:ext>
            </a:extLst>
          </p:cNvPr>
          <p:cNvSpPr/>
          <p:nvPr/>
        </p:nvSpPr>
        <p:spPr>
          <a:xfrm>
            <a:off x="11381603" y="6702539"/>
            <a:ext cx="237764" cy="155461"/>
          </a:xfrm>
          <a:prstGeom prst="righ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Left 4">
            <a:hlinkClick r:id="rId4" action="ppaction://hlinksldjump"/>
            <a:extLst>
              <a:ext uri="{FF2B5EF4-FFF2-40B4-BE49-F238E27FC236}">
                <a16:creationId xmlns:a16="http://schemas.microsoft.com/office/drawing/2014/main" id="{AFD0F89D-7BC8-DAF0-89AC-E765D8426410}"/>
              </a:ext>
            </a:extLst>
          </p:cNvPr>
          <p:cNvSpPr>
            <a:spLocks/>
          </p:cNvSpPr>
          <p:nvPr/>
        </p:nvSpPr>
        <p:spPr>
          <a:xfrm>
            <a:off x="10927070" y="6702539"/>
            <a:ext cx="237764" cy="155461"/>
          </a:xfrm>
          <a:prstGeom prst="lef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2D3DA00B-2145-583D-E2FC-EBC6030F3F0F}"/>
              </a:ext>
            </a:extLst>
          </p:cNvPr>
          <p:cNvPicPr>
            <a:picLocks noChangeAspect="1"/>
          </p:cNvPicPr>
          <p:nvPr/>
        </p:nvPicPr>
        <p:blipFill>
          <a:blip r:embed="rId5"/>
          <a:stretch>
            <a:fillRect/>
          </a:stretch>
        </p:blipFill>
        <p:spPr>
          <a:xfrm>
            <a:off x="138222" y="829340"/>
            <a:ext cx="11929731" cy="5199320"/>
          </a:xfrm>
          <a:prstGeom prst="rect">
            <a:avLst/>
          </a:prstGeom>
        </p:spPr>
      </p:pic>
    </p:spTree>
    <p:extLst>
      <p:ext uri="{BB962C8B-B14F-4D97-AF65-F5344CB8AC3E}">
        <p14:creationId xmlns:p14="http://schemas.microsoft.com/office/powerpoint/2010/main" val="2841072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A22B1-7D80-72A7-F582-58458509CE4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7D945DD-D714-79D1-CD1E-0DD71D4B2115}"/>
              </a:ext>
            </a:extLst>
          </p:cNvPr>
          <p:cNvSpPr txBox="1"/>
          <p:nvPr/>
        </p:nvSpPr>
        <p:spPr>
          <a:xfrm>
            <a:off x="554182" y="196334"/>
            <a:ext cx="6096000" cy="400110"/>
          </a:xfrm>
          <a:prstGeom prst="rect">
            <a:avLst/>
          </a:prstGeom>
          <a:noFill/>
        </p:spPr>
        <p:txBody>
          <a:bodyPr wrap="square">
            <a:spAutoFit/>
          </a:bodyPr>
          <a:lstStyle/>
          <a:p>
            <a:pPr lvl="0">
              <a:defRPr/>
            </a:pPr>
            <a:r>
              <a:rPr kumimoji="0" lang="en-US" sz="2000" b="1" i="0" u="none" strike="noStrike" kern="1200" cap="none" spc="0" normalizeH="0" baseline="0" noProof="0">
                <a:ln>
                  <a:noFill/>
                </a:ln>
                <a:solidFill>
                  <a:srgbClr val="912A82"/>
                </a:solidFill>
                <a:effectLst/>
                <a:highlight>
                  <a:srgbClr val="33CC33"/>
                </a:highlight>
                <a:uLnTx/>
                <a:uFillTx/>
                <a:latin typeface="Adani Regular" panose="02000503000000020004" pitchFamily="2" charset="0"/>
                <a:ea typeface="+mn-ea"/>
                <a:cs typeface="+mn-cs"/>
              </a:rPr>
              <a:t>Contractor </a:t>
            </a:r>
            <a:r>
              <a:rPr lang="en-US" sz="2000" b="1">
                <a:solidFill>
                  <a:srgbClr val="912A82"/>
                </a:solidFill>
                <a:highlight>
                  <a:srgbClr val="33CC33"/>
                </a:highlight>
                <a:latin typeface="Adani Regular" panose="02000503000000020004" pitchFamily="2" charset="0"/>
              </a:rPr>
              <a:t>Manpower</a:t>
            </a:r>
            <a:r>
              <a:rPr kumimoji="0" lang="en-US" sz="2000" b="1" i="0" u="none" strike="noStrike" kern="1200" cap="none" spc="0" normalizeH="0" baseline="0" noProof="0">
                <a:ln>
                  <a:noFill/>
                </a:ln>
                <a:solidFill>
                  <a:srgbClr val="912A82"/>
                </a:solidFill>
                <a:effectLst/>
                <a:highlight>
                  <a:srgbClr val="33CC33"/>
                </a:highlight>
                <a:uLnTx/>
                <a:uFillTx/>
                <a:latin typeface="Adani Regular" panose="02000503000000020004" pitchFamily="2" charset="0"/>
                <a:ea typeface="+mn-ea"/>
                <a:cs typeface="+mn-cs"/>
              </a:rPr>
              <a:t> Status ( PSS-10(B) )</a:t>
            </a:r>
          </a:p>
        </p:txBody>
      </p:sp>
      <p:sp>
        <p:nvSpPr>
          <p:cNvPr id="6" name="Arrow: Right 5">
            <a:hlinkClick r:id="rId3" action="ppaction://hlinksldjump"/>
            <a:extLst>
              <a:ext uri="{FF2B5EF4-FFF2-40B4-BE49-F238E27FC236}">
                <a16:creationId xmlns:a16="http://schemas.microsoft.com/office/drawing/2014/main" id="{A7AF15E7-4DB3-F954-27A0-973B1DB32053}"/>
              </a:ext>
            </a:extLst>
          </p:cNvPr>
          <p:cNvSpPr/>
          <p:nvPr/>
        </p:nvSpPr>
        <p:spPr>
          <a:xfrm>
            <a:off x="11381603" y="6702539"/>
            <a:ext cx="237764" cy="155461"/>
          </a:xfrm>
          <a:prstGeom prst="righ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Left 6">
            <a:hlinkClick r:id="rId4" action="ppaction://hlinksldjump"/>
            <a:extLst>
              <a:ext uri="{FF2B5EF4-FFF2-40B4-BE49-F238E27FC236}">
                <a16:creationId xmlns:a16="http://schemas.microsoft.com/office/drawing/2014/main" id="{C20D8D8C-6F47-5671-A286-73E14FB7AFEF}"/>
              </a:ext>
            </a:extLst>
          </p:cNvPr>
          <p:cNvSpPr>
            <a:spLocks/>
          </p:cNvSpPr>
          <p:nvPr/>
        </p:nvSpPr>
        <p:spPr>
          <a:xfrm>
            <a:off x="10927070" y="6702539"/>
            <a:ext cx="237764" cy="155461"/>
          </a:xfrm>
          <a:prstGeom prst="lef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826906A-85A2-BBF7-D039-F0EC57A54379}"/>
              </a:ext>
            </a:extLst>
          </p:cNvPr>
          <p:cNvPicPr>
            <a:picLocks noChangeAspect="1"/>
          </p:cNvPicPr>
          <p:nvPr/>
        </p:nvPicPr>
        <p:blipFill>
          <a:blip r:embed="rId5"/>
          <a:stretch>
            <a:fillRect/>
          </a:stretch>
        </p:blipFill>
        <p:spPr>
          <a:xfrm>
            <a:off x="106325" y="765545"/>
            <a:ext cx="11982893" cy="5305646"/>
          </a:xfrm>
          <a:prstGeom prst="rect">
            <a:avLst/>
          </a:prstGeom>
        </p:spPr>
      </p:pic>
    </p:spTree>
    <p:extLst>
      <p:ext uri="{BB962C8B-B14F-4D97-AF65-F5344CB8AC3E}">
        <p14:creationId xmlns:p14="http://schemas.microsoft.com/office/powerpoint/2010/main" val="28537028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506A0-97B6-916E-846C-24F0E42579C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612CF3C-C331-3363-B5D0-6BF350D540F3}"/>
              </a:ext>
            </a:extLst>
          </p:cNvPr>
          <p:cNvSpPr txBox="1"/>
          <p:nvPr/>
        </p:nvSpPr>
        <p:spPr>
          <a:xfrm>
            <a:off x="554182" y="196334"/>
            <a:ext cx="6096000" cy="400110"/>
          </a:xfrm>
          <a:prstGeom prst="rect">
            <a:avLst/>
          </a:prstGeom>
          <a:noFill/>
        </p:spPr>
        <p:txBody>
          <a:bodyPr wrap="square">
            <a:spAutoFit/>
          </a:bodyPr>
          <a:lstStyle/>
          <a:p>
            <a:pPr lvl="0">
              <a:defRPr/>
            </a:pPr>
            <a:r>
              <a:rPr kumimoji="0" lang="en-US" sz="2000" b="1" i="0" u="none" strike="noStrike" kern="1200" cap="none" spc="0" normalizeH="0" baseline="0" noProof="0">
                <a:ln>
                  <a:noFill/>
                </a:ln>
                <a:solidFill>
                  <a:srgbClr val="912A82"/>
                </a:solidFill>
                <a:effectLst/>
                <a:highlight>
                  <a:srgbClr val="33CC33"/>
                </a:highlight>
                <a:uLnTx/>
                <a:uFillTx/>
                <a:latin typeface="Adani Regular" panose="02000503000000020004" pitchFamily="2" charset="0"/>
                <a:ea typeface="+mn-ea"/>
                <a:cs typeface="+mn-cs"/>
              </a:rPr>
              <a:t>Contractor </a:t>
            </a:r>
            <a:r>
              <a:rPr lang="en-US" sz="2000" b="1">
                <a:solidFill>
                  <a:srgbClr val="912A82"/>
                </a:solidFill>
                <a:highlight>
                  <a:srgbClr val="33CC33"/>
                </a:highlight>
                <a:latin typeface="Adani Regular" panose="02000503000000020004" pitchFamily="2" charset="0"/>
              </a:rPr>
              <a:t>Manpower</a:t>
            </a:r>
            <a:r>
              <a:rPr kumimoji="0" lang="en-US" sz="2000" b="1" i="0" u="none" strike="noStrike" kern="1200" cap="none" spc="0" normalizeH="0" baseline="0" noProof="0">
                <a:ln>
                  <a:noFill/>
                </a:ln>
                <a:solidFill>
                  <a:srgbClr val="912A82"/>
                </a:solidFill>
                <a:effectLst/>
                <a:highlight>
                  <a:srgbClr val="33CC33"/>
                </a:highlight>
                <a:uLnTx/>
                <a:uFillTx/>
                <a:latin typeface="Adani Regular" panose="02000503000000020004" pitchFamily="2" charset="0"/>
                <a:ea typeface="+mn-ea"/>
                <a:cs typeface="+mn-cs"/>
              </a:rPr>
              <a:t> Status (PSS-09)</a:t>
            </a:r>
          </a:p>
        </p:txBody>
      </p:sp>
      <p:sp>
        <p:nvSpPr>
          <p:cNvPr id="4" name="Arrow: Right 3">
            <a:hlinkClick r:id="rId3" action="ppaction://hlinksldjump"/>
            <a:extLst>
              <a:ext uri="{FF2B5EF4-FFF2-40B4-BE49-F238E27FC236}">
                <a16:creationId xmlns:a16="http://schemas.microsoft.com/office/drawing/2014/main" id="{BDF5D161-7790-8D73-A6F4-956BCF343D55}"/>
              </a:ext>
            </a:extLst>
          </p:cNvPr>
          <p:cNvSpPr/>
          <p:nvPr/>
        </p:nvSpPr>
        <p:spPr>
          <a:xfrm>
            <a:off x="11381603" y="6702539"/>
            <a:ext cx="237764" cy="155461"/>
          </a:xfrm>
          <a:prstGeom prst="righ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Left 5">
            <a:hlinkClick r:id="rId4" action="ppaction://hlinksldjump"/>
            <a:extLst>
              <a:ext uri="{FF2B5EF4-FFF2-40B4-BE49-F238E27FC236}">
                <a16:creationId xmlns:a16="http://schemas.microsoft.com/office/drawing/2014/main" id="{22E8B429-0ECC-ED49-3A40-7720CCDB44A5}"/>
              </a:ext>
            </a:extLst>
          </p:cNvPr>
          <p:cNvSpPr/>
          <p:nvPr/>
        </p:nvSpPr>
        <p:spPr>
          <a:xfrm>
            <a:off x="10927070" y="6702539"/>
            <a:ext cx="237764" cy="155461"/>
          </a:xfrm>
          <a:prstGeom prst="lef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1CA20D27-3D2A-6853-0412-50C389EE9D2D}"/>
              </a:ext>
            </a:extLst>
          </p:cNvPr>
          <p:cNvPicPr>
            <a:picLocks noChangeAspect="1"/>
          </p:cNvPicPr>
          <p:nvPr/>
        </p:nvPicPr>
        <p:blipFill>
          <a:blip r:embed="rId5"/>
          <a:stretch>
            <a:fillRect/>
          </a:stretch>
        </p:blipFill>
        <p:spPr>
          <a:xfrm>
            <a:off x="0" y="999460"/>
            <a:ext cx="12192000" cy="5167424"/>
          </a:xfrm>
          <a:prstGeom prst="rect">
            <a:avLst/>
          </a:prstGeom>
        </p:spPr>
      </p:pic>
    </p:spTree>
    <p:extLst>
      <p:ext uri="{BB962C8B-B14F-4D97-AF65-F5344CB8AC3E}">
        <p14:creationId xmlns:p14="http://schemas.microsoft.com/office/powerpoint/2010/main" val="1016030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E573B-7203-CBF1-0720-75ABE598F5D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451A6B0-2638-1DA4-1A6A-903EF602A4DC}"/>
              </a:ext>
            </a:extLst>
          </p:cNvPr>
          <p:cNvSpPr txBox="1"/>
          <p:nvPr/>
        </p:nvSpPr>
        <p:spPr>
          <a:xfrm>
            <a:off x="554182" y="196334"/>
            <a:ext cx="6096000" cy="400110"/>
          </a:xfrm>
          <a:prstGeom prst="rect">
            <a:avLst/>
          </a:prstGeom>
          <a:noFill/>
        </p:spPr>
        <p:txBody>
          <a:bodyPr wrap="square">
            <a:spAutoFit/>
          </a:bodyPr>
          <a:lstStyle/>
          <a:p>
            <a:pPr lvl="0">
              <a:defRPr/>
            </a:pPr>
            <a:r>
              <a:rPr kumimoji="0" lang="en-US" sz="2000" b="1" i="0" u="none" strike="noStrike" kern="1200" cap="none" spc="0" normalizeH="0" baseline="0" noProof="0">
                <a:ln>
                  <a:noFill/>
                </a:ln>
                <a:solidFill>
                  <a:srgbClr val="912A82"/>
                </a:solidFill>
                <a:effectLst/>
                <a:highlight>
                  <a:srgbClr val="33CC33"/>
                </a:highlight>
                <a:uLnTx/>
                <a:uFillTx/>
                <a:latin typeface="Adani Regular" panose="02000503000000020004" pitchFamily="2" charset="0"/>
                <a:ea typeface="+mn-ea"/>
                <a:cs typeface="+mn-cs"/>
              </a:rPr>
              <a:t>Contractor </a:t>
            </a:r>
            <a:r>
              <a:rPr lang="en-US" sz="2000" b="1">
                <a:solidFill>
                  <a:srgbClr val="912A82"/>
                </a:solidFill>
                <a:highlight>
                  <a:srgbClr val="33CC33"/>
                </a:highlight>
                <a:latin typeface="Adani Regular" panose="02000503000000020004" pitchFamily="2" charset="0"/>
              </a:rPr>
              <a:t>Manpower</a:t>
            </a:r>
            <a:r>
              <a:rPr kumimoji="0" lang="en-US" sz="2000" b="1" i="0" u="none" strike="noStrike" kern="1200" cap="none" spc="0" normalizeH="0" baseline="0" noProof="0">
                <a:ln>
                  <a:noFill/>
                </a:ln>
                <a:solidFill>
                  <a:srgbClr val="912A82"/>
                </a:solidFill>
                <a:effectLst/>
                <a:highlight>
                  <a:srgbClr val="33CC33"/>
                </a:highlight>
                <a:uLnTx/>
                <a:uFillTx/>
                <a:latin typeface="Adani Regular" panose="02000503000000020004" pitchFamily="2" charset="0"/>
                <a:ea typeface="+mn-ea"/>
                <a:cs typeface="+mn-cs"/>
              </a:rPr>
              <a:t> Status PSS-05(B)</a:t>
            </a:r>
          </a:p>
        </p:txBody>
      </p:sp>
      <p:sp>
        <p:nvSpPr>
          <p:cNvPr id="6" name="Arrow: Right 5">
            <a:hlinkClick r:id="rId3" action="ppaction://hlinksldjump"/>
            <a:extLst>
              <a:ext uri="{FF2B5EF4-FFF2-40B4-BE49-F238E27FC236}">
                <a16:creationId xmlns:a16="http://schemas.microsoft.com/office/drawing/2014/main" id="{BCF42CB8-BE94-6B9B-7A25-FDABA93E452C}"/>
              </a:ext>
            </a:extLst>
          </p:cNvPr>
          <p:cNvSpPr/>
          <p:nvPr/>
        </p:nvSpPr>
        <p:spPr>
          <a:xfrm>
            <a:off x="11381603" y="6702539"/>
            <a:ext cx="237764" cy="155461"/>
          </a:xfrm>
          <a:prstGeom prst="righ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Left 6">
            <a:hlinkClick r:id="rId4" action="ppaction://hlinksldjump"/>
            <a:extLst>
              <a:ext uri="{FF2B5EF4-FFF2-40B4-BE49-F238E27FC236}">
                <a16:creationId xmlns:a16="http://schemas.microsoft.com/office/drawing/2014/main" id="{C81990AA-EAC1-D6ED-5350-9C852A859937}"/>
              </a:ext>
            </a:extLst>
          </p:cNvPr>
          <p:cNvSpPr/>
          <p:nvPr/>
        </p:nvSpPr>
        <p:spPr>
          <a:xfrm>
            <a:off x="10927070" y="6702539"/>
            <a:ext cx="237764" cy="155461"/>
          </a:xfrm>
          <a:prstGeom prst="lef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A852E4A-6B15-AA35-F87F-E7E57E67E119}"/>
              </a:ext>
            </a:extLst>
          </p:cNvPr>
          <p:cNvPicPr>
            <a:picLocks noChangeAspect="1"/>
          </p:cNvPicPr>
          <p:nvPr/>
        </p:nvPicPr>
        <p:blipFill>
          <a:blip r:embed="rId5"/>
          <a:stretch>
            <a:fillRect/>
          </a:stretch>
        </p:blipFill>
        <p:spPr>
          <a:xfrm>
            <a:off x="0" y="956930"/>
            <a:ext cx="12192000" cy="5167423"/>
          </a:xfrm>
          <a:prstGeom prst="rect">
            <a:avLst/>
          </a:prstGeom>
        </p:spPr>
      </p:pic>
    </p:spTree>
    <p:extLst>
      <p:ext uri="{BB962C8B-B14F-4D97-AF65-F5344CB8AC3E}">
        <p14:creationId xmlns:p14="http://schemas.microsoft.com/office/powerpoint/2010/main" val="2328336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91380-4F34-6391-16B5-3A06C0717AB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3CBD998-5E3A-82EA-2397-90FABF9785B4}"/>
              </a:ext>
            </a:extLst>
          </p:cNvPr>
          <p:cNvSpPr txBox="1"/>
          <p:nvPr/>
        </p:nvSpPr>
        <p:spPr>
          <a:xfrm>
            <a:off x="554182" y="196334"/>
            <a:ext cx="6096000" cy="400110"/>
          </a:xfrm>
          <a:prstGeom prst="rect">
            <a:avLst/>
          </a:prstGeom>
          <a:noFill/>
        </p:spPr>
        <p:txBody>
          <a:bodyPr wrap="square">
            <a:spAutoFit/>
          </a:bodyPr>
          <a:lstStyle/>
          <a:p>
            <a:pPr lvl="0">
              <a:defRPr/>
            </a:pPr>
            <a:r>
              <a:rPr kumimoji="0" lang="en-US" sz="2000" b="1" i="0" u="none" strike="noStrike" kern="1200" cap="none" spc="0" normalizeH="0" baseline="0" noProof="0">
                <a:ln>
                  <a:noFill/>
                </a:ln>
                <a:solidFill>
                  <a:srgbClr val="912A82"/>
                </a:solidFill>
                <a:effectLst/>
                <a:highlight>
                  <a:srgbClr val="33CC33"/>
                </a:highlight>
                <a:uLnTx/>
                <a:uFillTx/>
                <a:latin typeface="Adani Regular" panose="02000503000000020004" pitchFamily="2" charset="0"/>
                <a:ea typeface="+mn-ea"/>
                <a:cs typeface="+mn-cs"/>
              </a:rPr>
              <a:t>Contractor </a:t>
            </a:r>
            <a:r>
              <a:rPr lang="en-US" sz="2000" b="1">
                <a:solidFill>
                  <a:srgbClr val="912A82"/>
                </a:solidFill>
                <a:highlight>
                  <a:srgbClr val="33CC33"/>
                </a:highlight>
                <a:latin typeface="Adani Regular" panose="02000503000000020004" pitchFamily="2" charset="0"/>
              </a:rPr>
              <a:t>Manpower</a:t>
            </a:r>
            <a:r>
              <a:rPr kumimoji="0" lang="en-US" sz="2000" b="1" i="0" u="none" strike="noStrike" kern="1200" cap="none" spc="0" normalizeH="0" baseline="0" noProof="0">
                <a:ln>
                  <a:noFill/>
                </a:ln>
                <a:solidFill>
                  <a:srgbClr val="912A82"/>
                </a:solidFill>
                <a:effectLst/>
                <a:highlight>
                  <a:srgbClr val="33CC33"/>
                </a:highlight>
                <a:uLnTx/>
                <a:uFillTx/>
                <a:latin typeface="Adani Regular" panose="02000503000000020004" pitchFamily="2" charset="0"/>
                <a:ea typeface="+mn-ea"/>
                <a:cs typeface="+mn-cs"/>
              </a:rPr>
              <a:t> Status PSS-08(B)</a:t>
            </a:r>
          </a:p>
        </p:txBody>
      </p:sp>
      <p:sp>
        <p:nvSpPr>
          <p:cNvPr id="5" name="Arrow: Left 4">
            <a:hlinkClick r:id="rId3" action="ppaction://hlinksldjump"/>
            <a:extLst>
              <a:ext uri="{FF2B5EF4-FFF2-40B4-BE49-F238E27FC236}">
                <a16:creationId xmlns:a16="http://schemas.microsoft.com/office/drawing/2014/main" id="{685C6E39-49C9-1058-DC49-4FE48F4D3C0F}"/>
              </a:ext>
            </a:extLst>
          </p:cNvPr>
          <p:cNvSpPr/>
          <p:nvPr/>
        </p:nvSpPr>
        <p:spPr>
          <a:xfrm>
            <a:off x="10927070" y="6702539"/>
            <a:ext cx="237764" cy="155461"/>
          </a:xfrm>
          <a:prstGeom prst="lef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820C125E-EC9D-375F-1CEB-26F679402C9B}"/>
              </a:ext>
            </a:extLst>
          </p:cNvPr>
          <p:cNvPicPr>
            <a:picLocks noChangeAspect="1"/>
          </p:cNvPicPr>
          <p:nvPr/>
        </p:nvPicPr>
        <p:blipFill>
          <a:blip r:embed="rId4"/>
          <a:stretch>
            <a:fillRect/>
          </a:stretch>
        </p:blipFill>
        <p:spPr>
          <a:xfrm>
            <a:off x="0" y="797442"/>
            <a:ext cx="12192000" cy="5188688"/>
          </a:xfrm>
          <a:prstGeom prst="rect">
            <a:avLst/>
          </a:prstGeom>
        </p:spPr>
      </p:pic>
    </p:spTree>
    <p:extLst>
      <p:ext uri="{BB962C8B-B14F-4D97-AF65-F5344CB8AC3E}">
        <p14:creationId xmlns:p14="http://schemas.microsoft.com/office/powerpoint/2010/main" val="23467966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25D70-FD01-61E9-6566-948E98E2DC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ED72B3-8D10-3477-B9DF-8D6D788FE588}"/>
              </a:ext>
            </a:extLst>
          </p:cNvPr>
          <p:cNvSpPr>
            <a:spLocks noGrp="1"/>
          </p:cNvSpPr>
          <p:nvPr>
            <p:ph type="ctrTitle"/>
          </p:nvPr>
        </p:nvSpPr>
        <p:spPr>
          <a:xfrm>
            <a:off x="391557" y="97973"/>
            <a:ext cx="11577483" cy="461382"/>
          </a:xfrm>
          <a:noFill/>
        </p:spPr>
        <p:txBody>
          <a:bodyPr vert="horz" wrap="square" lIns="91157" tIns="45580" rIns="91157" bIns="45580" rtlCol="0" anchor="b">
            <a:spAutoFit/>
          </a:bodyPr>
          <a:lstStyle/>
          <a:p>
            <a:pPr marL="109192" algn="l" defTabSz="911377"/>
            <a:r>
              <a:rPr lang="en-US" sz="2400" b="1">
                <a:gradFill>
                  <a:gsLst>
                    <a:gs pos="9735">
                      <a:schemeClr val="tx2"/>
                    </a:gs>
                    <a:gs pos="63000">
                      <a:srgbClr val="8E278F"/>
                    </a:gs>
                    <a:gs pos="38000">
                      <a:srgbClr val="57499E"/>
                    </a:gs>
                  </a:gsLst>
                  <a:lin ang="0" scaled="0"/>
                </a:gradFill>
                <a:highlight>
                  <a:srgbClr val="33CC33"/>
                </a:highlight>
                <a:ea typeface="+mn-ea"/>
                <a:cs typeface="+mn-cs"/>
              </a:rPr>
              <a:t>Major Milestones – Next 3 months </a:t>
            </a:r>
            <a:r>
              <a:rPr lang="en-US" sz="2400" b="1">
                <a:gradFill>
                  <a:gsLst>
                    <a:gs pos="9735">
                      <a:schemeClr val="tx2"/>
                    </a:gs>
                    <a:gs pos="63000">
                      <a:srgbClr val="8E278F"/>
                    </a:gs>
                    <a:gs pos="38000">
                      <a:srgbClr val="57499E"/>
                    </a:gs>
                  </a:gsLst>
                  <a:lin ang="0" scaled="0"/>
                </a:gradFill>
                <a:highlight>
                  <a:srgbClr val="33CC33"/>
                </a:highlight>
              </a:rPr>
              <a:t>(PSS – 11, 12, 10B, 9, 5B, 8B)</a:t>
            </a:r>
            <a:endParaRPr lang="en-US" sz="2400" b="1">
              <a:gradFill>
                <a:gsLst>
                  <a:gs pos="9735">
                    <a:schemeClr val="tx2"/>
                  </a:gs>
                  <a:gs pos="63000">
                    <a:srgbClr val="8E278F"/>
                  </a:gs>
                  <a:gs pos="38000">
                    <a:srgbClr val="57499E"/>
                  </a:gs>
                </a:gsLst>
                <a:lin ang="0" scaled="0"/>
              </a:gradFill>
              <a:highlight>
                <a:srgbClr val="33CC33"/>
              </a:highlight>
              <a:ea typeface="+mn-ea"/>
              <a:cs typeface="+mn-cs"/>
            </a:endParaRPr>
          </a:p>
        </p:txBody>
      </p:sp>
      <p:pic>
        <p:nvPicPr>
          <p:cNvPr id="11" name="Picture 10">
            <a:extLst>
              <a:ext uri="{FF2B5EF4-FFF2-40B4-BE49-F238E27FC236}">
                <a16:creationId xmlns:a16="http://schemas.microsoft.com/office/drawing/2014/main" id="{776B8AF7-7A83-3227-AA3E-A68E1DC93F2B}"/>
              </a:ext>
            </a:extLst>
          </p:cNvPr>
          <p:cNvPicPr>
            <a:picLocks noChangeAspect="1"/>
          </p:cNvPicPr>
          <p:nvPr/>
        </p:nvPicPr>
        <p:blipFill>
          <a:blip r:embed="rId3"/>
          <a:stretch>
            <a:fillRect/>
          </a:stretch>
        </p:blipFill>
        <p:spPr>
          <a:xfrm>
            <a:off x="6086475" y="3419475"/>
            <a:ext cx="19050" cy="19050"/>
          </a:xfrm>
          <a:prstGeom prst="rect">
            <a:avLst/>
          </a:prstGeom>
        </p:spPr>
      </p:pic>
      <p:graphicFrame>
        <p:nvGraphicFramePr>
          <p:cNvPr id="4" name="Table 3">
            <a:extLst>
              <a:ext uri="{FF2B5EF4-FFF2-40B4-BE49-F238E27FC236}">
                <a16:creationId xmlns:a16="http://schemas.microsoft.com/office/drawing/2014/main" id="{BB08045F-0C5C-B236-2682-3B9CF523079E}"/>
              </a:ext>
            </a:extLst>
          </p:cNvPr>
          <p:cNvGraphicFramePr>
            <a:graphicFrameLocks noGrp="1"/>
          </p:cNvGraphicFramePr>
          <p:nvPr>
            <p:extLst>
              <p:ext uri="{D42A27DB-BD31-4B8C-83A1-F6EECF244321}">
                <p14:modId xmlns:p14="http://schemas.microsoft.com/office/powerpoint/2010/main" val="362171393"/>
              </p:ext>
            </p:extLst>
          </p:nvPr>
        </p:nvGraphicFramePr>
        <p:xfrm>
          <a:off x="182880" y="623289"/>
          <a:ext cx="11685269" cy="5892791"/>
        </p:xfrm>
        <a:graphic>
          <a:graphicData uri="http://schemas.openxmlformats.org/drawingml/2006/table">
            <a:tbl>
              <a:tblPr firstRow="1" bandRow="1">
                <a:tableStyleId>{5C22544A-7EE6-4342-B048-85BDC9FD1C3A}</a:tableStyleId>
              </a:tblPr>
              <a:tblGrid>
                <a:gridCol w="3607308">
                  <a:extLst>
                    <a:ext uri="{9D8B030D-6E8A-4147-A177-3AD203B41FA5}">
                      <a16:colId xmlns:a16="http://schemas.microsoft.com/office/drawing/2014/main" val="1044031235"/>
                    </a:ext>
                  </a:extLst>
                </a:gridCol>
                <a:gridCol w="4035385">
                  <a:extLst>
                    <a:ext uri="{9D8B030D-6E8A-4147-A177-3AD203B41FA5}">
                      <a16:colId xmlns:a16="http://schemas.microsoft.com/office/drawing/2014/main" val="3226430816"/>
                    </a:ext>
                  </a:extLst>
                </a:gridCol>
                <a:gridCol w="4042576">
                  <a:extLst>
                    <a:ext uri="{9D8B030D-6E8A-4147-A177-3AD203B41FA5}">
                      <a16:colId xmlns:a16="http://schemas.microsoft.com/office/drawing/2014/main" val="213421749"/>
                    </a:ext>
                  </a:extLst>
                </a:gridCol>
              </a:tblGrid>
              <a:tr h="231896">
                <a:tc>
                  <a:txBody>
                    <a:bodyPr/>
                    <a:lstStyle/>
                    <a:p>
                      <a:pPr algn="ctr"/>
                      <a:r>
                        <a:rPr lang="en-US" sz="1100">
                          <a:solidFill>
                            <a:schemeClr val="bg1"/>
                          </a:solidFill>
                          <a:latin typeface="Adani Regular" panose="02000503000000020004" pitchFamily="2" charset="0"/>
                        </a:rPr>
                        <a:t>Sept-26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en-US" sz="1100">
                          <a:solidFill>
                            <a:schemeClr val="bg1"/>
                          </a:solidFill>
                          <a:latin typeface="Adani Regular" panose="02000503000000020004" pitchFamily="2" charset="0"/>
                        </a:rPr>
                        <a:t>Oct-26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en-US" sz="1100">
                          <a:solidFill>
                            <a:schemeClr val="bg1"/>
                          </a:solidFill>
                          <a:latin typeface="Adani Regular" panose="02000503000000020004" pitchFamily="2" charset="0"/>
                        </a:rPr>
                        <a:t>Nov-26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3649064186"/>
                  </a:ext>
                </a:extLst>
              </a:tr>
              <a:tr h="5633711">
                <a:tc>
                  <a:txBody>
                    <a:bodyPr/>
                    <a:lstStyle/>
                    <a:p>
                      <a:pPr marL="0" marR="0" lvl="0" indent="0" algn="l">
                        <a:lnSpc>
                          <a:spcPct val="100000"/>
                        </a:lnSpc>
                        <a:spcBef>
                          <a:spcPts val="0"/>
                        </a:spcBef>
                        <a:spcAft>
                          <a:spcPts val="0"/>
                        </a:spcAft>
                        <a:buNone/>
                      </a:pPr>
                      <a:r>
                        <a:rPr lang="en-US" sz="1100" b="1" i="0" u="none" strike="noStrike" noProof="0">
                          <a:solidFill>
                            <a:schemeClr val="tx1"/>
                          </a:solidFill>
                          <a:latin typeface="Adani Regular" panose="02000503000000020004" pitchFamily="2" charset="0"/>
                        </a:rPr>
                        <a:t>Civil:</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Completion of BOP for PSS 11. 12, 10B, 08B, 05B &amp; 09</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0" i="0" u="none" strike="noStrike" noProof="0">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1" i="0" u="none" strike="noStrike" noProof="0">
                          <a:solidFill>
                            <a:schemeClr val="tx1"/>
                          </a:solidFill>
                          <a:latin typeface="Adani Regular" panose="02000503000000020004" pitchFamily="2" charset="0"/>
                        </a:rPr>
                        <a:t>Electrical:</a:t>
                      </a:r>
                      <a:endParaRPr lang="en-US" sz="1100" b="0" i="0" u="none" strike="noStrike" noProof="0">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Progress of Electrical work for </a:t>
                      </a:r>
                      <a:r>
                        <a:rPr lang="en-US" sz="1100" b="0">
                          <a:solidFill>
                            <a:schemeClr val="tx1"/>
                          </a:solidFill>
                          <a:latin typeface="Adani Regular" panose="02000503000000020004" pitchFamily="2" charset="0"/>
                        </a:rPr>
                        <a:t>11, 12, </a:t>
                      </a:r>
                      <a:r>
                        <a:rPr lang="en-US" sz="1100" b="0" i="0" u="none" strike="noStrike" noProof="0">
                          <a:solidFill>
                            <a:schemeClr val="tx1"/>
                          </a:solidFill>
                          <a:latin typeface="Adani Regular" panose="02000503000000020004" pitchFamily="2" charset="0"/>
                        </a:rPr>
                        <a:t>10B, </a:t>
                      </a:r>
                      <a:r>
                        <a:rPr lang="en-US" sz="1100" b="0">
                          <a:solidFill>
                            <a:schemeClr val="tx1"/>
                          </a:solidFill>
                          <a:latin typeface="Adani Regular" panose="02000503000000020004" pitchFamily="2" charset="0"/>
                        </a:rPr>
                        <a:t>05B, 08B &amp; 09.</a:t>
                      </a:r>
                      <a:endParaRPr lang="en-US" sz="1100" b="0" i="0" u="none" strike="noStrike" noProof="0">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0" i="0" u="none" strike="noStrike" noProof="0">
                        <a:solidFill>
                          <a:schemeClr val="tx1"/>
                        </a:solidFill>
                        <a:latin typeface="Adani Regular" panose="02000503000000020004" pitchFamily="2"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lang="en-US" sz="1100" b="1" i="0" u="none" strike="noStrike" noProof="0">
                          <a:solidFill>
                            <a:schemeClr val="tx1"/>
                          </a:solidFill>
                          <a:latin typeface="Adani Regular" panose="02000503000000020004" pitchFamily="2" charset="0"/>
                        </a:rPr>
                        <a:t>Grid Study</a:t>
                      </a:r>
                    </a:p>
                    <a:p>
                      <a:pPr marL="0" marR="0" lvl="0" indent="0" algn="just" defTabSz="91440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Completion of System Studies for PSS05B</a:t>
                      </a:r>
                    </a:p>
                    <a:p>
                      <a:pPr marL="0" marR="0" lvl="0" indent="0" algn="just" defTabSz="914400" eaLnBrk="1" fontAlgn="auto" latinLnBrk="0" hangingPunct="1">
                        <a:lnSpc>
                          <a:spcPct val="100000"/>
                        </a:lnSpc>
                        <a:spcBef>
                          <a:spcPts val="0"/>
                        </a:spcBef>
                        <a:spcAft>
                          <a:spcPts val="0"/>
                        </a:spcAft>
                        <a:buClrTx/>
                        <a:buSzTx/>
                        <a:buFontTx/>
                        <a:buNone/>
                        <a:tabLst/>
                        <a:defRPr/>
                      </a:pPr>
                      <a:endParaRPr lang="en-US" sz="1100" b="0" i="0" u="none" strike="noStrike" noProof="0">
                        <a:solidFill>
                          <a:schemeClr val="tx1"/>
                        </a:solidFill>
                        <a:latin typeface="Adani Regular" panose="02000503000000020004" pitchFamily="2" charset="0"/>
                      </a:endParaRPr>
                    </a:p>
                    <a:p>
                      <a:pPr marL="0" marR="0" lvl="0" indent="0" algn="just" defTabSz="914400" eaLnBrk="1" fontAlgn="auto" latinLnBrk="0" hangingPunct="1">
                        <a:lnSpc>
                          <a:spcPct val="100000"/>
                        </a:lnSpc>
                        <a:spcBef>
                          <a:spcPts val="0"/>
                        </a:spcBef>
                        <a:spcAft>
                          <a:spcPts val="0"/>
                        </a:spcAft>
                        <a:buClrTx/>
                        <a:buSzTx/>
                        <a:buFontTx/>
                        <a:buNone/>
                        <a:tabLst/>
                        <a:defRPr/>
                      </a:pPr>
                      <a:r>
                        <a:rPr lang="en-US" sz="1100" b="1">
                          <a:solidFill>
                            <a:schemeClr val="tx1"/>
                          </a:solidFill>
                          <a:latin typeface="Adani Regular" panose="02000503000000020004" pitchFamily="2" charset="0"/>
                        </a:rPr>
                        <a:t>Approvals :</a:t>
                      </a:r>
                    </a:p>
                    <a:p>
                      <a:pPr marL="0" marR="0" lvl="0" indent="0" algn="just" defTabSz="914400" eaLnBrk="1" fontAlgn="auto" latinLnBrk="0" hangingPunct="1">
                        <a:lnSpc>
                          <a:spcPct val="100000"/>
                        </a:lnSpc>
                        <a:spcBef>
                          <a:spcPts val="0"/>
                        </a:spcBef>
                        <a:spcAft>
                          <a:spcPts val="0"/>
                        </a:spcAft>
                        <a:buClrTx/>
                        <a:buSzTx/>
                        <a:buFontTx/>
                        <a:buNone/>
                        <a:tabLst/>
                        <a:defRPr/>
                      </a:pPr>
                      <a:r>
                        <a:rPr lang="en-US" sz="1100" b="1">
                          <a:solidFill>
                            <a:schemeClr val="tx1"/>
                          </a:solidFill>
                          <a:latin typeface="Adani Regular" panose="02000503000000020004" pitchFamily="2" charset="0"/>
                        </a:rPr>
                        <a:t>PSS 09, 05 &amp; 08B:</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Connectivity approval</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1">
                          <a:solidFill>
                            <a:schemeClr val="tx1"/>
                          </a:solidFill>
                          <a:latin typeface="Adani Regular" panose="02000503000000020004" pitchFamily="2" charset="0"/>
                        </a:rPr>
                        <a:t>PSS 09, 05B &amp; 08B:</a:t>
                      </a:r>
                      <a:endParaRPr lang="en-US" sz="1100" b="0" i="0" u="none" strike="noStrike">
                        <a:solidFill>
                          <a:srgbClr val="000000"/>
                        </a:solidFill>
                        <a:effectLst/>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CON-V</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0" i="0" u="none" strike="noStrike">
                        <a:solidFill>
                          <a:srgbClr val="000000"/>
                        </a:solidFill>
                        <a:effectLst/>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1" i="0" u="none" strike="noStrike" noProof="0">
                          <a:solidFill>
                            <a:schemeClr val="tx1"/>
                          </a:solidFill>
                          <a:latin typeface="Adani Regular" panose="02000503000000020004" pitchFamily="2" charset="0"/>
                        </a:rPr>
                        <a:t>Delivery at Site: </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11 : Battery Container – 63 (CATL)</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12 : Battery Container – 65 (CATL)</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10B : Battery Container – 80 (Jinko)</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09 : PCS– 288 (</a:t>
                      </a:r>
                      <a:r>
                        <a:rPr lang="en-US" sz="1100" b="0" i="0" u="none" strike="noStrike">
                          <a:solidFill>
                            <a:srgbClr val="000000"/>
                          </a:solidFill>
                          <a:effectLst/>
                          <a:latin typeface="Adani Regular" panose="02000503000000020004" pitchFamily="2" charset="0"/>
                        </a:rPr>
                        <a:t>Inova</a:t>
                      </a:r>
                      <a:r>
                        <a:rPr lang="en-US" sz="1100" b="0" i="0" u="none" strike="noStrike" noProof="0">
                          <a:solidFill>
                            <a:schemeClr val="tx1"/>
                          </a:solidFill>
                          <a:latin typeface="Adani Regular" panose="02000503000000020004" pitchFamily="2" charset="0"/>
                        </a:rPr>
                        <a: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05B : PCS– 72 (</a:t>
                      </a:r>
                      <a:r>
                        <a:rPr lang="en-US" sz="1100" b="0" i="0" u="none" strike="noStrike">
                          <a:solidFill>
                            <a:srgbClr val="000000"/>
                          </a:solidFill>
                          <a:effectLst/>
                          <a:latin typeface="Adani Regular" panose="02000503000000020004" pitchFamily="2" charset="0"/>
                        </a:rPr>
                        <a:t>Shenzen</a:t>
                      </a:r>
                      <a:r>
                        <a:rPr lang="en-US" sz="1100" b="0" i="0" u="none" strike="noStrike" noProof="0">
                          <a:solidFill>
                            <a:schemeClr val="tx1"/>
                          </a:solidFill>
                          <a:latin typeface="Adani Regular" panose="02000503000000020004" pitchFamily="2" charset="0"/>
                        </a:rPr>
                        <a: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08B : Battery Container – 17 (</a:t>
                      </a:r>
                      <a:r>
                        <a:rPr lang="en-US" sz="1100" b="0" i="0" u="none" strike="noStrike">
                          <a:solidFill>
                            <a:srgbClr val="000000"/>
                          </a:solidFill>
                          <a:effectLst/>
                          <a:latin typeface="Adani Regular" panose="02000503000000020004" pitchFamily="2" charset="0"/>
                        </a:rPr>
                        <a:t>GreatPower</a:t>
                      </a:r>
                      <a:r>
                        <a:rPr lang="en-US" sz="1100" b="0" i="0" u="none" strike="noStrike" noProof="0">
                          <a:solidFill>
                            <a:schemeClr val="tx1"/>
                          </a:solidFill>
                          <a:latin typeface="Adani Regular" panose="02000503000000020004" pitchFamily="2" charset="0"/>
                        </a:rPr>
                        <a: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08B : PCS– 72 (</a:t>
                      </a:r>
                      <a:r>
                        <a:rPr lang="en-US" sz="1100" b="0" i="0" u="none" strike="noStrike">
                          <a:solidFill>
                            <a:srgbClr val="000000"/>
                          </a:solidFill>
                          <a:effectLst/>
                          <a:latin typeface="Adani Regular" panose="02000503000000020004" pitchFamily="2" charset="0"/>
                        </a:rPr>
                        <a:t>Shenzen</a:t>
                      </a:r>
                      <a:r>
                        <a:rPr lang="en-US" sz="1100" b="0" i="0" u="none" strike="noStrike" noProof="0">
                          <a:solidFill>
                            <a:schemeClr val="tx1"/>
                          </a:solidFill>
                          <a:latin typeface="Adani Regular" panose="02000503000000020004" pitchFamily="2" charset="0"/>
                        </a:rPr>
                        <a: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0" i="0" u="none" strike="noStrike" noProof="0">
                        <a:solidFill>
                          <a:schemeClr val="tx1"/>
                        </a:solidFill>
                        <a:effectLst/>
                        <a:latin typeface="Adani Regular" panose="02000503000000020004" pitchFamily="2" charset="0"/>
                      </a:endParaRPr>
                    </a:p>
                    <a:p>
                      <a:pPr marL="0" marR="0" lvl="0" indent="0" algn="just">
                        <a:lnSpc>
                          <a:spcPct val="100000"/>
                        </a:lnSpc>
                        <a:spcBef>
                          <a:spcPts val="0"/>
                        </a:spcBef>
                        <a:spcAft>
                          <a:spcPts val="0"/>
                        </a:spcAft>
                        <a:buNone/>
                      </a:pPr>
                      <a:r>
                        <a:rPr lang="en-US" sz="1100" b="1">
                          <a:solidFill>
                            <a:schemeClr val="tx1"/>
                          </a:solidFill>
                          <a:latin typeface="Adani Regular" panose="02000503000000020004" pitchFamily="2" charset="0"/>
                        </a:rPr>
                        <a:t>Integration, Pre-Commissioning &amp; Commissioning:</a:t>
                      </a:r>
                    </a:p>
                    <a:p>
                      <a:pPr marL="0" marR="0" lvl="0" indent="0" algn="just">
                        <a:lnSpc>
                          <a:spcPct val="100000"/>
                        </a:lnSpc>
                        <a:spcBef>
                          <a:spcPts val="0"/>
                        </a:spcBef>
                        <a:spcAft>
                          <a:spcPts val="0"/>
                        </a:spcAft>
                        <a:buNone/>
                      </a:pPr>
                      <a:r>
                        <a:rPr lang="en-US" sz="1100" b="0">
                          <a:solidFill>
                            <a:schemeClr val="tx1"/>
                          </a:solidFill>
                          <a:latin typeface="Adani Regular" panose="02000503000000020004" pitchFamily="2" charset="0"/>
                        </a:rPr>
                        <a:t>PSS 11 : 120 Containers (677 MWh)</a:t>
                      </a:r>
                    </a:p>
                    <a:p>
                      <a:pPr marL="0" marR="0" lvl="0" indent="0" algn="just" defTabSz="914400" eaLnBrk="1" fontAlgn="auto" latinLnBrk="0" hangingPunct="1">
                        <a:lnSpc>
                          <a:spcPct val="100000"/>
                        </a:lnSpc>
                        <a:spcBef>
                          <a:spcPts val="0"/>
                        </a:spcBef>
                        <a:spcAft>
                          <a:spcPts val="0"/>
                        </a:spcAft>
                        <a:buClrTx/>
                        <a:buSzTx/>
                        <a:buFontTx/>
                        <a:buNone/>
                        <a:tabLst/>
                        <a:defRPr/>
                      </a:pPr>
                      <a:r>
                        <a:rPr lang="en-US" sz="1100" b="0">
                          <a:solidFill>
                            <a:schemeClr val="tx1"/>
                          </a:solidFill>
                          <a:latin typeface="Adani Regular" panose="02000503000000020004" pitchFamily="2" charset="0"/>
                        </a:rPr>
                        <a:t>PSS 12 : 240 Containers (</a:t>
                      </a:r>
                      <a:r>
                        <a:rPr lang="en-US" sz="1100" b="0" i="0" u="none" strike="noStrike">
                          <a:solidFill>
                            <a:srgbClr val="000000"/>
                          </a:solidFill>
                          <a:effectLst/>
                          <a:latin typeface="Adani Regular" panose="02000503000000020004" pitchFamily="2" charset="0"/>
                        </a:rPr>
                        <a:t>1355</a:t>
                      </a:r>
                      <a:r>
                        <a:rPr lang="en-US" sz="1100" b="0">
                          <a:solidFill>
                            <a:schemeClr val="tx1"/>
                          </a:solidFill>
                          <a:latin typeface="Adani Regular" panose="02000503000000020004" pitchFamily="2" charset="0"/>
                        </a:rPr>
                        <a:t> MWh)</a:t>
                      </a:r>
                      <a:endParaRPr lang="en-US" sz="1100" b="0" i="0" u="none" strike="noStrike">
                        <a:solidFill>
                          <a:srgbClr val="000000"/>
                        </a:solidFill>
                        <a:effectLst/>
                        <a:latin typeface="Adani Regular" panose="02000503000000020004" pitchFamily="2" charset="0"/>
                      </a:endParaRPr>
                    </a:p>
                    <a:p>
                      <a:pPr marL="0" marR="0" lvl="0" indent="0" algn="just" defTabSz="914400" eaLnBrk="1" fontAlgn="auto" latinLnBrk="0" hangingPunct="1">
                        <a:lnSpc>
                          <a:spcPct val="100000"/>
                        </a:lnSpc>
                        <a:spcBef>
                          <a:spcPts val="0"/>
                        </a:spcBef>
                        <a:spcAft>
                          <a:spcPts val="0"/>
                        </a:spcAft>
                        <a:buClrTx/>
                        <a:buSzTx/>
                        <a:buFontTx/>
                        <a:buNone/>
                        <a:tabLst/>
                        <a:defRPr/>
                      </a:pPr>
                      <a:r>
                        <a:rPr lang="en-US" sz="1100" b="0">
                          <a:solidFill>
                            <a:schemeClr val="tx1"/>
                          </a:solidFill>
                          <a:latin typeface="Adani Regular" panose="02000503000000020004" pitchFamily="2" charset="0"/>
                        </a:rPr>
                        <a:t>PSS 10B : 120 Containers (</a:t>
                      </a:r>
                      <a:r>
                        <a:rPr lang="en-US" sz="1100" b="0" i="0" u="none" strike="noStrike">
                          <a:solidFill>
                            <a:srgbClr val="000000"/>
                          </a:solidFill>
                          <a:effectLst/>
                          <a:latin typeface="Adani Regular" panose="02000503000000020004" pitchFamily="2" charset="0"/>
                        </a:rPr>
                        <a:t>602</a:t>
                      </a:r>
                      <a:r>
                        <a:rPr lang="en-US" sz="1100" b="0">
                          <a:solidFill>
                            <a:schemeClr val="tx1"/>
                          </a:solidFill>
                          <a:latin typeface="Adani Regular" panose="02000503000000020004" pitchFamily="2" charset="0"/>
                        </a:rPr>
                        <a:t> MWh)</a:t>
                      </a:r>
                      <a:endParaRPr lang="en-US" sz="1100" b="0" i="0" u="none" strike="noStrike">
                        <a:solidFill>
                          <a:srgbClr val="000000"/>
                        </a:solidFill>
                        <a:effectLst/>
                        <a:latin typeface="Adani Regular" panose="02000503000000020004" pitchFamily="2" charset="0"/>
                      </a:endParaRPr>
                    </a:p>
                    <a:p>
                      <a:pPr marL="0" marR="0" lvl="0" indent="0" algn="just">
                        <a:lnSpc>
                          <a:spcPct val="100000"/>
                        </a:lnSpc>
                        <a:spcBef>
                          <a:spcPts val="0"/>
                        </a:spcBef>
                        <a:spcAft>
                          <a:spcPts val="0"/>
                        </a:spcAft>
                        <a:buNone/>
                      </a:pPr>
                      <a:endParaRPr lang="en-US" sz="1100" b="0" i="0" u="none" strike="noStrike">
                        <a:solidFill>
                          <a:srgbClr val="000000"/>
                        </a:solidFill>
                        <a:effectLst/>
                        <a:latin typeface="Adani Regular" panose="02000503000000020004" pitchFamily="2" charset="0"/>
                      </a:endParaRPr>
                    </a:p>
                    <a:p>
                      <a:pPr marL="0" marR="0" lvl="0" indent="0" algn="just" defTabSz="914400" eaLnBrk="1" fontAlgn="auto" latinLnBrk="0" hangingPunct="1">
                        <a:lnSpc>
                          <a:spcPct val="100000"/>
                        </a:lnSpc>
                        <a:spcBef>
                          <a:spcPts val="0"/>
                        </a:spcBef>
                        <a:spcAft>
                          <a:spcPts val="0"/>
                        </a:spcAft>
                        <a:buClrTx/>
                        <a:buSzTx/>
                        <a:buFontTx/>
                        <a:buNone/>
                        <a:tabLst/>
                        <a:defRPr/>
                      </a:pPr>
                      <a:endParaRPr lang="en-US" sz="1100" b="0" i="0" u="none" strike="noStrike" noProof="0">
                        <a:solidFill>
                          <a:schemeClr val="tx1"/>
                        </a:solidFill>
                        <a:latin typeface="Adani Regular"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1" i="0" u="none" strike="noStrike" noProof="0">
                          <a:solidFill>
                            <a:schemeClr val="tx1"/>
                          </a:solidFill>
                          <a:latin typeface="Adani Regular" panose="02000503000000020004" pitchFamily="2" charset="0"/>
                        </a:rPr>
                        <a:t>Electrical:</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Completion of Electrical works for </a:t>
                      </a:r>
                      <a:r>
                        <a:rPr lang="en-US" sz="1100" b="0">
                          <a:solidFill>
                            <a:schemeClr val="tx1"/>
                          </a:solidFill>
                          <a:latin typeface="Adani Regular" panose="02000503000000020004" pitchFamily="2" charset="0"/>
                        </a:rPr>
                        <a:t>11, 12, &amp; </a:t>
                      </a:r>
                      <a:r>
                        <a:rPr lang="en-US" sz="1100" b="0" i="0" u="none" strike="noStrike" noProof="0">
                          <a:solidFill>
                            <a:schemeClr val="tx1"/>
                          </a:solidFill>
                          <a:latin typeface="Adani Regular" panose="02000503000000020004" pitchFamily="2" charset="0"/>
                        </a:rPr>
                        <a:t>10B.</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Progress of Electrical work for 05B, 08B &amp; 09.</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0" i="0" u="none" strike="noStrike" noProof="0">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1" i="0" u="none" strike="noStrike" noProof="0">
                          <a:solidFill>
                            <a:schemeClr val="tx1"/>
                          </a:solidFill>
                          <a:latin typeface="Adani Regular" panose="02000503000000020004" pitchFamily="2" charset="0"/>
                        </a:rPr>
                        <a:t>Delivery at Site: </a:t>
                      </a:r>
                      <a:endParaRPr lang="en-US" sz="1100" b="0" i="0" u="none" strike="noStrike" noProof="0">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11 :  Battery Container - 140 CATL </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09 :  Battery Container - 432 CATL</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09 :  PCS - 144 </a:t>
                      </a:r>
                      <a:r>
                        <a:rPr lang="en-US" sz="1100" b="0" i="0" u="none" strike="noStrike">
                          <a:solidFill>
                            <a:srgbClr val="000000"/>
                          </a:solidFill>
                          <a:effectLst/>
                          <a:latin typeface="Adani Regular" panose="02000503000000020004" pitchFamily="2" charset="0"/>
                        </a:rPr>
                        <a:t>Inova</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05B :  Battery Container - 88 CATL</a:t>
                      </a:r>
                      <a:endParaRPr lang="en-US" sz="1100" b="0" i="0" u="none" strike="noStrike">
                        <a:solidFill>
                          <a:srgbClr val="000000"/>
                        </a:solidFill>
                        <a:effectLst/>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05B :  PCS - 216 </a:t>
                      </a:r>
                      <a:r>
                        <a:rPr lang="en-US" sz="1100" b="0" i="0" u="none" strike="noStrike">
                          <a:solidFill>
                            <a:srgbClr val="000000"/>
                          </a:solidFill>
                          <a:effectLst/>
                          <a:latin typeface="Adani Regular" panose="02000503000000020004" pitchFamily="2" charset="0"/>
                        </a:rPr>
                        <a:t>Shenzen</a:t>
                      </a:r>
                      <a:endParaRPr lang="en-US" sz="1100" b="0" i="0" u="none" strike="noStrike" noProof="0">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08B : Battery Container - 79 Great Power</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08B :  PCS - 96 </a:t>
                      </a:r>
                      <a:r>
                        <a:rPr lang="en-US" sz="1100" b="0" i="0" u="none" strike="noStrike">
                          <a:solidFill>
                            <a:srgbClr val="000000"/>
                          </a:solidFill>
                          <a:effectLst/>
                          <a:latin typeface="Adani Regular" panose="02000503000000020004" pitchFamily="2" charset="0"/>
                        </a:rPr>
                        <a:t>Shenzen</a:t>
                      </a:r>
                      <a:endParaRPr lang="en-US" sz="1100" b="0" i="0" u="none" strike="noStrike" noProof="0">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0" i="0" u="none" strike="noStrike" noProof="0">
                        <a:solidFill>
                          <a:schemeClr val="tx1"/>
                        </a:solidFill>
                        <a:latin typeface="Adani Regular" panose="02000503000000020004" pitchFamily="2" charset="0"/>
                      </a:endParaRPr>
                    </a:p>
                    <a:p>
                      <a:pPr marL="0" marR="0" lvl="0" indent="0" algn="just">
                        <a:lnSpc>
                          <a:spcPct val="100000"/>
                        </a:lnSpc>
                        <a:spcBef>
                          <a:spcPts val="0"/>
                        </a:spcBef>
                        <a:spcAft>
                          <a:spcPts val="0"/>
                        </a:spcAft>
                        <a:buNone/>
                      </a:pPr>
                      <a:r>
                        <a:rPr lang="en-US" sz="1100" b="1">
                          <a:solidFill>
                            <a:schemeClr val="tx1"/>
                          </a:solidFill>
                          <a:latin typeface="Adani Regular" panose="02000503000000020004" pitchFamily="2" charset="0"/>
                        </a:rPr>
                        <a:t>Integration, Pre-Commissioning &amp; Commissioning:</a:t>
                      </a:r>
                    </a:p>
                    <a:p>
                      <a:pPr marL="0" marR="0" lvl="0" indent="0" algn="just">
                        <a:lnSpc>
                          <a:spcPct val="100000"/>
                        </a:lnSpc>
                        <a:spcBef>
                          <a:spcPts val="0"/>
                        </a:spcBef>
                        <a:spcAft>
                          <a:spcPts val="0"/>
                        </a:spcAft>
                        <a:buNone/>
                      </a:pPr>
                      <a:r>
                        <a:rPr lang="en-US" sz="1100" b="0">
                          <a:solidFill>
                            <a:schemeClr val="tx1"/>
                          </a:solidFill>
                          <a:latin typeface="Adani Regular" panose="02000503000000020004" pitchFamily="2" charset="0"/>
                        </a:rPr>
                        <a:t>PSS 11 : </a:t>
                      </a:r>
                      <a:r>
                        <a:rPr lang="en-US" sz="1100" b="0" i="0" u="none" strike="noStrike">
                          <a:solidFill>
                            <a:srgbClr val="000000"/>
                          </a:solidFill>
                          <a:effectLst/>
                          <a:latin typeface="Adani Regular" panose="02000503000000020004" pitchFamily="2" charset="0"/>
                        </a:rPr>
                        <a:t>192</a:t>
                      </a:r>
                      <a:r>
                        <a:rPr lang="en-US" sz="1100" b="0">
                          <a:solidFill>
                            <a:schemeClr val="tx1"/>
                          </a:solidFill>
                          <a:latin typeface="Adani Regular" panose="02000503000000020004" pitchFamily="2" charset="0"/>
                        </a:rPr>
                        <a:t> Containers (</a:t>
                      </a:r>
                      <a:r>
                        <a:rPr lang="en-US" sz="1100" b="0" i="0" u="none" strike="noStrike">
                          <a:solidFill>
                            <a:srgbClr val="000000"/>
                          </a:solidFill>
                          <a:effectLst/>
                          <a:latin typeface="Adani Regular" panose="02000503000000020004" pitchFamily="2" charset="0"/>
                        </a:rPr>
                        <a:t>1084</a:t>
                      </a:r>
                      <a:r>
                        <a:rPr lang="en-US" sz="1100" b="0">
                          <a:solidFill>
                            <a:schemeClr val="tx1"/>
                          </a:solidFill>
                          <a:latin typeface="Adani Regular" panose="02000503000000020004" pitchFamily="2" charset="0"/>
                        </a:rPr>
                        <a:t> MWh)</a:t>
                      </a:r>
                    </a:p>
                    <a:p>
                      <a:pPr marL="0" marR="0" lvl="0" indent="0" algn="just" defTabSz="914400" eaLnBrk="1" fontAlgn="auto" latinLnBrk="0" hangingPunct="1">
                        <a:lnSpc>
                          <a:spcPct val="100000"/>
                        </a:lnSpc>
                        <a:spcBef>
                          <a:spcPts val="0"/>
                        </a:spcBef>
                        <a:spcAft>
                          <a:spcPts val="0"/>
                        </a:spcAft>
                        <a:buClrTx/>
                        <a:buSzTx/>
                        <a:buFontTx/>
                        <a:buNone/>
                        <a:tabLst/>
                        <a:defRPr/>
                      </a:pPr>
                      <a:r>
                        <a:rPr lang="en-US" sz="1100" b="0">
                          <a:solidFill>
                            <a:schemeClr val="tx1"/>
                          </a:solidFill>
                          <a:latin typeface="Adani Regular" panose="02000503000000020004" pitchFamily="2" charset="0"/>
                        </a:rPr>
                        <a:t>PSS 12 : </a:t>
                      </a:r>
                      <a:r>
                        <a:rPr lang="en-US" sz="1100" b="0" i="0" u="none" strike="noStrike">
                          <a:solidFill>
                            <a:srgbClr val="000000"/>
                          </a:solidFill>
                          <a:effectLst/>
                          <a:latin typeface="Adani Regular" panose="02000503000000020004" pitchFamily="2" charset="0"/>
                        </a:rPr>
                        <a:t>144</a:t>
                      </a:r>
                      <a:r>
                        <a:rPr lang="en-US" sz="1100" b="0">
                          <a:solidFill>
                            <a:schemeClr val="tx1"/>
                          </a:solidFill>
                          <a:latin typeface="Adani Regular" panose="02000503000000020004" pitchFamily="2" charset="0"/>
                        </a:rPr>
                        <a:t> Containers (</a:t>
                      </a:r>
                      <a:r>
                        <a:rPr lang="en-US" sz="1100" b="0" i="0" u="none" strike="noStrike">
                          <a:solidFill>
                            <a:srgbClr val="000000"/>
                          </a:solidFill>
                          <a:effectLst/>
                          <a:latin typeface="Adani Regular" panose="02000503000000020004" pitchFamily="2" charset="0"/>
                        </a:rPr>
                        <a:t>813</a:t>
                      </a:r>
                      <a:r>
                        <a:rPr lang="en-US" sz="1100" b="0">
                          <a:solidFill>
                            <a:schemeClr val="tx1"/>
                          </a:solidFill>
                          <a:latin typeface="Adani Regular" panose="02000503000000020004" pitchFamily="2" charset="0"/>
                        </a:rPr>
                        <a:t> MWh)</a:t>
                      </a:r>
                    </a:p>
                    <a:p>
                      <a:pPr marL="0" marR="0" lvl="0" indent="0" algn="just" defTabSz="914400" eaLnBrk="1" fontAlgn="auto" latinLnBrk="0" hangingPunct="1">
                        <a:lnSpc>
                          <a:spcPct val="100000"/>
                        </a:lnSpc>
                        <a:spcBef>
                          <a:spcPts val="0"/>
                        </a:spcBef>
                        <a:spcAft>
                          <a:spcPts val="0"/>
                        </a:spcAft>
                        <a:buClrTx/>
                        <a:buSzTx/>
                        <a:buFontTx/>
                        <a:buNone/>
                        <a:tabLst/>
                        <a:defRPr/>
                      </a:pPr>
                      <a:r>
                        <a:rPr lang="en-US" sz="1100" b="0">
                          <a:solidFill>
                            <a:schemeClr val="tx1"/>
                          </a:solidFill>
                          <a:latin typeface="Adani Regular" panose="02000503000000020004" pitchFamily="2" charset="0"/>
                        </a:rPr>
                        <a:t>PSS 10B : 120 Containers (</a:t>
                      </a:r>
                      <a:r>
                        <a:rPr lang="en-US" sz="1100" b="0" i="0" u="none" strike="noStrike">
                          <a:solidFill>
                            <a:srgbClr val="000000"/>
                          </a:solidFill>
                          <a:effectLst/>
                          <a:latin typeface="Adani Regular" panose="02000503000000020004" pitchFamily="2" charset="0"/>
                        </a:rPr>
                        <a:t>602</a:t>
                      </a:r>
                      <a:r>
                        <a:rPr lang="en-US" sz="1100" b="0">
                          <a:solidFill>
                            <a:schemeClr val="tx1"/>
                          </a:solidFill>
                          <a:latin typeface="Adani Regular" panose="02000503000000020004" pitchFamily="2" charset="0"/>
                        </a:rPr>
                        <a:t> MWh)</a:t>
                      </a:r>
                      <a:endParaRPr lang="en-US" sz="1100" b="0" i="0" u="none" strike="noStrike">
                        <a:solidFill>
                          <a:srgbClr val="000000"/>
                        </a:solidFill>
                        <a:effectLst/>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0" i="0" u="none" strike="noStrike" noProof="0">
                        <a:solidFill>
                          <a:schemeClr val="tx1"/>
                        </a:solidFill>
                        <a:latin typeface="Adani Regular"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None/>
                      </a:pPr>
                      <a:r>
                        <a:rPr lang="en-US" sz="1100" b="1" i="0" u="none" strike="noStrike" noProof="0">
                          <a:solidFill>
                            <a:schemeClr val="tx1"/>
                          </a:solidFill>
                          <a:latin typeface="Adani Regular" panose="02000503000000020004" pitchFamily="2" charset="0"/>
                        </a:rPr>
                        <a:t>Electrical:</a:t>
                      </a:r>
                      <a:endParaRPr lang="en-US" sz="1100" b="0" i="0" u="none" strike="noStrike" noProof="0">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Completion of Electrical work for </a:t>
                      </a:r>
                      <a:r>
                        <a:rPr lang="en-US" sz="1100" b="0">
                          <a:solidFill>
                            <a:schemeClr val="tx1"/>
                          </a:solidFill>
                          <a:latin typeface="Adani Regular" panose="02000503000000020004" pitchFamily="2" charset="0"/>
                        </a:rPr>
                        <a:t>05B, 08B &amp; 09</a:t>
                      </a:r>
                      <a:endParaRPr lang="en-US" sz="1100" b="0" i="0" u="none" strike="noStrike" noProof="0">
                        <a:solidFill>
                          <a:schemeClr val="tx1"/>
                        </a:solidFill>
                        <a:latin typeface="Adani Regular" panose="02000503000000020004" pitchFamily="2" charset="0"/>
                      </a:endParaRPr>
                    </a:p>
                    <a:p>
                      <a:pPr marL="0" marR="0" lvl="0" indent="0" algn="just">
                        <a:lnSpc>
                          <a:spcPct val="100000"/>
                        </a:lnSpc>
                        <a:spcBef>
                          <a:spcPts val="0"/>
                        </a:spcBef>
                        <a:spcAft>
                          <a:spcPts val="0"/>
                        </a:spcAft>
                        <a:buNone/>
                      </a:pPr>
                      <a:endParaRPr lang="en-US" sz="1100" b="1">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1" i="0" u="none" strike="noStrike" noProof="0">
                          <a:solidFill>
                            <a:schemeClr val="tx1"/>
                          </a:solidFill>
                          <a:latin typeface="Adani Regular" panose="02000503000000020004" pitchFamily="2" charset="0"/>
                        </a:rPr>
                        <a:t>Delivery at Site: </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05B: Battery Container  - 140 (</a:t>
                      </a:r>
                      <a:r>
                        <a:rPr lang="en-US" sz="1100" b="0" i="0" u="none" strike="noStrike">
                          <a:solidFill>
                            <a:srgbClr val="000000"/>
                          </a:solidFill>
                          <a:effectLst/>
                          <a:latin typeface="Adani Regular" panose="02000503000000020004" pitchFamily="2" charset="0"/>
                        </a:rPr>
                        <a:t>CATL)</a:t>
                      </a:r>
                      <a:endParaRPr lang="en-US" sz="1100" b="0" i="0" u="none" strike="noStrike" noProof="0">
                        <a:solidFill>
                          <a:schemeClr val="tx1"/>
                        </a:solidFill>
                        <a:latin typeface="Adani Regular"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05B: PCS - 112 (</a:t>
                      </a:r>
                      <a:r>
                        <a:rPr lang="en-US" sz="1100" b="0" i="0" u="none" strike="noStrike">
                          <a:solidFill>
                            <a:srgbClr val="000000"/>
                          </a:solidFill>
                          <a:effectLst/>
                          <a:latin typeface="Adani Regular" panose="02000503000000020004" pitchFamily="2" charset="0"/>
                        </a:rPr>
                        <a:t>Shenzen</a:t>
                      </a:r>
                      <a:r>
                        <a:rPr lang="en-US" sz="1100" b="0" i="0" u="none" strike="noStrike" noProof="0">
                          <a:solidFill>
                            <a:schemeClr val="tx1"/>
                          </a:solidFill>
                          <a:latin typeface="Adani Regular" panose="02000503000000020004" pitchFamily="2"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08B: Battery Container  - 72 (</a:t>
                      </a:r>
                      <a:r>
                        <a:rPr lang="en-US" sz="1100" b="0" i="0" u="none" strike="noStrike">
                          <a:solidFill>
                            <a:srgbClr val="000000"/>
                          </a:solidFill>
                          <a:effectLst/>
                          <a:latin typeface="Adani Regular" panose="02000503000000020004" pitchFamily="2" charset="0"/>
                        </a:rPr>
                        <a:t>GreatPower</a:t>
                      </a:r>
                      <a:r>
                        <a:rPr lang="en-US" sz="1100" b="0" i="0" u="none" strike="noStrike" noProof="0">
                          <a:solidFill>
                            <a:schemeClr val="tx1"/>
                          </a:solidFill>
                          <a:latin typeface="Adani Regular" panose="02000503000000020004" pitchFamily="2" charset="0"/>
                        </a:rPr>
                        <a:t>)</a:t>
                      </a:r>
                    </a:p>
                    <a:p>
                      <a:pPr marL="0" marR="0" lvl="0" indent="0" algn="l" defTabSz="914400" eaLnBrk="1" fontAlgn="auto" latinLnBrk="0" hangingPunct="1">
                        <a:lnSpc>
                          <a:spcPct val="100000"/>
                        </a:lnSpc>
                        <a:spcBef>
                          <a:spcPts val="0"/>
                        </a:spcBef>
                        <a:spcAft>
                          <a:spcPts val="0"/>
                        </a:spcAft>
                        <a:buClrTx/>
                        <a:buSzTx/>
                        <a:buFontTx/>
                        <a:buNone/>
                        <a:tabLst/>
                        <a:defRPr/>
                      </a:pPr>
                      <a:endParaRPr lang="en-US" sz="1100" b="1">
                        <a:solidFill>
                          <a:schemeClr val="tx1"/>
                        </a:solidFill>
                        <a:latin typeface="Adani Regular" panose="02000503000000020004" pitchFamily="2" charset="0"/>
                      </a:endParaRPr>
                    </a:p>
                    <a:p>
                      <a:pPr marL="0" marR="0" lvl="0" indent="0" algn="just">
                        <a:lnSpc>
                          <a:spcPct val="100000"/>
                        </a:lnSpc>
                        <a:spcBef>
                          <a:spcPts val="0"/>
                        </a:spcBef>
                        <a:spcAft>
                          <a:spcPts val="0"/>
                        </a:spcAft>
                        <a:buNone/>
                      </a:pPr>
                      <a:r>
                        <a:rPr lang="en-US" sz="1100" b="1">
                          <a:solidFill>
                            <a:schemeClr val="tx1"/>
                          </a:solidFill>
                          <a:latin typeface="Adani Regular" panose="02000503000000020004" pitchFamily="2" charset="0"/>
                        </a:rPr>
                        <a:t>Integration, Pre-Commissioning &amp; Commissioning:</a:t>
                      </a:r>
                      <a:endParaRPr lang="en-US" sz="1100" b="0">
                        <a:solidFill>
                          <a:schemeClr val="tx1"/>
                        </a:solidFill>
                        <a:latin typeface="Adani Regular" panose="02000503000000020004" pitchFamily="2" charset="0"/>
                      </a:endParaRPr>
                    </a:p>
                    <a:p>
                      <a:pPr marL="0" marR="0" lvl="0" indent="0" algn="just" defTabSz="91440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09 : </a:t>
                      </a:r>
                      <a:r>
                        <a:rPr lang="en-US" sz="1100" b="0" i="0" u="none" strike="noStrike">
                          <a:solidFill>
                            <a:srgbClr val="000000"/>
                          </a:solidFill>
                          <a:effectLst/>
                          <a:latin typeface="Adani Regular" panose="02000503000000020004" pitchFamily="2" charset="0"/>
                        </a:rPr>
                        <a:t>336</a:t>
                      </a:r>
                      <a:r>
                        <a:rPr lang="en-US" sz="1100" b="0">
                          <a:solidFill>
                            <a:schemeClr val="tx1"/>
                          </a:solidFill>
                          <a:latin typeface="Adani Regular" panose="02000503000000020004" pitchFamily="2" charset="0"/>
                        </a:rPr>
                        <a:t> Containers (</a:t>
                      </a:r>
                      <a:r>
                        <a:rPr lang="en-US" sz="1100" b="0" i="0" u="none" strike="noStrike">
                          <a:solidFill>
                            <a:srgbClr val="000000"/>
                          </a:solidFill>
                          <a:effectLst/>
                          <a:latin typeface="Adani Regular" panose="02000503000000020004" pitchFamily="2" charset="0"/>
                        </a:rPr>
                        <a:t>1896</a:t>
                      </a:r>
                      <a:r>
                        <a:rPr lang="en-US" sz="1100" b="0">
                          <a:solidFill>
                            <a:schemeClr val="tx1"/>
                          </a:solidFill>
                          <a:latin typeface="Adani Regular" panose="02000503000000020004" pitchFamily="2" charset="0"/>
                        </a:rPr>
                        <a:t> MWh)</a:t>
                      </a:r>
                    </a:p>
                    <a:p>
                      <a:pPr marL="0" marR="0" lvl="0" indent="0" algn="just" defTabSz="91440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08B :</a:t>
                      </a:r>
                      <a:r>
                        <a:rPr lang="en-US" sz="1100" b="0">
                          <a:solidFill>
                            <a:schemeClr val="tx1"/>
                          </a:solidFill>
                          <a:latin typeface="Adani Regular" panose="02000503000000020004" pitchFamily="2" charset="0"/>
                        </a:rPr>
                        <a:t>48 Containers (241 MWh)</a:t>
                      </a:r>
                    </a:p>
                    <a:p>
                      <a:pPr marL="0" marR="0" lvl="0" indent="0" algn="just" defTabSz="91440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05B :</a:t>
                      </a:r>
                      <a:r>
                        <a:rPr lang="en-US" sz="1100" b="0">
                          <a:solidFill>
                            <a:schemeClr val="tx1"/>
                          </a:solidFill>
                          <a:latin typeface="Adani Regular" panose="02000503000000020004" pitchFamily="2" charset="0"/>
                        </a:rPr>
                        <a:t>48 Containers (271 MWh)</a:t>
                      </a:r>
                      <a:endParaRPr lang="en-US" sz="1100" b="0" i="0" u="none" strike="noStrike" noProof="0">
                        <a:solidFill>
                          <a:schemeClr val="tx1"/>
                        </a:solidFill>
                        <a:latin typeface="Adani Regular" panose="02000503000000020004" pitchFamily="2" charset="0"/>
                      </a:endParaRPr>
                    </a:p>
                    <a:p>
                      <a:pPr marL="0" marR="0" lvl="0" indent="0" algn="just" defTabSz="914400" eaLnBrk="1" fontAlgn="auto" latinLnBrk="0" hangingPunct="1">
                        <a:lnSpc>
                          <a:spcPct val="100000"/>
                        </a:lnSpc>
                        <a:spcBef>
                          <a:spcPts val="0"/>
                        </a:spcBef>
                        <a:spcAft>
                          <a:spcPts val="0"/>
                        </a:spcAft>
                        <a:buClrTx/>
                        <a:buSzTx/>
                        <a:buFontTx/>
                        <a:buNone/>
                        <a:tabLst/>
                        <a:defRPr/>
                      </a:pPr>
                      <a:endParaRPr lang="en-US" sz="1100" b="0" i="0" u="none" strike="noStrike" noProof="0">
                        <a:solidFill>
                          <a:schemeClr val="tx1"/>
                        </a:solidFill>
                        <a:highlight>
                          <a:srgbClr val="FFFF00"/>
                        </a:highlight>
                        <a:latin typeface="Adani Regular" panose="02000503000000020004" pitchFamily="2" charset="0"/>
                      </a:endParaRPr>
                    </a:p>
                    <a:p>
                      <a:pPr marL="0" marR="0" lvl="0" indent="0" algn="just" defTabSz="914400" eaLnBrk="1" fontAlgn="auto" latinLnBrk="0" hangingPunct="1">
                        <a:lnSpc>
                          <a:spcPct val="100000"/>
                        </a:lnSpc>
                        <a:spcBef>
                          <a:spcPts val="0"/>
                        </a:spcBef>
                        <a:spcAft>
                          <a:spcPts val="0"/>
                        </a:spcAft>
                        <a:buClrTx/>
                        <a:buSzTx/>
                        <a:buFontTx/>
                        <a:buNone/>
                        <a:tabLst/>
                        <a:defRPr/>
                      </a:pPr>
                      <a:endParaRPr lang="en-US" sz="1100" b="0" i="0" u="none" strike="noStrike" noProof="0">
                        <a:solidFill>
                          <a:schemeClr val="tx1"/>
                        </a:solidFill>
                        <a:latin typeface="Adani Regular" panose="02000503000000020004" pitchFamily="2" charset="0"/>
                      </a:endParaRPr>
                    </a:p>
                    <a:p>
                      <a:pPr marL="0" marR="0" lvl="0" indent="0" algn="just" defTabSz="914400" eaLnBrk="1" fontAlgn="auto" latinLnBrk="0" hangingPunct="1">
                        <a:lnSpc>
                          <a:spcPct val="100000"/>
                        </a:lnSpc>
                        <a:spcBef>
                          <a:spcPts val="0"/>
                        </a:spcBef>
                        <a:spcAft>
                          <a:spcPts val="0"/>
                        </a:spcAft>
                        <a:buClrTx/>
                        <a:buSzTx/>
                        <a:buFontTx/>
                        <a:buNone/>
                        <a:tabLst/>
                        <a:defRPr/>
                      </a:pPr>
                      <a:endParaRPr lang="en-US" sz="1100" b="0" i="0" u="none" strike="noStrike" noProof="0">
                        <a:solidFill>
                          <a:schemeClr val="tx1"/>
                        </a:solidFill>
                        <a:latin typeface="Adani Regular" panose="02000503000000020004" pitchFamily="2" charset="0"/>
                      </a:endParaRPr>
                    </a:p>
                    <a:p>
                      <a:pPr marL="0" marR="0" lvl="0" indent="0" algn="just">
                        <a:lnSpc>
                          <a:spcPct val="100000"/>
                        </a:lnSpc>
                        <a:spcBef>
                          <a:spcPts val="0"/>
                        </a:spcBef>
                        <a:spcAft>
                          <a:spcPts val="0"/>
                        </a:spcAft>
                        <a:buNone/>
                      </a:pPr>
                      <a:endParaRPr lang="en-US" sz="1100" b="0">
                        <a:solidFill>
                          <a:schemeClr val="tx1"/>
                        </a:solidFill>
                        <a:latin typeface="Adani Regular"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6566165"/>
                  </a:ext>
                </a:extLst>
              </a:tr>
            </a:tbl>
          </a:graphicData>
        </a:graphic>
      </p:graphicFrame>
      <p:sp>
        <p:nvSpPr>
          <p:cNvPr id="3" name="Slide Number Placeholder 2">
            <a:extLst>
              <a:ext uri="{FF2B5EF4-FFF2-40B4-BE49-F238E27FC236}">
                <a16:creationId xmlns:a16="http://schemas.microsoft.com/office/drawing/2014/main" id="{E0F9D4CB-0D26-A4F2-9800-48C30D2D9329}"/>
              </a:ext>
            </a:extLst>
          </p:cNvPr>
          <p:cNvSpPr>
            <a:spLocks noGrp="1"/>
          </p:cNvSpPr>
          <p:nvPr>
            <p:ph type="sldNum" sz="quarter" idx="12"/>
          </p:nvPr>
        </p:nvSpPr>
        <p:spPr/>
        <p:txBody>
          <a:bodyPr/>
          <a:lstStyle/>
          <a:p>
            <a:fld id="{98B285C1-D8A8-4E98-B28C-1FD972D8EC54}" type="slidenum">
              <a:rPr lang="en-IN" smtClean="0"/>
              <a:t>43</a:t>
            </a:fld>
            <a:endParaRPr lang="en-IN"/>
          </a:p>
        </p:txBody>
      </p:sp>
    </p:spTree>
    <p:extLst>
      <p:ext uri="{BB962C8B-B14F-4D97-AF65-F5344CB8AC3E}">
        <p14:creationId xmlns:p14="http://schemas.microsoft.com/office/powerpoint/2010/main" val="35090245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EF8F1-124A-BBBF-4FD5-C6687A4DA0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A24869-7833-5CF0-A08E-9D76D662B459}"/>
              </a:ext>
            </a:extLst>
          </p:cNvPr>
          <p:cNvSpPr>
            <a:spLocks noGrp="1"/>
          </p:cNvSpPr>
          <p:nvPr>
            <p:ph type="title"/>
          </p:nvPr>
        </p:nvSpPr>
        <p:spPr>
          <a:xfrm>
            <a:off x="153808" y="158816"/>
            <a:ext cx="10829925" cy="461382"/>
          </a:xfrm>
          <a:noFill/>
        </p:spPr>
        <p:txBody>
          <a:bodyPr vert="horz" wrap="square" lIns="91157" tIns="45580" rIns="91157" bIns="45580" rtlCol="0" anchor="ctr">
            <a:spAutoFit/>
          </a:bodyPr>
          <a:lstStyle/>
          <a:p>
            <a:pPr marL="109192" defTabSz="911377"/>
            <a:r>
              <a:rPr lang="en-US" sz="2400" b="1">
                <a:gradFill>
                  <a:gsLst>
                    <a:gs pos="9735">
                      <a:schemeClr val="tx2"/>
                    </a:gs>
                    <a:gs pos="63000">
                      <a:srgbClr val="8E278F"/>
                    </a:gs>
                    <a:gs pos="38000">
                      <a:srgbClr val="57499E"/>
                    </a:gs>
                  </a:gsLst>
                  <a:lin ang="0" scaled="0"/>
                </a:gradFill>
                <a:highlight>
                  <a:srgbClr val="33CC33"/>
                </a:highlight>
                <a:latin typeface="Adani Regular" panose="02000503000000020004" pitchFamily="2" charset="0"/>
                <a:ea typeface="+mn-ea"/>
                <a:cs typeface="+mn-cs"/>
              </a:rPr>
              <a:t>CRITICAL ISSUES FY 26-27</a:t>
            </a:r>
          </a:p>
        </p:txBody>
      </p:sp>
      <p:graphicFrame>
        <p:nvGraphicFramePr>
          <p:cNvPr id="4" name="Table 3">
            <a:extLst>
              <a:ext uri="{FF2B5EF4-FFF2-40B4-BE49-F238E27FC236}">
                <a16:creationId xmlns:a16="http://schemas.microsoft.com/office/drawing/2014/main" id="{BE1DC54F-407A-47AA-2879-9D300BFA0FCA}"/>
              </a:ext>
            </a:extLst>
          </p:cNvPr>
          <p:cNvGraphicFramePr>
            <a:graphicFrameLocks noGrp="1"/>
          </p:cNvGraphicFramePr>
          <p:nvPr>
            <p:extLst>
              <p:ext uri="{D42A27DB-BD31-4B8C-83A1-F6EECF244321}">
                <p14:modId xmlns:p14="http://schemas.microsoft.com/office/powerpoint/2010/main" val="3594306963"/>
              </p:ext>
            </p:extLst>
          </p:nvPr>
        </p:nvGraphicFramePr>
        <p:xfrm>
          <a:off x="153807" y="884581"/>
          <a:ext cx="11888819" cy="5608294"/>
        </p:xfrm>
        <a:graphic>
          <a:graphicData uri="http://schemas.openxmlformats.org/drawingml/2006/table">
            <a:tbl>
              <a:tblPr/>
              <a:tblGrid>
                <a:gridCol w="269274">
                  <a:extLst>
                    <a:ext uri="{9D8B030D-6E8A-4147-A177-3AD203B41FA5}">
                      <a16:colId xmlns:a16="http://schemas.microsoft.com/office/drawing/2014/main" val="1937269532"/>
                    </a:ext>
                  </a:extLst>
                </a:gridCol>
                <a:gridCol w="958441">
                  <a:extLst>
                    <a:ext uri="{9D8B030D-6E8A-4147-A177-3AD203B41FA5}">
                      <a16:colId xmlns:a16="http://schemas.microsoft.com/office/drawing/2014/main" val="2780564658"/>
                    </a:ext>
                  </a:extLst>
                </a:gridCol>
                <a:gridCol w="1211339">
                  <a:extLst>
                    <a:ext uri="{9D8B030D-6E8A-4147-A177-3AD203B41FA5}">
                      <a16:colId xmlns:a16="http://schemas.microsoft.com/office/drawing/2014/main" val="1656575301"/>
                    </a:ext>
                  </a:extLst>
                </a:gridCol>
                <a:gridCol w="4153174">
                  <a:extLst>
                    <a:ext uri="{9D8B030D-6E8A-4147-A177-3AD203B41FA5}">
                      <a16:colId xmlns:a16="http://schemas.microsoft.com/office/drawing/2014/main" val="2047575609"/>
                    </a:ext>
                  </a:extLst>
                </a:gridCol>
                <a:gridCol w="1317581">
                  <a:extLst>
                    <a:ext uri="{9D8B030D-6E8A-4147-A177-3AD203B41FA5}">
                      <a16:colId xmlns:a16="http://schemas.microsoft.com/office/drawing/2014/main" val="1227767698"/>
                    </a:ext>
                  </a:extLst>
                </a:gridCol>
                <a:gridCol w="887429">
                  <a:extLst>
                    <a:ext uri="{9D8B030D-6E8A-4147-A177-3AD203B41FA5}">
                      <a16:colId xmlns:a16="http://schemas.microsoft.com/office/drawing/2014/main" val="3797749600"/>
                    </a:ext>
                  </a:extLst>
                </a:gridCol>
                <a:gridCol w="2347556">
                  <a:extLst>
                    <a:ext uri="{9D8B030D-6E8A-4147-A177-3AD203B41FA5}">
                      <a16:colId xmlns:a16="http://schemas.microsoft.com/office/drawing/2014/main" val="2918615442"/>
                    </a:ext>
                  </a:extLst>
                </a:gridCol>
                <a:gridCol w="744025">
                  <a:extLst>
                    <a:ext uri="{9D8B030D-6E8A-4147-A177-3AD203B41FA5}">
                      <a16:colId xmlns:a16="http://schemas.microsoft.com/office/drawing/2014/main" val="3809812117"/>
                    </a:ext>
                  </a:extLst>
                </a:gridCol>
              </a:tblGrid>
              <a:tr h="526922">
                <a:tc rowSpan="2">
                  <a:txBody>
                    <a:bodyPr/>
                    <a:lstStyle/>
                    <a:p>
                      <a:pPr algn="ctr" rtl="0" fontAlgn="ctr"/>
                      <a:r>
                        <a:rPr lang="en-US" sz="1200" b="1" i="0" u="none" strike="noStrike">
                          <a:solidFill>
                            <a:schemeClr val="bg1"/>
                          </a:solidFill>
                          <a:effectLst/>
                          <a:latin typeface="Adani Regular" panose="02000503000000020004" pitchFamily="2"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algn="ctr" rtl="0" fontAlgn="ctr"/>
                      <a:r>
                        <a:rPr lang="en-US" sz="1200" b="1" i="0" u="none" strike="noStrike">
                          <a:solidFill>
                            <a:schemeClr val="bg1"/>
                          </a:solidFill>
                          <a:effectLst/>
                          <a:latin typeface="Adani Regular" panose="02000503000000020004" pitchFamily="2" charset="0"/>
                        </a:rPr>
                        <a:t>Issues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algn="ctr" rtl="0" fontAlgn="ctr"/>
                      <a:r>
                        <a:rPr lang="en-US" sz="1200" b="1" i="0" u="none" strike="noStrike">
                          <a:solidFill>
                            <a:schemeClr val="bg1"/>
                          </a:solidFill>
                          <a:effectLst/>
                          <a:latin typeface="Adani Regular" panose="02000503000000020004" pitchFamily="2" charset="0"/>
                        </a:rPr>
                        <a:t>Potential Impact</a:t>
                      </a:r>
                    </a:p>
                    <a:p>
                      <a:pPr algn="ctr" rtl="0" fontAlgn="ctr"/>
                      <a:r>
                        <a:rPr lang="en-US" sz="1200" b="1" i="0" u="none" strike="noStrike">
                          <a:solidFill>
                            <a:schemeClr val="bg1"/>
                          </a:solidFill>
                          <a:effectLst/>
                          <a:latin typeface="Adani Regular" panose="02000503000000020004" pitchFamily="2" charset="0"/>
                        </a:rPr>
                        <a:t>(Time &amp; Cost)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algn="ctr" rtl="0" fontAlgn="ctr"/>
                      <a:r>
                        <a:rPr lang="en-US" sz="1200" b="1" i="0" u="none" strike="noStrike">
                          <a:solidFill>
                            <a:schemeClr val="bg1"/>
                          </a:solidFill>
                          <a:effectLst/>
                          <a:latin typeface="Adani Regular" panose="02000503000000020004" pitchFamily="2" charset="0"/>
                        </a:rPr>
                        <a:t>Corrective </a:t>
                      </a:r>
                    </a:p>
                    <a:p>
                      <a:pPr algn="ctr" rtl="0" fontAlgn="ctr"/>
                      <a:r>
                        <a:rPr lang="en-US" sz="1200" b="1" i="0" u="none" strike="noStrike">
                          <a:solidFill>
                            <a:schemeClr val="bg1"/>
                          </a:solidFill>
                          <a:effectLst/>
                          <a:latin typeface="Adani Regular" panose="02000503000000020004" pitchFamily="2" charset="0"/>
                        </a:rPr>
                        <a:t>Action(s)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2">
                  <a:txBody>
                    <a:bodyPr/>
                    <a:lstStyle/>
                    <a:p>
                      <a:pPr algn="ctr" rtl="0" fontAlgn="ctr"/>
                      <a:r>
                        <a:rPr lang="en-US" sz="1200" b="1" i="0" u="none" strike="noStrike">
                          <a:solidFill>
                            <a:schemeClr val="bg1"/>
                          </a:solidFill>
                          <a:effectLst/>
                          <a:latin typeface="Adani Regular" panose="02000503000000020004" pitchFamily="2" charset="0"/>
                        </a:rPr>
                        <a:t>Action By</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hMerge="1">
                  <a:txBody>
                    <a:bodyPr/>
                    <a:lstStyle/>
                    <a:p>
                      <a:endParaRPr lang="kn-IN"/>
                    </a:p>
                  </a:txBody>
                  <a:tcPr/>
                </a:tc>
                <a:tc rowSpan="2">
                  <a:txBody>
                    <a:bodyPr/>
                    <a:lstStyle/>
                    <a:p>
                      <a:pPr algn="ctr" rtl="0" fontAlgn="ctr"/>
                      <a:r>
                        <a:rPr lang="en-US" sz="1200" b="1" i="0" u="none" strike="noStrike">
                          <a:solidFill>
                            <a:schemeClr val="bg1"/>
                          </a:solidFill>
                          <a:effectLst/>
                          <a:latin typeface="Adani Regular" panose="02000503000000020004" pitchFamily="2" charset="0"/>
                        </a:rPr>
                        <a:t>Current </a:t>
                      </a:r>
                    </a:p>
                    <a:p>
                      <a:pPr algn="ctr" rtl="0" fontAlgn="ctr"/>
                      <a:r>
                        <a:rPr lang="en-US" sz="1200" b="1" i="0" u="none" strike="noStrike">
                          <a:solidFill>
                            <a:schemeClr val="bg1"/>
                          </a:solidFill>
                          <a:effectLst/>
                          <a:latin typeface="Adani Regular" panose="02000503000000020004" pitchFamily="2" charset="0"/>
                        </a:rPr>
                        <a:t>Status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algn="ctr" rtl="0" fontAlgn="ctr"/>
                      <a:r>
                        <a:rPr lang="en-US" sz="1200" b="1" i="0" u="none" strike="noStrike">
                          <a:solidFill>
                            <a:schemeClr val="bg1"/>
                          </a:solidFill>
                          <a:effectLst/>
                          <a:latin typeface="Adani Regular" panose="02000503000000020004" pitchFamily="2" charset="0"/>
                        </a:rPr>
                        <a:t>Support </a:t>
                      </a:r>
                    </a:p>
                    <a:p>
                      <a:pPr algn="ctr" rtl="0" fontAlgn="ctr"/>
                      <a:r>
                        <a:rPr lang="en-US" sz="1200" b="1" i="0" u="none" strike="noStrike">
                          <a:solidFill>
                            <a:schemeClr val="bg1"/>
                          </a:solidFill>
                          <a:effectLst/>
                          <a:latin typeface="Adani Regular" panose="02000503000000020004" pitchFamily="2" charset="0"/>
                        </a:rPr>
                        <a:t>Required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2307056465"/>
                  </a:ext>
                </a:extLst>
              </a:tr>
              <a:tr h="526922">
                <a:tc vMerge="1">
                  <a:txBody>
                    <a:bodyPr/>
                    <a:lstStyle/>
                    <a:p>
                      <a:endParaRPr lang="kn-IN"/>
                    </a:p>
                  </a:txBody>
                  <a:tcPr/>
                </a:tc>
                <a:tc vMerge="1">
                  <a:txBody>
                    <a:bodyPr/>
                    <a:lstStyle/>
                    <a:p>
                      <a:endParaRPr lang="kn-IN"/>
                    </a:p>
                  </a:txBody>
                  <a:tcPr/>
                </a:tc>
                <a:tc vMerge="1">
                  <a:txBody>
                    <a:bodyPr/>
                    <a:lstStyle/>
                    <a:p>
                      <a:endParaRPr lang="kn-IN"/>
                    </a:p>
                  </a:txBody>
                  <a:tcPr/>
                </a:tc>
                <a:tc vMerge="1">
                  <a:txBody>
                    <a:bodyPr/>
                    <a:lstStyle/>
                    <a:p>
                      <a:endParaRPr lang="kn-IN"/>
                    </a:p>
                  </a:txBody>
                  <a:tcPr/>
                </a:tc>
                <a:tc>
                  <a:txBody>
                    <a:bodyPr/>
                    <a:lstStyle/>
                    <a:p>
                      <a:pPr algn="ctr" rtl="0" fontAlgn="ctr"/>
                      <a:r>
                        <a:rPr lang="en-US" sz="1200" b="1" i="0" u="none" strike="noStrike">
                          <a:solidFill>
                            <a:schemeClr val="bg1"/>
                          </a:solidFill>
                          <a:effectLst/>
                          <a:latin typeface="Adani Regular" panose="02000503000000020004" pitchFamily="2" charset="0"/>
                        </a:rPr>
                        <a:t>Whom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r>
                        <a:rPr lang="en-US" sz="1200" b="1" i="0" u="none" strike="noStrike">
                          <a:solidFill>
                            <a:schemeClr val="bg1"/>
                          </a:solidFill>
                          <a:effectLst/>
                          <a:latin typeface="Adani Regular" panose="02000503000000020004" pitchFamily="2" charset="0"/>
                        </a:rPr>
                        <a:t>Date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endParaRPr lang="kn-IN"/>
                    </a:p>
                  </a:txBody>
                  <a:tcPr/>
                </a:tc>
                <a:tc vMerge="1">
                  <a:txBody>
                    <a:bodyPr/>
                    <a:lstStyle/>
                    <a:p>
                      <a:endParaRPr lang="kn-IN"/>
                    </a:p>
                  </a:txBody>
                  <a:tcPr/>
                </a:tc>
                <a:extLst>
                  <a:ext uri="{0D108BD9-81ED-4DB2-BD59-A6C34878D82A}">
                    <a16:rowId xmlns:a16="http://schemas.microsoft.com/office/drawing/2014/main" val="3427794270"/>
                  </a:ext>
                </a:extLst>
              </a:tr>
              <a:tr h="1801768">
                <a:tc>
                  <a:txBody>
                    <a:bodyPr/>
                    <a:lstStyle/>
                    <a:p>
                      <a:pPr algn="ctr" rtl="0" fontAlgn="ctr"/>
                      <a:r>
                        <a:rPr lang="en-US" sz="1100" b="0" i="0" u="none" strike="noStrike">
                          <a:solidFill>
                            <a:srgbClr val="000000"/>
                          </a:solidFill>
                          <a:effectLst/>
                          <a:latin typeface="Adani Regular" panose="02000503000000020004" pitchFamily="2"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100" b="0" i="0" u="none" strike="noStrike">
                          <a:solidFill>
                            <a:srgbClr val="000000"/>
                          </a:solidFill>
                          <a:effectLst/>
                          <a:latin typeface="Adani Regular" panose="02000503000000020004" pitchFamily="2" charset="0"/>
                        </a:rPr>
                        <a:t>Inadequate Manpower (Workmen)</a:t>
                      </a:r>
                    </a:p>
                  </a:txBody>
                  <a:tcPr marL="4572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100" b="0" i="0" u="none" strike="noStrike">
                          <a:solidFill>
                            <a:srgbClr val="000000"/>
                          </a:solidFill>
                          <a:effectLst/>
                          <a:latin typeface="Adani Regular" panose="02000503000000020004" pitchFamily="2" charset="0"/>
                        </a:rPr>
                        <a:t>Slow Progress of civil works</a:t>
                      </a:r>
                    </a:p>
                  </a:txBody>
                  <a:tcPr marL="4572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6213" lvl="0" indent="-176213" algn="just">
                        <a:buFont typeface="Arial" panose="020B0604020202020204" pitchFamily="34" charset="0"/>
                        <a:buChar char="•"/>
                      </a:pPr>
                      <a:r>
                        <a:rPr lang="en-US" sz="1100" b="0" i="0">
                          <a:solidFill>
                            <a:schemeClr val="tx1"/>
                          </a:solidFill>
                          <a:effectLst/>
                          <a:latin typeface="Adani Regular" panose="02000503000000020004" pitchFamily="2" charset="0"/>
                          <a:ea typeface="+mn-ea"/>
                          <a:cs typeface="+mn-cs"/>
                        </a:rPr>
                        <a:t>Regular coordination meetings are being conducted with the Contractors to closely monitor progress and ensure manpower mobilization is increased in line with the required levels. </a:t>
                      </a:r>
                    </a:p>
                    <a:p>
                      <a:pPr marL="176213" lvl="0" indent="-176213" algn="just">
                        <a:buFont typeface="Arial" panose="020B0604020202020204" pitchFamily="34" charset="0"/>
                        <a:buChar char="•"/>
                      </a:pPr>
                      <a:r>
                        <a:rPr lang="en-US" sz="1100" b="0" i="0">
                          <a:solidFill>
                            <a:schemeClr val="tx1"/>
                          </a:solidFill>
                          <a:effectLst/>
                          <a:latin typeface="Adani Regular" panose="02000503000000020004" pitchFamily="2" charset="0"/>
                          <a:ea typeface="+mn-ea"/>
                          <a:cs typeface="+mn-cs"/>
                        </a:rPr>
                        <a:t>Warning letters have been issued to M/s MSC and M/s Shreeji, clearly stating that failure to complete the works as per contractual timelines will entitle the Adani team to execute the balance works at the Contractor’s Risk and Cost, in accordance with the contract provisions. </a:t>
                      </a:r>
                    </a:p>
                    <a:p>
                      <a:pPr marL="176213" lvl="0" indent="-176213" algn="just">
                        <a:buFont typeface="Arial" panose="020B0604020202020204" pitchFamily="34" charset="0"/>
                        <a:buChar char="•"/>
                      </a:pPr>
                      <a:r>
                        <a:rPr lang="en-US" sz="1100" b="0" i="0">
                          <a:solidFill>
                            <a:schemeClr val="tx1"/>
                          </a:solidFill>
                          <a:effectLst/>
                          <a:latin typeface="Adani Regular" panose="02000503000000020004" pitchFamily="2" charset="0"/>
                          <a:ea typeface="+mn-ea"/>
                          <a:cs typeface="+mn-cs"/>
                        </a:rPr>
                        <a:t>In addition, alternate Vendors being identified. </a:t>
                      </a:r>
                    </a:p>
                  </a:txBody>
                  <a:tcPr marL="4572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a:solidFill>
                            <a:schemeClr val="tx1"/>
                          </a:solidFill>
                          <a:effectLst/>
                          <a:latin typeface="Adani Regular" panose="02000503000000020004" pitchFamily="2" charset="0"/>
                        </a:rPr>
                        <a:t>Site Execution</a:t>
                      </a:r>
                    </a:p>
                  </a:txBody>
                  <a:tcPr marL="4572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100" b="0" i="0" u="none" strike="noStrike">
                          <a:solidFill>
                            <a:schemeClr val="tx1"/>
                          </a:solidFill>
                          <a:effectLst/>
                          <a:latin typeface="Adani Regular" panose="02000503000000020004" pitchFamily="2" charset="0"/>
                        </a:rPr>
                        <a:t>-</a:t>
                      </a:r>
                    </a:p>
                  </a:txBody>
                  <a:tcPr marL="4572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defTabSz="914400" rtl="0" eaLnBrk="1" fontAlgn="ctr" latinLnBrk="0" hangingPunct="1">
                        <a:lnSpc>
                          <a:spcPct val="100000"/>
                        </a:lnSpc>
                        <a:buFont typeface="Arial" panose="020B0604020202020204" pitchFamily="34" charset="0"/>
                        <a:buNone/>
                      </a:pPr>
                      <a:r>
                        <a:rPr lang="en-IN" sz="1100" b="0" i="0" kern="1200">
                          <a:solidFill>
                            <a:schemeClr val="tx1"/>
                          </a:solidFill>
                          <a:effectLst/>
                          <a:latin typeface="Adani Regular" panose="02000503000000020004" pitchFamily="2" charset="0"/>
                          <a:ea typeface="+mn-ea"/>
                          <a:cs typeface="+mn-cs"/>
                        </a:rPr>
                        <a:t>Following are the Manpower available for PSS: </a:t>
                      </a:r>
                    </a:p>
                    <a:p>
                      <a:pPr marL="236538" indent="-236538" algn="l" defTabSz="914400" rtl="0" eaLnBrk="1" fontAlgn="ctr" latinLnBrk="0" hangingPunct="1">
                        <a:lnSpc>
                          <a:spcPct val="100000"/>
                        </a:lnSpc>
                        <a:buFont typeface="Arial" panose="020B0604020202020204" pitchFamily="34" charset="0"/>
                        <a:buChar char="•"/>
                      </a:pPr>
                      <a:r>
                        <a:rPr lang="en-IN" sz="1100" b="0" i="0" kern="1200">
                          <a:solidFill>
                            <a:schemeClr val="tx1"/>
                          </a:solidFill>
                          <a:effectLst/>
                          <a:latin typeface="Adani Regular" panose="02000503000000020004" pitchFamily="2" charset="0"/>
                          <a:ea typeface="+mn-ea"/>
                          <a:cs typeface="+mn-cs"/>
                        </a:rPr>
                        <a:t>MSC for PSS-11 40/70, PSS-12 42/50, PSS10B 20/32 PSS-09 165/722 &amp; PSS-05B 125/724</a:t>
                      </a:r>
                    </a:p>
                    <a:p>
                      <a:pPr marL="236538" indent="-236538" algn="l" defTabSz="914400" rtl="0" eaLnBrk="1" fontAlgn="ctr" latinLnBrk="0" hangingPunct="1">
                        <a:lnSpc>
                          <a:spcPct val="100000"/>
                        </a:lnSpc>
                        <a:buFont typeface="Arial" panose="020B0604020202020204" pitchFamily="34" charset="0"/>
                        <a:buChar char="•"/>
                      </a:pPr>
                      <a:r>
                        <a:rPr lang="en-IN" sz="1100" b="0" i="0" kern="1200">
                          <a:solidFill>
                            <a:schemeClr val="tx1"/>
                          </a:solidFill>
                          <a:effectLst/>
                          <a:latin typeface="Adani Regular" panose="02000503000000020004" pitchFamily="2" charset="0"/>
                          <a:ea typeface="+mn-ea"/>
                          <a:cs typeface="+mn-cs"/>
                        </a:rPr>
                        <a:t>Shreeji for PSS-08B 105/158</a:t>
                      </a:r>
                      <a:endParaRPr lang="en-US" sz="1100" b="0" i="0" kern="1200">
                        <a:solidFill>
                          <a:schemeClr val="tx1"/>
                        </a:solidFill>
                        <a:effectLst/>
                        <a:latin typeface="Adani Regular" panose="02000503000000020004" pitchFamily="2"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100" b="0" i="0" u="none" strike="noStrike">
                          <a:solidFill>
                            <a:srgbClr val="000000"/>
                          </a:solidFill>
                          <a:effectLst/>
                          <a:latin typeface="Adani Regular" panose="02000503000000020004" pitchFamily="2" charset="0"/>
                        </a:rPr>
                        <a:t>-</a:t>
                      </a:r>
                    </a:p>
                  </a:txBody>
                  <a:tcPr marL="4572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5185025"/>
                  </a:ext>
                </a:extLst>
              </a:tr>
              <a:tr h="1376341">
                <a:tc>
                  <a:txBody>
                    <a:bodyPr/>
                    <a:lstStyle/>
                    <a:p>
                      <a:pPr marL="0" lvl="0" algn="ctr" defTabSz="914400">
                        <a:buNone/>
                      </a:pPr>
                      <a:r>
                        <a:rPr lang="en-US" sz="1100" b="0" i="0" u="none" strike="noStrike" kern="1200">
                          <a:solidFill>
                            <a:srgbClr val="000000"/>
                          </a:solidFill>
                          <a:effectLst/>
                          <a:latin typeface="Adani Regular" panose="02000503000000020004" pitchFamily="2" charset="0"/>
                          <a:ea typeface="+mn-ea"/>
                          <a:cs typeface="+mn-cs"/>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base">
                        <a:lnSpc>
                          <a:spcPct val="100000"/>
                        </a:lnSpc>
                        <a:buNone/>
                      </a:pPr>
                      <a:r>
                        <a:rPr lang="en-US" sz="1100" b="0" i="0">
                          <a:solidFill>
                            <a:srgbClr val="000000"/>
                          </a:solidFill>
                          <a:effectLst/>
                          <a:latin typeface="Adani Regular" panose="02000503000000020004" pitchFamily="2" charset="0"/>
                        </a:rPr>
                        <a:t>Completion of Grid Study  &amp; Ordering of Harmonic Filter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base">
                        <a:lnSpc>
                          <a:spcPct val="100000"/>
                        </a:lnSpc>
                        <a:buNone/>
                      </a:pPr>
                      <a:r>
                        <a:rPr lang="en-US" sz="1100" b="0" i="0" dirty="0">
                          <a:solidFill>
                            <a:srgbClr val="000000"/>
                          </a:solidFill>
                          <a:effectLst/>
                          <a:latin typeface="Adani Regular" panose="02000503000000020004" pitchFamily="2" charset="0"/>
                        </a:rPr>
                        <a:t>Can delay Commissioning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kern="1200">
                          <a:solidFill>
                            <a:schemeClr val="tx1"/>
                          </a:solidFill>
                          <a:effectLst/>
                          <a:latin typeface="Adani Regular" panose="02000503000000020004" pitchFamily="2" charset="0"/>
                          <a:ea typeface="+mn-ea"/>
                          <a:cs typeface="+mn-cs"/>
                        </a:rPr>
                        <a:t>Meeting held with Senior Management of M/s Hitachi to expedite progress &amp; completion of Grid Studies.</a:t>
                      </a:r>
                    </a:p>
                    <a:p>
                      <a:pPr marL="0" marR="0" lvl="0" indent="0" algn="l" defTabSz="914400" rtl="0" eaLnBrk="1" fontAlgn="ctr" latinLnBrk="0" hangingPunct="1">
                        <a:lnSpc>
                          <a:spcPct val="100000"/>
                        </a:lnSpc>
                        <a:spcBef>
                          <a:spcPts val="0"/>
                        </a:spcBef>
                        <a:spcAft>
                          <a:spcPts val="0"/>
                        </a:spcAft>
                        <a:buClrTx/>
                        <a:buSzTx/>
                        <a:buFont typeface="Arial" panose="020B0604020202020204" pitchFamily="34" charset="0"/>
                        <a:buNone/>
                        <a:tabLst/>
                        <a:defRPr/>
                      </a:pPr>
                      <a:endParaRPr lang="en-US" sz="1100" b="0" i="0" u="none" strike="noStrike" kern="1200">
                        <a:solidFill>
                          <a:schemeClr val="tx1"/>
                        </a:solidFill>
                        <a:effectLst/>
                        <a:latin typeface="Adani Regular" panose="02000503000000020004" pitchFamily="2" charset="0"/>
                        <a:ea typeface="+mn-ea"/>
                        <a:cs typeface="+mn-cs"/>
                      </a:endParaRPr>
                    </a:p>
                    <a:p>
                      <a:pPr marL="171450" marR="0" lvl="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kern="1200">
                          <a:solidFill>
                            <a:schemeClr val="tx1"/>
                          </a:solidFill>
                          <a:effectLst/>
                          <a:latin typeface="Adani Regular" panose="02000503000000020004" pitchFamily="2" charset="0"/>
                          <a:ea typeface="+mn-ea"/>
                          <a:cs typeface="+mn-cs"/>
                        </a:rPr>
                        <a:t>Ordering of Harmonic Filters (once specifications are received) being expedited.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base">
                        <a:lnSpc>
                          <a:spcPct val="100000"/>
                        </a:lnSpc>
                        <a:buNone/>
                      </a:pPr>
                      <a:r>
                        <a:rPr lang="en-US" sz="1100" b="0" i="0">
                          <a:solidFill>
                            <a:srgbClr val="000000"/>
                          </a:solidFill>
                          <a:effectLst/>
                          <a:latin typeface="Adani Regular" panose="02000503000000020004" pitchFamily="2" charset="0"/>
                        </a:rPr>
                        <a:t>Engineering, SCM &amp; </a:t>
                      </a:r>
                    </a:p>
                    <a:p>
                      <a:pPr algn="ctr" rtl="0" fontAlgn="base">
                        <a:lnSpc>
                          <a:spcPct val="100000"/>
                        </a:lnSpc>
                        <a:buNone/>
                      </a:pPr>
                      <a:r>
                        <a:rPr lang="en-US" sz="1100" b="0" i="0">
                          <a:solidFill>
                            <a:srgbClr val="000000"/>
                          </a:solidFill>
                          <a:effectLst/>
                          <a:latin typeface="Adani Regular" panose="02000503000000020004" pitchFamily="2" charset="0"/>
                        </a:rPr>
                        <a:t>Project Team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base">
                        <a:lnSpc>
                          <a:spcPct val="100000"/>
                        </a:lnSpc>
                        <a:buNone/>
                      </a:pPr>
                      <a:r>
                        <a:rPr lang="en-US" sz="1100" b="0" i="0">
                          <a:solidFill>
                            <a:srgbClr val="000000"/>
                          </a:solidFill>
                          <a:effectLst/>
                          <a:latin typeface="Adani Regular" panose="02000503000000020004" pitchFamily="2"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indent="-171450" algn="l" rtl="0" fontAlgn="base">
                        <a:lnSpc>
                          <a:spcPct val="100000"/>
                        </a:lnSpc>
                        <a:buFont typeface="Arial" panose="020B0604020202020204" pitchFamily="34" charset="0"/>
                        <a:buChar char="•"/>
                      </a:pPr>
                      <a:r>
                        <a:rPr lang="en-US" sz="1100" b="0" i="0">
                          <a:solidFill>
                            <a:srgbClr val="000000"/>
                          </a:solidFill>
                          <a:effectLst/>
                          <a:latin typeface="Adani Regular" panose="02000503000000020004" pitchFamily="2" charset="0"/>
                        </a:rPr>
                        <a:t>PSS 10B – Steady State and Power Quality Analysis completed. Specifications for Harmonic Filters received. Ordering Placed on 26-Mar.</a:t>
                      </a:r>
                    </a:p>
                    <a:p>
                      <a:pPr marL="171450" indent="-171450" algn="l" rtl="0" fontAlgn="base">
                        <a:lnSpc>
                          <a:spcPct val="100000"/>
                        </a:lnSpc>
                        <a:buFont typeface="Arial" panose="020B0604020202020204" pitchFamily="34" charset="0"/>
                        <a:buChar char="•"/>
                      </a:pPr>
                      <a:r>
                        <a:rPr lang="en-US" sz="1100" b="0" i="0" u="none" strike="noStrike">
                          <a:solidFill>
                            <a:srgbClr val="000000"/>
                          </a:solidFill>
                          <a:effectLst/>
                          <a:latin typeface="Adani Regular" panose="02000503000000020004" pitchFamily="2" charset="0"/>
                        </a:rPr>
                        <a:t>Deliveries on critical path.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base">
                        <a:lnSpc>
                          <a:spcPct val="100000"/>
                        </a:lnSpc>
                        <a:buNone/>
                      </a:pPr>
                      <a:r>
                        <a:rPr lang="en-US" sz="1100" b="0" i="0" dirty="0">
                          <a:solidFill>
                            <a:srgbClr val="000000"/>
                          </a:solidFill>
                          <a:effectLst/>
                          <a:latin typeface="Adani Regular" panose="02000503000000020004" pitchFamily="2"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77997569"/>
                  </a:ext>
                </a:extLst>
              </a:tr>
              <a:tr h="1376341">
                <a:tc>
                  <a:txBody>
                    <a:bodyPr/>
                    <a:lstStyle/>
                    <a:p>
                      <a:pPr marL="0" lvl="0" algn="ctr" defTabSz="914400">
                        <a:buNone/>
                      </a:pPr>
                      <a:r>
                        <a:rPr lang="en-US" sz="1100" b="0" i="0" u="none" strike="noStrike" kern="1200" dirty="0">
                          <a:solidFill>
                            <a:srgbClr val="000000"/>
                          </a:solidFill>
                          <a:effectLst/>
                          <a:latin typeface="Adani Regular" panose="02000503000000020004" pitchFamily="2" charset="0"/>
                          <a:ea typeface="+mn-ea"/>
                          <a:cs typeface="+mn-cs"/>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base">
                        <a:lnSpc>
                          <a:spcPct val="100000"/>
                        </a:lnSpc>
                        <a:buNone/>
                      </a:pPr>
                      <a:r>
                        <a:rPr lang="en-US" sz="1100" b="0" i="0" dirty="0">
                          <a:solidFill>
                            <a:srgbClr val="000000"/>
                          </a:solidFill>
                          <a:effectLst/>
                          <a:latin typeface="Adani Regular" panose="02000503000000020004" pitchFamily="2" charset="0"/>
                        </a:rPr>
                        <a:t>Delivery of Battery Containers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base">
                        <a:lnSpc>
                          <a:spcPct val="100000"/>
                        </a:lnSpc>
                        <a:buNone/>
                      </a:pPr>
                      <a:r>
                        <a:rPr lang="en-US" sz="1100" dirty="0">
                          <a:solidFill>
                            <a:schemeClr val="tx1"/>
                          </a:solidFill>
                          <a:latin typeface="Adani Regular" panose="02000503000000020004" pitchFamily="2" charset="0"/>
                          <a:ea typeface="+mn-ea"/>
                          <a:cs typeface="+mn-cs"/>
                        </a:rPr>
                        <a:t>Can delay Commissioning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kern="1200" dirty="0">
                          <a:solidFill>
                            <a:schemeClr val="tx1"/>
                          </a:solidFill>
                          <a:effectLst/>
                          <a:latin typeface="Adani Regular" panose="02000503000000020004" pitchFamily="2" charset="0"/>
                          <a:ea typeface="+mn-ea"/>
                          <a:cs typeface="+mn-cs"/>
                        </a:rPr>
                        <a:t>Proactive booking of vessels even for smaller quantity of containers so as to not impact commissioning timelines &amp; reduce IDC.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base">
                        <a:lnSpc>
                          <a:spcPct val="100000"/>
                        </a:lnSpc>
                        <a:buNone/>
                      </a:pPr>
                      <a:r>
                        <a:rPr lang="en-US" sz="1100" b="0" i="0" dirty="0">
                          <a:solidFill>
                            <a:srgbClr val="000000"/>
                          </a:solidFill>
                          <a:effectLst/>
                          <a:latin typeface="Adani Regular" panose="02000503000000020004" pitchFamily="2" charset="0"/>
                        </a:rPr>
                        <a:t>TC &amp; Logistic Team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base">
                        <a:lnSpc>
                          <a:spcPct val="100000"/>
                        </a:lnSpc>
                        <a:buNone/>
                      </a:pPr>
                      <a:r>
                        <a:rPr lang="en-US" sz="1100" b="0" i="0" dirty="0">
                          <a:solidFill>
                            <a:srgbClr val="000000"/>
                          </a:solidFill>
                          <a:effectLst/>
                          <a:latin typeface="Adani Regular" panose="02000503000000020004" pitchFamily="2"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indent="-171450" algn="l" rtl="0" fontAlgn="base">
                        <a:lnSpc>
                          <a:spcPct val="100000"/>
                        </a:lnSpc>
                        <a:buFont typeface="Arial" panose="020B0604020202020204" pitchFamily="34" charset="0"/>
                        <a:buChar char="•"/>
                      </a:pPr>
                      <a:endParaRPr lang="en-US" sz="1100" b="0" i="0" u="none" strike="noStrike" dirty="0">
                        <a:solidFill>
                          <a:srgbClr val="000000"/>
                        </a:solidFill>
                        <a:effectLst/>
                        <a:latin typeface="Adani Regular" panose="02000503000000020004"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base">
                        <a:lnSpc>
                          <a:spcPct val="100000"/>
                        </a:lnSpc>
                        <a:buNone/>
                      </a:pPr>
                      <a:endParaRPr lang="en-US" sz="1100" b="0" i="0" dirty="0">
                        <a:solidFill>
                          <a:srgbClr val="000000"/>
                        </a:solidFill>
                        <a:effectLst/>
                        <a:latin typeface="Adani Regular" panose="02000503000000020004"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02250190"/>
                  </a:ext>
                </a:extLst>
              </a:tr>
            </a:tbl>
          </a:graphicData>
        </a:graphic>
      </p:graphicFrame>
      <p:sp>
        <p:nvSpPr>
          <p:cNvPr id="3" name="Slide Number Placeholder 1">
            <a:extLst>
              <a:ext uri="{FF2B5EF4-FFF2-40B4-BE49-F238E27FC236}">
                <a16:creationId xmlns:a16="http://schemas.microsoft.com/office/drawing/2014/main" id="{A4E1C33D-B25A-FC07-A389-137AA3981314}"/>
              </a:ext>
            </a:extLst>
          </p:cNvPr>
          <p:cNvSpPr>
            <a:spLocks noGrp="1"/>
          </p:cNvSpPr>
          <p:nvPr>
            <p:ph type="sldNum" sz="quarter" idx="12"/>
          </p:nvPr>
        </p:nvSpPr>
        <p:spPr>
          <a:xfrm>
            <a:off x="11560028" y="6492875"/>
            <a:ext cx="482599" cy="365125"/>
          </a:xfrm>
        </p:spPr>
        <p:txBody>
          <a:bodyPr/>
          <a:lstStyle/>
          <a:p>
            <a:fld id="{98B285C1-D8A8-4E98-B28C-1FD972D8EC54}" type="slidenum">
              <a:rPr lang="en-IN" smtClean="0"/>
              <a:t>44</a:t>
            </a:fld>
            <a:endParaRPr lang="en-IN"/>
          </a:p>
        </p:txBody>
      </p:sp>
    </p:spTree>
    <p:extLst>
      <p:ext uri="{BB962C8B-B14F-4D97-AF65-F5344CB8AC3E}">
        <p14:creationId xmlns:p14="http://schemas.microsoft.com/office/powerpoint/2010/main" val="3682797820"/>
      </p:ext>
    </p:extLst>
  </p:cSld>
  <p:clrMapOvr>
    <a:masterClrMapping/>
  </p:clrMapOvr>
  <p:extLst>
    <p:ext uri="{6950BFC3-D8DA-4A85-94F7-54DA5524770B}">
      <p188:commentRel xmlns:p188="http://schemas.microsoft.com/office/powerpoint/2018/8/main" r:id="rId3"/>
    </p:ext>
  </p:extLs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938BBE9-257D-1350-6B0B-0E29C72D9911}"/>
              </a:ext>
            </a:extLst>
          </p:cNvPr>
          <p:cNvSpPr txBox="1">
            <a:spLocks/>
          </p:cNvSpPr>
          <p:nvPr/>
        </p:nvSpPr>
        <p:spPr>
          <a:xfrm>
            <a:off x="400342" y="-1969662"/>
            <a:ext cx="11577483" cy="2522064"/>
          </a:xfrm>
          <a:noFill/>
        </p:spPr>
        <p:txBody>
          <a:bodyPr vert="horz" wrap="square" lIns="91157" tIns="45580" rIns="91157" bIns="45580" rtlCol="0" anchor="b">
            <a:spAutoFit/>
          </a:bodyPr>
          <a:lstStyle>
            <a:lvl1pPr algn="l" defTabSz="914400" rtl="0" eaLnBrk="1" latinLnBrk="0" hangingPunct="1">
              <a:lnSpc>
                <a:spcPct val="90000"/>
              </a:lnSpc>
              <a:spcBef>
                <a:spcPct val="0"/>
              </a:spcBef>
              <a:buNone/>
              <a:defRPr sz="2200" kern="1200">
                <a:solidFill>
                  <a:srgbClr val="922682"/>
                </a:solidFill>
                <a:latin typeface="Adani Medium" panose="02000503000000020004" pitchFamily="2" charset="0"/>
                <a:ea typeface="+mj-ea"/>
                <a:cs typeface="+mj-cs"/>
              </a:defRPr>
            </a:lvl1pPr>
          </a:lstStyle>
          <a:p>
            <a:pPr marL="108585" defTabSz="911377"/>
            <a:r>
              <a:rPr lang="en-US" sz="2400" b="1">
                <a:solidFill>
                  <a:srgbClr val="7030A0"/>
                </a:solidFill>
                <a:highlight>
                  <a:srgbClr val="33CC33"/>
                </a:highlight>
                <a:latin typeface="Adani Regular" panose="02000503000000020004"/>
                <a:ea typeface="+mn-ea"/>
                <a:cs typeface="+mn-cs"/>
              </a:rPr>
              <a:t>Financial S Curve </a:t>
            </a:r>
            <a:r>
              <a:rPr lang="en-US" sz="2400" b="1" i="1">
                <a:gradFill>
                  <a:gsLst>
                    <a:gs pos="9735">
                      <a:schemeClr val="tx2"/>
                    </a:gs>
                    <a:gs pos="63000">
                      <a:srgbClr val="8E278F"/>
                    </a:gs>
                    <a:gs pos="38000">
                      <a:srgbClr val="57499E"/>
                    </a:gs>
                  </a:gsLst>
                  <a:lin ang="0" scaled="0"/>
                </a:gradFill>
                <a:highlight>
                  <a:srgbClr val="33CC33"/>
                </a:highlight>
                <a:latin typeface="Adani Regular" panose="02000503000000020004"/>
              </a:rPr>
              <a:t>PSS – 11, 12, 10B, 9, 8B &amp; 5B</a:t>
            </a:r>
            <a:endParaRPr lang="en-US" sz="2400" b="1">
              <a:solidFill>
                <a:srgbClr val="7030A0"/>
              </a:solidFill>
              <a:highlight>
                <a:srgbClr val="33CC33"/>
              </a:highlight>
              <a:latin typeface="Adani Regular" panose="02000503000000020004"/>
              <a:ea typeface="+mn-ea"/>
              <a:cs typeface="+mn-cs"/>
            </a:endParaRPr>
          </a:p>
        </p:txBody>
      </p:sp>
      <p:graphicFrame>
        <p:nvGraphicFramePr>
          <p:cNvPr id="8" name="Table 7">
            <a:extLst>
              <a:ext uri="{FF2B5EF4-FFF2-40B4-BE49-F238E27FC236}">
                <a16:creationId xmlns:a16="http://schemas.microsoft.com/office/drawing/2014/main" id="{21932BDC-9387-46C9-65D3-664C417824A4}"/>
              </a:ext>
            </a:extLst>
          </p:cNvPr>
          <p:cNvGraphicFramePr>
            <a:graphicFrameLocks noGrp="1"/>
          </p:cNvGraphicFramePr>
          <p:nvPr>
            <p:extLst>
              <p:ext uri="{D42A27DB-BD31-4B8C-83A1-F6EECF244321}">
                <p14:modId xmlns:p14="http://schemas.microsoft.com/office/powerpoint/2010/main" val="3138219879"/>
              </p:ext>
            </p:extLst>
          </p:nvPr>
        </p:nvGraphicFramePr>
        <p:xfrm>
          <a:off x="177800" y="4195526"/>
          <a:ext cx="11800025" cy="1925007"/>
        </p:xfrm>
        <a:graphic>
          <a:graphicData uri="http://schemas.openxmlformats.org/drawingml/2006/table">
            <a:tbl>
              <a:tblPr/>
              <a:tblGrid>
                <a:gridCol w="1751754">
                  <a:extLst>
                    <a:ext uri="{9D8B030D-6E8A-4147-A177-3AD203B41FA5}">
                      <a16:colId xmlns:a16="http://schemas.microsoft.com/office/drawing/2014/main" val="1305421145"/>
                    </a:ext>
                  </a:extLst>
                </a:gridCol>
                <a:gridCol w="624837">
                  <a:extLst>
                    <a:ext uri="{9D8B030D-6E8A-4147-A177-3AD203B41FA5}">
                      <a16:colId xmlns:a16="http://schemas.microsoft.com/office/drawing/2014/main" val="3552762853"/>
                    </a:ext>
                  </a:extLst>
                </a:gridCol>
                <a:gridCol w="726743">
                  <a:extLst>
                    <a:ext uri="{9D8B030D-6E8A-4147-A177-3AD203B41FA5}">
                      <a16:colId xmlns:a16="http://schemas.microsoft.com/office/drawing/2014/main" val="2004234457"/>
                    </a:ext>
                  </a:extLst>
                </a:gridCol>
                <a:gridCol w="726743">
                  <a:extLst>
                    <a:ext uri="{9D8B030D-6E8A-4147-A177-3AD203B41FA5}">
                      <a16:colId xmlns:a16="http://schemas.microsoft.com/office/drawing/2014/main" val="1022481317"/>
                    </a:ext>
                  </a:extLst>
                </a:gridCol>
                <a:gridCol w="702518">
                  <a:extLst>
                    <a:ext uri="{9D8B030D-6E8A-4147-A177-3AD203B41FA5}">
                      <a16:colId xmlns:a16="http://schemas.microsoft.com/office/drawing/2014/main" val="1973524772"/>
                    </a:ext>
                  </a:extLst>
                </a:gridCol>
                <a:gridCol w="726743">
                  <a:extLst>
                    <a:ext uri="{9D8B030D-6E8A-4147-A177-3AD203B41FA5}">
                      <a16:colId xmlns:a16="http://schemas.microsoft.com/office/drawing/2014/main" val="1120892829"/>
                    </a:ext>
                  </a:extLst>
                </a:gridCol>
                <a:gridCol w="726743">
                  <a:extLst>
                    <a:ext uri="{9D8B030D-6E8A-4147-A177-3AD203B41FA5}">
                      <a16:colId xmlns:a16="http://schemas.microsoft.com/office/drawing/2014/main" val="1559335703"/>
                    </a:ext>
                  </a:extLst>
                </a:gridCol>
                <a:gridCol w="726743">
                  <a:extLst>
                    <a:ext uri="{9D8B030D-6E8A-4147-A177-3AD203B41FA5}">
                      <a16:colId xmlns:a16="http://schemas.microsoft.com/office/drawing/2014/main" val="980414030"/>
                    </a:ext>
                  </a:extLst>
                </a:gridCol>
                <a:gridCol w="726743">
                  <a:extLst>
                    <a:ext uri="{9D8B030D-6E8A-4147-A177-3AD203B41FA5}">
                      <a16:colId xmlns:a16="http://schemas.microsoft.com/office/drawing/2014/main" val="2787771928"/>
                    </a:ext>
                  </a:extLst>
                </a:gridCol>
                <a:gridCol w="726743">
                  <a:extLst>
                    <a:ext uri="{9D8B030D-6E8A-4147-A177-3AD203B41FA5}">
                      <a16:colId xmlns:a16="http://schemas.microsoft.com/office/drawing/2014/main" val="1225673837"/>
                    </a:ext>
                  </a:extLst>
                </a:gridCol>
                <a:gridCol w="726743">
                  <a:extLst>
                    <a:ext uri="{9D8B030D-6E8A-4147-A177-3AD203B41FA5}">
                      <a16:colId xmlns:a16="http://schemas.microsoft.com/office/drawing/2014/main" val="287390473"/>
                    </a:ext>
                  </a:extLst>
                </a:gridCol>
                <a:gridCol w="726743">
                  <a:extLst>
                    <a:ext uri="{9D8B030D-6E8A-4147-A177-3AD203B41FA5}">
                      <a16:colId xmlns:a16="http://schemas.microsoft.com/office/drawing/2014/main" val="2460313470"/>
                    </a:ext>
                  </a:extLst>
                </a:gridCol>
                <a:gridCol w="726743">
                  <a:extLst>
                    <a:ext uri="{9D8B030D-6E8A-4147-A177-3AD203B41FA5}">
                      <a16:colId xmlns:a16="http://schemas.microsoft.com/office/drawing/2014/main" val="3431579605"/>
                    </a:ext>
                  </a:extLst>
                </a:gridCol>
                <a:gridCol w="726743">
                  <a:extLst>
                    <a:ext uri="{9D8B030D-6E8A-4147-A177-3AD203B41FA5}">
                      <a16:colId xmlns:a16="http://schemas.microsoft.com/office/drawing/2014/main" val="3002055702"/>
                    </a:ext>
                  </a:extLst>
                </a:gridCol>
                <a:gridCol w="726743">
                  <a:extLst>
                    <a:ext uri="{9D8B030D-6E8A-4147-A177-3AD203B41FA5}">
                      <a16:colId xmlns:a16="http://schemas.microsoft.com/office/drawing/2014/main" val="16209082"/>
                    </a:ext>
                  </a:extLst>
                </a:gridCol>
              </a:tblGrid>
              <a:tr h="331334">
                <a:tc>
                  <a:txBody>
                    <a:bodyPr/>
                    <a:lstStyle/>
                    <a:p>
                      <a:pPr algn="ctr" fontAlgn="b">
                        <a:buNone/>
                      </a:pPr>
                      <a:r>
                        <a:rPr lang="en-US" sz="1200" b="1" i="0" u="none" strike="noStrike">
                          <a:solidFill>
                            <a:schemeClr val="bg1"/>
                          </a:solidFill>
                          <a:effectLst/>
                          <a:latin typeface="Adani Regular" panose="02000503000000020004" pitchFamily="2"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FY-26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Apr-26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Jun-26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Jul-26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Aug-26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Sep-26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Oct-26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Nov-26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Dec-26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Jan-27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Feb-27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Mar-27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Apr-27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extLst>
                  <a:ext uri="{0D108BD9-81ED-4DB2-BD59-A6C34878D82A}">
                    <a16:rowId xmlns:a16="http://schemas.microsoft.com/office/drawing/2014/main" val="2332656804"/>
                  </a:ext>
                </a:extLst>
              </a:tr>
              <a:tr h="331334">
                <a:tc>
                  <a:txBody>
                    <a:bodyPr/>
                    <a:lstStyle/>
                    <a:p>
                      <a:pPr algn="ctr" fontAlgn="b">
                        <a:buNone/>
                      </a:pPr>
                      <a:r>
                        <a:rPr lang="en-US" sz="1000" b="1" i="0" u="none" strike="noStrike">
                          <a:solidFill>
                            <a:srgbClr val="000000"/>
                          </a:solidFill>
                          <a:effectLst/>
                          <a:latin typeface="Adani Regular" panose="02000503000000020004" pitchFamily="2" charset="0"/>
                        </a:rPr>
                        <a:t>Budgeted- cumulative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1625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2110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2770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4474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5338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6080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7036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8780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11296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13404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14773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16132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16347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16358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52861219"/>
                  </a:ext>
                </a:extLst>
              </a:tr>
              <a:tr h="437137">
                <a:tc>
                  <a:txBody>
                    <a:bodyPr/>
                    <a:lstStyle/>
                    <a:p>
                      <a:pPr algn="ctr" fontAlgn="b">
                        <a:buNone/>
                      </a:pPr>
                      <a:r>
                        <a:rPr lang="en-US" sz="1000" b="1" i="0" u="none" strike="noStrike">
                          <a:solidFill>
                            <a:srgbClr val="000000"/>
                          </a:solidFill>
                          <a:effectLst/>
                          <a:latin typeface="Adani Regular" panose="02000503000000020004" pitchFamily="2" charset="0"/>
                        </a:rPr>
                        <a:t>Monthly Budgeted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 -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485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a:rPr>
                        <a:t>660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a:rPr>
                        <a:t> 1,705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a:rPr>
                        <a:t>863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a:rPr>
                        <a:t>743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a:rPr>
                        <a:t>956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a:rPr>
                        <a:t>1,743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a:rPr>
                        <a:t>2,516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a:rPr>
                        <a:t>2,108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a:rPr>
                        <a:t>1,369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a:rPr>
                        <a:t>1,359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a:rPr>
                        <a:t>215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a:rPr>
                        <a:t>11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763709"/>
                  </a:ext>
                </a:extLst>
              </a:tr>
              <a:tr h="412601">
                <a:tc>
                  <a:txBody>
                    <a:bodyPr/>
                    <a:lstStyle/>
                    <a:p>
                      <a:pPr algn="ctr" fontAlgn="b">
                        <a:buNone/>
                      </a:pPr>
                      <a:r>
                        <a:rPr lang="en-US" sz="1000" b="1" i="0" u="none" strike="noStrike">
                          <a:solidFill>
                            <a:srgbClr val="000000"/>
                          </a:solidFill>
                          <a:effectLst/>
                          <a:latin typeface="Adani Regular" panose="02000503000000020004" pitchFamily="2" charset="0"/>
                        </a:rPr>
                        <a:t>Actual Cumulative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285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539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757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dani Regular" panose="02000503000000020004" pitchFamily="2" charset="0"/>
                        </a:rPr>
                        <a:t>2531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ea typeface="+mn-ea"/>
                          <a:cs typeface="+mn-cs"/>
                        </a:rPr>
                        <a:t>4526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ea typeface="+mn-ea"/>
                          <a:cs typeface="+mn-cs"/>
                        </a:rPr>
                        <a:t>5951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436248"/>
                  </a:ext>
                </a:extLst>
              </a:tr>
              <a:tr h="412601">
                <a:tc>
                  <a:txBody>
                    <a:bodyPr/>
                    <a:lstStyle/>
                    <a:p>
                      <a:pPr algn="ctr" fontAlgn="b">
                        <a:buNone/>
                      </a:pPr>
                      <a:r>
                        <a:rPr lang="en-US" sz="1000" b="1" i="0" u="none" strike="noStrike">
                          <a:solidFill>
                            <a:srgbClr val="000000"/>
                          </a:solidFill>
                          <a:effectLst/>
                          <a:latin typeface="Adani Regular" panose="02000503000000020004" pitchFamily="2" charset="0"/>
                        </a:rPr>
                        <a:t>Monthly Actual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254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218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dani Regular" panose="02000503000000020004" pitchFamily="2" charset="0"/>
                        </a:rPr>
                        <a:t>1775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1995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dirty="0">
                          <a:solidFill>
                            <a:srgbClr val="000000"/>
                          </a:solidFill>
                          <a:effectLst/>
                          <a:latin typeface="Adani Regular" panose="02000503000000020004" pitchFamily="2" charset="0"/>
                        </a:rPr>
                        <a:t>1425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dirty="0">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11619399"/>
                  </a:ext>
                </a:extLst>
              </a:tr>
            </a:tbl>
          </a:graphicData>
        </a:graphic>
      </p:graphicFrame>
      <p:sp>
        <p:nvSpPr>
          <p:cNvPr id="2" name="Slide Number Placeholder 2">
            <a:extLst>
              <a:ext uri="{FF2B5EF4-FFF2-40B4-BE49-F238E27FC236}">
                <a16:creationId xmlns:a16="http://schemas.microsoft.com/office/drawing/2014/main" id="{4E5D1B7D-78EA-4F16-159C-EB7968474DF2}"/>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45</a:t>
            </a:fld>
            <a:endParaRPr lang="en-IN"/>
          </a:p>
        </p:txBody>
      </p:sp>
      <p:graphicFrame>
        <p:nvGraphicFramePr>
          <p:cNvPr id="6" name="Chart 5">
            <a:extLst>
              <a:ext uri="{FF2B5EF4-FFF2-40B4-BE49-F238E27FC236}">
                <a16:creationId xmlns:a16="http://schemas.microsoft.com/office/drawing/2014/main" id="{BF0C13F8-DE95-3E2D-87E2-5886456614E2}"/>
              </a:ext>
            </a:extLst>
          </p:cNvPr>
          <p:cNvGraphicFramePr>
            <a:graphicFrameLocks/>
          </p:cNvGraphicFramePr>
          <p:nvPr>
            <p:extLst>
              <p:ext uri="{D42A27DB-BD31-4B8C-83A1-F6EECF244321}">
                <p14:modId xmlns:p14="http://schemas.microsoft.com/office/powerpoint/2010/main" val="100515659"/>
              </p:ext>
            </p:extLst>
          </p:nvPr>
        </p:nvGraphicFramePr>
        <p:xfrm>
          <a:off x="177801" y="762003"/>
          <a:ext cx="11800024" cy="330337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31151304"/>
      </p:ext>
    </p:extLst>
  </p:cSld>
  <p:clrMapOvr>
    <a:masterClrMapping/>
  </p:clrMapOvr>
  <p:extLst>
    <p:ext uri="{6950BFC3-D8DA-4A85-94F7-54DA5524770B}">
      <p188:commentRel xmlns:p188="http://schemas.microsoft.com/office/powerpoint/2018/8/main" r:id="rId3"/>
    </p:ext>
  </p:extLs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CDE71-EAD3-5847-F8D2-AA1D415119C8}"/>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CDFA5F84-4CB4-1A44-33C8-3AE62028C7F1}"/>
              </a:ext>
            </a:extLst>
          </p:cNvPr>
          <p:cNvSpPr txBox="1"/>
          <p:nvPr/>
        </p:nvSpPr>
        <p:spPr>
          <a:xfrm>
            <a:off x="1019335" y="2889281"/>
            <a:ext cx="10153330" cy="584775"/>
          </a:xfrm>
          <a:prstGeom prst="rect">
            <a:avLst/>
          </a:prstGeom>
          <a:noFill/>
        </p:spPr>
        <p:txBody>
          <a:bodyPr wrap="square" rtlCol="0">
            <a:spAutoFit/>
          </a:bodyPr>
          <a:lstStyle/>
          <a:p>
            <a:pPr algn="ctr"/>
            <a:r>
              <a:rPr lang="en-US" sz="3200">
                <a:latin typeface="Adani Medium" pitchFamily="2" charset="0"/>
              </a:rPr>
              <a:t>Thank You</a:t>
            </a:r>
          </a:p>
        </p:txBody>
      </p:sp>
      <p:pic>
        <p:nvPicPr>
          <p:cNvPr id="4" name="Picture 3">
            <a:extLst>
              <a:ext uri="{FF2B5EF4-FFF2-40B4-BE49-F238E27FC236}">
                <a16:creationId xmlns:a16="http://schemas.microsoft.com/office/drawing/2014/main" id="{16C26BEB-257A-5977-C7F3-ABF142009C91}"/>
              </a:ext>
            </a:extLst>
          </p:cNvPr>
          <p:cNvPicPr>
            <a:picLocks noChangeAspect="1"/>
          </p:cNvPicPr>
          <p:nvPr/>
        </p:nvPicPr>
        <p:blipFill>
          <a:blip r:embed="rId3"/>
          <a:stretch>
            <a:fillRect/>
          </a:stretch>
        </p:blipFill>
        <p:spPr>
          <a:xfrm>
            <a:off x="-1" y="3413760"/>
            <a:ext cx="12192001" cy="3444240"/>
          </a:xfrm>
          <a:prstGeom prst="rect">
            <a:avLst/>
          </a:prstGeom>
        </p:spPr>
      </p:pic>
      <p:pic>
        <p:nvPicPr>
          <p:cNvPr id="1026" name="Picture 2" descr="C:\Users\30005286\Desktop\Adani with GWG-01.png">
            <a:extLst>
              <a:ext uri="{FF2B5EF4-FFF2-40B4-BE49-F238E27FC236}">
                <a16:creationId xmlns:a16="http://schemas.microsoft.com/office/drawing/2014/main" id="{3C4D7AEB-5AC3-6E33-C49A-817A3BE8653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56049" y="308397"/>
            <a:ext cx="5380567" cy="1634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79687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A8BA3-0E8D-FE74-F83F-7D337F5E6C8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2C33C6A-ED4C-DA95-48AD-33D5A4283FD7}"/>
              </a:ext>
            </a:extLst>
          </p:cNvPr>
          <p:cNvSpPr>
            <a:spLocks noGrp="1"/>
          </p:cNvSpPr>
          <p:nvPr>
            <p:ph type="title"/>
          </p:nvPr>
        </p:nvSpPr>
        <p:spPr>
          <a:xfrm>
            <a:off x="0" y="4080641"/>
            <a:ext cx="12192000" cy="1342696"/>
          </a:xfrm>
        </p:spPr>
        <p:txBody>
          <a:bodyPr>
            <a:normAutofit/>
          </a:bodyPr>
          <a:lstStyle/>
          <a:p>
            <a:pPr algn="ctr"/>
            <a:r>
              <a:rPr lang="en-IN" sz="3700">
                <a:latin typeface="Adani Regular"/>
              </a:rPr>
              <a:t>Ordering Status </a:t>
            </a:r>
            <a:br>
              <a:rPr lang="en-IN" sz="3700">
                <a:latin typeface="Adani Regular"/>
              </a:rPr>
            </a:br>
            <a:r>
              <a:rPr lang="en-IN" sz="3700">
                <a:latin typeface="Adani Regular"/>
              </a:rPr>
              <a:t>PSS-11, 12 &amp; 10(B)</a:t>
            </a:r>
            <a:endParaRPr lang="en-IN">
              <a:latin typeface="Adani Regular"/>
            </a:endParaRPr>
          </a:p>
        </p:txBody>
      </p:sp>
      <p:sp>
        <p:nvSpPr>
          <p:cNvPr id="2" name="Slide Number Placeholder 1">
            <a:extLst>
              <a:ext uri="{FF2B5EF4-FFF2-40B4-BE49-F238E27FC236}">
                <a16:creationId xmlns:a16="http://schemas.microsoft.com/office/drawing/2014/main" id="{33470492-EE6B-DB1E-B668-DCEBEBA7BC49}"/>
              </a:ext>
            </a:extLst>
          </p:cNvPr>
          <p:cNvSpPr txBox="1">
            <a:spLocks/>
          </p:cNvSpPr>
          <p:nvPr/>
        </p:nvSpPr>
        <p:spPr>
          <a:xfrm>
            <a:off x="9448800" y="654429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400" kern="1200">
                <a:solidFill>
                  <a:schemeClr val="tx1">
                    <a:tint val="75000"/>
                  </a:schemeClr>
                </a:solidFill>
                <a:latin typeface="Adani Regular"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8B285C1-D8A8-4E98-B28C-1FD972D8EC54}" type="slidenum">
              <a:rPr lang="en-IN" smtClean="0"/>
              <a:pPr/>
              <a:t>47</a:t>
            </a:fld>
            <a:endParaRPr lang="en-IN"/>
          </a:p>
        </p:txBody>
      </p:sp>
    </p:spTree>
    <p:extLst>
      <p:ext uri="{BB962C8B-B14F-4D97-AF65-F5344CB8AC3E}">
        <p14:creationId xmlns:p14="http://schemas.microsoft.com/office/powerpoint/2010/main" val="39917515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D4D55-7E14-E364-2D3B-5AAEA251437D}"/>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6098618-672F-FEFF-DE0E-DC10B5323963}"/>
              </a:ext>
            </a:extLst>
          </p:cNvPr>
          <p:cNvGraphicFramePr>
            <a:graphicFrameLocks noGrp="1"/>
          </p:cNvGraphicFramePr>
          <p:nvPr/>
        </p:nvGraphicFramePr>
        <p:xfrm>
          <a:off x="120620" y="641997"/>
          <a:ext cx="11950760" cy="5593913"/>
        </p:xfrm>
        <a:graphic>
          <a:graphicData uri="http://schemas.openxmlformats.org/drawingml/2006/table">
            <a:tbl>
              <a:tblPr/>
              <a:tblGrid>
                <a:gridCol w="399388">
                  <a:extLst>
                    <a:ext uri="{9D8B030D-6E8A-4147-A177-3AD203B41FA5}">
                      <a16:colId xmlns:a16="http://schemas.microsoft.com/office/drawing/2014/main" val="2829026117"/>
                    </a:ext>
                  </a:extLst>
                </a:gridCol>
                <a:gridCol w="1260000">
                  <a:extLst>
                    <a:ext uri="{9D8B030D-6E8A-4147-A177-3AD203B41FA5}">
                      <a16:colId xmlns:a16="http://schemas.microsoft.com/office/drawing/2014/main" val="2773142122"/>
                    </a:ext>
                  </a:extLst>
                </a:gridCol>
                <a:gridCol w="792000">
                  <a:extLst>
                    <a:ext uri="{9D8B030D-6E8A-4147-A177-3AD203B41FA5}">
                      <a16:colId xmlns:a16="http://schemas.microsoft.com/office/drawing/2014/main" val="246702370"/>
                    </a:ext>
                  </a:extLst>
                </a:gridCol>
                <a:gridCol w="1061592">
                  <a:extLst>
                    <a:ext uri="{9D8B030D-6E8A-4147-A177-3AD203B41FA5}">
                      <a16:colId xmlns:a16="http://schemas.microsoft.com/office/drawing/2014/main" val="3558478565"/>
                    </a:ext>
                  </a:extLst>
                </a:gridCol>
                <a:gridCol w="823921">
                  <a:extLst>
                    <a:ext uri="{9D8B030D-6E8A-4147-A177-3AD203B41FA5}">
                      <a16:colId xmlns:a16="http://schemas.microsoft.com/office/drawing/2014/main" val="1271983604"/>
                    </a:ext>
                  </a:extLst>
                </a:gridCol>
                <a:gridCol w="823921">
                  <a:extLst>
                    <a:ext uri="{9D8B030D-6E8A-4147-A177-3AD203B41FA5}">
                      <a16:colId xmlns:a16="http://schemas.microsoft.com/office/drawing/2014/main" val="1705681307"/>
                    </a:ext>
                  </a:extLst>
                </a:gridCol>
                <a:gridCol w="1619999">
                  <a:extLst>
                    <a:ext uri="{9D8B030D-6E8A-4147-A177-3AD203B41FA5}">
                      <a16:colId xmlns:a16="http://schemas.microsoft.com/office/drawing/2014/main" val="916472123"/>
                    </a:ext>
                  </a:extLst>
                </a:gridCol>
                <a:gridCol w="809088">
                  <a:extLst>
                    <a:ext uri="{9D8B030D-6E8A-4147-A177-3AD203B41FA5}">
                      <a16:colId xmlns:a16="http://schemas.microsoft.com/office/drawing/2014/main" val="86425436"/>
                    </a:ext>
                  </a:extLst>
                </a:gridCol>
                <a:gridCol w="809088">
                  <a:extLst>
                    <a:ext uri="{9D8B030D-6E8A-4147-A177-3AD203B41FA5}">
                      <a16:colId xmlns:a16="http://schemas.microsoft.com/office/drawing/2014/main" val="3499724676"/>
                    </a:ext>
                  </a:extLst>
                </a:gridCol>
                <a:gridCol w="809088">
                  <a:extLst>
                    <a:ext uri="{9D8B030D-6E8A-4147-A177-3AD203B41FA5}">
                      <a16:colId xmlns:a16="http://schemas.microsoft.com/office/drawing/2014/main" val="708652653"/>
                    </a:ext>
                  </a:extLst>
                </a:gridCol>
                <a:gridCol w="2742675">
                  <a:extLst>
                    <a:ext uri="{9D8B030D-6E8A-4147-A177-3AD203B41FA5}">
                      <a16:colId xmlns:a16="http://schemas.microsoft.com/office/drawing/2014/main" val="773725385"/>
                    </a:ext>
                  </a:extLst>
                </a:gridCol>
              </a:tblGrid>
              <a:tr h="516217">
                <a:tc>
                  <a:txBody>
                    <a:bodyPr/>
                    <a:lstStyle/>
                    <a:p>
                      <a:pPr algn="ctr" fontAlgn="ctr"/>
                      <a:r>
                        <a:rPr lang="en-US" sz="1100" b="1" i="0" u="none" strike="noStrike">
                          <a:solidFill>
                            <a:srgbClr val="FBFCFE"/>
                          </a:solidFill>
                          <a:effectLst/>
                          <a:latin typeface="Adani Regular" panose="02000503000000020004" pitchFamily="2" charset="0"/>
                        </a:rPr>
                        <a:t>SN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Equipment/ Package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Qty / Scope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Final / Revised Specifications Issue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Verified by Engineering consultant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TBER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Qualified Vendors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Receipt of Offer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Commercial NFA Submission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Release of PO / SO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Update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extLst>
                  <a:ext uri="{0D108BD9-81ED-4DB2-BD59-A6C34878D82A}">
                    <a16:rowId xmlns:a16="http://schemas.microsoft.com/office/drawing/2014/main" val="3826008376"/>
                  </a:ext>
                </a:extLst>
              </a:tr>
              <a:tr h="1197509">
                <a:tc>
                  <a:txBody>
                    <a:bodyPr/>
                    <a:lstStyle/>
                    <a:p>
                      <a:pPr algn="ctr" fontAlgn="ctr"/>
                      <a:r>
                        <a:rPr lang="en-US" sz="1100" b="1" i="0" u="none" strike="noStrike">
                          <a:solidFill>
                            <a:srgbClr val="00B050"/>
                          </a:solidFill>
                          <a:effectLst/>
                          <a:latin typeface="Adani Regular" panose="02000503000000020004" pitchFamily="2" charset="0"/>
                        </a:rPr>
                        <a:t>1</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5250" indent="0" algn="l" fontAlgn="ctr"/>
                      <a:r>
                        <a:rPr lang="en-US" sz="1100" b="1" i="0" u="none" strike="noStrike">
                          <a:solidFill>
                            <a:srgbClr val="00B050"/>
                          </a:solidFill>
                          <a:effectLst/>
                          <a:latin typeface="Adani Regular" panose="02000503000000020004" pitchFamily="2" charset="0"/>
                        </a:rPr>
                        <a:t>Battery Container Package</a:t>
                      </a:r>
                      <a:endParaRPr lang="en-US" sz="1100" b="1" i="0" u="none" strike="noStrike" kern="1200">
                        <a:solidFill>
                          <a:srgbClr val="00B050"/>
                        </a:solidFill>
                        <a:effectLst/>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432 NOS</a:t>
                      </a:r>
                    </a:p>
                    <a:p>
                      <a:pPr algn="ctr" fontAlgn="ctr"/>
                      <a:r>
                        <a:rPr lang="en-US" sz="1100" b="1" i="0" u="none" strike="noStrike">
                          <a:solidFill>
                            <a:srgbClr val="00B050"/>
                          </a:solidFill>
                          <a:effectLst/>
                          <a:latin typeface="Adani Regular" panose="02000503000000020004" pitchFamily="2" charset="0"/>
                        </a:rPr>
                        <a:t>384 NOS</a:t>
                      </a:r>
                    </a:p>
                    <a:p>
                      <a:pPr algn="ctr" fontAlgn="ctr"/>
                      <a:r>
                        <a:rPr lang="en-US" sz="1100" b="1" i="0" u="none" strike="noStrike">
                          <a:solidFill>
                            <a:srgbClr val="00B050"/>
                          </a:solidFill>
                          <a:effectLst/>
                          <a:latin typeface="Adani Regular" panose="02000503000000020004" pitchFamily="2" charset="0"/>
                        </a:rPr>
                        <a:t>240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30-Oct-25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22 Nov 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a:rPr>
                        <a:t> Offers from Svolt, Jinko, Greatpower, Sunwoda, REPT, Narada</a:t>
                      </a:r>
                    </a:p>
                    <a:p>
                      <a:pPr algn="ctr" fontAlgn="ctr"/>
                      <a:r>
                        <a:rPr lang="en-US" sz="1100" b="1" i="0" u="none" strike="noStrike">
                          <a:solidFill>
                            <a:srgbClr val="00B050"/>
                          </a:solidFill>
                          <a:effectLst/>
                          <a:latin typeface="Adani Regular"/>
                        </a:rPr>
                        <a:t>Starcharge, Hyperstrong, Cospower</a:t>
                      </a:r>
                    </a:p>
                    <a:p>
                      <a:pPr algn="ctr" fontAlgn="ctr"/>
                      <a:r>
                        <a:rPr lang="en-US" sz="1100" b="1" i="0" u="none" strike="noStrike">
                          <a:solidFill>
                            <a:srgbClr val="00B050"/>
                          </a:solidFill>
                          <a:effectLst/>
                          <a:latin typeface="Adani Regular"/>
                        </a:rPr>
                        <a:t>Hithium, CATL</a:t>
                      </a:r>
                    </a:p>
                    <a:p>
                      <a:pPr algn="ctr" fontAlgn="ctr"/>
                      <a:r>
                        <a:rPr lang="en-US" sz="1100" b="1" i="0" u="none" strike="noStrike">
                          <a:solidFill>
                            <a:srgbClr val="00B050"/>
                          </a:solidFill>
                          <a:effectLst/>
                          <a:latin typeface="Adani Regular" panose="02000503000000020004" pitchFamily="2" charset="0"/>
                        </a:rPr>
                        <a:t>Lishen, Saft, BYD</a:t>
                      </a:r>
                      <a:endPar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11-Nov-25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11-Dec-25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16-Dec-25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auto"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CATL for PSS-11 &amp; PSS-12 on 16-Dec-25</a:t>
                      </a:r>
                    </a:p>
                    <a:p>
                      <a:pPr marL="85725" marR="0" lvl="0" indent="0" algn="l" defTabSz="1219170" rtl="0" eaLnBrk="1" fontAlgn="auto"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Jinko for PSS-10(B) on 15-Dec-25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31647959"/>
                  </a:ext>
                </a:extLst>
              </a:tr>
              <a:tr h="686540">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2</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5250" indent="0" algn="l"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PCS (Power Conversion System)</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432 NOS</a:t>
                      </a:r>
                    </a:p>
                    <a:p>
                      <a:pPr algn="ctr" fontAlgn="ctr"/>
                      <a:r>
                        <a:rPr lang="en-US" sz="1100" b="1" i="0" u="none" strike="noStrike">
                          <a:solidFill>
                            <a:srgbClr val="00B050"/>
                          </a:solidFill>
                          <a:effectLst/>
                          <a:latin typeface="Adani Regular" panose="02000503000000020004" pitchFamily="2" charset="0"/>
                        </a:rPr>
                        <a:t>384 NOS</a:t>
                      </a:r>
                    </a:p>
                    <a:p>
                      <a:pPr algn="ctr" fontAlgn="ctr"/>
                      <a:r>
                        <a:rPr lang="en-US" sz="1100" b="1" i="0" u="none" strike="noStrike">
                          <a:solidFill>
                            <a:srgbClr val="00B050"/>
                          </a:solidFill>
                          <a:effectLst/>
                          <a:latin typeface="Adani Regular" panose="02000503000000020004" pitchFamily="2" charset="0"/>
                        </a:rPr>
                        <a:t>240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04-Nov 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18-Nov-25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strike="noStrike">
                          <a:solidFill>
                            <a:srgbClr val="00B050"/>
                          </a:solidFill>
                          <a:effectLst/>
                          <a:latin typeface="Adani Regular"/>
                          <a:ea typeface="Aptos" panose="020B0004020202020204" pitchFamily="34" charset="0"/>
                          <a:cs typeface="Aptos" panose="020B0004020202020204" pitchFamily="34" charset="0"/>
                        </a:rPr>
                        <a:t>Offers from </a:t>
                      </a:r>
                      <a:r>
                        <a:rPr lang="en-US" sz="1100" b="1" i="0" u="none" strike="noStrike" err="1">
                          <a:solidFill>
                            <a:srgbClr val="00B050"/>
                          </a:solidFill>
                          <a:effectLst/>
                          <a:latin typeface="Adani Regular"/>
                        </a:rPr>
                        <a:t>Sineng</a:t>
                      </a:r>
                      <a:endParaRPr lang="en-US" sz="1100" b="1" i="0" u="none" strike="noStrike">
                        <a:solidFill>
                          <a:srgbClr val="00B050"/>
                        </a:solidFill>
                        <a:effectLst/>
                        <a:latin typeface="Adani Regular"/>
                      </a:endParaRPr>
                    </a:p>
                    <a:p>
                      <a:pPr algn="ctr" fontAlgn="ctr"/>
                      <a:r>
                        <a:rPr lang="en-US" sz="1100" b="1" i="0" u="none" strike="noStrike">
                          <a:solidFill>
                            <a:srgbClr val="00B050"/>
                          </a:solidFill>
                          <a:effectLst/>
                          <a:latin typeface="Adani Regular"/>
                        </a:rPr>
                        <a:t>Hopewind, NR Electric</a:t>
                      </a:r>
                    </a:p>
                    <a:p>
                      <a:pPr algn="ctr" fontAlgn="ctr"/>
                      <a:r>
                        <a:rPr lang="en-US" sz="1100" b="1" i="0" u="none" strike="noStrike">
                          <a:solidFill>
                            <a:srgbClr val="00B050"/>
                          </a:solidFill>
                          <a:effectLst/>
                          <a:latin typeface="Adani Regular"/>
                        </a:rPr>
                        <a:t>Inovance, Soaring</a:t>
                      </a:r>
                    </a:p>
                    <a:p>
                      <a:pPr algn="ctr" fontAlgn="ctr"/>
                      <a:r>
                        <a:rPr lang="en-US" sz="1100" b="1" i="0" u="none" strike="noStrike">
                          <a:solidFill>
                            <a:srgbClr val="00B050"/>
                          </a:solidFill>
                          <a:effectLst/>
                          <a:latin typeface="Adani Regular"/>
                        </a:rPr>
                        <a:t>Sifang, </a:t>
                      </a:r>
                      <a:r>
                        <a:rPr lang="en-US" sz="1100" b="1" i="0" u="none" strike="noStrike" err="1">
                          <a:solidFill>
                            <a:srgbClr val="00B050"/>
                          </a:solidFill>
                          <a:effectLst/>
                          <a:latin typeface="Adani Regular"/>
                        </a:rPr>
                        <a:t>Hoymiles</a:t>
                      </a:r>
                      <a:endParaRPr lang="en-US" sz="1100" b="1" i="0" u="none" strike="noStrike">
                        <a:solidFill>
                          <a:srgbClr val="00B050"/>
                        </a:solidFill>
                        <a:effectLst/>
                        <a:latin typeface="Adani Regular"/>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14-Nov-25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06-Dec-25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15-Dec-25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5250"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Hopewind for PSS-11 on 15-Dec.</a:t>
                      </a:r>
                    </a:p>
                    <a:p>
                      <a:pPr marL="95250"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INOVA for PSS-12 &amp; PSS-10(B) on 13-Dec-25</a:t>
                      </a:r>
                      <a:endParaRPr lang="en-US" sz="1100" b="1">
                        <a:solidFill>
                          <a:srgbClr val="00B050"/>
                        </a:solidFill>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90471776"/>
                  </a:ext>
                </a:extLst>
              </a:tr>
              <a:tr h="686540">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3</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5250" indent="0" algn="l"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EMS (Energy Management System)</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1 NOS</a:t>
                      </a:r>
                    </a:p>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1 NOS</a:t>
                      </a:r>
                    </a:p>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1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01-Nov-25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02-Dec-25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ES" sz="1100" b="1" i="0" u="none" strike="noStrike">
                          <a:solidFill>
                            <a:srgbClr val="00B050"/>
                          </a:solidFill>
                          <a:effectLst/>
                          <a:latin typeface="Adani Regular"/>
                        </a:rPr>
                        <a:t>Adaptive, Emerson, </a:t>
                      </a:r>
                      <a:r>
                        <a:rPr lang="es-ES" sz="1100" b="1" i="0" u="none" strike="noStrike" err="1">
                          <a:solidFill>
                            <a:srgbClr val="00B050"/>
                          </a:solidFill>
                          <a:effectLst/>
                          <a:latin typeface="Adani Regular"/>
                        </a:rPr>
                        <a:t>Schenider</a:t>
                      </a:r>
                      <a:r>
                        <a:rPr lang="es-ES" sz="1100" b="1" i="0" u="none" strike="noStrike">
                          <a:solidFill>
                            <a:srgbClr val="00B050"/>
                          </a:solidFill>
                          <a:effectLst/>
                          <a:latin typeface="Adani Regular"/>
                        </a:rPr>
                        <a:t>, Honeywell</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10-Nov-25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a:ea typeface="Aptos" panose="020B0004020202020204" pitchFamily="34" charset="0"/>
                          <a:cs typeface="Aptos" panose="020B0004020202020204" pitchFamily="34" charset="0"/>
                        </a:rPr>
                        <a:t>11-Dec-25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a:ea typeface="Aptos" panose="020B0004020202020204" pitchFamily="34" charset="0"/>
                          <a:cs typeface="Aptos" panose="020B0004020202020204" pitchFamily="34" charset="0"/>
                        </a:rPr>
                        <a:t>15-Dec-25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5250"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Emerson on 15-Dec.</a:t>
                      </a:r>
                    </a:p>
                    <a:p>
                      <a:pPr marL="95250"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Honeywell on 17-Dec.</a:t>
                      </a:r>
                    </a:p>
                    <a:p>
                      <a:pPr marL="95250"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Adaptive on 17-Dec</a:t>
                      </a:r>
                      <a:endParaRPr lang="en-US" sz="1100" b="1">
                        <a:solidFill>
                          <a:srgbClr val="00B050"/>
                        </a:solidFill>
                        <a:highlight>
                          <a:srgbClr val="FFFF00"/>
                        </a:highlight>
                        <a:latin typeface="Adani Regular" panose="02000503000000020004" pitchFamily="2" charset="0"/>
                      </a:endParaRPr>
                    </a:p>
                    <a:p>
                      <a:pPr marL="95250" marR="0" lvl="0" indent="0" algn="l" defTabSz="1219170" rtl="0" eaLnBrk="1" fontAlgn="ctr" latinLnBrk="0" hangingPunct="1">
                        <a:lnSpc>
                          <a:spcPct val="100000"/>
                        </a:lnSpc>
                        <a:spcBef>
                          <a:spcPts val="0"/>
                        </a:spcBef>
                        <a:spcAft>
                          <a:spcPts val="0"/>
                        </a:spcAft>
                        <a:buClrTx/>
                        <a:buSzTx/>
                        <a:buFontTx/>
                        <a:buNone/>
                        <a:tabLst/>
                        <a:defRPr/>
                      </a:pPr>
                      <a:endParaRPr lang="en-US" sz="1100" b="1">
                        <a:solidFill>
                          <a:srgbClr val="00B050"/>
                        </a:solidFill>
                        <a:highlight>
                          <a:srgbClr val="FFFF00"/>
                        </a:highligh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16478900"/>
                  </a:ext>
                </a:extLst>
              </a:tr>
              <a:tr h="516217">
                <a:tc>
                  <a:txBody>
                    <a:bodyPr/>
                    <a:lstStyle/>
                    <a:p>
                      <a:pPr algn="ctr" fontAlgn="ctr"/>
                      <a:r>
                        <a:rPr lang="en-US" sz="1100" b="1" i="0" u="none" strike="noStrike">
                          <a:solidFill>
                            <a:srgbClr val="00B050"/>
                          </a:solidFill>
                          <a:effectLst/>
                          <a:latin typeface="Adani Regular" panose="02000503000000020004" pitchFamily="2" charset="0"/>
                        </a:rPr>
                        <a:t>4</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Converter Transformer</a:t>
                      </a:r>
                      <a:endParaRPr lang="en-US" sz="1100" b="1" i="0" u="none" strike="noStrike" kern="1200">
                        <a:solidFill>
                          <a:srgbClr val="00B050"/>
                        </a:solidFill>
                        <a:effectLst/>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54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48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30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21-Nov-25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11-Dec-25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sv-SE" sz="1100" b="1" i="0" u="none" strike="noStrike">
                          <a:solidFill>
                            <a:srgbClr val="00B050"/>
                          </a:solidFill>
                          <a:effectLst/>
                          <a:latin typeface="Adani Regular"/>
                        </a:rPr>
                        <a:t>Ornet, Silchar, Atlanta,Tesla, SSE</a:t>
                      </a:r>
                      <a:endParaRPr lang="en-US" sz="1100" b="1" i="0" u="none" strike="noStrike">
                        <a:solidFill>
                          <a:srgbClr val="00B050"/>
                        </a:solidFill>
                        <a:effectLst/>
                        <a:latin typeface="Adani Regular"/>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06-Dec-25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15-Dec-25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17-Dec-25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5250"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Ornet on 17-Dec.</a:t>
                      </a:r>
                    </a:p>
                    <a:p>
                      <a:pPr marL="95250"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Tesla on 17-Dec.</a:t>
                      </a:r>
                    </a:p>
                    <a:p>
                      <a:pPr marL="95250"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Ornet on 17-Dec.</a:t>
                      </a:r>
                      <a:endParaRPr lang="en-US" sz="1100" b="1">
                        <a:solidFill>
                          <a:srgbClr val="00B050"/>
                        </a:solidFill>
                        <a:highlight>
                          <a:srgbClr val="FFFF00"/>
                        </a:highligh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180625973"/>
                  </a:ext>
                </a:extLst>
              </a:tr>
              <a:tr h="686540">
                <a:tc>
                  <a:txBody>
                    <a:bodyPr/>
                    <a:lstStyle/>
                    <a:p>
                      <a:pPr algn="ctr" fontAlgn="ctr"/>
                      <a:r>
                        <a:rPr lang="en-US" sz="1100" b="1" i="0" u="none" strike="noStrike">
                          <a:solidFill>
                            <a:srgbClr val="00B050"/>
                          </a:solidFill>
                          <a:effectLst/>
                          <a:latin typeface="Adani Regular" panose="02000503000000020004" pitchFamily="2" charset="0"/>
                        </a:rPr>
                        <a:t>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a:solidFill>
                            <a:srgbClr val="00B050"/>
                          </a:solidFill>
                          <a:effectLst/>
                          <a:latin typeface="Adani Regular" panose="02000503000000020004" pitchFamily="2" charset="0"/>
                        </a:rPr>
                        <a:t>CSS (Auxiliary Transformer)</a:t>
                      </a:r>
                      <a:endParaRPr lang="en-US" sz="1100" b="1" i="0" u="none" strike="noStrike" kern="1200">
                        <a:solidFill>
                          <a:srgbClr val="00B050"/>
                        </a:solidFill>
                        <a:effectLst/>
                        <a:latin typeface="Adani Regular" panose="02000503000000020004" pitchFamily="2" charset="0"/>
                        <a:ea typeface="+mn-ea"/>
                        <a:cs typeface="+mn-cs"/>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9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8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5 NOS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21-Nov-25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kumimoji="0" lang="sv-SE" sz="1100" b="1" i="0" u="none" strike="noStrike" kern="1200" cap="none" spc="0" normalizeH="0" baseline="0" noProof="0">
                          <a:ln>
                            <a:noFill/>
                          </a:ln>
                          <a:solidFill>
                            <a:srgbClr val="00B050"/>
                          </a:solidFill>
                          <a:effectLst/>
                          <a:uLnTx/>
                          <a:uFillTx/>
                          <a:latin typeface="Adani Regular"/>
                          <a:ea typeface="+mn-ea"/>
                          <a:cs typeface="+mn-cs"/>
                        </a:rPr>
                        <a:t>ABB, Siemens, Schneider, Akshar, Trisquare, Voltamp, Sudhir, Rhine</a:t>
                      </a:r>
                      <a:endParaRPr lang="en-US" sz="1100" b="1" i="0" u="none" strike="noStrike">
                        <a:solidFill>
                          <a:srgbClr val="00B050"/>
                        </a:solidFill>
                        <a:effectLst/>
                        <a:latin typeface="Adani Regular"/>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10-Dec-25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07-Jan-26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16-Jan-26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released to M/s Akshar on 16-Jan-26.</a:t>
                      </a:r>
                      <a:endParaRPr lang="en-US" sz="1100" b="1">
                        <a:solidFill>
                          <a:srgbClr val="00B050"/>
                        </a:solidFill>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949976789"/>
                  </a:ext>
                </a:extLst>
              </a:tr>
              <a:tr h="617810">
                <a:tc>
                  <a:txBody>
                    <a:bodyPr/>
                    <a:lstStyle/>
                    <a:p>
                      <a:pPr algn="ctr" fontAlgn="ctr"/>
                      <a:r>
                        <a:rPr lang="en-US" sz="1100" b="1" i="0" u="none" strike="noStrike">
                          <a:solidFill>
                            <a:srgbClr val="00B050"/>
                          </a:solidFill>
                          <a:effectLst/>
                          <a:latin typeface="Adani Regular" panose="02000503000000020004" pitchFamily="2" charset="0"/>
                        </a:rPr>
                        <a:t>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MV Switchgear</a:t>
                      </a:r>
                      <a:endParaRPr lang="en-US" sz="1100" b="1" i="0" u="none" strike="noStrike" kern="1200">
                        <a:solidFill>
                          <a:srgbClr val="00B050"/>
                        </a:solidFill>
                        <a:effectLst/>
                        <a:latin typeface="Adani Regular" panose="02000503000000020004" pitchFamily="2" charset="0"/>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18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16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10 NOS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21-Nov-25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20-Dec-25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kumimoji="0" lang="sv-SE" sz="1100" b="1" i="0" u="none" strike="noStrike" kern="1200" cap="none" spc="0" normalizeH="0" baseline="0" noProof="0">
                          <a:ln>
                            <a:noFill/>
                          </a:ln>
                          <a:solidFill>
                            <a:srgbClr val="00B050"/>
                          </a:solidFill>
                          <a:effectLst/>
                          <a:uLnTx/>
                          <a:uFillTx/>
                          <a:latin typeface="Adani Regular"/>
                          <a:ea typeface="+mn-ea"/>
                          <a:cs typeface="+mn-cs"/>
                        </a:rPr>
                        <a:t>RFP: </a:t>
                      </a:r>
                      <a:r>
                        <a:rPr lang="en-US" sz="1100" b="1" i="0" u="none" strike="noStrike">
                          <a:solidFill>
                            <a:srgbClr val="00B050"/>
                          </a:solidFill>
                          <a:effectLst/>
                          <a:latin typeface="Adani Regular"/>
                        </a:rPr>
                        <a:t>Trisquare, Symatic, Popular, Technocraft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a:rPr>
                        <a:t>Previous approved specs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23-Dec-25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30-Dec-25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Trisquare on 30-Dec.</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62990573"/>
                  </a:ext>
                </a:extLst>
              </a:tr>
              <a:tr h="686540">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7</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LT Panel - ACDB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54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48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30 NOS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21-Nov-25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20-Dec-25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kumimoji="0" lang="sv-SE" sz="1100" b="1" i="0" u="none" strike="noStrike" kern="1200" cap="none" spc="0" normalizeH="0" baseline="0" noProof="0">
                          <a:ln>
                            <a:noFill/>
                          </a:ln>
                          <a:solidFill>
                            <a:srgbClr val="00B050"/>
                          </a:solidFill>
                          <a:effectLst/>
                          <a:uLnTx/>
                          <a:uFillTx/>
                          <a:latin typeface="Adani Regular"/>
                          <a:ea typeface="+mn-ea"/>
                          <a:cs typeface="+mn-cs"/>
                        </a:rPr>
                        <a:t>RFP: </a:t>
                      </a:r>
                      <a:r>
                        <a:rPr lang="en-US" sz="1100" b="1" i="0" u="none" strike="noStrike">
                          <a:solidFill>
                            <a:srgbClr val="00B050"/>
                          </a:solidFill>
                          <a:effectLst/>
                          <a:latin typeface="Adani Regular"/>
                        </a:rPr>
                        <a:t>Akshar, Active, ECS, Swati, Prima, Trisquare, C&amp;S, Narkhede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Received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23-Dec-25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31-Dec-25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Prima Automation on 31-Dec-25 for PSS-11.</a:t>
                      </a:r>
                    </a:p>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Active Engineers on 31-Dec-25 for PSS-12 &amp; PSS-10(B).</a:t>
                      </a:r>
                      <a:endParaRPr lang="en-US" sz="1100" b="1">
                        <a:solidFill>
                          <a:srgbClr val="00B050"/>
                        </a:solidFill>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057901352"/>
                  </a:ext>
                </a:extLst>
              </a:tr>
            </a:tbl>
          </a:graphicData>
        </a:graphic>
      </p:graphicFrame>
      <p:sp>
        <p:nvSpPr>
          <p:cNvPr id="3" name="Slide Number Placeholder 1">
            <a:extLst>
              <a:ext uri="{FF2B5EF4-FFF2-40B4-BE49-F238E27FC236}">
                <a16:creationId xmlns:a16="http://schemas.microsoft.com/office/drawing/2014/main" id="{7643CC77-21C1-3EAD-8032-5219F969D964}"/>
              </a:ext>
            </a:extLst>
          </p:cNvPr>
          <p:cNvSpPr>
            <a:spLocks noGrp="1"/>
          </p:cNvSpPr>
          <p:nvPr>
            <p:ph type="sldNum" sz="quarter" idx="12"/>
          </p:nvPr>
        </p:nvSpPr>
        <p:spPr>
          <a:xfrm>
            <a:off x="11553370" y="6544298"/>
            <a:ext cx="638629" cy="365125"/>
          </a:xfrm>
        </p:spPr>
        <p:txBody>
          <a:bodyPr/>
          <a:lstStyle/>
          <a:p>
            <a:fld id="{98B285C1-D8A8-4E98-B28C-1FD972D8EC54}" type="slidenum">
              <a:rPr lang="en-IN" smtClean="0"/>
              <a:t>48</a:t>
            </a:fld>
            <a:endParaRPr lang="en-IN"/>
          </a:p>
        </p:txBody>
      </p:sp>
      <p:sp>
        <p:nvSpPr>
          <p:cNvPr id="5" name="Rectangle 2">
            <a:extLst>
              <a:ext uri="{FF2B5EF4-FFF2-40B4-BE49-F238E27FC236}">
                <a16:creationId xmlns:a16="http://schemas.microsoft.com/office/drawing/2014/main" id="{27CFA11C-93DF-A292-B7FE-6DDCED9C7B8B}"/>
              </a:ext>
            </a:extLst>
          </p:cNvPr>
          <p:cNvSpPr txBox="1">
            <a:spLocks noChangeArrowheads="1"/>
          </p:cNvSpPr>
          <p:nvPr/>
        </p:nvSpPr>
        <p:spPr>
          <a:xfrm>
            <a:off x="66695" y="165164"/>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 </a:t>
            </a:r>
            <a:r>
              <a:rPr lang="en-US" sz="2400" b="1">
                <a:solidFill>
                  <a:srgbClr val="912A82"/>
                </a:solidFill>
                <a:highlight>
                  <a:srgbClr val="33CC33"/>
                </a:highlight>
              </a:rPr>
              <a:t>Supply ordering Status (</a:t>
            </a:r>
            <a:r>
              <a:rPr lang="en-IN" sz="2400" b="1">
                <a:solidFill>
                  <a:srgbClr val="912A82"/>
                </a:solidFill>
                <a:highlight>
                  <a:srgbClr val="33CC33"/>
                </a:highlight>
              </a:rPr>
              <a:t>PSS-11, 12 &amp; 10(B))</a:t>
            </a:r>
            <a:r>
              <a:rPr lang="en-IN" sz="2400" b="1">
                <a:solidFill>
                  <a:srgbClr val="00B050"/>
                </a:solidFill>
                <a:highlight>
                  <a:srgbClr val="33CC33"/>
                </a:highlight>
              </a:rPr>
              <a:t> - Completed </a:t>
            </a:r>
            <a:endParaRPr lang="en-US" sz="2400" b="1">
              <a:solidFill>
                <a:srgbClr val="00B050"/>
              </a:solidFill>
              <a:highlight>
                <a:srgbClr val="33CC33"/>
              </a:highlight>
            </a:endParaRPr>
          </a:p>
        </p:txBody>
      </p:sp>
    </p:spTree>
    <p:extLst>
      <p:ext uri="{BB962C8B-B14F-4D97-AF65-F5344CB8AC3E}">
        <p14:creationId xmlns:p14="http://schemas.microsoft.com/office/powerpoint/2010/main" val="3277742511"/>
      </p:ext>
    </p:extLst>
  </p:cSld>
  <p:clrMapOvr>
    <a:masterClrMapping/>
  </p:clrMapOvr>
  <p:extLst>
    <p:ext uri="{6950BFC3-D8DA-4A85-94F7-54DA5524770B}">
      <p188:commentRel xmlns:p188="http://schemas.microsoft.com/office/powerpoint/2018/8/main" r:id="rId3"/>
    </p:ext>
  </p:extLs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C0ECC-39B9-F5DF-0F17-90C536A39C8E}"/>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F4A8772-B8FF-6803-59B5-81D5DBD5D7FF}"/>
              </a:ext>
            </a:extLst>
          </p:cNvPr>
          <p:cNvGraphicFramePr>
            <a:graphicFrameLocks noGrp="1"/>
          </p:cNvGraphicFramePr>
          <p:nvPr/>
        </p:nvGraphicFramePr>
        <p:xfrm>
          <a:off x="66695" y="641998"/>
          <a:ext cx="12058610" cy="5518960"/>
        </p:xfrm>
        <a:graphic>
          <a:graphicData uri="http://schemas.openxmlformats.org/drawingml/2006/table">
            <a:tbl>
              <a:tblPr/>
              <a:tblGrid>
                <a:gridCol w="402992">
                  <a:extLst>
                    <a:ext uri="{9D8B030D-6E8A-4147-A177-3AD203B41FA5}">
                      <a16:colId xmlns:a16="http://schemas.microsoft.com/office/drawing/2014/main" val="2829026117"/>
                    </a:ext>
                  </a:extLst>
                </a:gridCol>
                <a:gridCol w="1271371">
                  <a:extLst>
                    <a:ext uri="{9D8B030D-6E8A-4147-A177-3AD203B41FA5}">
                      <a16:colId xmlns:a16="http://schemas.microsoft.com/office/drawing/2014/main" val="2773142122"/>
                    </a:ext>
                  </a:extLst>
                </a:gridCol>
                <a:gridCol w="702339">
                  <a:extLst>
                    <a:ext uri="{9D8B030D-6E8A-4147-A177-3AD203B41FA5}">
                      <a16:colId xmlns:a16="http://schemas.microsoft.com/office/drawing/2014/main" val="246702370"/>
                    </a:ext>
                  </a:extLst>
                </a:gridCol>
                <a:gridCol w="1064301">
                  <a:extLst>
                    <a:ext uri="{9D8B030D-6E8A-4147-A177-3AD203B41FA5}">
                      <a16:colId xmlns:a16="http://schemas.microsoft.com/office/drawing/2014/main" val="3558478565"/>
                    </a:ext>
                  </a:extLst>
                </a:gridCol>
                <a:gridCol w="809469">
                  <a:extLst>
                    <a:ext uri="{9D8B030D-6E8A-4147-A177-3AD203B41FA5}">
                      <a16:colId xmlns:a16="http://schemas.microsoft.com/office/drawing/2014/main" val="1271983604"/>
                    </a:ext>
                  </a:extLst>
                </a:gridCol>
                <a:gridCol w="956922">
                  <a:extLst>
                    <a:ext uri="{9D8B030D-6E8A-4147-A177-3AD203B41FA5}">
                      <a16:colId xmlns:a16="http://schemas.microsoft.com/office/drawing/2014/main" val="1705681307"/>
                    </a:ext>
                  </a:extLst>
                </a:gridCol>
                <a:gridCol w="1634619">
                  <a:extLst>
                    <a:ext uri="{9D8B030D-6E8A-4147-A177-3AD203B41FA5}">
                      <a16:colId xmlns:a16="http://schemas.microsoft.com/office/drawing/2014/main" val="916472123"/>
                    </a:ext>
                  </a:extLst>
                </a:gridCol>
                <a:gridCol w="781246">
                  <a:extLst>
                    <a:ext uri="{9D8B030D-6E8A-4147-A177-3AD203B41FA5}">
                      <a16:colId xmlns:a16="http://schemas.microsoft.com/office/drawing/2014/main" val="86425436"/>
                    </a:ext>
                  </a:extLst>
                </a:gridCol>
                <a:gridCol w="851534">
                  <a:extLst>
                    <a:ext uri="{9D8B030D-6E8A-4147-A177-3AD203B41FA5}">
                      <a16:colId xmlns:a16="http://schemas.microsoft.com/office/drawing/2014/main" val="3499724676"/>
                    </a:ext>
                  </a:extLst>
                </a:gridCol>
                <a:gridCol w="816390">
                  <a:extLst>
                    <a:ext uri="{9D8B030D-6E8A-4147-A177-3AD203B41FA5}">
                      <a16:colId xmlns:a16="http://schemas.microsoft.com/office/drawing/2014/main" val="708652653"/>
                    </a:ext>
                  </a:extLst>
                </a:gridCol>
                <a:gridCol w="2767427">
                  <a:extLst>
                    <a:ext uri="{9D8B030D-6E8A-4147-A177-3AD203B41FA5}">
                      <a16:colId xmlns:a16="http://schemas.microsoft.com/office/drawing/2014/main" val="773725385"/>
                    </a:ext>
                  </a:extLst>
                </a:gridCol>
              </a:tblGrid>
              <a:tr h="523618">
                <a:tc>
                  <a:txBody>
                    <a:bodyPr/>
                    <a:lstStyle/>
                    <a:p>
                      <a:pPr algn="ctr" fontAlgn="ctr"/>
                      <a:r>
                        <a:rPr lang="en-US" sz="1100" b="1" i="0" u="none" strike="noStrike">
                          <a:solidFill>
                            <a:srgbClr val="FBFCFE"/>
                          </a:solidFill>
                          <a:effectLst/>
                          <a:latin typeface="Adani Regular" panose="02000503000000020004" pitchFamily="2" charset="0"/>
                        </a:rPr>
                        <a:t>SN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Equipment/ Package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Qty / Scope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Final / Revised Specifications Issue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Verified by Engineering consultant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TBER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Qualified Vendors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Receipt of Offer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Commercial NFA Submission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Release of PO / SO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Update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extLst>
                  <a:ext uri="{0D108BD9-81ED-4DB2-BD59-A6C34878D82A}">
                    <a16:rowId xmlns:a16="http://schemas.microsoft.com/office/drawing/2014/main" val="3826008376"/>
                  </a:ext>
                </a:extLst>
              </a:tr>
              <a:tr h="1041913">
                <a:tc>
                  <a:txBody>
                    <a:bodyPr/>
                    <a:lstStyle/>
                    <a:p>
                      <a:pPr algn="ctr" fontAlgn="ctr"/>
                      <a:r>
                        <a:rPr lang="en-US" sz="1100" b="1" i="0" u="none" strike="noStrike">
                          <a:solidFill>
                            <a:srgbClr val="00B050"/>
                          </a:solidFill>
                          <a:effectLst/>
                          <a:latin typeface="Adani Regular" panose="02000503000000020004" pitchFamily="2" charset="0"/>
                        </a:rPr>
                        <a:t>8</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HT Cable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73.5 km</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62 km</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62 Km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21-Nov-25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Previous TBER is valid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kumimoji="0" lang="sv-SE"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Havells, Paramount, V Marc, DICAB, UCL, Polycab,TCL</a:t>
                      </a: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15-Dec-25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18-Dec-25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issued to Diamond for PSS-11 on 18-Dec-25.</a:t>
                      </a:r>
                    </a:p>
                    <a:p>
                      <a:pPr marL="85725" indent="0" algn="l" fontAlgn="ctr"/>
                      <a:r>
                        <a:rPr lang="en-US" sz="1100" b="1" i="0" u="none" strike="noStrike">
                          <a:solidFill>
                            <a:srgbClr val="00B050"/>
                          </a:solidFill>
                          <a:effectLst/>
                          <a:latin typeface="Adani Regular" panose="02000503000000020004" pitchFamily="2" charset="0"/>
                        </a:rPr>
                        <a:t>Order issued to Paramount for PSS-12 on 18-Dec-25.</a:t>
                      </a:r>
                    </a:p>
                    <a:p>
                      <a:pPr marL="85725" indent="0" algn="l" fontAlgn="ctr"/>
                      <a:r>
                        <a:rPr lang="en-US" sz="1100" b="1" i="0" u="none" strike="noStrike">
                          <a:solidFill>
                            <a:srgbClr val="00B050"/>
                          </a:solidFill>
                          <a:effectLst/>
                          <a:latin typeface="Adani Regular" panose="02000503000000020004" pitchFamily="2" charset="0"/>
                        </a:rPr>
                        <a:t>Order issued to Diamond for PSS-10(B) on 18-Dec-25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114784010"/>
                  </a:ext>
                </a:extLst>
              </a:tr>
              <a:tr h="770003">
                <a:tc>
                  <a:txBody>
                    <a:bodyPr/>
                    <a:lstStyle/>
                    <a:p>
                      <a:pPr algn="ctr" fontAlgn="ctr"/>
                      <a:r>
                        <a:rPr lang="en-US" sz="1100" b="1" i="0" u="none" strike="noStrike">
                          <a:solidFill>
                            <a:srgbClr val="00B050"/>
                          </a:solidFill>
                          <a:effectLst/>
                          <a:latin typeface="Adani Regular" panose="02000503000000020004" pitchFamily="2" charset="0"/>
                        </a:rPr>
                        <a:t>9</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a:solidFill>
                            <a:srgbClr val="00B050"/>
                          </a:solidFill>
                          <a:effectLst/>
                          <a:latin typeface="Adani Regular" panose="02000503000000020004" pitchFamily="2" charset="0"/>
                        </a:rPr>
                        <a:t>DC &amp; LT Cables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822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765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480 km</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21-Nov-25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19-Dec-25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Offers: PARAMOUNT, KEI, DIAMOND, VMARC, FINOLEX, DYNAMIC, GEMSCAB</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08-Dec-25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02-Jan-26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19-Jan-26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issued to DIAMOND (PSS-11), APAR &amp; DYNAMIC (PSS-12), PARAMOUNT &amp; DYNAMIC (PSS-10(B)) dated 19-Jan-26.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31647959"/>
                  </a:ext>
                </a:extLst>
              </a:tr>
              <a:tr h="869149">
                <a:tc>
                  <a:txBody>
                    <a:bodyPr/>
                    <a:lstStyle/>
                    <a:p>
                      <a:pPr algn="ctr" fontAlgn="ctr"/>
                      <a:r>
                        <a:rPr lang="en-US" sz="1100" b="1" i="0" u="none" strike="noStrike">
                          <a:solidFill>
                            <a:srgbClr val="00B050"/>
                          </a:solidFill>
                          <a:effectLst/>
                          <a:latin typeface="Adani Regular" panose="02000503000000020004" pitchFamily="2" charset="0"/>
                        </a:rPr>
                        <a:t>10</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a:solidFill>
                            <a:srgbClr val="00B050"/>
                          </a:solidFill>
                          <a:effectLst/>
                          <a:latin typeface="Adani Regular" panose="02000503000000020004" pitchFamily="2" charset="0"/>
                        </a:rPr>
                        <a:t>Control Cables</a:t>
                      </a:r>
                      <a:endParaRPr lang="en-US" sz="1100" b="1" i="0" u="none" strike="noStrike" kern="1200">
                        <a:solidFill>
                          <a:srgbClr val="00B050"/>
                        </a:solidFill>
                        <a:effectLst/>
                        <a:latin typeface="Adani Regular" panose="02000503000000020004" pitchFamily="2" charset="0"/>
                        <a:ea typeface="+mn-ea"/>
                        <a:cs typeface="+mn-cs"/>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140.4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124.8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78 km</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21-Nov-25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19-Dec-25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Offers: </a:t>
                      </a:r>
                      <a:r>
                        <a:rPr lang="sv-SE" sz="1100" b="1" i="0" u="none" strike="noStrike">
                          <a:solidFill>
                            <a:srgbClr val="00B050"/>
                          </a:solidFill>
                          <a:effectLst/>
                          <a:latin typeface="Adani Regular" panose="02000503000000020004" pitchFamily="2" charset="0"/>
                        </a:rPr>
                        <a:t>Delton, Diamond, Havells, Ravin, Special, Suyog, Polycab, Paramount, Gemscab, Dynamic, Chandresh</a:t>
                      </a: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06-Dec-25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02-Jan-26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19-Jan-26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issued to GEMSCAB dated 19-Jan-26.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90471776"/>
                  </a:ext>
                </a:extLst>
              </a:tr>
              <a:tr h="575230">
                <a:tc>
                  <a:txBody>
                    <a:bodyPr/>
                    <a:lstStyle/>
                    <a:p>
                      <a:pPr algn="ctr" fontAlgn="ctr"/>
                      <a:r>
                        <a:rPr lang="en-US" sz="1100" b="1" i="0" u="none" strike="noStrike">
                          <a:solidFill>
                            <a:srgbClr val="00B050"/>
                          </a:solidFill>
                          <a:effectLst/>
                          <a:latin typeface="Adani Regular" panose="02000503000000020004" pitchFamily="2" charset="0"/>
                        </a:rPr>
                        <a:t>11</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kern="1200">
                          <a:solidFill>
                            <a:srgbClr val="00B050"/>
                          </a:solidFill>
                          <a:effectLst/>
                          <a:latin typeface="Adani Regular" panose="02000503000000020004" pitchFamily="2" charset="0"/>
                          <a:ea typeface="+mn-ea"/>
                          <a:cs typeface="+mn-cs"/>
                        </a:rPr>
                        <a:t>SCADA Cable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294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262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166 km</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21-Nov-25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19-Dec-25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buNone/>
                      </a:pPr>
                      <a:r>
                        <a:rPr lang="en-US" sz="1100" b="1" i="0" u="none" strike="noStrike">
                          <a:solidFill>
                            <a:srgbClr val="00B050"/>
                          </a:solidFill>
                          <a:effectLst/>
                          <a:latin typeface="Adani Regular" panose="02000503000000020004" pitchFamily="2" charset="0"/>
                        </a:rPr>
                        <a:t>Special, Paramount, Gemscab, Suyog, Delton, KEI</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18-Dec-25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US" sz="1100" b="1" i="0" u="none" strike="noStrike">
                          <a:solidFill>
                            <a:srgbClr val="00B050"/>
                          </a:solidFill>
                          <a:effectLst/>
                          <a:latin typeface="Adani Regular" panose="02000503000000020004" pitchFamily="2" charset="0"/>
                        </a:rPr>
                        <a:t>02-Jan-26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US" sz="1100" b="1" i="0" u="none" strike="noStrike">
                          <a:solidFill>
                            <a:srgbClr val="00B050"/>
                          </a:solidFill>
                          <a:effectLst/>
                          <a:latin typeface="Adani Regular" panose="02000503000000020004" pitchFamily="2" charset="0"/>
                        </a:rPr>
                        <a:t>08-Jan-26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4138" indent="0" algn="l" fontAlgn="ctr">
                        <a:buNone/>
                      </a:pPr>
                      <a:r>
                        <a:rPr lang="en-US" sz="1100" b="1" i="0" u="none" strike="noStrike">
                          <a:solidFill>
                            <a:srgbClr val="00B050"/>
                          </a:solidFill>
                          <a:effectLst/>
                          <a:latin typeface="Adani Regular" panose="02000503000000020004" pitchFamily="2" charset="0"/>
                        </a:rPr>
                        <a:t>Order releases to M/s Delton &amp; M/s Suyog dated 08-Jan-26.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50030462"/>
                  </a:ext>
                </a:extLst>
              </a:tr>
              <a:tr h="650016">
                <a:tc>
                  <a:txBody>
                    <a:bodyPr/>
                    <a:lstStyle/>
                    <a:p>
                      <a:pPr algn="ctr" fontAlgn="ctr"/>
                      <a:r>
                        <a:rPr lang="en-US" sz="1100" b="1" i="0" u="none" strike="noStrike">
                          <a:solidFill>
                            <a:srgbClr val="00B050"/>
                          </a:solidFill>
                          <a:effectLst/>
                          <a:latin typeface="Adani Regular" panose="02000503000000020004" pitchFamily="2" charset="0"/>
                        </a:rPr>
                        <a:t>12</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a:solidFill>
                            <a:srgbClr val="00B050"/>
                          </a:solidFill>
                          <a:effectLst/>
                          <a:latin typeface="Adani Regular" panose="02000503000000020004" pitchFamily="2" charset="0"/>
                        </a:rPr>
                        <a:t>FO Cable</a:t>
                      </a:r>
                      <a:endParaRPr lang="en-US" sz="1100" b="1" i="0" u="none" strike="noStrike" kern="1200">
                        <a:solidFill>
                          <a:srgbClr val="00B050"/>
                        </a:solidFill>
                        <a:effectLst/>
                        <a:latin typeface="Adani Regular" panose="02000503000000020004" pitchFamily="2" charset="0"/>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23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20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21 km</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R0: 21-Nov-25</a:t>
                      </a:r>
                    </a:p>
                    <a:p>
                      <a:pPr algn="ctr" fontAlgn="ctr"/>
                      <a:r>
                        <a:rPr lang="en-US" sz="1100" b="1" i="0" u="none" strike="noStrike">
                          <a:solidFill>
                            <a:srgbClr val="00B050"/>
                          </a:solidFill>
                          <a:effectLst/>
                          <a:latin typeface="Adani Regular" panose="02000503000000020004" pitchFamily="2" charset="0"/>
                        </a:rPr>
                        <a:t>R1: 04-Dec-25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Previous TBER is valid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Repeat order confirmation received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27-Dec-25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02-Jan-26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issued to Paramount on 02-Jan-26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16478900"/>
                  </a:ext>
                </a:extLst>
              </a:tr>
              <a:tr h="1089031">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13</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Precast Supply (Monolithic Beam, Staircase, BOT and NIFPS)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1008 NOS</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896 NOS</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570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26-Nov-25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890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sngStrike">
                          <a:solidFill>
                            <a:srgbClr val="00B050"/>
                          </a:solidFill>
                          <a:effectLst/>
                          <a:latin typeface="Adani Regular" panose="02000503000000020004" pitchFamily="2" charset="0"/>
                        </a:rPr>
                        <a:t>10-Dec-25</a:t>
                      </a:r>
                    </a:p>
                    <a:p>
                      <a:pPr marL="8890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sngStrike">
                          <a:solidFill>
                            <a:srgbClr val="00B050"/>
                          </a:solidFill>
                          <a:effectLst/>
                          <a:latin typeface="Adani Regular" panose="02000503000000020004" pitchFamily="2" charset="0"/>
                        </a:rPr>
                        <a:t>22-Dec-25</a:t>
                      </a:r>
                    </a:p>
                    <a:p>
                      <a:pPr marL="8890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sngStrike">
                          <a:solidFill>
                            <a:srgbClr val="00B050"/>
                          </a:solidFill>
                          <a:effectLst/>
                          <a:latin typeface="Adani Regular" panose="02000503000000020004" pitchFamily="2" charset="0"/>
                        </a:rPr>
                        <a:t>30-Dec-25</a:t>
                      </a:r>
                    </a:p>
                    <a:p>
                      <a:pPr marL="8890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04-Jan-26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RFP: </a:t>
                      </a:r>
                      <a:r>
                        <a:rPr lang="en-US" sz="1100" b="1" i="0" u="none" strike="noStrike">
                          <a:solidFill>
                            <a:srgbClr val="00B050"/>
                          </a:solidFill>
                          <a:effectLst/>
                          <a:latin typeface="Adani Regular" panose="02000503000000020004" pitchFamily="2" charset="0"/>
                        </a:rPr>
                        <a:t>Buildcast, Sachi Precast, Sachi Agency, Shreeji, VAB, Fuji</a:t>
                      </a: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06-Dec-25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16-Jan-26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28-Jan-26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Vendors finalized. Orders for Monolithic Beam &amp; BOT released dated 15-Jan-26. Orders for NIFPS and Staircase for BCF, PCS &amp; SGR released on 28-Jan.</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180625973"/>
                  </a:ext>
                </a:extLst>
              </a:tr>
            </a:tbl>
          </a:graphicData>
        </a:graphic>
      </p:graphicFrame>
      <p:sp>
        <p:nvSpPr>
          <p:cNvPr id="3" name="Slide Number Placeholder 1">
            <a:extLst>
              <a:ext uri="{FF2B5EF4-FFF2-40B4-BE49-F238E27FC236}">
                <a16:creationId xmlns:a16="http://schemas.microsoft.com/office/drawing/2014/main" id="{5A222C87-BAF6-985B-0089-A9AA66A6EC60}"/>
              </a:ext>
            </a:extLst>
          </p:cNvPr>
          <p:cNvSpPr>
            <a:spLocks noGrp="1"/>
          </p:cNvSpPr>
          <p:nvPr>
            <p:ph type="sldNum" sz="quarter" idx="12"/>
          </p:nvPr>
        </p:nvSpPr>
        <p:spPr>
          <a:xfrm>
            <a:off x="11742056" y="6544298"/>
            <a:ext cx="449943" cy="365125"/>
          </a:xfrm>
        </p:spPr>
        <p:txBody>
          <a:bodyPr/>
          <a:lstStyle/>
          <a:p>
            <a:fld id="{98B285C1-D8A8-4E98-B28C-1FD972D8EC54}" type="slidenum">
              <a:rPr lang="en-IN" smtClean="0"/>
              <a:t>49</a:t>
            </a:fld>
            <a:endParaRPr lang="en-IN"/>
          </a:p>
        </p:txBody>
      </p:sp>
      <p:sp>
        <p:nvSpPr>
          <p:cNvPr id="5" name="Rectangle 2">
            <a:extLst>
              <a:ext uri="{FF2B5EF4-FFF2-40B4-BE49-F238E27FC236}">
                <a16:creationId xmlns:a16="http://schemas.microsoft.com/office/drawing/2014/main" id="{ADB873FB-D16A-EB72-1414-1428BDA32673}"/>
              </a:ext>
            </a:extLst>
          </p:cNvPr>
          <p:cNvSpPr txBox="1">
            <a:spLocks noChangeArrowheads="1"/>
          </p:cNvSpPr>
          <p:nvPr/>
        </p:nvSpPr>
        <p:spPr>
          <a:xfrm>
            <a:off x="66695" y="165164"/>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 </a:t>
            </a:r>
            <a:r>
              <a:rPr lang="en-US" sz="2400" b="1">
                <a:solidFill>
                  <a:srgbClr val="912A82"/>
                </a:solidFill>
                <a:highlight>
                  <a:srgbClr val="33CC33"/>
                </a:highlight>
              </a:rPr>
              <a:t>Supply ordering Status (</a:t>
            </a:r>
            <a:r>
              <a:rPr lang="en-IN" sz="2400" b="1">
                <a:solidFill>
                  <a:srgbClr val="912A82"/>
                </a:solidFill>
                <a:highlight>
                  <a:srgbClr val="33CC33"/>
                </a:highlight>
              </a:rPr>
              <a:t>PSS-11, 12 &amp; 10(B))</a:t>
            </a:r>
            <a:r>
              <a:rPr lang="en-IN" sz="2400" b="1">
                <a:solidFill>
                  <a:srgbClr val="00B050"/>
                </a:solidFill>
                <a:highlight>
                  <a:srgbClr val="33CC33"/>
                </a:highlight>
              </a:rPr>
              <a:t> - Completed </a:t>
            </a:r>
            <a:endParaRPr lang="en-US" sz="2400" b="1">
              <a:solidFill>
                <a:srgbClr val="00B050"/>
              </a:solidFill>
              <a:highlight>
                <a:srgbClr val="33CC33"/>
              </a:highlight>
            </a:endParaRPr>
          </a:p>
        </p:txBody>
      </p:sp>
    </p:spTree>
    <p:extLst>
      <p:ext uri="{BB962C8B-B14F-4D97-AF65-F5344CB8AC3E}">
        <p14:creationId xmlns:p14="http://schemas.microsoft.com/office/powerpoint/2010/main" val="21645722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CA9C3-7549-16AF-9461-2879F3B35FCD}"/>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66D78C7-1D5F-4A0B-56CA-65F6F4746CE5}"/>
              </a:ext>
            </a:extLst>
          </p:cNvPr>
          <p:cNvGraphicFramePr>
            <a:graphicFrameLocks noGrp="1"/>
          </p:cNvGraphicFramePr>
          <p:nvPr>
            <p:extLst>
              <p:ext uri="{D42A27DB-BD31-4B8C-83A1-F6EECF244321}">
                <p14:modId xmlns:p14="http://schemas.microsoft.com/office/powerpoint/2010/main" val="1613508026"/>
              </p:ext>
            </p:extLst>
          </p:nvPr>
        </p:nvGraphicFramePr>
        <p:xfrm>
          <a:off x="66695" y="641997"/>
          <a:ext cx="12058610" cy="5598527"/>
        </p:xfrm>
        <a:graphic>
          <a:graphicData uri="http://schemas.openxmlformats.org/drawingml/2006/table">
            <a:tbl>
              <a:tblPr/>
              <a:tblGrid>
                <a:gridCol w="398000">
                  <a:extLst>
                    <a:ext uri="{9D8B030D-6E8A-4147-A177-3AD203B41FA5}">
                      <a16:colId xmlns:a16="http://schemas.microsoft.com/office/drawing/2014/main" val="2829026117"/>
                    </a:ext>
                  </a:extLst>
                </a:gridCol>
                <a:gridCol w="1276363">
                  <a:extLst>
                    <a:ext uri="{9D8B030D-6E8A-4147-A177-3AD203B41FA5}">
                      <a16:colId xmlns:a16="http://schemas.microsoft.com/office/drawing/2014/main" val="2773142122"/>
                    </a:ext>
                  </a:extLst>
                </a:gridCol>
                <a:gridCol w="702339">
                  <a:extLst>
                    <a:ext uri="{9D8B030D-6E8A-4147-A177-3AD203B41FA5}">
                      <a16:colId xmlns:a16="http://schemas.microsoft.com/office/drawing/2014/main" val="246702370"/>
                    </a:ext>
                  </a:extLst>
                </a:gridCol>
                <a:gridCol w="1064301">
                  <a:extLst>
                    <a:ext uri="{9D8B030D-6E8A-4147-A177-3AD203B41FA5}">
                      <a16:colId xmlns:a16="http://schemas.microsoft.com/office/drawing/2014/main" val="3558478565"/>
                    </a:ext>
                  </a:extLst>
                </a:gridCol>
                <a:gridCol w="809469">
                  <a:extLst>
                    <a:ext uri="{9D8B030D-6E8A-4147-A177-3AD203B41FA5}">
                      <a16:colId xmlns:a16="http://schemas.microsoft.com/office/drawing/2014/main" val="1271983604"/>
                    </a:ext>
                  </a:extLst>
                </a:gridCol>
                <a:gridCol w="956922">
                  <a:extLst>
                    <a:ext uri="{9D8B030D-6E8A-4147-A177-3AD203B41FA5}">
                      <a16:colId xmlns:a16="http://schemas.microsoft.com/office/drawing/2014/main" val="1705681307"/>
                    </a:ext>
                  </a:extLst>
                </a:gridCol>
                <a:gridCol w="1634619">
                  <a:extLst>
                    <a:ext uri="{9D8B030D-6E8A-4147-A177-3AD203B41FA5}">
                      <a16:colId xmlns:a16="http://schemas.microsoft.com/office/drawing/2014/main" val="916472123"/>
                    </a:ext>
                  </a:extLst>
                </a:gridCol>
                <a:gridCol w="781246">
                  <a:extLst>
                    <a:ext uri="{9D8B030D-6E8A-4147-A177-3AD203B41FA5}">
                      <a16:colId xmlns:a16="http://schemas.microsoft.com/office/drawing/2014/main" val="86425436"/>
                    </a:ext>
                  </a:extLst>
                </a:gridCol>
                <a:gridCol w="779489">
                  <a:extLst>
                    <a:ext uri="{9D8B030D-6E8A-4147-A177-3AD203B41FA5}">
                      <a16:colId xmlns:a16="http://schemas.microsoft.com/office/drawing/2014/main" val="3499724676"/>
                    </a:ext>
                  </a:extLst>
                </a:gridCol>
                <a:gridCol w="888435">
                  <a:extLst>
                    <a:ext uri="{9D8B030D-6E8A-4147-A177-3AD203B41FA5}">
                      <a16:colId xmlns:a16="http://schemas.microsoft.com/office/drawing/2014/main" val="708652653"/>
                    </a:ext>
                  </a:extLst>
                </a:gridCol>
                <a:gridCol w="2767427">
                  <a:extLst>
                    <a:ext uri="{9D8B030D-6E8A-4147-A177-3AD203B41FA5}">
                      <a16:colId xmlns:a16="http://schemas.microsoft.com/office/drawing/2014/main" val="773725385"/>
                    </a:ext>
                  </a:extLst>
                </a:gridCol>
              </a:tblGrid>
              <a:tr h="610998">
                <a:tc>
                  <a:txBody>
                    <a:bodyPr/>
                    <a:lstStyle/>
                    <a:p>
                      <a:pPr algn="ctr" fontAlgn="ctr"/>
                      <a:r>
                        <a:rPr lang="en-US" sz="1100" b="1" i="0" u="none" strike="noStrike">
                          <a:solidFill>
                            <a:srgbClr val="FBFCFE"/>
                          </a:solidFill>
                          <a:effectLst/>
                          <a:latin typeface="Adani Regular" panose="02000503000000020004" pitchFamily="2" charset="0"/>
                        </a:rPr>
                        <a:t>SN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Equipment/ Package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Qty / Scope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Final / Revised Specifications Issue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Verified by Engineering consultant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TBER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Qualified Vendors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Receipt of Offer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Commercial NFA Submission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Release of PO / SO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Update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extLst>
                  <a:ext uri="{0D108BD9-81ED-4DB2-BD59-A6C34878D82A}">
                    <a16:rowId xmlns:a16="http://schemas.microsoft.com/office/drawing/2014/main" val="3826008376"/>
                  </a:ext>
                </a:extLst>
              </a:tr>
              <a:tr h="783144">
                <a:tc>
                  <a:txBody>
                    <a:bodyPr/>
                    <a:lstStyle/>
                    <a:p>
                      <a:pPr algn="ctr" fontAlgn="ctr"/>
                      <a:r>
                        <a:rPr lang="en-US" sz="1100" b="1" i="0" u="none" strike="noStrike">
                          <a:solidFill>
                            <a:srgbClr val="00B050"/>
                          </a:solidFill>
                          <a:effectLst/>
                          <a:latin typeface="Adani Regular" panose="02000503000000020004" pitchFamily="2" charset="0"/>
                        </a:rPr>
                        <a:t>14</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Harmonic Filter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8 SET</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8 SET</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8 SET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sngStrike">
                          <a:solidFill>
                            <a:srgbClr val="00B050"/>
                          </a:solidFill>
                          <a:effectLst/>
                          <a:latin typeface="Adani Regular" panose="02000503000000020004" pitchFamily="2" charset="0"/>
                        </a:rPr>
                        <a:t>24-Feb-26</a:t>
                      </a:r>
                    </a:p>
                    <a:p>
                      <a:pPr algn="ctr" fontAlgn="ctr"/>
                      <a:r>
                        <a:rPr lang="en-US" sz="1100" b="1" i="0" u="none" strike="noStrike">
                          <a:solidFill>
                            <a:srgbClr val="00B050"/>
                          </a:solidFill>
                          <a:effectLst/>
                          <a:latin typeface="Adani Regular" panose="02000503000000020004" pitchFamily="2" charset="0"/>
                        </a:rPr>
                        <a:t>13-Mar-26/</a:t>
                      </a:r>
                    </a:p>
                    <a:p>
                      <a:pPr algn="ctr" fontAlgn="ctr"/>
                      <a:r>
                        <a:rPr lang="en-US" sz="1100" b="1" i="0" u="none" strike="noStrike">
                          <a:solidFill>
                            <a:srgbClr val="00B050"/>
                          </a:solidFill>
                          <a:effectLst/>
                          <a:latin typeface="Adani Regular" panose="02000503000000020004" pitchFamily="2" charset="0"/>
                        </a:rPr>
                        <a:t>12-Mar-26/</a:t>
                      </a:r>
                    </a:p>
                    <a:p>
                      <a:pPr algn="ctr" fontAlgn="ctr"/>
                      <a:r>
                        <a:rPr lang="en-US" sz="1100" b="1" i="0" u="none" strike="noStrike">
                          <a:solidFill>
                            <a:srgbClr val="00B050"/>
                          </a:solidFill>
                          <a:effectLst/>
                          <a:latin typeface="Adani Regular" panose="02000503000000020004" pitchFamily="2" charset="0"/>
                        </a:rPr>
                        <a:t>07-Mar-26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03-Apr-26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07-Apr-26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Released for PSS-10(B) on 26-Mar.</a:t>
                      </a:r>
                    </a:p>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HF sizing shared for PSS-11 on 13-Mar &amp; PSS-12 on 12-Mar.</a:t>
                      </a:r>
                    </a:p>
                    <a:p>
                      <a:pPr marL="85725" indent="0" algn="l" fontAlgn="ctr"/>
                      <a:r>
                        <a:rPr lang="en-US" sz="1100" b="1" i="0" u="none" strike="noStrike">
                          <a:solidFill>
                            <a:srgbClr val="00B050"/>
                          </a:solidFill>
                          <a:effectLst/>
                          <a:latin typeface="Adani Regular" panose="02000503000000020004" pitchFamily="2" charset="0"/>
                        </a:rPr>
                        <a:t>Letter of award (LOA) released for PSS-11 &amp; PSS-12 to Hitachi on 07-Apr.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114784010"/>
                  </a:ext>
                </a:extLst>
              </a:tr>
              <a:tr h="718208">
                <a:tc>
                  <a:txBody>
                    <a:bodyPr/>
                    <a:lstStyle/>
                    <a:p>
                      <a:pPr algn="ctr" fontAlgn="ctr"/>
                      <a:r>
                        <a:rPr lang="en-US" sz="1100" b="1" i="0" u="none" strike="noStrike">
                          <a:solidFill>
                            <a:srgbClr val="00B050"/>
                          </a:solidFill>
                          <a:effectLst/>
                          <a:latin typeface="Adani Regular" panose="02000503000000020004" pitchFamily="2" charset="0"/>
                        </a:rPr>
                        <a:t>15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a:solidFill>
                            <a:srgbClr val="00B050"/>
                          </a:solidFill>
                          <a:effectLst/>
                          <a:latin typeface="Adani Regular" panose="02000503000000020004" pitchFamily="2" charset="0"/>
                        </a:rPr>
                        <a:t>High Mast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7 NOS</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7 NOS</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6 NOS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20-Jan-26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30-Jan-26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b="1" strike="noStrike">
                          <a:solidFill>
                            <a:srgbClr val="00B050"/>
                          </a:solidFill>
                          <a:effectLst/>
                          <a:latin typeface="Adani Regular"/>
                          <a:ea typeface="Aptos" panose="020B0004020202020204" pitchFamily="34" charset="0"/>
                          <a:cs typeface="Aptos" panose="020B0004020202020204" pitchFamily="34" charset="0"/>
                        </a:rPr>
                        <a:t>Pratibha, Akshar, Excel Infra, </a:t>
                      </a:r>
                      <a:r>
                        <a:rPr lang="en-US" sz="1100" b="1" strike="noStrike" err="1">
                          <a:solidFill>
                            <a:srgbClr val="00B050"/>
                          </a:solidFill>
                          <a:effectLst/>
                          <a:latin typeface="Adani Regular"/>
                          <a:ea typeface="Aptos" panose="020B0004020202020204" pitchFamily="34" charset="0"/>
                          <a:cs typeface="Aptos" panose="020B0004020202020204" pitchFamily="34" charset="0"/>
                        </a:rPr>
                        <a:t>Sunlake</a:t>
                      </a:r>
                      <a:r>
                        <a:rPr lang="en-US" sz="1100" b="1" strike="noStrike">
                          <a:solidFill>
                            <a:srgbClr val="00B050"/>
                          </a:solidFill>
                          <a:effectLst/>
                          <a:latin typeface="Adani Regular"/>
                          <a:ea typeface="Aptos" panose="020B0004020202020204" pitchFamily="34" charset="0"/>
                          <a:cs typeface="Aptos" panose="020B0004020202020204" pitchFamily="34" charset="0"/>
                        </a:rPr>
                        <a:t>, </a:t>
                      </a:r>
                      <a:r>
                        <a:rPr lang="en-US" sz="1100" b="1" strike="noStrike" err="1">
                          <a:solidFill>
                            <a:srgbClr val="00B050"/>
                          </a:solidFill>
                          <a:effectLst/>
                          <a:latin typeface="Adani Regular"/>
                          <a:ea typeface="Aptos" panose="020B0004020202020204" pitchFamily="34" charset="0"/>
                          <a:cs typeface="Aptos" panose="020B0004020202020204" pitchFamily="34" charset="0"/>
                        </a:rPr>
                        <a:t>Ompech</a:t>
                      </a:r>
                      <a:endParaRPr lang="en-US" sz="1100" b="1" strike="noStrike">
                        <a:solidFill>
                          <a:srgbClr val="00B050"/>
                        </a:solidFill>
                        <a:effectLst/>
                        <a:latin typeface="Adani Regular"/>
                        <a:ea typeface="Aptos" panose="020B0004020202020204" pitchFamily="34" charset="0"/>
                        <a:cs typeface="Aptos" panose="020B0004020202020204" pitchFamily="34"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06-Feb-26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10-Feb-26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27-Feb-26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issued to M/s </a:t>
                      </a:r>
                      <a:r>
                        <a:rPr kumimoji="0" lang="en-US" sz="1100" b="1" i="0" u="none" strike="noStrike" kern="1200" cap="none" spc="0" normalizeH="0" baseline="0" noProof="0" err="1">
                          <a:ln>
                            <a:noFill/>
                          </a:ln>
                          <a:solidFill>
                            <a:srgbClr val="00B050"/>
                          </a:solidFill>
                          <a:effectLst/>
                          <a:uLnTx/>
                          <a:uFillTx/>
                          <a:latin typeface="Adani Regular" panose="02000503000000020004" pitchFamily="2" charset="0"/>
                          <a:ea typeface="+mn-ea"/>
                          <a:cs typeface="+mn-cs"/>
                        </a:rPr>
                        <a:t>Sunelec</a:t>
                      </a: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31647959"/>
                  </a:ext>
                </a:extLst>
              </a:tr>
              <a:tr h="1201441">
                <a:tc>
                  <a:txBody>
                    <a:bodyPr/>
                    <a:lstStyle/>
                    <a:p>
                      <a:pPr algn="ctr" fontAlgn="ctr"/>
                      <a:r>
                        <a:rPr lang="en-US" sz="1100" b="1" i="0" u="none" strike="noStrike">
                          <a:solidFill>
                            <a:srgbClr val="00B050"/>
                          </a:solidFill>
                          <a:effectLst/>
                          <a:latin typeface="Adani Regular" panose="02000503000000020004" pitchFamily="2" charset="0"/>
                        </a:rPr>
                        <a:t>16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Fire Protection, Detection &amp; Alarm System Package incl of (Hooter, Fire extinguisher, Panel. ) </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LOT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05-Mar-26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18-Apr-26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01-May-26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endParaRPr lang="en-US" sz="1100" b="1" kern="1200">
                        <a:solidFill>
                          <a:srgbClr val="00B050"/>
                        </a:solidFill>
                        <a:effectLst/>
                        <a:latin typeface="Adani Regular" panose="02000503000000020004" pitchFamily="2" charset="0"/>
                        <a:ea typeface="+mn-ea"/>
                        <a:cs typeface="+mn-cs"/>
                      </a:endParaRPr>
                    </a:p>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TBER concluded on 18-Apr-26; </a:t>
                      </a:r>
                    </a:p>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LOA released to M/s APSNP on 01-May-26.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321455541"/>
                  </a:ext>
                </a:extLst>
              </a:tr>
              <a:tr h="968506">
                <a:tc>
                  <a:txBody>
                    <a:bodyPr/>
                    <a:lstStyle/>
                    <a:p>
                      <a:pPr algn="ctr" fontAlgn="ctr"/>
                      <a:r>
                        <a:rPr lang="en-US" sz="1100" b="1" i="0" u="none" strike="noStrike">
                          <a:solidFill>
                            <a:srgbClr val="00B050"/>
                          </a:solidFill>
                          <a:effectLst/>
                          <a:latin typeface="Adani Regular" panose="02000503000000020004" pitchFamily="2" charset="0"/>
                        </a:rPr>
                        <a:t>17</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kern="1200">
                          <a:solidFill>
                            <a:srgbClr val="00B050"/>
                          </a:solidFill>
                          <a:effectLst/>
                          <a:latin typeface="Adani Regular" panose="02000503000000020004" pitchFamily="2" charset="0"/>
                          <a:ea typeface="+mn-ea"/>
                          <a:cs typeface="+mn-cs"/>
                        </a:rPr>
                        <a:t>Electrical Modification in existing PSS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LOT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sngStrike">
                          <a:solidFill>
                            <a:srgbClr val="00B050"/>
                          </a:solidFill>
                          <a:effectLst/>
                          <a:latin typeface="Adani Regular" panose="02000503000000020004" pitchFamily="2" charset="0"/>
                        </a:rPr>
                        <a:t>07-Feb-26</a:t>
                      </a:r>
                    </a:p>
                    <a:p>
                      <a:pPr algn="ctr" fontAlgn="ctr"/>
                      <a:r>
                        <a:rPr lang="en-US" sz="1100" b="1" i="0" u="none" strike="noStrike">
                          <a:solidFill>
                            <a:srgbClr val="00B050"/>
                          </a:solidFill>
                          <a:effectLst/>
                          <a:latin typeface="Adani Regular" panose="02000503000000020004" pitchFamily="2" charset="0"/>
                        </a:rPr>
                        <a:t>16-Feb-26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01-Apr-26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06-Apr-26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Letter of award (LOA) issued to M/s Trisquare for PSS-11 &amp; PSS-10(B) on 06-Apr-26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90471776"/>
                  </a:ext>
                </a:extLst>
              </a:tr>
              <a:tr h="968506">
                <a:tc>
                  <a:txBody>
                    <a:bodyPr/>
                    <a:lstStyle/>
                    <a:p>
                      <a:pPr algn="ctr" fontAlgn="ctr"/>
                      <a:r>
                        <a:rPr lang="en-US" sz="1100" b="1" i="0" u="none" strike="noStrike">
                          <a:solidFill>
                            <a:srgbClr val="00B050"/>
                          </a:solidFill>
                          <a:effectLst/>
                          <a:latin typeface="Adani Regular" panose="02000503000000020004" pitchFamily="2" charset="0"/>
                        </a:rPr>
                        <a:t>18</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kern="1200">
                          <a:solidFill>
                            <a:srgbClr val="00B050"/>
                          </a:solidFill>
                          <a:effectLst/>
                          <a:latin typeface="Adani Regular" panose="02000503000000020004" pitchFamily="2" charset="0"/>
                          <a:ea typeface="+mn-ea"/>
                          <a:cs typeface="+mn-cs"/>
                        </a:rPr>
                        <a:t>Structural modification works in existing PSS</a:t>
                      </a:r>
                    </a:p>
                    <a:p>
                      <a:pPr marL="85725" indent="0" algn="l" fontAlgn="ctr"/>
                      <a:r>
                        <a:rPr lang="en-US" sz="1100" b="1" i="0" u="none" strike="noStrike" kern="1200">
                          <a:solidFill>
                            <a:srgbClr val="00B050"/>
                          </a:solidFill>
                          <a:effectLst/>
                          <a:latin typeface="Adani Regular" panose="02000503000000020004" pitchFamily="2" charset="0"/>
                          <a:ea typeface="+mn-ea"/>
                          <a:cs typeface="+mn-cs"/>
                        </a:rPr>
                        <a:t>(Containerized solution)</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 NOS</a:t>
                      </a:r>
                    </a:p>
                    <a:p>
                      <a:pPr algn="ctr" fontAlgn="ctr"/>
                      <a:r>
                        <a:rPr lang="en-US" sz="1100" b="1" i="0" u="none" strike="noStrike">
                          <a:solidFill>
                            <a:srgbClr val="00B050"/>
                          </a:solidFill>
                          <a:effectLst/>
                          <a:latin typeface="Adani Regular" panose="02000503000000020004" pitchFamily="2" charset="0"/>
                        </a:rPr>
                        <a:t>1 NOS</a:t>
                      </a:r>
                    </a:p>
                    <a:p>
                      <a:pPr algn="ctr" font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sngStrike">
                          <a:solidFill>
                            <a:srgbClr val="00B050"/>
                          </a:solidFill>
                          <a:effectLst/>
                          <a:latin typeface="Adani Regular" panose="02000503000000020004" pitchFamily="2" charset="0"/>
                        </a:rPr>
                        <a:t>07-Feb-26</a:t>
                      </a:r>
                    </a:p>
                    <a:p>
                      <a:pPr algn="ctr" fontAlgn="ctr"/>
                      <a:r>
                        <a:rPr lang="en-US" sz="1100" b="1" i="0" u="none" strike="sngStrike">
                          <a:solidFill>
                            <a:srgbClr val="00B050"/>
                          </a:solidFill>
                          <a:effectLst/>
                          <a:latin typeface="Adani Regular" panose="02000503000000020004" pitchFamily="2" charset="0"/>
                        </a:rPr>
                        <a:t>28-Feb-26</a:t>
                      </a:r>
                    </a:p>
                    <a:p>
                      <a:pPr algn="ctr" fontAlgn="ctr"/>
                      <a:r>
                        <a:rPr lang="en-US" sz="1100" b="1" i="0" u="none" strike="sngStrike">
                          <a:solidFill>
                            <a:srgbClr val="00B050"/>
                          </a:solidFill>
                          <a:effectLst/>
                          <a:latin typeface="Adani Regular" panose="02000503000000020004" pitchFamily="2" charset="0"/>
                        </a:rPr>
                        <a:t>10-Mar-26</a:t>
                      </a:r>
                    </a:p>
                    <a:p>
                      <a:pPr algn="ctr" fontAlgn="ctr"/>
                      <a:r>
                        <a:rPr lang="en-US" sz="1100" b="1" i="0" u="none" strike="noStrike">
                          <a:solidFill>
                            <a:srgbClr val="00B050"/>
                          </a:solidFill>
                          <a:effectLst/>
                          <a:latin typeface="Adani Regular" panose="02000503000000020004" pitchFamily="2" charset="0"/>
                        </a:rPr>
                        <a:t>23-Mar-26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17-Apr-26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sngStrike" kern="1200" cap="none" spc="0" normalizeH="0" baseline="0" noProof="0">
                          <a:ln>
                            <a:noFill/>
                          </a:ln>
                          <a:solidFill>
                            <a:srgbClr val="00B050"/>
                          </a:solidFill>
                          <a:effectLst/>
                          <a:uLnTx/>
                          <a:uFillTx/>
                          <a:latin typeface="Adani Regular" panose="02000503000000020004" pitchFamily="2" charset="0"/>
                          <a:ea typeface="+mn-ea"/>
                          <a:cs typeface="+mn-cs"/>
                        </a:rPr>
                        <a:t>14-Feb-26</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sngStrike" kern="1200" cap="none" spc="0" normalizeH="0" baseline="0" noProof="0">
                          <a:ln>
                            <a:noFill/>
                          </a:ln>
                          <a:solidFill>
                            <a:srgbClr val="00B050"/>
                          </a:solidFill>
                          <a:effectLst/>
                          <a:uLnTx/>
                          <a:uFillTx/>
                          <a:latin typeface="Adani Regular" panose="02000503000000020004" pitchFamily="2" charset="0"/>
                          <a:ea typeface="+mn-ea"/>
                          <a:cs typeface="+mn-cs"/>
                        </a:rPr>
                        <a:t>27-Feb-26</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sngStrike" kern="1200" cap="none" spc="0" normalizeH="0" baseline="0" noProof="0">
                          <a:ln>
                            <a:noFill/>
                          </a:ln>
                          <a:solidFill>
                            <a:srgbClr val="00B050"/>
                          </a:solidFill>
                          <a:effectLst/>
                          <a:uLnTx/>
                          <a:uFillTx/>
                          <a:latin typeface="Adani Regular" panose="02000503000000020004" pitchFamily="2" charset="0"/>
                          <a:ea typeface="+mn-ea"/>
                          <a:cs typeface="+mn-cs"/>
                        </a:rPr>
                        <a:t>08-Mar-26</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sngStrike" kern="1200" cap="none" spc="0" normalizeH="0" baseline="0" noProof="0">
                          <a:ln>
                            <a:noFill/>
                          </a:ln>
                          <a:solidFill>
                            <a:srgbClr val="00B050"/>
                          </a:solidFill>
                          <a:effectLst/>
                          <a:uLnTx/>
                          <a:uFillTx/>
                          <a:latin typeface="Adani Regular" panose="02000503000000020004" pitchFamily="2" charset="0"/>
                          <a:ea typeface="+mn-ea"/>
                          <a:cs typeface="+mn-cs"/>
                        </a:rPr>
                        <a:t>31-Mar-26</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sngStrike" kern="1200" cap="none" spc="0" normalizeH="0" baseline="0" noProof="0">
                          <a:ln>
                            <a:noFill/>
                          </a:ln>
                          <a:solidFill>
                            <a:srgbClr val="00B050"/>
                          </a:solidFill>
                          <a:effectLst/>
                          <a:uLnTx/>
                          <a:uFillTx/>
                          <a:latin typeface="Adani Regular" panose="02000503000000020004" pitchFamily="2" charset="0"/>
                          <a:ea typeface="+mn-ea"/>
                          <a:cs typeface="+mn-cs"/>
                        </a:rPr>
                        <a:t>14-Apr-26</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17-Apr-26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16-Feb-26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03-Mar-26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12-Mar-26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04-Apr-26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16-Apr-26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18-Apr-26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LOA issued to M/s RV Enterprise dated 18-Apr-26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911342138"/>
                  </a:ext>
                </a:extLst>
              </a:tr>
            </a:tbl>
          </a:graphicData>
        </a:graphic>
      </p:graphicFrame>
      <p:sp>
        <p:nvSpPr>
          <p:cNvPr id="3" name="Slide Number Placeholder 1">
            <a:extLst>
              <a:ext uri="{FF2B5EF4-FFF2-40B4-BE49-F238E27FC236}">
                <a16:creationId xmlns:a16="http://schemas.microsoft.com/office/drawing/2014/main" id="{502C627D-F80A-6DD1-36B5-39A913D366B9}"/>
              </a:ext>
            </a:extLst>
          </p:cNvPr>
          <p:cNvSpPr>
            <a:spLocks noGrp="1"/>
          </p:cNvSpPr>
          <p:nvPr>
            <p:ph type="sldNum" sz="quarter" idx="12"/>
          </p:nvPr>
        </p:nvSpPr>
        <p:spPr>
          <a:xfrm>
            <a:off x="11596914" y="6544298"/>
            <a:ext cx="595085" cy="365125"/>
          </a:xfrm>
        </p:spPr>
        <p:txBody>
          <a:bodyPr/>
          <a:lstStyle/>
          <a:p>
            <a:fld id="{98B285C1-D8A8-4E98-B28C-1FD972D8EC54}" type="slidenum">
              <a:rPr lang="en-IN" smtClean="0"/>
              <a:t>50</a:t>
            </a:fld>
            <a:endParaRPr lang="en-IN"/>
          </a:p>
        </p:txBody>
      </p:sp>
      <p:sp>
        <p:nvSpPr>
          <p:cNvPr id="5" name="Rectangle 2">
            <a:extLst>
              <a:ext uri="{FF2B5EF4-FFF2-40B4-BE49-F238E27FC236}">
                <a16:creationId xmlns:a16="http://schemas.microsoft.com/office/drawing/2014/main" id="{406E8E9A-1861-345C-6FA3-CEC59A882ABF}"/>
              </a:ext>
            </a:extLst>
          </p:cNvPr>
          <p:cNvSpPr txBox="1">
            <a:spLocks noChangeArrowheads="1"/>
          </p:cNvSpPr>
          <p:nvPr/>
        </p:nvSpPr>
        <p:spPr>
          <a:xfrm>
            <a:off x="66695" y="165164"/>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 </a:t>
            </a:r>
            <a:r>
              <a:rPr lang="en-US" sz="2400" b="1">
                <a:solidFill>
                  <a:srgbClr val="912A82"/>
                </a:solidFill>
                <a:highlight>
                  <a:srgbClr val="33CC33"/>
                </a:highlight>
              </a:rPr>
              <a:t>Supply ordering Status (</a:t>
            </a:r>
            <a:r>
              <a:rPr lang="en-IN" sz="2400" b="1">
                <a:solidFill>
                  <a:srgbClr val="912A82"/>
                </a:solidFill>
                <a:highlight>
                  <a:srgbClr val="33CC33"/>
                </a:highlight>
              </a:rPr>
              <a:t>PSS-11, 12 &amp; 10(B))</a:t>
            </a:r>
            <a:r>
              <a:rPr lang="en-IN" sz="2400" b="1">
                <a:solidFill>
                  <a:srgbClr val="00B050"/>
                </a:solidFill>
                <a:highlight>
                  <a:srgbClr val="33CC33"/>
                </a:highlight>
              </a:rPr>
              <a:t> - Completed </a:t>
            </a:r>
            <a:endParaRPr lang="en-US" sz="2400" b="1">
              <a:solidFill>
                <a:srgbClr val="00B050"/>
              </a:solidFill>
              <a:highlight>
                <a:srgbClr val="33CC33"/>
              </a:highlight>
            </a:endParaRPr>
          </a:p>
        </p:txBody>
      </p:sp>
    </p:spTree>
    <p:extLst>
      <p:ext uri="{BB962C8B-B14F-4D97-AF65-F5344CB8AC3E}">
        <p14:creationId xmlns:p14="http://schemas.microsoft.com/office/powerpoint/2010/main" val="41772235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0BB9B-1D37-3257-B99C-F958FC01CBCE}"/>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3DBCFF3-88F7-97D9-D1FA-2376A8B4448B}"/>
              </a:ext>
            </a:extLst>
          </p:cNvPr>
          <p:cNvGraphicFramePr>
            <a:graphicFrameLocks noGrp="1"/>
          </p:cNvGraphicFramePr>
          <p:nvPr/>
        </p:nvGraphicFramePr>
        <p:xfrm>
          <a:off x="66695" y="641996"/>
          <a:ext cx="12058610" cy="5384049"/>
        </p:xfrm>
        <a:graphic>
          <a:graphicData uri="http://schemas.openxmlformats.org/drawingml/2006/table">
            <a:tbl>
              <a:tblPr/>
              <a:tblGrid>
                <a:gridCol w="402992">
                  <a:extLst>
                    <a:ext uri="{9D8B030D-6E8A-4147-A177-3AD203B41FA5}">
                      <a16:colId xmlns:a16="http://schemas.microsoft.com/office/drawing/2014/main" val="2829026117"/>
                    </a:ext>
                  </a:extLst>
                </a:gridCol>
                <a:gridCol w="1271371">
                  <a:extLst>
                    <a:ext uri="{9D8B030D-6E8A-4147-A177-3AD203B41FA5}">
                      <a16:colId xmlns:a16="http://schemas.microsoft.com/office/drawing/2014/main" val="2773142122"/>
                    </a:ext>
                  </a:extLst>
                </a:gridCol>
                <a:gridCol w="702339">
                  <a:extLst>
                    <a:ext uri="{9D8B030D-6E8A-4147-A177-3AD203B41FA5}">
                      <a16:colId xmlns:a16="http://schemas.microsoft.com/office/drawing/2014/main" val="246702370"/>
                    </a:ext>
                  </a:extLst>
                </a:gridCol>
                <a:gridCol w="1064301">
                  <a:extLst>
                    <a:ext uri="{9D8B030D-6E8A-4147-A177-3AD203B41FA5}">
                      <a16:colId xmlns:a16="http://schemas.microsoft.com/office/drawing/2014/main" val="3558478565"/>
                    </a:ext>
                  </a:extLst>
                </a:gridCol>
                <a:gridCol w="809469">
                  <a:extLst>
                    <a:ext uri="{9D8B030D-6E8A-4147-A177-3AD203B41FA5}">
                      <a16:colId xmlns:a16="http://schemas.microsoft.com/office/drawing/2014/main" val="1271983604"/>
                    </a:ext>
                  </a:extLst>
                </a:gridCol>
                <a:gridCol w="956922">
                  <a:extLst>
                    <a:ext uri="{9D8B030D-6E8A-4147-A177-3AD203B41FA5}">
                      <a16:colId xmlns:a16="http://schemas.microsoft.com/office/drawing/2014/main" val="1705681307"/>
                    </a:ext>
                  </a:extLst>
                </a:gridCol>
                <a:gridCol w="1634619">
                  <a:extLst>
                    <a:ext uri="{9D8B030D-6E8A-4147-A177-3AD203B41FA5}">
                      <a16:colId xmlns:a16="http://schemas.microsoft.com/office/drawing/2014/main" val="916472123"/>
                    </a:ext>
                  </a:extLst>
                </a:gridCol>
                <a:gridCol w="781246">
                  <a:extLst>
                    <a:ext uri="{9D8B030D-6E8A-4147-A177-3AD203B41FA5}">
                      <a16:colId xmlns:a16="http://schemas.microsoft.com/office/drawing/2014/main" val="86425436"/>
                    </a:ext>
                  </a:extLst>
                </a:gridCol>
                <a:gridCol w="851534">
                  <a:extLst>
                    <a:ext uri="{9D8B030D-6E8A-4147-A177-3AD203B41FA5}">
                      <a16:colId xmlns:a16="http://schemas.microsoft.com/office/drawing/2014/main" val="3499724676"/>
                    </a:ext>
                  </a:extLst>
                </a:gridCol>
                <a:gridCol w="816390">
                  <a:extLst>
                    <a:ext uri="{9D8B030D-6E8A-4147-A177-3AD203B41FA5}">
                      <a16:colId xmlns:a16="http://schemas.microsoft.com/office/drawing/2014/main" val="708652653"/>
                    </a:ext>
                  </a:extLst>
                </a:gridCol>
                <a:gridCol w="2767427">
                  <a:extLst>
                    <a:ext uri="{9D8B030D-6E8A-4147-A177-3AD203B41FA5}">
                      <a16:colId xmlns:a16="http://schemas.microsoft.com/office/drawing/2014/main" val="773725385"/>
                    </a:ext>
                  </a:extLst>
                </a:gridCol>
              </a:tblGrid>
              <a:tr h="1594797">
                <a:tc>
                  <a:txBody>
                    <a:bodyPr/>
                    <a:lstStyle/>
                    <a:p>
                      <a:pPr algn="ctr" fontAlgn="ctr"/>
                      <a:r>
                        <a:rPr lang="en-US" sz="1100" b="1" i="0" u="none" strike="noStrike">
                          <a:solidFill>
                            <a:srgbClr val="FBFCFE"/>
                          </a:solidFill>
                          <a:effectLst/>
                          <a:latin typeface="Adani Regular" panose="02000503000000020004" pitchFamily="2" charset="0"/>
                        </a:rPr>
                        <a:t>SN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Equipment/ Package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Qty / Scope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Final / Revised Specifications Issue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Verified by Engineering consultant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TBER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Qualified Vendors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Receipt of Offer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Commercial NFA Submission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Release of PO / SO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Update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extLst>
                  <a:ext uri="{0D108BD9-81ED-4DB2-BD59-A6C34878D82A}">
                    <a16:rowId xmlns:a16="http://schemas.microsoft.com/office/drawing/2014/main" val="3826008376"/>
                  </a:ext>
                </a:extLst>
              </a:tr>
              <a:tr h="1894626">
                <a:tc>
                  <a:txBody>
                    <a:bodyPr/>
                    <a:lstStyle/>
                    <a:p>
                      <a:pPr algn="ctr" fontAlgn="ctr"/>
                      <a:r>
                        <a:rPr lang="en-US" sz="1100" b="1" i="0" u="none" strike="noStrike">
                          <a:solidFill>
                            <a:srgbClr val="00B050"/>
                          </a:solidFill>
                          <a:effectLst/>
                          <a:latin typeface="Adani Regular" panose="02000503000000020004" pitchFamily="2" charset="0"/>
                        </a:rPr>
                        <a:t>19</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Security Porta Cabin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3 NOS</a:t>
                      </a:r>
                    </a:p>
                    <a:p>
                      <a:pPr algn="ctr" fontAlgn="ctr"/>
                      <a:r>
                        <a:rPr lang="en-US" sz="1100" b="1" i="0" u="none" strike="noStrike">
                          <a:solidFill>
                            <a:srgbClr val="00B050"/>
                          </a:solidFill>
                          <a:effectLst/>
                          <a:latin typeface="Adani Regular" panose="02000503000000020004" pitchFamily="2" charset="0"/>
                        </a:rPr>
                        <a:t>2 NOS</a:t>
                      </a:r>
                    </a:p>
                    <a:p>
                      <a:pPr algn="ctr" fontAlgn="ctr"/>
                      <a:r>
                        <a:rPr lang="en-US" sz="1100" b="1" i="0" u="none" strike="noStrike">
                          <a:solidFill>
                            <a:srgbClr val="00B050"/>
                          </a:solidFill>
                          <a:effectLst/>
                          <a:latin typeface="Adani Regular" panose="02000503000000020004" pitchFamily="2" charset="0"/>
                        </a:rPr>
                        <a:t>1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23-Jan-26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Meta Steel Prefab</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11-Feb-26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kern="1200">
                          <a:solidFill>
                            <a:srgbClr val="00B050"/>
                          </a:solidFill>
                          <a:effectLst/>
                          <a:latin typeface="Adani Regular" panose="02000503000000020004" pitchFamily="2" charset="0"/>
                          <a:ea typeface="+mn-ea"/>
                          <a:cs typeface="+mn-cs"/>
                        </a:rPr>
                        <a:t>24-Feb-26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Commercial NFA approved. Order placed to Meta Steel Prefab on 24-Feb-26.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927141618"/>
                  </a:ext>
                </a:extLst>
              </a:tr>
              <a:tr h="1894626">
                <a:tc>
                  <a:txBody>
                    <a:bodyPr/>
                    <a:lstStyle/>
                    <a:p>
                      <a:pPr algn="ctr" fontAlgn="ctr"/>
                      <a:r>
                        <a:rPr lang="en-US" sz="1100" b="1" i="0" u="none" strike="noStrike">
                          <a:solidFill>
                            <a:srgbClr val="00B050"/>
                          </a:solidFill>
                          <a:effectLst/>
                          <a:latin typeface="Adani Regular" panose="02000503000000020004" pitchFamily="2" charset="0"/>
                        </a:rPr>
                        <a:t>20</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kern="1200">
                          <a:solidFill>
                            <a:srgbClr val="00B050"/>
                          </a:solidFill>
                          <a:effectLst/>
                          <a:latin typeface="Adani Regular" panose="02000503000000020004" pitchFamily="2" charset="0"/>
                          <a:ea typeface="+mn-ea"/>
                          <a:cs typeface="+mn-cs"/>
                        </a:rPr>
                        <a:t>Supply for FIT Kit with Hardware &amp; Software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LOT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15-Jan-26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Emerson, Honeywell, Adaptive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PSS-11 &amp; 10(B):</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sngStrike">
                          <a:solidFill>
                            <a:srgbClr val="00B050"/>
                          </a:solidFill>
                          <a:effectLst/>
                          <a:latin typeface="Adani Regular" panose="02000503000000020004" pitchFamily="2" charset="0"/>
                        </a:rPr>
                        <a:t>08-Feb-26</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21-Feb-26</a:t>
                      </a:r>
                    </a:p>
                    <a:p>
                      <a:pPr marL="0" marR="0" lvl="0" indent="0" algn="ctr" defTabSz="914400" rtl="0" eaLnBrk="1" fontAlgn="ctr" latinLnBrk="0" hangingPunct="1">
                        <a:lnSpc>
                          <a:spcPct val="100000"/>
                        </a:lnSpc>
                        <a:spcBef>
                          <a:spcPts val="0"/>
                        </a:spcBef>
                        <a:spcAft>
                          <a:spcPts val="0"/>
                        </a:spcAft>
                        <a:buClrTx/>
                        <a:buSzTx/>
                        <a:buFontTx/>
                        <a:buNone/>
                        <a:tabLst/>
                        <a:defRPr/>
                      </a:pPr>
                      <a:endParaRPr lang="en-US" sz="1100" b="1" i="0" u="none" strike="noStrike">
                        <a:solidFill>
                          <a:srgbClr val="00B050"/>
                        </a:solidFill>
                        <a:effectLst/>
                        <a:latin typeface="Adani Regular" panose="02000503000000020004" pitchFamily="2" charset="0"/>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PSS-12:</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sngStrike">
                          <a:solidFill>
                            <a:srgbClr val="00B050"/>
                          </a:solidFill>
                          <a:effectLst/>
                          <a:latin typeface="Adani Regular" panose="02000503000000020004" pitchFamily="2" charset="0"/>
                        </a:rPr>
                        <a:t>08-Feb-26</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sngStrike">
                          <a:solidFill>
                            <a:srgbClr val="00B050"/>
                          </a:solidFill>
                          <a:effectLst/>
                          <a:latin typeface="Adani Regular" panose="02000503000000020004" pitchFamily="2" charset="0"/>
                        </a:rPr>
                        <a:t>19-Feb-26</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sngStrike">
                          <a:solidFill>
                            <a:srgbClr val="00B050"/>
                          </a:solidFill>
                          <a:effectLst/>
                          <a:latin typeface="Adani Regular" panose="02000503000000020004" pitchFamily="2" charset="0"/>
                        </a:rPr>
                        <a:t>28-Feb-26</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03-Mar-26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Supply of Kit not required, instead logistics, travel &amp; lodging-boarding required. Commercial NFA considered along with EMS Package. </a:t>
                      </a:r>
                    </a:p>
                    <a:p>
                      <a:pPr marL="85725" indent="0" algn="l" fontAlgn="ctr"/>
                      <a:r>
                        <a:rPr lang="en-US" sz="1100" b="1" i="0" u="none" strike="noStrike">
                          <a:solidFill>
                            <a:srgbClr val="00B050"/>
                          </a:solidFill>
                          <a:effectLst/>
                          <a:latin typeface="Adani Regular" panose="02000503000000020004" pitchFamily="2" charset="0"/>
                        </a:rPr>
                        <a:t>Order placed for PSS-11 to Emerson on 21-Feb; PSS-10(B) to Adaptive on 17-Feb; </a:t>
                      </a:r>
                    </a:p>
                    <a:p>
                      <a:pPr marL="85725" indent="0" algn="l" fontAlgn="ctr"/>
                      <a:r>
                        <a:rPr lang="en-US" sz="1100" b="1" i="0" u="none" strike="noStrike">
                          <a:solidFill>
                            <a:srgbClr val="00B050"/>
                          </a:solidFill>
                          <a:effectLst/>
                          <a:latin typeface="Adani Regular" panose="02000503000000020004" pitchFamily="2" charset="0"/>
                        </a:rPr>
                        <a:t>Order for PSS-12 placed on Honeywell on </a:t>
                      </a:r>
                      <a:r>
                        <a:rPr lang="en-US" sz="1100" b="1" i="0" u="none" strike="sngStrike">
                          <a:solidFill>
                            <a:srgbClr val="00B050"/>
                          </a:solidFill>
                          <a:effectLst/>
                          <a:latin typeface="Adani Regular" panose="02000503000000020004" pitchFamily="2" charset="0"/>
                        </a:rPr>
                        <a:t>28-Feb</a:t>
                      </a:r>
                      <a:r>
                        <a:rPr lang="en-US" sz="1100" b="1" i="0" u="none" strike="noStrike">
                          <a:solidFill>
                            <a:srgbClr val="00B050"/>
                          </a:solidFill>
                          <a:effectLst/>
                          <a:latin typeface="Adani Regular" panose="02000503000000020004" pitchFamily="2" charset="0"/>
                        </a:rPr>
                        <a:t> 03-Mar.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50030462"/>
                  </a:ext>
                </a:extLst>
              </a:tr>
            </a:tbl>
          </a:graphicData>
        </a:graphic>
      </p:graphicFrame>
      <p:sp>
        <p:nvSpPr>
          <p:cNvPr id="3" name="Slide Number Placeholder 1">
            <a:extLst>
              <a:ext uri="{FF2B5EF4-FFF2-40B4-BE49-F238E27FC236}">
                <a16:creationId xmlns:a16="http://schemas.microsoft.com/office/drawing/2014/main" id="{543C0C3D-69F2-DA26-07F1-2A3345670200}"/>
              </a:ext>
            </a:extLst>
          </p:cNvPr>
          <p:cNvSpPr>
            <a:spLocks noGrp="1"/>
          </p:cNvSpPr>
          <p:nvPr>
            <p:ph type="sldNum" sz="quarter" idx="12"/>
          </p:nvPr>
        </p:nvSpPr>
        <p:spPr>
          <a:xfrm>
            <a:off x="11640457" y="6544298"/>
            <a:ext cx="551542" cy="365125"/>
          </a:xfrm>
        </p:spPr>
        <p:txBody>
          <a:bodyPr/>
          <a:lstStyle/>
          <a:p>
            <a:fld id="{98B285C1-D8A8-4E98-B28C-1FD972D8EC54}" type="slidenum">
              <a:rPr lang="en-IN" smtClean="0"/>
              <a:t>51</a:t>
            </a:fld>
            <a:endParaRPr lang="en-IN"/>
          </a:p>
        </p:txBody>
      </p:sp>
      <p:sp>
        <p:nvSpPr>
          <p:cNvPr id="5" name="Rectangle 2">
            <a:extLst>
              <a:ext uri="{FF2B5EF4-FFF2-40B4-BE49-F238E27FC236}">
                <a16:creationId xmlns:a16="http://schemas.microsoft.com/office/drawing/2014/main" id="{D3C5756F-D3E7-EEE0-2181-7FA4DC888C4B}"/>
              </a:ext>
            </a:extLst>
          </p:cNvPr>
          <p:cNvSpPr txBox="1">
            <a:spLocks noChangeArrowheads="1"/>
          </p:cNvSpPr>
          <p:nvPr/>
        </p:nvSpPr>
        <p:spPr>
          <a:xfrm>
            <a:off x="66695" y="165164"/>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 </a:t>
            </a:r>
            <a:r>
              <a:rPr lang="en-US" sz="2400" b="1">
                <a:solidFill>
                  <a:srgbClr val="912A82"/>
                </a:solidFill>
                <a:highlight>
                  <a:srgbClr val="33CC33"/>
                </a:highlight>
              </a:rPr>
              <a:t>Supply ordering Status (</a:t>
            </a:r>
            <a:r>
              <a:rPr lang="en-IN" sz="2400" b="1">
                <a:solidFill>
                  <a:srgbClr val="912A82"/>
                </a:solidFill>
                <a:highlight>
                  <a:srgbClr val="33CC33"/>
                </a:highlight>
              </a:rPr>
              <a:t>PSS-11, 12 &amp; 10(B))</a:t>
            </a:r>
            <a:r>
              <a:rPr lang="en-IN" sz="2400" b="1">
                <a:solidFill>
                  <a:srgbClr val="00B050"/>
                </a:solidFill>
                <a:highlight>
                  <a:srgbClr val="33CC33"/>
                </a:highlight>
              </a:rPr>
              <a:t> - Completed  </a:t>
            </a:r>
            <a:endParaRPr lang="en-US" sz="2400" b="1">
              <a:solidFill>
                <a:srgbClr val="00B050"/>
              </a:solidFill>
              <a:highlight>
                <a:srgbClr val="33CC33"/>
              </a:highlight>
            </a:endParaRPr>
          </a:p>
        </p:txBody>
      </p:sp>
    </p:spTree>
    <p:extLst>
      <p:ext uri="{BB962C8B-B14F-4D97-AF65-F5344CB8AC3E}">
        <p14:creationId xmlns:p14="http://schemas.microsoft.com/office/powerpoint/2010/main" val="15115785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6505B-DF36-6BE7-6124-A9B756AD44DB}"/>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4C0E375-D6BC-702E-B48E-814AD71B06EE}"/>
              </a:ext>
            </a:extLst>
          </p:cNvPr>
          <p:cNvGraphicFramePr>
            <a:graphicFrameLocks noGrp="1"/>
          </p:cNvGraphicFramePr>
          <p:nvPr>
            <p:extLst>
              <p:ext uri="{D42A27DB-BD31-4B8C-83A1-F6EECF244321}">
                <p14:modId xmlns:p14="http://schemas.microsoft.com/office/powerpoint/2010/main" val="1506211093"/>
              </p:ext>
            </p:extLst>
          </p:nvPr>
        </p:nvGraphicFramePr>
        <p:xfrm>
          <a:off x="100256" y="744875"/>
          <a:ext cx="11950762" cy="5572238"/>
        </p:xfrm>
        <a:graphic>
          <a:graphicData uri="http://schemas.openxmlformats.org/drawingml/2006/table">
            <a:tbl>
              <a:tblPr/>
              <a:tblGrid>
                <a:gridCol w="399388">
                  <a:extLst>
                    <a:ext uri="{9D8B030D-6E8A-4147-A177-3AD203B41FA5}">
                      <a16:colId xmlns:a16="http://schemas.microsoft.com/office/drawing/2014/main" val="2829026117"/>
                    </a:ext>
                  </a:extLst>
                </a:gridCol>
                <a:gridCol w="1260000">
                  <a:extLst>
                    <a:ext uri="{9D8B030D-6E8A-4147-A177-3AD203B41FA5}">
                      <a16:colId xmlns:a16="http://schemas.microsoft.com/office/drawing/2014/main" val="2773142122"/>
                    </a:ext>
                  </a:extLst>
                </a:gridCol>
                <a:gridCol w="792000">
                  <a:extLst>
                    <a:ext uri="{9D8B030D-6E8A-4147-A177-3AD203B41FA5}">
                      <a16:colId xmlns:a16="http://schemas.microsoft.com/office/drawing/2014/main" val="246702370"/>
                    </a:ext>
                  </a:extLst>
                </a:gridCol>
                <a:gridCol w="1061592">
                  <a:extLst>
                    <a:ext uri="{9D8B030D-6E8A-4147-A177-3AD203B41FA5}">
                      <a16:colId xmlns:a16="http://schemas.microsoft.com/office/drawing/2014/main" val="3558478565"/>
                    </a:ext>
                  </a:extLst>
                </a:gridCol>
                <a:gridCol w="823921">
                  <a:extLst>
                    <a:ext uri="{9D8B030D-6E8A-4147-A177-3AD203B41FA5}">
                      <a16:colId xmlns:a16="http://schemas.microsoft.com/office/drawing/2014/main" val="1271983604"/>
                    </a:ext>
                  </a:extLst>
                </a:gridCol>
                <a:gridCol w="823921">
                  <a:extLst>
                    <a:ext uri="{9D8B030D-6E8A-4147-A177-3AD203B41FA5}">
                      <a16:colId xmlns:a16="http://schemas.microsoft.com/office/drawing/2014/main" val="1705681307"/>
                    </a:ext>
                  </a:extLst>
                </a:gridCol>
                <a:gridCol w="1620000">
                  <a:extLst>
                    <a:ext uri="{9D8B030D-6E8A-4147-A177-3AD203B41FA5}">
                      <a16:colId xmlns:a16="http://schemas.microsoft.com/office/drawing/2014/main" val="916472123"/>
                    </a:ext>
                  </a:extLst>
                </a:gridCol>
                <a:gridCol w="809088">
                  <a:extLst>
                    <a:ext uri="{9D8B030D-6E8A-4147-A177-3AD203B41FA5}">
                      <a16:colId xmlns:a16="http://schemas.microsoft.com/office/drawing/2014/main" val="86425436"/>
                    </a:ext>
                  </a:extLst>
                </a:gridCol>
                <a:gridCol w="809088">
                  <a:extLst>
                    <a:ext uri="{9D8B030D-6E8A-4147-A177-3AD203B41FA5}">
                      <a16:colId xmlns:a16="http://schemas.microsoft.com/office/drawing/2014/main" val="3499724676"/>
                    </a:ext>
                  </a:extLst>
                </a:gridCol>
                <a:gridCol w="809088">
                  <a:extLst>
                    <a:ext uri="{9D8B030D-6E8A-4147-A177-3AD203B41FA5}">
                      <a16:colId xmlns:a16="http://schemas.microsoft.com/office/drawing/2014/main" val="708652653"/>
                    </a:ext>
                  </a:extLst>
                </a:gridCol>
                <a:gridCol w="2742676">
                  <a:extLst>
                    <a:ext uri="{9D8B030D-6E8A-4147-A177-3AD203B41FA5}">
                      <a16:colId xmlns:a16="http://schemas.microsoft.com/office/drawing/2014/main" val="773725385"/>
                    </a:ext>
                  </a:extLst>
                </a:gridCol>
              </a:tblGrid>
              <a:tr h="484705">
                <a:tc>
                  <a:txBody>
                    <a:bodyPr/>
                    <a:lstStyle/>
                    <a:p>
                      <a:pPr algn="ctr" fontAlgn="ctr"/>
                      <a:r>
                        <a:rPr lang="en-US" sz="1100" b="1" i="0" u="none" strike="noStrike">
                          <a:solidFill>
                            <a:srgbClr val="FBFCFE"/>
                          </a:solidFill>
                          <a:effectLst/>
                          <a:latin typeface="Adani Regular" panose="02000503000000020004" pitchFamily="2" charset="0"/>
                        </a:rPr>
                        <a:t>SN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Equipment/ Package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Qty / Scope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Final / Revised Specifications Issue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Verified by Engineering consultant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TBER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Qualified Vendors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Receipt of Offer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Commercial NFA Submission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Release of PO / SO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Update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extLst>
                  <a:ext uri="{0D108BD9-81ED-4DB2-BD59-A6C34878D82A}">
                    <a16:rowId xmlns:a16="http://schemas.microsoft.com/office/drawing/2014/main" val="3826008376"/>
                  </a:ext>
                </a:extLst>
              </a:tr>
              <a:tr h="484705">
                <a:tc>
                  <a:txBody>
                    <a:bodyPr/>
                    <a:lstStyle/>
                    <a:p>
                      <a:pPr algn="ctr" fontAlgn="ctr"/>
                      <a:r>
                        <a:rPr lang="en-US" sz="1100" b="1" i="0" u="none" strike="noStrike">
                          <a:solidFill>
                            <a:srgbClr val="00B050"/>
                          </a:solidFill>
                          <a:effectLst/>
                          <a:latin typeface="Adani Regular" panose="02000503000000020004" pitchFamily="2" charset="0"/>
                        </a:rPr>
                        <a:t>1</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Engineering Consultancy Services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 LOT</a:t>
                      </a:r>
                    </a:p>
                    <a:p>
                      <a:pPr algn="ctr" fontAlgn="ctr"/>
                      <a:r>
                        <a:rPr lang="en-US" sz="1100" b="1" i="0" u="none" strike="noStrike">
                          <a:solidFill>
                            <a:srgbClr val="00B050"/>
                          </a:solidFill>
                          <a:effectLst/>
                          <a:latin typeface="Adani Regular" panose="02000503000000020004" pitchFamily="2" charset="0"/>
                        </a:rPr>
                        <a:t>1 LOT</a:t>
                      </a:r>
                    </a:p>
                    <a:p>
                      <a:pPr algn="ctr" fontAlgn="ctr"/>
                      <a:r>
                        <a:rPr lang="en-US" sz="1100" b="1" i="0" u="none" strike="noStrike">
                          <a:solidFill>
                            <a:srgbClr val="00B050"/>
                          </a:solidFill>
                          <a:effectLst/>
                          <a:latin typeface="Adani Regular" panose="02000503000000020004" pitchFamily="2" charset="0"/>
                        </a:rPr>
                        <a:t>1 LOT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11-Nov-25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15-Nov-25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err="1">
                          <a:solidFill>
                            <a:srgbClr val="00B050"/>
                          </a:solidFill>
                          <a:effectLst/>
                          <a:latin typeface="Adani Regular" panose="02000503000000020004" pitchFamily="2" charset="0"/>
                          <a:ea typeface="Aptos" panose="020B0004020202020204" pitchFamily="34" charset="0"/>
                          <a:cs typeface="Aptos" panose="020B0004020202020204" pitchFamily="34" charset="0"/>
                        </a:rPr>
                        <a:t>Fictner</a:t>
                      </a: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 Worley, Tractebel  &amp; TCE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17-Nov-25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18-Nov-25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kern="1200">
                          <a:solidFill>
                            <a:srgbClr val="00B050"/>
                          </a:solidFill>
                          <a:effectLst/>
                          <a:latin typeface="Adani Regular" panose="02000503000000020004" pitchFamily="2" charset="0"/>
                          <a:ea typeface="+mn-ea"/>
                          <a:cs typeface="+mn-cs"/>
                        </a:rPr>
                        <a:t>26-Nov-25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placed to Worley for PSS-11, 12 &amp; 10(B).</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31647959"/>
                  </a:ext>
                </a:extLst>
              </a:tr>
              <a:tr h="484705">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2</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ACDC Electrical works</a:t>
                      </a:r>
                      <a:endParaRPr lang="en-US" sz="1100" b="1" i="0" u="none" strike="noStrike" kern="1200">
                        <a:solidFill>
                          <a:srgbClr val="00B050"/>
                        </a:solidFill>
                        <a:effectLst/>
                        <a:latin typeface="Adani Regular" panose="02000503000000020004" pitchFamily="2" charset="0"/>
                        <a:ea typeface="+mn-ea"/>
                        <a:cs typeface="+mn-cs"/>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 LOT</a:t>
                      </a:r>
                    </a:p>
                    <a:p>
                      <a:pPr algn="ctr" fontAlgn="ctr"/>
                      <a:r>
                        <a:rPr lang="en-US" sz="1100" b="1" i="0" u="none" strike="noStrike">
                          <a:solidFill>
                            <a:srgbClr val="00B050"/>
                          </a:solidFill>
                          <a:effectLst/>
                          <a:latin typeface="Adani Regular" panose="02000503000000020004" pitchFamily="2" charset="0"/>
                        </a:rPr>
                        <a:t>1 LOT</a:t>
                      </a:r>
                    </a:p>
                    <a:p>
                      <a:pPr algn="ctr" fontAlgn="ctr"/>
                      <a:r>
                        <a:rPr lang="en-US" sz="1100" b="1" i="0" u="none" strike="noStrike">
                          <a:solidFill>
                            <a:srgbClr val="00B050"/>
                          </a:solidFill>
                          <a:effectLst/>
                          <a:latin typeface="Adani Regular" panose="02000503000000020004" pitchFamily="2" charset="0"/>
                        </a:rPr>
                        <a:t>1 LOT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27-Nov-25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endParaRPr lang="en-US" sz="1100" b="1" i="0" u="none" strike="noStrike" kern="1200">
                        <a:solidFill>
                          <a:srgbClr val="00B050"/>
                        </a:solidFill>
                        <a:effectLst/>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01-Jan-26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Akshar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10-Jan-26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i="0" u="none" strike="noStrike" kern="1200">
                          <a:solidFill>
                            <a:srgbClr val="00B050"/>
                          </a:solidFill>
                          <a:effectLst/>
                          <a:latin typeface="Adani Regular" panose="02000503000000020004" pitchFamily="2" charset="0"/>
                          <a:ea typeface="+mn-ea"/>
                          <a:cs typeface="+mn-cs"/>
                        </a:rPr>
                        <a:t>17-Jan-26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issued to M/s Pratibha for PSS-11 and M/s Akshar for PSS-12 &amp; 10(B) dated 17-Jan-26.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90471776"/>
                  </a:ext>
                </a:extLst>
              </a:tr>
              <a:tr h="532481">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3</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Grid Modelling &amp; System Study</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 LOT</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 LOT</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 LOT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06-Nov-25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15-Nov-25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a:ea typeface="Aptos" panose="020B0004020202020204" pitchFamily="34" charset="0"/>
                          <a:cs typeface="Aptos" panose="020B0004020202020204" pitchFamily="34" charset="0"/>
                        </a:rPr>
                        <a:t>Hitachi</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24-Nov-25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placed to M/s Hitachi </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16478900"/>
                  </a:ext>
                </a:extLst>
              </a:tr>
              <a:tr h="484705">
                <a:tc>
                  <a:txBody>
                    <a:bodyPr/>
                    <a:lstStyle/>
                    <a:p>
                      <a:pPr algn="ctr" fontAlgn="ctr"/>
                      <a:r>
                        <a:rPr lang="en-US" sz="1100" b="1" i="0" u="none" strike="noStrike">
                          <a:solidFill>
                            <a:srgbClr val="00B050"/>
                          </a:solidFill>
                          <a:effectLst/>
                          <a:latin typeface="Adani Regular" panose="02000503000000020004" pitchFamily="2" charset="0"/>
                        </a:rPr>
                        <a:t>4</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Piling works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32,750 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28,444 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21,336 m </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18-Nov-25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Cemindia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25-Nov-25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placed to Cemindia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180625973"/>
                  </a:ext>
                </a:extLst>
              </a:tr>
              <a:tr h="1284335">
                <a:tc>
                  <a:txBody>
                    <a:bodyPr/>
                    <a:lstStyle/>
                    <a:p>
                      <a:pPr algn="ctr" fontAlgn="ctr"/>
                      <a:r>
                        <a:rPr lang="en-US" sz="1100" b="1" i="0" u="none" strike="noStrike">
                          <a:solidFill>
                            <a:srgbClr val="00B050"/>
                          </a:solidFill>
                          <a:effectLst/>
                          <a:latin typeface="Adani Regular" panose="02000503000000020004" pitchFamily="2" charset="0"/>
                        </a:rPr>
                        <a:t>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Civil Works – BOP (Equip. foundations, HF, Roads-drains-fencing, Security cabin, Exist. PSS modification)</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LOT</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LOT</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LOT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26-Nov-25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22-Dec-25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Shreeji, Himalaya, Rajaram&amp;Sons, Rokane, Rathore, Nageshwar Infra, Vinayaka, HSB, DEK &amp; Mavericks, SMP, RAVJI MANJI, NRUPUR, GODARA, DNC, MEERA, M S CHOUHAN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10-Dec-25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02-Jan-26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i="0" u="none" strike="noStrike" kern="1200">
                          <a:solidFill>
                            <a:srgbClr val="00B050"/>
                          </a:solidFill>
                          <a:effectLst/>
                          <a:latin typeface="Adani Regular" panose="02000503000000020004" pitchFamily="2" charset="0"/>
                          <a:ea typeface="+mn-ea"/>
                          <a:cs typeface="+mn-cs"/>
                        </a:rPr>
                        <a:t>30-Dec-25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Oder issued to MS Chauhan for PSS-11 &amp; PSS-12 on 30-Dec-25.</a:t>
                      </a:r>
                    </a:p>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Order issued to Godhara Infratech for PSS-10(B) on 30-Dec-25.</a:t>
                      </a:r>
                    </a:p>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Order issued to GP Project for Roads-Drain on 03-Jan-26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949976789"/>
                  </a:ext>
                </a:extLst>
              </a:tr>
              <a:tr h="644631">
                <a:tc>
                  <a:txBody>
                    <a:bodyPr/>
                    <a:lstStyle/>
                    <a:p>
                      <a:pPr algn="ctr" fontAlgn="ctr"/>
                      <a:r>
                        <a:rPr lang="en-US" sz="1100" b="1" i="0" u="none" strike="noStrike">
                          <a:solidFill>
                            <a:srgbClr val="00B050"/>
                          </a:solidFill>
                          <a:effectLst/>
                          <a:latin typeface="Adani Regular" panose="02000503000000020004" pitchFamily="2" charset="0"/>
                        </a:rPr>
                        <a:t>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Structural/PEB works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486 MT</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431 MT</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270 MT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26-Nov-25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22-Dec-25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RFP sent to BNAL(regret), DP Consteel, Vats group, Synergy thirlling ton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12-Dec-25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23-Dec-25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i="0" u="none" strike="noStrike" kern="1200">
                          <a:solidFill>
                            <a:srgbClr val="00B050"/>
                          </a:solidFill>
                          <a:effectLst/>
                          <a:latin typeface="Adani Regular" panose="02000503000000020004" pitchFamily="2" charset="0"/>
                          <a:ea typeface="+mn-ea"/>
                          <a:cs typeface="+mn-cs"/>
                        </a:rPr>
                        <a:t>03-Jan-26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Oder issued to DP Consteel on 03-Jan-26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62990573"/>
                  </a:ext>
                </a:extLst>
              </a:tr>
              <a:tr h="451638">
                <a:tc>
                  <a:txBody>
                    <a:bodyPr/>
                    <a:lstStyle/>
                    <a:p>
                      <a:pPr algn="ctr" fontAlgn="ctr"/>
                      <a:r>
                        <a:rPr lang="en-US" sz="1100" b="1" i="0" u="none" strike="noStrike">
                          <a:solidFill>
                            <a:srgbClr val="00B050"/>
                          </a:solidFill>
                          <a:effectLst/>
                          <a:latin typeface="Adani Regular" panose="02000503000000020004" pitchFamily="2" charset="0"/>
                        </a:rPr>
                        <a:t>7</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Consultancy for FSPA &amp; Fire NOC</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05-Jan-26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Order for FSPA &amp; Fire NOC consultancy placed on 05-Jan-26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093175227"/>
                  </a:ext>
                </a:extLst>
              </a:tr>
              <a:tr h="484705">
                <a:tc>
                  <a:txBody>
                    <a:bodyPr/>
                    <a:lstStyle/>
                    <a:p>
                      <a:pPr algn="ctr" fontAlgn="ctr"/>
                      <a:r>
                        <a:rPr lang="en-US" sz="1100" b="1" i="0" u="none" strike="noStrike">
                          <a:solidFill>
                            <a:srgbClr val="00B050"/>
                          </a:solidFill>
                          <a:effectLst/>
                          <a:latin typeface="Adani Regular" panose="02000503000000020004" pitchFamily="2" charset="0"/>
                        </a:rPr>
                        <a:t>8</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BESS Cloud &amp; Integration with ENOC</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 LOT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16-Jan-26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30-Jan-26</a:t>
                      </a:r>
                    </a:p>
                    <a:p>
                      <a:pPr algn="ctr" fontAlgn="ctr"/>
                      <a:r>
                        <a:rPr lang="en-US" sz="1100" b="1" i="0" u="none" strike="noStrike">
                          <a:solidFill>
                            <a:srgbClr val="00B050"/>
                          </a:solidFill>
                          <a:effectLst/>
                          <a:latin typeface="Adani Regular" panose="02000503000000020004" pitchFamily="2" charset="0"/>
                        </a:rPr>
                        <a:t>12-Feb-26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Dell, HP</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16-Feb-26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kern="1200">
                          <a:solidFill>
                            <a:srgbClr val="00B050"/>
                          </a:solidFill>
                          <a:effectLst/>
                          <a:latin typeface="Adani Regular" panose="02000503000000020004" pitchFamily="2" charset="0"/>
                          <a:ea typeface="+mn-ea"/>
                          <a:cs typeface="+mn-cs"/>
                        </a:rPr>
                        <a:t>18-Feb-26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issued dated 18-Feb to Dell.</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69877776"/>
                  </a:ext>
                </a:extLst>
              </a:tr>
            </a:tbl>
          </a:graphicData>
        </a:graphic>
      </p:graphicFrame>
      <p:sp>
        <p:nvSpPr>
          <p:cNvPr id="3" name="Slide Number Placeholder 1">
            <a:extLst>
              <a:ext uri="{FF2B5EF4-FFF2-40B4-BE49-F238E27FC236}">
                <a16:creationId xmlns:a16="http://schemas.microsoft.com/office/drawing/2014/main" id="{E393C480-005E-F6F4-C450-91D7A790C3DE}"/>
              </a:ext>
            </a:extLst>
          </p:cNvPr>
          <p:cNvSpPr>
            <a:spLocks noGrp="1"/>
          </p:cNvSpPr>
          <p:nvPr>
            <p:ph type="sldNum" sz="quarter" idx="12"/>
          </p:nvPr>
        </p:nvSpPr>
        <p:spPr>
          <a:xfrm>
            <a:off x="11684000" y="6504188"/>
            <a:ext cx="508000" cy="365125"/>
          </a:xfrm>
        </p:spPr>
        <p:txBody>
          <a:bodyPr/>
          <a:lstStyle/>
          <a:p>
            <a:fld id="{98B285C1-D8A8-4E98-B28C-1FD972D8EC54}" type="slidenum">
              <a:rPr lang="en-IN" smtClean="0"/>
              <a:t>52</a:t>
            </a:fld>
            <a:endParaRPr lang="en-IN"/>
          </a:p>
        </p:txBody>
      </p:sp>
      <p:sp>
        <p:nvSpPr>
          <p:cNvPr id="5" name="Rectangle 2">
            <a:extLst>
              <a:ext uri="{FF2B5EF4-FFF2-40B4-BE49-F238E27FC236}">
                <a16:creationId xmlns:a16="http://schemas.microsoft.com/office/drawing/2014/main" id="{E116BABB-4D03-BDB0-4822-CD5B942AD3FD}"/>
              </a:ext>
            </a:extLst>
          </p:cNvPr>
          <p:cNvSpPr txBox="1">
            <a:spLocks noChangeArrowheads="1"/>
          </p:cNvSpPr>
          <p:nvPr/>
        </p:nvSpPr>
        <p:spPr>
          <a:xfrm>
            <a:off x="66695" y="165164"/>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 </a:t>
            </a:r>
            <a:r>
              <a:rPr lang="en-US" sz="2400" b="1">
                <a:solidFill>
                  <a:srgbClr val="912A82"/>
                </a:solidFill>
                <a:highlight>
                  <a:srgbClr val="33CC33"/>
                </a:highlight>
              </a:rPr>
              <a:t>Service ordering Status (</a:t>
            </a:r>
            <a:r>
              <a:rPr lang="en-IN" sz="2400" b="1">
                <a:solidFill>
                  <a:srgbClr val="912A82"/>
                </a:solidFill>
                <a:highlight>
                  <a:srgbClr val="33CC33"/>
                </a:highlight>
              </a:rPr>
              <a:t>PSS-11, 12 &amp; 10(B))</a:t>
            </a:r>
            <a:r>
              <a:rPr lang="en-IN" sz="2400" b="1">
                <a:solidFill>
                  <a:srgbClr val="00B050"/>
                </a:solidFill>
                <a:highlight>
                  <a:srgbClr val="33CC33"/>
                </a:highlight>
              </a:rPr>
              <a:t> - Completed</a:t>
            </a:r>
            <a:endParaRPr lang="en-US" sz="2400" b="1">
              <a:solidFill>
                <a:srgbClr val="3D3DFF"/>
              </a:solidFill>
              <a:highlight>
                <a:srgbClr val="33CC33"/>
              </a:highlight>
            </a:endParaRPr>
          </a:p>
        </p:txBody>
      </p:sp>
    </p:spTree>
    <p:extLst>
      <p:ext uri="{BB962C8B-B14F-4D97-AF65-F5344CB8AC3E}">
        <p14:creationId xmlns:p14="http://schemas.microsoft.com/office/powerpoint/2010/main" val="12350168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0E6D2-7065-40EE-0CEA-2CB74323B04A}"/>
            </a:ext>
          </a:extLst>
        </p:cNvPr>
        <p:cNvGrpSpPr/>
        <p:nvPr/>
      </p:nvGrpSpPr>
      <p:grpSpPr>
        <a:xfrm>
          <a:off x="0" y="0"/>
          <a:ext cx="0" cy="0"/>
          <a:chOff x="0" y="0"/>
          <a:chExt cx="0" cy="0"/>
        </a:xfrm>
      </p:grpSpPr>
      <p:sp>
        <p:nvSpPr>
          <p:cNvPr id="3" name="Slide Number Placeholder 1">
            <a:extLst>
              <a:ext uri="{FF2B5EF4-FFF2-40B4-BE49-F238E27FC236}">
                <a16:creationId xmlns:a16="http://schemas.microsoft.com/office/drawing/2014/main" id="{2C59A8BF-10C4-1E3B-32B1-AE9EA484EEC3}"/>
              </a:ext>
            </a:extLst>
          </p:cNvPr>
          <p:cNvSpPr>
            <a:spLocks noGrp="1"/>
          </p:cNvSpPr>
          <p:nvPr>
            <p:ph type="sldNum" sz="quarter" idx="12"/>
          </p:nvPr>
        </p:nvSpPr>
        <p:spPr>
          <a:xfrm>
            <a:off x="11727543" y="6504188"/>
            <a:ext cx="464456" cy="365125"/>
          </a:xfrm>
        </p:spPr>
        <p:txBody>
          <a:bodyPr/>
          <a:lstStyle/>
          <a:p>
            <a:fld id="{98B285C1-D8A8-4E98-B28C-1FD972D8EC54}" type="slidenum">
              <a:rPr lang="en-IN" smtClean="0"/>
              <a:t>53</a:t>
            </a:fld>
            <a:endParaRPr lang="en-IN"/>
          </a:p>
        </p:txBody>
      </p:sp>
      <p:sp>
        <p:nvSpPr>
          <p:cNvPr id="5" name="Rectangle 2">
            <a:extLst>
              <a:ext uri="{FF2B5EF4-FFF2-40B4-BE49-F238E27FC236}">
                <a16:creationId xmlns:a16="http://schemas.microsoft.com/office/drawing/2014/main" id="{18F9214A-2274-0D96-FA42-CA1B02284AD6}"/>
              </a:ext>
            </a:extLst>
          </p:cNvPr>
          <p:cNvSpPr txBox="1">
            <a:spLocks noChangeArrowheads="1"/>
          </p:cNvSpPr>
          <p:nvPr/>
        </p:nvSpPr>
        <p:spPr>
          <a:xfrm>
            <a:off x="66695" y="165164"/>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 </a:t>
            </a:r>
            <a:r>
              <a:rPr lang="en-US" sz="2400" b="1">
                <a:solidFill>
                  <a:srgbClr val="912A82"/>
                </a:solidFill>
                <a:highlight>
                  <a:srgbClr val="33CC33"/>
                </a:highlight>
              </a:rPr>
              <a:t>Service ordering Status (</a:t>
            </a:r>
            <a:r>
              <a:rPr lang="en-IN" sz="2400" b="1">
                <a:solidFill>
                  <a:srgbClr val="912A82"/>
                </a:solidFill>
                <a:highlight>
                  <a:srgbClr val="33CC33"/>
                </a:highlight>
              </a:rPr>
              <a:t>PSS-11, 12 &amp; 10(B))</a:t>
            </a:r>
            <a:r>
              <a:rPr lang="en-IN" sz="2400" b="1">
                <a:solidFill>
                  <a:srgbClr val="00B050"/>
                </a:solidFill>
                <a:highlight>
                  <a:srgbClr val="33CC33"/>
                </a:highlight>
              </a:rPr>
              <a:t> - Completed </a:t>
            </a:r>
            <a:endParaRPr lang="en-US" sz="2400" b="1">
              <a:solidFill>
                <a:srgbClr val="3D3DFF"/>
              </a:solidFill>
              <a:highlight>
                <a:srgbClr val="33CC33"/>
              </a:highlight>
            </a:endParaRPr>
          </a:p>
        </p:txBody>
      </p:sp>
      <p:graphicFrame>
        <p:nvGraphicFramePr>
          <p:cNvPr id="6" name="Table 5">
            <a:extLst>
              <a:ext uri="{FF2B5EF4-FFF2-40B4-BE49-F238E27FC236}">
                <a16:creationId xmlns:a16="http://schemas.microsoft.com/office/drawing/2014/main" id="{334BEF99-C76F-7A4C-02DE-882BD9428E53}"/>
              </a:ext>
            </a:extLst>
          </p:cNvPr>
          <p:cNvGraphicFramePr>
            <a:graphicFrameLocks noGrp="1"/>
          </p:cNvGraphicFramePr>
          <p:nvPr/>
        </p:nvGraphicFramePr>
        <p:xfrm>
          <a:off x="100256" y="744871"/>
          <a:ext cx="11936847" cy="3897744"/>
        </p:xfrm>
        <a:graphic>
          <a:graphicData uri="http://schemas.openxmlformats.org/drawingml/2006/table">
            <a:tbl>
              <a:tblPr/>
              <a:tblGrid>
                <a:gridCol w="398923">
                  <a:extLst>
                    <a:ext uri="{9D8B030D-6E8A-4147-A177-3AD203B41FA5}">
                      <a16:colId xmlns:a16="http://schemas.microsoft.com/office/drawing/2014/main" val="2829026117"/>
                    </a:ext>
                  </a:extLst>
                </a:gridCol>
                <a:gridCol w="1258533">
                  <a:extLst>
                    <a:ext uri="{9D8B030D-6E8A-4147-A177-3AD203B41FA5}">
                      <a16:colId xmlns:a16="http://schemas.microsoft.com/office/drawing/2014/main" val="2773142122"/>
                    </a:ext>
                  </a:extLst>
                </a:gridCol>
                <a:gridCol w="791078">
                  <a:extLst>
                    <a:ext uri="{9D8B030D-6E8A-4147-A177-3AD203B41FA5}">
                      <a16:colId xmlns:a16="http://schemas.microsoft.com/office/drawing/2014/main" val="246702370"/>
                    </a:ext>
                  </a:extLst>
                </a:gridCol>
                <a:gridCol w="1060356">
                  <a:extLst>
                    <a:ext uri="{9D8B030D-6E8A-4147-A177-3AD203B41FA5}">
                      <a16:colId xmlns:a16="http://schemas.microsoft.com/office/drawing/2014/main" val="3558478565"/>
                    </a:ext>
                  </a:extLst>
                </a:gridCol>
                <a:gridCol w="822962">
                  <a:extLst>
                    <a:ext uri="{9D8B030D-6E8A-4147-A177-3AD203B41FA5}">
                      <a16:colId xmlns:a16="http://schemas.microsoft.com/office/drawing/2014/main" val="1271983604"/>
                    </a:ext>
                  </a:extLst>
                </a:gridCol>
                <a:gridCol w="973157">
                  <a:extLst>
                    <a:ext uri="{9D8B030D-6E8A-4147-A177-3AD203B41FA5}">
                      <a16:colId xmlns:a16="http://schemas.microsoft.com/office/drawing/2014/main" val="1705681307"/>
                    </a:ext>
                  </a:extLst>
                </a:gridCol>
                <a:gridCol w="1467918">
                  <a:extLst>
                    <a:ext uri="{9D8B030D-6E8A-4147-A177-3AD203B41FA5}">
                      <a16:colId xmlns:a16="http://schemas.microsoft.com/office/drawing/2014/main" val="916472123"/>
                    </a:ext>
                  </a:extLst>
                </a:gridCol>
                <a:gridCol w="808146">
                  <a:extLst>
                    <a:ext uri="{9D8B030D-6E8A-4147-A177-3AD203B41FA5}">
                      <a16:colId xmlns:a16="http://schemas.microsoft.com/office/drawing/2014/main" val="86425436"/>
                    </a:ext>
                  </a:extLst>
                </a:gridCol>
                <a:gridCol w="808146">
                  <a:extLst>
                    <a:ext uri="{9D8B030D-6E8A-4147-A177-3AD203B41FA5}">
                      <a16:colId xmlns:a16="http://schemas.microsoft.com/office/drawing/2014/main" val="3499724676"/>
                    </a:ext>
                  </a:extLst>
                </a:gridCol>
                <a:gridCol w="808146">
                  <a:extLst>
                    <a:ext uri="{9D8B030D-6E8A-4147-A177-3AD203B41FA5}">
                      <a16:colId xmlns:a16="http://schemas.microsoft.com/office/drawing/2014/main" val="708652653"/>
                    </a:ext>
                  </a:extLst>
                </a:gridCol>
                <a:gridCol w="2739482">
                  <a:extLst>
                    <a:ext uri="{9D8B030D-6E8A-4147-A177-3AD203B41FA5}">
                      <a16:colId xmlns:a16="http://schemas.microsoft.com/office/drawing/2014/main" val="773725385"/>
                    </a:ext>
                  </a:extLst>
                </a:gridCol>
              </a:tblGrid>
              <a:tr h="845828">
                <a:tc>
                  <a:txBody>
                    <a:bodyPr/>
                    <a:lstStyle/>
                    <a:p>
                      <a:pPr algn="ctr" fontAlgn="ctr"/>
                      <a:r>
                        <a:rPr lang="en-US" sz="1100" b="1" i="0" u="none" strike="noStrike">
                          <a:solidFill>
                            <a:srgbClr val="FBFCFE"/>
                          </a:solidFill>
                          <a:effectLst/>
                          <a:latin typeface="Adani Regular" panose="02000503000000020004" pitchFamily="2" charset="0"/>
                        </a:rPr>
                        <a:t>SN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Equipment/ Package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Qty / Scope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Final / Revised Specifications Issue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Verified by Engineering consultant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TBER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Qualified Vendors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Receipt of Offer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Commercial NFA Submission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Release of PO / SO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Update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extLst>
                  <a:ext uri="{0D108BD9-81ED-4DB2-BD59-A6C34878D82A}">
                    <a16:rowId xmlns:a16="http://schemas.microsoft.com/office/drawing/2014/main" val="3826008376"/>
                  </a:ext>
                </a:extLst>
              </a:tr>
              <a:tr h="762979">
                <a:tc>
                  <a:txBody>
                    <a:bodyPr/>
                    <a:lstStyle/>
                    <a:p>
                      <a:pPr algn="ctr" fontAlgn="ctr"/>
                      <a:r>
                        <a:rPr lang="en-US" sz="1100" b="1" i="0" u="none" strike="noStrike">
                          <a:solidFill>
                            <a:srgbClr val="00B050"/>
                          </a:solidFill>
                          <a:effectLst/>
                          <a:latin typeface="Adani Regular" panose="02000503000000020004" pitchFamily="2" charset="0"/>
                        </a:rPr>
                        <a:t>9</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Transportation of Precast items (from </a:t>
                      </a:r>
                      <a:r>
                        <a:rPr lang="en-US" sz="1100" b="1" i="0" u="none" strike="noStrike" err="1">
                          <a:solidFill>
                            <a:srgbClr val="00B050"/>
                          </a:solidFill>
                          <a:effectLst/>
                          <a:latin typeface="Adani Regular" panose="02000503000000020004" pitchFamily="2" charset="0"/>
                        </a:rPr>
                        <a:t>Buildcast</a:t>
                      </a:r>
                      <a:r>
                        <a:rPr lang="en-US" sz="1100" b="1" i="0" u="none" strike="noStrike">
                          <a:solidFill>
                            <a:srgbClr val="00B050"/>
                          </a:solidFill>
                          <a:effectLst/>
                          <a:latin typeface="Adani Regular" panose="02000503000000020004" pitchFamily="2" charset="0"/>
                        </a:rPr>
                        <a: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LOT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Adani Logistics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17-Feb-26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Order issued to </a:t>
                      </a:r>
                      <a:r>
                        <a:rPr lang="en-US" sz="1100" b="1" i="0" u="none" strike="noStrike">
                          <a:solidFill>
                            <a:srgbClr val="00B050"/>
                          </a:solidFill>
                          <a:effectLst/>
                          <a:latin typeface="Adani Regular" panose="02000503000000020004" pitchFamily="2" charset="0"/>
                        </a:rPr>
                        <a:t>Adani Logistics</a:t>
                      </a:r>
                      <a:r>
                        <a:rPr lang="en-US" sz="1100" b="1" i="0" u="none" strike="noStrike" kern="1200">
                          <a:solidFill>
                            <a:srgbClr val="00B050"/>
                          </a:solidFill>
                          <a:effectLst/>
                          <a:latin typeface="Adani Regular" panose="02000503000000020004" pitchFamily="2" charset="0"/>
                          <a:ea typeface="+mn-ea"/>
                          <a:cs typeface="+mn-cs"/>
                        </a:rPr>
                        <a:t> dated 17-Feb-26.</a:t>
                      </a:r>
                      <a:endParaRPr lang="en-US" sz="1100" b="1" i="0" u="none" strike="noStrike">
                        <a:solidFill>
                          <a:srgbClr val="00B050"/>
                        </a:solidFill>
                        <a:effectLst/>
                        <a:latin typeface="Adani Regular" panose="02000503000000020004" pitchFamily="2"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62990573"/>
                  </a:ext>
                </a:extLst>
              </a:tr>
              <a:tr h="762979">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10</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Hiring for Survey team</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As per old specification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As per old specification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As per old specification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Vital Infratech</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As per old specification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04-Feb-26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04-Feb-26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Order placed to Vital Infratech on 04-Feb-26.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405037478"/>
                  </a:ext>
                </a:extLst>
              </a:tr>
              <a:tr h="762979">
                <a:tc>
                  <a:txBody>
                    <a:bodyPr/>
                    <a:lstStyle/>
                    <a:p>
                      <a:pPr algn="ctr" fontAlgn="ctr"/>
                      <a:r>
                        <a:rPr lang="en-US" sz="1100" b="1" i="0" u="none" strike="noStrike">
                          <a:solidFill>
                            <a:srgbClr val="00B050"/>
                          </a:solidFill>
                          <a:effectLst/>
                          <a:latin typeface="Adani Regular" panose="02000503000000020004" pitchFamily="2" charset="0"/>
                        </a:rPr>
                        <a:t>11</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kern="1200">
                          <a:solidFill>
                            <a:srgbClr val="00B050"/>
                          </a:solidFill>
                          <a:effectLst/>
                          <a:latin typeface="Adani Regular" panose="02000503000000020004" pitchFamily="2" charset="0"/>
                          <a:ea typeface="+mn-ea"/>
                          <a:cs typeface="+mn-cs"/>
                        </a:rPr>
                        <a:t>Farana/Crane for Stores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6 NOS</a:t>
                      </a:r>
                    </a:p>
                    <a:p>
                      <a:pPr algn="ctr" fontAlgn="ctr"/>
                      <a:r>
                        <a:rPr lang="en-US" sz="1100" b="1" i="0" u="none" strike="noStrike">
                          <a:solidFill>
                            <a:srgbClr val="00B050"/>
                          </a:solidFill>
                          <a:effectLst/>
                          <a:latin typeface="Adani Regular" panose="02000503000000020004" pitchFamily="2" charset="0"/>
                        </a:rPr>
                        <a:t>6 NOS</a:t>
                      </a:r>
                    </a:p>
                    <a:p>
                      <a:pPr algn="ctr" fontAlgn="ctr"/>
                      <a:r>
                        <a:rPr lang="en-US" sz="1100" b="1" i="0" u="none" strike="noStrike">
                          <a:solidFill>
                            <a:srgbClr val="00B050"/>
                          </a:solidFill>
                          <a:effectLst/>
                          <a:latin typeface="Adani Regular" panose="02000503000000020004" pitchFamily="2" charset="0"/>
                        </a:rPr>
                        <a:t>3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14-Jan-26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05-Feb-26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26-Feb-26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16-Feb-26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25-Feb-26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05-Mar-26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12-Mar-26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issued to M/s SAFAR Cranes on 12-Mar-26.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63998947"/>
                  </a:ext>
                </a:extLst>
              </a:tr>
              <a:tr h="762979">
                <a:tc>
                  <a:txBody>
                    <a:bodyPr/>
                    <a:lstStyle/>
                    <a:p>
                      <a:pPr algn="ctr" fontAlgn="ctr"/>
                      <a:r>
                        <a:rPr lang="en-US" sz="1100" b="1" i="0" u="none" strike="noStrike">
                          <a:solidFill>
                            <a:srgbClr val="00B050"/>
                          </a:solidFill>
                          <a:effectLst/>
                          <a:latin typeface="Adani Regular" panose="02000503000000020004" pitchFamily="2" charset="0"/>
                        </a:rPr>
                        <a:t>12</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Mobile Lighting towers (MLT)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3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2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2 NOS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19-Jan-26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29-Jan-26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a:ea typeface="Aptos" panose="020B0004020202020204" pitchFamily="34" charset="0"/>
                          <a:cs typeface="Aptos" panose="020B0004020202020204" pitchFamily="34" charset="0"/>
                        </a:rPr>
                        <a:t>Accurate Power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a:ea typeface="Aptos" panose="020B0004020202020204" pitchFamily="34" charset="0"/>
                          <a:cs typeface="Aptos" panose="020B0004020202020204" pitchFamily="34" charset="0"/>
                        </a:rPr>
                        <a:t>10-Feb-26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16-Feb-26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issued to Accurate Power dated 16-Feb-26.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844048308"/>
                  </a:ext>
                </a:extLst>
              </a:tr>
            </a:tbl>
          </a:graphicData>
        </a:graphic>
      </p:graphicFrame>
    </p:spTree>
    <p:extLst>
      <p:ext uri="{BB962C8B-B14F-4D97-AF65-F5344CB8AC3E}">
        <p14:creationId xmlns:p14="http://schemas.microsoft.com/office/powerpoint/2010/main" val="29808286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EEA52-71DE-B31D-0B10-61B34708295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AC69A00-C117-33A5-BCDA-04839048F8AF}"/>
              </a:ext>
            </a:extLst>
          </p:cNvPr>
          <p:cNvSpPr>
            <a:spLocks noGrp="1"/>
          </p:cNvSpPr>
          <p:nvPr>
            <p:ph type="title"/>
          </p:nvPr>
        </p:nvSpPr>
        <p:spPr>
          <a:xfrm>
            <a:off x="0" y="4080641"/>
            <a:ext cx="12192000" cy="1342696"/>
          </a:xfrm>
        </p:spPr>
        <p:txBody>
          <a:bodyPr>
            <a:normAutofit/>
          </a:bodyPr>
          <a:lstStyle/>
          <a:p>
            <a:pPr algn="ctr"/>
            <a:r>
              <a:rPr lang="en-IN" sz="3700">
                <a:latin typeface="Adani Regular"/>
              </a:rPr>
              <a:t>Ordering Status </a:t>
            </a:r>
            <a:br>
              <a:rPr lang="en-IN" sz="3700">
                <a:latin typeface="Adani Regular"/>
              </a:rPr>
            </a:br>
            <a:r>
              <a:rPr lang="en-IN" sz="3700">
                <a:latin typeface="Adani Regular"/>
              </a:rPr>
              <a:t>PSS-09, 05(B) &amp; 08(B)</a:t>
            </a:r>
            <a:endParaRPr lang="en-IN">
              <a:latin typeface="Adani Regular"/>
            </a:endParaRPr>
          </a:p>
        </p:txBody>
      </p:sp>
      <p:sp>
        <p:nvSpPr>
          <p:cNvPr id="2" name="Slide Number Placeholder 1">
            <a:extLst>
              <a:ext uri="{FF2B5EF4-FFF2-40B4-BE49-F238E27FC236}">
                <a16:creationId xmlns:a16="http://schemas.microsoft.com/office/drawing/2014/main" id="{792CC6BB-9AD7-D676-621C-B9239E18CBFF}"/>
              </a:ext>
            </a:extLst>
          </p:cNvPr>
          <p:cNvSpPr>
            <a:spLocks noGrp="1"/>
          </p:cNvSpPr>
          <p:nvPr>
            <p:ph type="sldNum" sz="quarter" idx="12"/>
          </p:nvPr>
        </p:nvSpPr>
        <p:spPr>
          <a:xfrm>
            <a:off x="11560028" y="6492875"/>
            <a:ext cx="482599" cy="365125"/>
          </a:xfrm>
        </p:spPr>
        <p:txBody>
          <a:bodyPr/>
          <a:lstStyle/>
          <a:p>
            <a:fld id="{98B285C1-D8A8-4E98-B28C-1FD972D8EC54}" type="slidenum">
              <a:rPr lang="en-IN" smtClean="0"/>
              <a:t>54</a:t>
            </a:fld>
            <a:endParaRPr lang="en-IN"/>
          </a:p>
        </p:txBody>
      </p:sp>
    </p:spTree>
    <p:extLst>
      <p:ext uri="{BB962C8B-B14F-4D97-AF65-F5344CB8AC3E}">
        <p14:creationId xmlns:p14="http://schemas.microsoft.com/office/powerpoint/2010/main" val="27201379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FA304-68EF-11B4-B7B8-7A629A64E756}"/>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85794099-E09C-F1C0-85EE-65F8EF7DE35C}"/>
              </a:ext>
            </a:extLst>
          </p:cNvPr>
          <p:cNvSpPr txBox="1">
            <a:spLocks noChangeArrowheads="1"/>
          </p:cNvSpPr>
          <p:nvPr/>
        </p:nvSpPr>
        <p:spPr>
          <a:xfrm>
            <a:off x="66695" y="165164"/>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 </a:t>
            </a:r>
            <a:r>
              <a:rPr lang="en-US" sz="2400" b="1">
                <a:solidFill>
                  <a:srgbClr val="912A82"/>
                </a:solidFill>
                <a:highlight>
                  <a:srgbClr val="33CC33"/>
                </a:highlight>
              </a:rPr>
              <a:t>Supply ordering Status (</a:t>
            </a:r>
            <a:r>
              <a:rPr lang="en-IN" sz="2400" b="1">
                <a:solidFill>
                  <a:srgbClr val="912A82"/>
                </a:solidFill>
                <a:highlight>
                  <a:srgbClr val="33CC33"/>
                </a:highlight>
              </a:rPr>
              <a:t>PSS-09, 05(B) &amp; 08(B))</a:t>
            </a:r>
            <a:r>
              <a:rPr lang="en-IN" sz="2400" b="1">
                <a:solidFill>
                  <a:srgbClr val="00B050"/>
                </a:solidFill>
                <a:highlight>
                  <a:srgbClr val="33CC33"/>
                </a:highlight>
              </a:rPr>
              <a:t> - Completed</a:t>
            </a:r>
            <a:endParaRPr lang="en-US" sz="2400" b="1">
              <a:solidFill>
                <a:srgbClr val="3D3DFF"/>
              </a:solidFill>
              <a:highlight>
                <a:srgbClr val="33CC33"/>
              </a:highlight>
            </a:endParaRPr>
          </a:p>
        </p:txBody>
      </p:sp>
      <p:graphicFrame>
        <p:nvGraphicFramePr>
          <p:cNvPr id="4" name="Table 3">
            <a:extLst>
              <a:ext uri="{FF2B5EF4-FFF2-40B4-BE49-F238E27FC236}">
                <a16:creationId xmlns:a16="http://schemas.microsoft.com/office/drawing/2014/main" id="{A25A5B15-C4C2-710D-41F2-3D9060CC6D84}"/>
              </a:ext>
            </a:extLst>
          </p:cNvPr>
          <p:cNvGraphicFramePr>
            <a:graphicFrameLocks noGrp="1"/>
          </p:cNvGraphicFramePr>
          <p:nvPr/>
        </p:nvGraphicFramePr>
        <p:xfrm>
          <a:off x="100256" y="630571"/>
          <a:ext cx="11950760" cy="6076360"/>
        </p:xfrm>
        <a:graphic>
          <a:graphicData uri="http://schemas.openxmlformats.org/drawingml/2006/table">
            <a:tbl>
              <a:tblPr/>
              <a:tblGrid>
                <a:gridCol w="399388">
                  <a:extLst>
                    <a:ext uri="{9D8B030D-6E8A-4147-A177-3AD203B41FA5}">
                      <a16:colId xmlns:a16="http://schemas.microsoft.com/office/drawing/2014/main" val="2829026117"/>
                    </a:ext>
                  </a:extLst>
                </a:gridCol>
                <a:gridCol w="1260000">
                  <a:extLst>
                    <a:ext uri="{9D8B030D-6E8A-4147-A177-3AD203B41FA5}">
                      <a16:colId xmlns:a16="http://schemas.microsoft.com/office/drawing/2014/main" val="2773142122"/>
                    </a:ext>
                  </a:extLst>
                </a:gridCol>
                <a:gridCol w="792000">
                  <a:extLst>
                    <a:ext uri="{9D8B030D-6E8A-4147-A177-3AD203B41FA5}">
                      <a16:colId xmlns:a16="http://schemas.microsoft.com/office/drawing/2014/main" val="246702370"/>
                    </a:ext>
                  </a:extLst>
                </a:gridCol>
                <a:gridCol w="1061592">
                  <a:extLst>
                    <a:ext uri="{9D8B030D-6E8A-4147-A177-3AD203B41FA5}">
                      <a16:colId xmlns:a16="http://schemas.microsoft.com/office/drawing/2014/main" val="3558478565"/>
                    </a:ext>
                  </a:extLst>
                </a:gridCol>
                <a:gridCol w="823921">
                  <a:extLst>
                    <a:ext uri="{9D8B030D-6E8A-4147-A177-3AD203B41FA5}">
                      <a16:colId xmlns:a16="http://schemas.microsoft.com/office/drawing/2014/main" val="1271983604"/>
                    </a:ext>
                  </a:extLst>
                </a:gridCol>
                <a:gridCol w="823921">
                  <a:extLst>
                    <a:ext uri="{9D8B030D-6E8A-4147-A177-3AD203B41FA5}">
                      <a16:colId xmlns:a16="http://schemas.microsoft.com/office/drawing/2014/main" val="1705681307"/>
                    </a:ext>
                  </a:extLst>
                </a:gridCol>
                <a:gridCol w="1619999">
                  <a:extLst>
                    <a:ext uri="{9D8B030D-6E8A-4147-A177-3AD203B41FA5}">
                      <a16:colId xmlns:a16="http://schemas.microsoft.com/office/drawing/2014/main" val="916472123"/>
                    </a:ext>
                  </a:extLst>
                </a:gridCol>
                <a:gridCol w="809088">
                  <a:extLst>
                    <a:ext uri="{9D8B030D-6E8A-4147-A177-3AD203B41FA5}">
                      <a16:colId xmlns:a16="http://schemas.microsoft.com/office/drawing/2014/main" val="86425436"/>
                    </a:ext>
                  </a:extLst>
                </a:gridCol>
                <a:gridCol w="809088">
                  <a:extLst>
                    <a:ext uri="{9D8B030D-6E8A-4147-A177-3AD203B41FA5}">
                      <a16:colId xmlns:a16="http://schemas.microsoft.com/office/drawing/2014/main" val="3499724676"/>
                    </a:ext>
                  </a:extLst>
                </a:gridCol>
                <a:gridCol w="809088">
                  <a:extLst>
                    <a:ext uri="{9D8B030D-6E8A-4147-A177-3AD203B41FA5}">
                      <a16:colId xmlns:a16="http://schemas.microsoft.com/office/drawing/2014/main" val="708652653"/>
                    </a:ext>
                  </a:extLst>
                </a:gridCol>
                <a:gridCol w="2742675">
                  <a:extLst>
                    <a:ext uri="{9D8B030D-6E8A-4147-A177-3AD203B41FA5}">
                      <a16:colId xmlns:a16="http://schemas.microsoft.com/office/drawing/2014/main" val="773725385"/>
                    </a:ext>
                  </a:extLst>
                </a:gridCol>
              </a:tblGrid>
              <a:tr h="472134">
                <a:tc>
                  <a:txBody>
                    <a:bodyPr/>
                    <a:lstStyle/>
                    <a:p>
                      <a:pPr algn="ctr" fontAlgn="ctr"/>
                      <a:r>
                        <a:rPr lang="en-US" sz="1100" b="1" i="0" u="none" strike="noStrike">
                          <a:solidFill>
                            <a:srgbClr val="FBFCFE"/>
                          </a:solidFill>
                          <a:effectLst/>
                          <a:latin typeface="Adani Regular" panose="02000503000000020004" pitchFamily="2" charset="0"/>
                        </a:rPr>
                        <a:t>SN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Equipment/ Package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Qty / Scope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Final / Revised Specifications Issue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Verified by Engineering consultant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TBER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Qualified Vendors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Receipt of Offer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Commercial NFA Submission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Release of PO / SO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Update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extLst>
                  <a:ext uri="{0D108BD9-81ED-4DB2-BD59-A6C34878D82A}">
                    <a16:rowId xmlns:a16="http://schemas.microsoft.com/office/drawing/2014/main" val="3826008376"/>
                  </a:ext>
                </a:extLst>
              </a:tr>
              <a:tr h="1095245">
                <a:tc>
                  <a:txBody>
                    <a:bodyPr/>
                    <a:lstStyle/>
                    <a:p>
                      <a:pPr algn="ctr" fontAlgn="ctr"/>
                      <a:r>
                        <a:rPr lang="en-US" sz="1100" b="1" i="0" u="none" strike="noStrike">
                          <a:solidFill>
                            <a:srgbClr val="00B050"/>
                          </a:solidFill>
                          <a:effectLst/>
                          <a:latin typeface="Adani Regular" panose="02000503000000020004" pitchFamily="2" charset="0"/>
                        </a:rPr>
                        <a:t>1</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5250" indent="0" algn="l" fontAlgn="ctr"/>
                      <a:r>
                        <a:rPr lang="en-US" sz="1100" b="1" i="0" u="none" strike="noStrike">
                          <a:solidFill>
                            <a:srgbClr val="00B050"/>
                          </a:solidFill>
                          <a:effectLst/>
                          <a:latin typeface="Adani Regular" panose="02000503000000020004" pitchFamily="2" charset="0"/>
                        </a:rPr>
                        <a:t>Battery Container Package</a:t>
                      </a:r>
                      <a:endParaRPr lang="en-US" sz="1100" b="1" i="0" u="none" strike="noStrike" kern="1200">
                        <a:solidFill>
                          <a:srgbClr val="00B050"/>
                        </a:solidFill>
                        <a:effectLst/>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432 NOS</a:t>
                      </a:r>
                    </a:p>
                    <a:p>
                      <a:pPr algn="ctr" fontAlgn="ctr"/>
                      <a:r>
                        <a:rPr lang="en-US" sz="1100" b="1" i="0" u="none" strike="noStrike">
                          <a:solidFill>
                            <a:srgbClr val="00B050"/>
                          </a:solidFill>
                          <a:effectLst/>
                          <a:latin typeface="Adani Regular" panose="02000503000000020004" pitchFamily="2" charset="0"/>
                        </a:rPr>
                        <a:t>448 NOS</a:t>
                      </a:r>
                    </a:p>
                    <a:p>
                      <a:pPr algn="ctr" fontAlgn="ctr"/>
                      <a:r>
                        <a:rPr lang="en-US" sz="1100" b="1" i="0" u="none" strike="noStrike">
                          <a:solidFill>
                            <a:srgbClr val="00B050"/>
                          </a:solidFill>
                          <a:effectLst/>
                          <a:latin typeface="Adani Regular" panose="02000503000000020004" pitchFamily="2" charset="0"/>
                        </a:rPr>
                        <a:t>168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30-Oct-25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Previous TBER is valid</a:t>
                      </a:r>
                      <a:endParaRPr kumimoji="0" lang="en-US" sz="12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a:rPr>
                        <a:t> Offers from Svolt, Jinko, Greatpower, Sunwoda, REPT, Narada</a:t>
                      </a:r>
                    </a:p>
                    <a:p>
                      <a:pPr algn="ctr" fontAlgn="ctr"/>
                      <a:r>
                        <a:rPr lang="en-US" sz="1100" b="1" i="0" u="none" strike="noStrike">
                          <a:solidFill>
                            <a:srgbClr val="00B050"/>
                          </a:solidFill>
                          <a:effectLst/>
                          <a:latin typeface="Adani Regular"/>
                        </a:rPr>
                        <a:t>Starcharge, Hyperstrong, Cospower</a:t>
                      </a:r>
                    </a:p>
                    <a:p>
                      <a:pPr algn="ctr" fontAlgn="ctr"/>
                      <a:r>
                        <a:rPr lang="en-US" sz="1100" b="1" i="0" u="none" strike="noStrike">
                          <a:solidFill>
                            <a:srgbClr val="00B050"/>
                          </a:solidFill>
                          <a:effectLst/>
                          <a:latin typeface="Adani Regular"/>
                        </a:rPr>
                        <a:t>Hithium, CATL</a:t>
                      </a:r>
                    </a:p>
                    <a:p>
                      <a:pPr algn="ctr" fontAlgn="ctr"/>
                      <a:r>
                        <a:rPr lang="en-US" sz="1100" b="1" i="0" u="none" strike="noStrike">
                          <a:solidFill>
                            <a:srgbClr val="00B050"/>
                          </a:solidFill>
                          <a:effectLst/>
                          <a:latin typeface="Adani Regular" panose="02000503000000020004" pitchFamily="2" charset="0"/>
                        </a:rPr>
                        <a:t>Lishen, Saft, BYD</a:t>
                      </a:r>
                      <a:endPar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23-Dec-25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05-Jan-26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issued to Xiamen </a:t>
                      </a:r>
                      <a:r>
                        <a:rPr kumimoji="0" lang="en-US" sz="1100" b="1" i="0" u="none" strike="noStrike" kern="1200" cap="none" spc="0" normalizeH="0" baseline="0" noProof="0" err="1">
                          <a:ln>
                            <a:noFill/>
                          </a:ln>
                          <a:solidFill>
                            <a:srgbClr val="00B050"/>
                          </a:solidFill>
                          <a:effectLst/>
                          <a:uLnTx/>
                          <a:uFillTx/>
                          <a:latin typeface="Adani Regular" panose="02000503000000020004" pitchFamily="2" charset="0"/>
                          <a:ea typeface="+mn-ea"/>
                          <a:cs typeface="+mn-cs"/>
                        </a:rPr>
                        <a:t>Ampace</a:t>
                      </a: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 Technology for PSS-09 &amp; PSS-05(B) on 01-Jan-26.</a:t>
                      </a:r>
                    </a:p>
                    <a:p>
                      <a:pPr marL="85725" marR="0" lvl="0" indent="0" algn="l"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issued to </a:t>
                      </a:r>
                      <a:r>
                        <a:rPr kumimoji="0" lang="en-US" sz="1100" b="1" i="0" u="none" strike="noStrike" kern="1200" cap="none" spc="0" normalizeH="0" baseline="0" noProof="0" err="1">
                          <a:ln>
                            <a:noFill/>
                          </a:ln>
                          <a:solidFill>
                            <a:srgbClr val="00B050"/>
                          </a:solidFill>
                          <a:effectLst/>
                          <a:uLnTx/>
                          <a:uFillTx/>
                          <a:latin typeface="Adani Regular" panose="02000503000000020004" pitchFamily="2" charset="0"/>
                          <a:ea typeface="+mn-ea"/>
                          <a:cs typeface="+mn-cs"/>
                        </a:rPr>
                        <a:t>GreatPower</a:t>
                      </a: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 for PSS-08(B) on 05-Jan-26.</a:t>
                      </a: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31647959"/>
                  </a:ext>
                </a:extLst>
              </a:tr>
              <a:tr h="783689">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2</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5250" indent="0" algn="l"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PCS (Power Conversion System)</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432 NOS</a:t>
                      </a:r>
                    </a:p>
                    <a:p>
                      <a:pPr algn="ctr" fontAlgn="ctr"/>
                      <a:r>
                        <a:rPr lang="en-US" sz="1100" b="1" i="0" u="none" strike="noStrike">
                          <a:solidFill>
                            <a:srgbClr val="00B050"/>
                          </a:solidFill>
                          <a:effectLst/>
                          <a:latin typeface="Adani Regular" panose="02000503000000020004" pitchFamily="2" charset="0"/>
                        </a:rPr>
                        <a:t>448 NOS</a:t>
                      </a:r>
                    </a:p>
                    <a:p>
                      <a:pPr algn="ctr" fontAlgn="ctr"/>
                      <a:r>
                        <a:rPr lang="en-US" sz="1100" b="1" i="0" u="none" strike="noStrike">
                          <a:solidFill>
                            <a:srgbClr val="00B050"/>
                          </a:solidFill>
                          <a:effectLst/>
                          <a:latin typeface="Adani Regular" panose="02000503000000020004" pitchFamily="2" charset="0"/>
                        </a:rPr>
                        <a:t>168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04-Nov 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Previous TBER is valid</a:t>
                      </a:r>
                      <a:endParaRPr kumimoji="0" lang="en-US" sz="12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strike="noStrike">
                          <a:solidFill>
                            <a:srgbClr val="00B050"/>
                          </a:solidFill>
                          <a:effectLst/>
                          <a:latin typeface="Adani Regular"/>
                          <a:ea typeface="Aptos" panose="020B0004020202020204" pitchFamily="34" charset="0"/>
                          <a:cs typeface="Aptos" panose="020B0004020202020204" pitchFamily="34" charset="0"/>
                        </a:rPr>
                        <a:t>Offers from </a:t>
                      </a:r>
                      <a:r>
                        <a:rPr lang="en-US" sz="1100" b="1" i="0" u="none" strike="noStrike" err="1">
                          <a:solidFill>
                            <a:srgbClr val="00B050"/>
                          </a:solidFill>
                          <a:effectLst/>
                          <a:latin typeface="Adani Regular"/>
                        </a:rPr>
                        <a:t>Sineng</a:t>
                      </a:r>
                      <a:endParaRPr lang="en-US" sz="1100" b="1" i="0" u="none" strike="noStrike">
                        <a:solidFill>
                          <a:srgbClr val="00B050"/>
                        </a:solidFill>
                        <a:effectLst/>
                        <a:latin typeface="Adani Regular"/>
                      </a:endParaRPr>
                    </a:p>
                    <a:p>
                      <a:pPr algn="ctr" fontAlgn="ctr"/>
                      <a:r>
                        <a:rPr lang="en-US" sz="1100" b="1" i="0" u="none" strike="noStrike">
                          <a:solidFill>
                            <a:srgbClr val="00B050"/>
                          </a:solidFill>
                          <a:effectLst/>
                          <a:latin typeface="Adani Regular"/>
                        </a:rPr>
                        <a:t>Hopewind, NR Electric</a:t>
                      </a:r>
                    </a:p>
                    <a:p>
                      <a:pPr algn="ctr" fontAlgn="ctr"/>
                      <a:r>
                        <a:rPr lang="en-US" sz="1100" b="1" i="0" u="none" strike="noStrike">
                          <a:solidFill>
                            <a:srgbClr val="00B050"/>
                          </a:solidFill>
                          <a:effectLst/>
                          <a:latin typeface="Adani Regular"/>
                        </a:rPr>
                        <a:t>Inovance, Soaring</a:t>
                      </a:r>
                    </a:p>
                    <a:p>
                      <a:pPr algn="ctr" fontAlgn="ctr"/>
                      <a:r>
                        <a:rPr lang="en-US" sz="1100" b="1" i="0" u="none" strike="noStrike">
                          <a:solidFill>
                            <a:srgbClr val="00B050"/>
                          </a:solidFill>
                          <a:effectLst/>
                          <a:latin typeface="Adani Regular"/>
                        </a:rPr>
                        <a:t>Sifang, </a:t>
                      </a:r>
                      <a:r>
                        <a:rPr lang="en-US" sz="1100" b="1" i="0" u="none" strike="noStrike" err="1">
                          <a:solidFill>
                            <a:srgbClr val="00B050"/>
                          </a:solidFill>
                          <a:effectLst/>
                          <a:latin typeface="Adani Regular"/>
                        </a:rPr>
                        <a:t>Hoymiles</a:t>
                      </a:r>
                      <a:endParaRPr lang="en-US" sz="1100" b="1" i="0" u="none" strike="noStrike">
                        <a:solidFill>
                          <a:srgbClr val="00B050"/>
                        </a:solidFill>
                        <a:effectLst/>
                        <a:latin typeface="Adani Regular"/>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16-Dec-25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02-Jan-26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5250"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issued to INOVA Automation on 02-Jan-26</a:t>
                      </a:r>
                    </a:p>
                    <a:p>
                      <a:pPr marL="95250"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issued to SHENZEN Hope wind Energy for PSS-05(B) &amp; PSS-08(B) on 02-Jan-26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0471776"/>
                  </a:ext>
                </a:extLst>
              </a:tr>
              <a:tr h="627912">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3</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5250" indent="0" algn="l"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EMS (Energy Management System)</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1 NOS</a:t>
                      </a:r>
                    </a:p>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1 NOS</a:t>
                      </a:r>
                    </a:p>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1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01-Nov-25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Previous TBER is valid</a:t>
                      </a:r>
                      <a:endParaRPr kumimoji="0" lang="en-US" sz="12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ES" sz="1100" b="1" i="0" u="none" strike="noStrike">
                          <a:solidFill>
                            <a:srgbClr val="00B050"/>
                          </a:solidFill>
                          <a:effectLst/>
                          <a:latin typeface="Adani Regular"/>
                        </a:rPr>
                        <a:t>Adaptive, Emerson, Schenider, Honeywell</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a:ea typeface="Aptos" panose="020B0004020202020204" pitchFamily="34" charset="0"/>
                          <a:cs typeface="Aptos" panose="020B0004020202020204" pitchFamily="34" charset="0"/>
                        </a:rPr>
                        <a:t>17-Dec-25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a:ea typeface="Aptos" panose="020B0004020202020204" pitchFamily="34" charset="0"/>
                          <a:cs typeface="Aptos" panose="020B0004020202020204" pitchFamily="34" charset="0"/>
                        </a:rPr>
                        <a:t>02-Jan-26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5250"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issued to Honeywell Automation for PSS-09 on 02-Jan-26</a:t>
                      </a:r>
                    </a:p>
                    <a:p>
                      <a:pPr marL="95250"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issued to Emerson for PSS-05(B) &amp; PSS-08(B) on 02-Jan-26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16478900"/>
                  </a:ext>
                </a:extLst>
              </a:tr>
              <a:tr h="783689">
                <a:tc>
                  <a:txBody>
                    <a:bodyPr/>
                    <a:lstStyle/>
                    <a:p>
                      <a:pPr algn="ctr" fontAlgn="ctr"/>
                      <a:r>
                        <a:rPr lang="en-US" sz="1100" b="1" i="0" u="none" strike="noStrike">
                          <a:solidFill>
                            <a:srgbClr val="00B050"/>
                          </a:solidFill>
                          <a:effectLst/>
                          <a:latin typeface="Adani Regular" panose="02000503000000020004" pitchFamily="2" charset="0"/>
                        </a:rPr>
                        <a:t>4</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Converter Transformer</a:t>
                      </a:r>
                      <a:endParaRPr lang="en-US" sz="1100" b="1" i="0" u="none" strike="noStrike" kern="1200">
                        <a:solidFill>
                          <a:srgbClr val="00B050"/>
                        </a:solidFill>
                        <a:effectLst/>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54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56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21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Previous TBER is valid</a:t>
                      </a:r>
                      <a:endParaRPr kumimoji="0" lang="en-US" sz="12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sv-SE" sz="1100" b="1" i="0" u="none" strike="noStrike">
                          <a:solidFill>
                            <a:srgbClr val="00B050"/>
                          </a:solidFill>
                          <a:effectLst/>
                          <a:latin typeface="Adani Regular"/>
                        </a:rPr>
                        <a:t>Ornet, Silchar, Atlanta,Tesla, SSE</a:t>
                      </a:r>
                      <a:endParaRPr lang="en-US" sz="1100" b="1" i="0" u="none" strike="noStrike">
                        <a:solidFill>
                          <a:srgbClr val="00B050"/>
                        </a:solidFill>
                        <a:effectLst/>
                        <a:latin typeface="Adani Regular"/>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25-Dec-25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r>
                        <a:rPr lang="en-US" sz="1100" b="1" i="0" u="none" strike="noStrike">
                          <a:solidFill>
                            <a:srgbClr val="00B050"/>
                          </a:solidFill>
                          <a:effectLst/>
                          <a:latin typeface="Adani Regular" panose="02000503000000020004" pitchFamily="2" charset="0"/>
                        </a:rPr>
                        <a:t>13-Jan-26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91440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for Convertor Transformer for PSS-09 &amp; 05(B) released on 13-Jan-26. </a:t>
                      </a:r>
                      <a:r>
                        <a:rPr kumimoji="0" lang="en-US" sz="1100" b="0" i="0" u="none" strike="noStrike" kern="1200" cap="none" spc="0" normalizeH="0" baseline="0" noProof="0">
                          <a:ln>
                            <a:noFill/>
                          </a:ln>
                          <a:solidFill>
                            <a:schemeClr val="tx1"/>
                          </a:solidFill>
                          <a:effectLst/>
                          <a:uLnTx/>
                          <a:uFillTx/>
                          <a:latin typeface="Adani Regular" panose="02000503000000020004" pitchFamily="2" charset="0"/>
                          <a:ea typeface="+mn-ea"/>
                          <a:cs typeface="+mn-cs"/>
                        </a:rPr>
                        <a:t>NFA approved for PSS-08(B), IMP Power based on type test approval, else Performance based to existing vendors.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180625973"/>
                  </a:ext>
                </a:extLst>
              </a:tr>
              <a:tr h="627912">
                <a:tc>
                  <a:txBody>
                    <a:bodyPr/>
                    <a:lstStyle/>
                    <a:p>
                      <a:pPr algn="ctr" fontAlgn="ctr"/>
                      <a:r>
                        <a:rPr lang="en-US" sz="1100" b="1" i="0" u="none" strike="noStrike">
                          <a:solidFill>
                            <a:srgbClr val="00B050"/>
                          </a:solidFill>
                          <a:effectLst/>
                          <a:latin typeface="Adani Regular" panose="02000503000000020004" pitchFamily="2" charset="0"/>
                        </a:rPr>
                        <a:t>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a:solidFill>
                            <a:srgbClr val="00B050"/>
                          </a:solidFill>
                          <a:effectLst/>
                          <a:latin typeface="Adani Regular" panose="02000503000000020004" pitchFamily="2" charset="0"/>
                        </a:rPr>
                        <a:t>CSS (Auxiliary Transformer)</a:t>
                      </a:r>
                      <a:endParaRPr lang="en-US" sz="1100" b="1" i="0" u="none" strike="noStrike" kern="1200">
                        <a:solidFill>
                          <a:srgbClr val="00B050"/>
                        </a:solidFill>
                        <a:effectLst/>
                        <a:latin typeface="Adani Regular" panose="02000503000000020004" pitchFamily="2" charset="0"/>
                        <a:ea typeface="+mn-ea"/>
                        <a:cs typeface="+mn-cs"/>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9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10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4 NOS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16-Dec-25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kumimoji="0" lang="sv-SE" sz="1100" b="1" i="0" u="none" strike="noStrike" kern="1200" cap="none" spc="0" normalizeH="0" baseline="0" noProof="0">
                          <a:ln>
                            <a:noFill/>
                          </a:ln>
                          <a:solidFill>
                            <a:srgbClr val="00B050"/>
                          </a:solidFill>
                          <a:effectLst/>
                          <a:uLnTx/>
                          <a:uFillTx/>
                          <a:latin typeface="Adani Regular"/>
                          <a:ea typeface="+mn-ea"/>
                          <a:cs typeface="+mn-cs"/>
                        </a:rPr>
                        <a:t>ABB, Siemens, Schneider, Akshar, Trisquare, Voltamp, Sudhir, Rhine</a:t>
                      </a:r>
                      <a:endParaRPr lang="en-US" sz="1100" b="1" i="0" u="none" strike="noStrike">
                        <a:solidFill>
                          <a:srgbClr val="00B050"/>
                        </a:solidFill>
                        <a:effectLst/>
                        <a:latin typeface="Adani Regular"/>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10-Dec-25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07-Jan-26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16-Jan-26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released to M/s Akshar on 16-Jan-26.</a:t>
                      </a:r>
                      <a:endParaRPr lang="en-US" sz="1100" b="1">
                        <a:solidFill>
                          <a:srgbClr val="00B050"/>
                        </a:solidFill>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949976789"/>
                  </a:ext>
                </a:extLst>
              </a:tr>
              <a:tr h="627912">
                <a:tc>
                  <a:txBody>
                    <a:bodyPr/>
                    <a:lstStyle/>
                    <a:p>
                      <a:pPr algn="ctr" fontAlgn="ctr"/>
                      <a:r>
                        <a:rPr lang="en-US" sz="1100" b="1" i="0" u="none" strike="noStrike">
                          <a:solidFill>
                            <a:srgbClr val="00B050"/>
                          </a:solidFill>
                          <a:effectLst/>
                          <a:latin typeface="Adani Regular" panose="02000503000000020004" pitchFamily="2" charset="0"/>
                        </a:rPr>
                        <a:t>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MV Switchgear</a:t>
                      </a:r>
                      <a:endParaRPr lang="en-US" sz="1100" b="1" i="0" u="none" strike="noStrike" kern="1200">
                        <a:solidFill>
                          <a:srgbClr val="00B050"/>
                        </a:solidFill>
                        <a:effectLst/>
                        <a:latin typeface="Adani Regular" panose="02000503000000020004" pitchFamily="2" charset="0"/>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18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20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08 NOS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20-Dec-25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kumimoji="0" lang="sv-SE" sz="1100" b="1" i="0" u="none" strike="noStrike" kern="1200" cap="none" spc="0" normalizeH="0" baseline="0" noProof="0">
                          <a:ln>
                            <a:noFill/>
                          </a:ln>
                          <a:solidFill>
                            <a:srgbClr val="00B050"/>
                          </a:solidFill>
                          <a:effectLst/>
                          <a:uLnTx/>
                          <a:uFillTx/>
                          <a:latin typeface="Adani Regular"/>
                          <a:ea typeface="+mn-ea"/>
                          <a:cs typeface="+mn-cs"/>
                        </a:rPr>
                        <a:t>RFP: </a:t>
                      </a:r>
                      <a:r>
                        <a:rPr lang="en-US" sz="1100" b="1" i="0" u="none" strike="noStrike">
                          <a:solidFill>
                            <a:srgbClr val="00B050"/>
                          </a:solidFill>
                          <a:effectLst/>
                          <a:latin typeface="Adani Regular"/>
                        </a:rPr>
                        <a:t>Trisquare, Symatic, Popular, Technocraft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a:rPr>
                        <a:t>Previous approved specs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23-Dec-25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01-Jan-26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Popular for PSS-09 on 01-Jan-26.</a:t>
                      </a:r>
                    </a:p>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a:t>
                      </a:r>
                      <a:r>
                        <a:rPr lang="en-US" sz="1100" b="1" i="0" u="none" strike="noStrike" err="1">
                          <a:solidFill>
                            <a:srgbClr val="00B050"/>
                          </a:solidFill>
                          <a:effectLst/>
                          <a:latin typeface="Adani Regular" panose="02000503000000020004" pitchFamily="2" charset="0"/>
                        </a:rPr>
                        <a:t>Symatic</a:t>
                      </a:r>
                      <a:r>
                        <a:rPr lang="en-US" sz="1100" b="1" i="0" u="none" strike="noStrike">
                          <a:solidFill>
                            <a:srgbClr val="00B050"/>
                          </a:solidFill>
                          <a:effectLst/>
                          <a:latin typeface="Adani Regular" panose="02000503000000020004" pitchFamily="2" charset="0"/>
                        </a:rPr>
                        <a:t> for PSS-05(B) and PSS-08(B) on 01-Jan-26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62990573"/>
                  </a:ext>
                </a:extLst>
              </a:tr>
              <a:tr h="627912">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7</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LT Panel - ACDB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54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56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21 NOS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20-Dec-25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kumimoji="0" lang="sv-SE" sz="1100" b="1" i="0" u="none" strike="noStrike" kern="1200" cap="none" spc="0" normalizeH="0" baseline="0" noProof="0">
                          <a:ln>
                            <a:noFill/>
                          </a:ln>
                          <a:solidFill>
                            <a:srgbClr val="00B050"/>
                          </a:solidFill>
                          <a:effectLst/>
                          <a:uLnTx/>
                          <a:uFillTx/>
                          <a:latin typeface="Adani Regular"/>
                          <a:ea typeface="+mn-ea"/>
                          <a:cs typeface="+mn-cs"/>
                        </a:rPr>
                        <a:t>RFP: </a:t>
                      </a:r>
                      <a:r>
                        <a:rPr lang="en-US" sz="1100" b="1" i="0" u="none" strike="noStrike">
                          <a:solidFill>
                            <a:srgbClr val="00B050"/>
                          </a:solidFill>
                          <a:effectLst/>
                          <a:latin typeface="Adani Regular"/>
                        </a:rPr>
                        <a:t>Akshar, Active, ECS, Swati, Prima, </a:t>
                      </a:r>
                      <a:r>
                        <a:rPr lang="en-US" sz="1100" b="1" i="0" u="none" strike="noStrike" err="1">
                          <a:solidFill>
                            <a:srgbClr val="00B050"/>
                          </a:solidFill>
                          <a:effectLst/>
                          <a:latin typeface="Adani Regular"/>
                        </a:rPr>
                        <a:t>Trisquare</a:t>
                      </a:r>
                      <a:r>
                        <a:rPr lang="en-US" sz="1100" b="1" i="0" u="none" strike="noStrike">
                          <a:solidFill>
                            <a:srgbClr val="00B050"/>
                          </a:solidFill>
                          <a:effectLst/>
                          <a:latin typeface="Adani Regular"/>
                        </a:rPr>
                        <a:t>, C&amp;S, Narkhede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Received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23-Dec-25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01-Jan-26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Prima Automation for PSS-09 &amp; PSS-08(B).</a:t>
                      </a:r>
                    </a:p>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Active Engineer for PSS-05(B) on 01-Jan-26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057901352"/>
                  </a:ext>
                </a:extLst>
              </a:tr>
            </a:tbl>
          </a:graphicData>
        </a:graphic>
      </p:graphicFrame>
      <p:sp>
        <p:nvSpPr>
          <p:cNvPr id="3" name="Slide Number Placeholder 1">
            <a:extLst>
              <a:ext uri="{FF2B5EF4-FFF2-40B4-BE49-F238E27FC236}">
                <a16:creationId xmlns:a16="http://schemas.microsoft.com/office/drawing/2014/main" id="{4F0389B6-CAD9-4002-75F4-B0116A047357}"/>
              </a:ext>
            </a:extLst>
          </p:cNvPr>
          <p:cNvSpPr>
            <a:spLocks noGrp="1"/>
          </p:cNvSpPr>
          <p:nvPr>
            <p:ph type="sldNum" sz="quarter" idx="12"/>
          </p:nvPr>
        </p:nvSpPr>
        <p:spPr>
          <a:xfrm>
            <a:off x="9206216" y="6525397"/>
            <a:ext cx="2844800" cy="365125"/>
          </a:xfrm>
          <a:prstGeom prst="rect">
            <a:avLst/>
          </a:prstGeom>
        </p:spPr>
        <p:txBody>
          <a:bodyPr vert="horz" lIns="91440" tIns="45720" rIns="91440" bIns="45720" rtlCol="0" anchor="ctr"/>
          <a:lstStyle>
            <a:defPPr>
              <a:defRPr lang="en-US"/>
            </a:defPPr>
            <a:lvl1pPr marL="0" algn="r" defTabSz="914400" rtl="0" eaLnBrk="1" latinLnBrk="0" hangingPunct="1">
              <a:defRPr sz="1400" kern="1200">
                <a:solidFill>
                  <a:schemeClr val="tx1">
                    <a:tint val="75000"/>
                  </a:schemeClr>
                </a:solidFill>
                <a:latin typeface="Adani Regular"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8B285C1-D8A8-4E98-B28C-1FD972D8EC54}" type="slidenum">
              <a:rPr lang="en-IN" smtClean="0"/>
              <a:pPr/>
              <a:t>55</a:t>
            </a:fld>
            <a:endParaRPr lang="en-IN"/>
          </a:p>
        </p:txBody>
      </p:sp>
    </p:spTree>
    <p:extLst>
      <p:ext uri="{BB962C8B-B14F-4D97-AF65-F5344CB8AC3E}">
        <p14:creationId xmlns:p14="http://schemas.microsoft.com/office/powerpoint/2010/main" val="11493609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7B0E3-3E1D-29EA-59B2-331B489EF9DD}"/>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18D0302-04C2-7D33-193C-C173D60A4095}"/>
              </a:ext>
            </a:extLst>
          </p:cNvPr>
          <p:cNvGraphicFramePr>
            <a:graphicFrameLocks noGrp="1"/>
          </p:cNvGraphicFramePr>
          <p:nvPr/>
        </p:nvGraphicFramePr>
        <p:xfrm>
          <a:off x="100256" y="744875"/>
          <a:ext cx="11950762" cy="5506023"/>
        </p:xfrm>
        <a:graphic>
          <a:graphicData uri="http://schemas.openxmlformats.org/drawingml/2006/table">
            <a:tbl>
              <a:tblPr/>
              <a:tblGrid>
                <a:gridCol w="399388">
                  <a:extLst>
                    <a:ext uri="{9D8B030D-6E8A-4147-A177-3AD203B41FA5}">
                      <a16:colId xmlns:a16="http://schemas.microsoft.com/office/drawing/2014/main" val="2829026117"/>
                    </a:ext>
                  </a:extLst>
                </a:gridCol>
                <a:gridCol w="1260000">
                  <a:extLst>
                    <a:ext uri="{9D8B030D-6E8A-4147-A177-3AD203B41FA5}">
                      <a16:colId xmlns:a16="http://schemas.microsoft.com/office/drawing/2014/main" val="2773142122"/>
                    </a:ext>
                  </a:extLst>
                </a:gridCol>
                <a:gridCol w="792000">
                  <a:extLst>
                    <a:ext uri="{9D8B030D-6E8A-4147-A177-3AD203B41FA5}">
                      <a16:colId xmlns:a16="http://schemas.microsoft.com/office/drawing/2014/main" val="246702370"/>
                    </a:ext>
                  </a:extLst>
                </a:gridCol>
                <a:gridCol w="1061592">
                  <a:extLst>
                    <a:ext uri="{9D8B030D-6E8A-4147-A177-3AD203B41FA5}">
                      <a16:colId xmlns:a16="http://schemas.microsoft.com/office/drawing/2014/main" val="3558478565"/>
                    </a:ext>
                  </a:extLst>
                </a:gridCol>
                <a:gridCol w="823921">
                  <a:extLst>
                    <a:ext uri="{9D8B030D-6E8A-4147-A177-3AD203B41FA5}">
                      <a16:colId xmlns:a16="http://schemas.microsoft.com/office/drawing/2014/main" val="1271983604"/>
                    </a:ext>
                  </a:extLst>
                </a:gridCol>
                <a:gridCol w="823921">
                  <a:extLst>
                    <a:ext uri="{9D8B030D-6E8A-4147-A177-3AD203B41FA5}">
                      <a16:colId xmlns:a16="http://schemas.microsoft.com/office/drawing/2014/main" val="1705681307"/>
                    </a:ext>
                  </a:extLst>
                </a:gridCol>
                <a:gridCol w="1620000">
                  <a:extLst>
                    <a:ext uri="{9D8B030D-6E8A-4147-A177-3AD203B41FA5}">
                      <a16:colId xmlns:a16="http://schemas.microsoft.com/office/drawing/2014/main" val="916472123"/>
                    </a:ext>
                  </a:extLst>
                </a:gridCol>
                <a:gridCol w="809088">
                  <a:extLst>
                    <a:ext uri="{9D8B030D-6E8A-4147-A177-3AD203B41FA5}">
                      <a16:colId xmlns:a16="http://schemas.microsoft.com/office/drawing/2014/main" val="86425436"/>
                    </a:ext>
                  </a:extLst>
                </a:gridCol>
                <a:gridCol w="809088">
                  <a:extLst>
                    <a:ext uri="{9D8B030D-6E8A-4147-A177-3AD203B41FA5}">
                      <a16:colId xmlns:a16="http://schemas.microsoft.com/office/drawing/2014/main" val="3499724676"/>
                    </a:ext>
                  </a:extLst>
                </a:gridCol>
                <a:gridCol w="809088">
                  <a:extLst>
                    <a:ext uri="{9D8B030D-6E8A-4147-A177-3AD203B41FA5}">
                      <a16:colId xmlns:a16="http://schemas.microsoft.com/office/drawing/2014/main" val="708652653"/>
                    </a:ext>
                  </a:extLst>
                </a:gridCol>
                <a:gridCol w="2742676">
                  <a:extLst>
                    <a:ext uri="{9D8B030D-6E8A-4147-A177-3AD203B41FA5}">
                      <a16:colId xmlns:a16="http://schemas.microsoft.com/office/drawing/2014/main" val="773725385"/>
                    </a:ext>
                  </a:extLst>
                </a:gridCol>
              </a:tblGrid>
              <a:tr h="518028">
                <a:tc>
                  <a:txBody>
                    <a:bodyPr/>
                    <a:lstStyle/>
                    <a:p>
                      <a:pPr algn="ctr" fontAlgn="ctr"/>
                      <a:r>
                        <a:rPr lang="en-US" sz="1100" b="1" i="0" u="none" strike="noStrike">
                          <a:solidFill>
                            <a:srgbClr val="FBFCFE"/>
                          </a:solidFill>
                          <a:effectLst/>
                          <a:latin typeface="Adani Regular" panose="02000503000000020004" pitchFamily="2" charset="0"/>
                        </a:rPr>
                        <a:t>SN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Equipment/ Package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Qty / Scope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Final / Revised Specifications Issue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Verified by Engineering consultant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TBER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Qualified Vendors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Receipt of Offer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Commercial NFA Submission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Release of PO / SO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Update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extLst>
                  <a:ext uri="{0D108BD9-81ED-4DB2-BD59-A6C34878D82A}">
                    <a16:rowId xmlns:a16="http://schemas.microsoft.com/office/drawing/2014/main" val="3826008376"/>
                  </a:ext>
                </a:extLst>
              </a:tr>
              <a:tr h="1030789">
                <a:tc>
                  <a:txBody>
                    <a:bodyPr/>
                    <a:lstStyle/>
                    <a:p>
                      <a:pPr algn="ctr" fontAlgn="ctr"/>
                      <a:r>
                        <a:rPr lang="en-US" sz="1100" b="1" i="0" u="none" strike="noStrike">
                          <a:solidFill>
                            <a:srgbClr val="00B050"/>
                          </a:solidFill>
                          <a:effectLst/>
                          <a:latin typeface="Adani Regular" panose="02000503000000020004" pitchFamily="2" charset="0"/>
                        </a:rPr>
                        <a:t>8</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HT Cable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80 km</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171 km</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40 km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Previous TBER is valid</a:t>
                      </a:r>
                      <a:endParaRPr kumimoji="0" lang="en-US" sz="12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kumimoji="0" lang="sv-SE"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Havells, Paramount, V Marc, DICAB, UCL, Polycab,TCL</a:t>
                      </a: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15-Dec-25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31-Dec-25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Paramount for PSS-09 on 31-Dec-25.</a:t>
                      </a:r>
                    </a:p>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Paramount &amp; Diamond on 31-Dec-25</a:t>
                      </a:r>
                    </a:p>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Diamond for PSS-08(B) on 31-Dec-26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114784010"/>
                  </a:ext>
                </a:extLst>
              </a:tr>
              <a:tr h="706391">
                <a:tc>
                  <a:txBody>
                    <a:bodyPr/>
                    <a:lstStyle/>
                    <a:p>
                      <a:pPr algn="ctr" fontAlgn="ctr"/>
                      <a:r>
                        <a:rPr lang="en-US" sz="1100" b="1" i="0" u="none" strike="noStrike">
                          <a:solidFill>
                            <a:srgbClr val="00B050"/>
                          </a:solidFill>
                          <a:effectLst/>
                          <a:latin typeface="Adani Regular" panose="02000503000000020004" pitchFamily="2" charset="0"/>
                        </a:rPr>
                        <a:t>9</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a:solidFill>
                            <a:srgbClr val="00B050"/>
                          </a:solidFill>
                          <a:effectLst/>
                          <a:latin typeface="Adani Regular" panose="02000503000000020004" pitchFamily="2" charset="0"/>
                        </a:rPr>
                        <a:t>DC &amp; LT Cables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962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1001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382 km</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Previous TBER is valid</a:t>
                      </a:r>
                      <a:endParaRPr kumimoji="0" lang="en-US" sz="14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Offers: PARAMOUNT, KEI, DIAMOND, VMARC, FINOLEX, DYNAMIC, GEMSCAB</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29-Dec-25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19-Jan-26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issued to APAR &amp; DYNAMIC (PSS-09), PARAMOUNT &amp; DYNAMIC (PSS-05(B)), DIAMOND &amp; DYNAMIC (PSS-08(B)) dated 19-Jan-26.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31647959"/>
                  </a:ext>
                </a:extLst>
              </a:tr>
              <a:tr h="1030789">
                <a:tc>
                  <a:txBody>
                    <a:bodyPr/>
                    <a:lstStyle/>
                    <a:p>
                      <a:pPr algn="ctr" fontAlgn="ctr"/>
                      <a:r>
                        <a:rPr lang="en-US" sz="1100" b="1" i="0" u="none" strike="noStrike">
                          <a:solidFill>
                            <a:srgbClr val="00B050"/>
                          </a:solidFill>
                          <a:effectLst/>
                          <a:latin typeface="Adani Regular" panose="02000503000000020004" pitchFamily="2" charset="0"/>
                        </a:rPr>
                        <a:t>10</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a:solidFill>
                            <a:srgbClr val="00B050"/>
                          </a:solidFill>
                          <a:effectLst/>
                          <a:latin typeface="Adani Regular" panose="02000503000000020004" pitchFamily="2" charset="0"/>
                        </a:rPr>
                        <a:t>Control Cables</a:t>
                      </a:r>
                      <a:endParaRPr lang="en-US" sz="1100" b="1" i="0" u="none" strike="noStrike" kern="1200">
                        <a:solidFill>
                          <a:srgbClr val="00B050"/>
                        </a:solidFill>
                        <a:effectLst/>
                        <a:latin typeface="Adani Regular" panose="02000503000000020004" pitchFamily="2" charset="0"/>
                        <a:ea typeface="+mn-ea"/>
                        <a:cs typeface="+mn-cs"/>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140.4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145.6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54.6 km</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Previous TBER is valid</a:t>
                      </a:r>
                      <a:endParaRPr kumimoji="0" lang="en-US" sz="12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Offers: </a:t>
                      </a:r>
                      <a:r>
                        <a:rPr lang="sv-SE" sz="1100" b="1" i="0" u="none" strike="noStrike">
                          <a:solidFill>
                            <a:srgbClr val="00B050"/>
                          </a:solidFill>
                          <a:effectLst/>
                          <a:latin typeface="Adani Regular" panose="02000503000000020004" pitchFamily="2" charset="0"/>
                        </a:rPr>
                        <a:t>Delton, Diamond, Havells, Ravin, Special, Suyog, Polycab, Paramount, Gemscab, Dynamic, Chandresh</a:t>
                      </a: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29-Dec-25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19-Jan-26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issued to GEMSCAB dated 19-Jan-26.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90471776"/>
                  </a:ext>
                </a:extLst>
              </a:tr>
              <a:tr h="569088">
                <a:tc>
                  <a:txBody>
                    <a:bodyPr/>
                    <a:lstStyle/>
                    <a:p>
                      <a:pPr algn="ctr" fontAlgn="ctr"/>
                      <a:r>
                        <a:rPr lang="en-US" sz="1100" b="1" i="0" u="none" strike="noStrike">
                          <a:solidFill>
                            <a:srgbClr val="00B050"/>
                          </a:solidFill>
                          <a:effectLst/>
                          <a:latin typeface="Adani Regular" panose="02000503000000020004" pitchFamily="2" charset="0"/>
                        </a:rPr>
                        <a:t>11</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kern="1200">
                          <a:solidFill>
                            <a:srgbClr val="00B050"/>
                          </a:solidFill>
                          <a:effectLst/>
                          <a:latin typeface="Adani Regular" panose="02000503000000020004" pitchFamily="2" charset="0"/>
                          <a:ea typeface="+mn-ea"/>
                          <a:cs typeface="+mn-cs"/>
                        </a:rPr>
                        <a:t>SCADA Cables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295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295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150 km</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Previous TBER is valid</a:t>
                      </a:r>
                      <a:endParaRPr kumimoji="0" lang="en-US" sz="14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buNone/>
                      </a:pPr>
                      <a:r>
                        <a:rPr lang="en-US" sz="1200" b="1" i="0" u="none" strike="noStrike">
                          <a:solidFill>
                            <a:srgbClr val="00B050"/>
                          </a:solidFill>
                          <a:effectLst/>
                          <a:latin typeface="Adani Regular" panose="02000503000000020004" pitchFamily="2" charset="0"/>
                        </a:rPr>
                        <a:t>Special, Paramount, Gemscab, Suyog, Delton, KEI</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br>
                        <a:rPr lang="en-US" sz="1100" b="1" i="0" u="none" strike="sngStrike">
                          <a:solidFill>
                            <a:srgbClr val="00B050"/>
                          </a:solidFill>
                          <a:effectLst/>
                          <a:latin typeface="Adani Regular" panose="02000503000000020004" pitchFamily="2" charset="0"/>
                        </a:rPr>
                      </a:br>
                      <a:r>
                        <a:rPr lang="en-US" sz="1100" b="1" i="0" u="none" strike="noStrike">
                          <a:solidFill>
                            <a:srgbClr val="00B050"/>
                          </a:solidFill>
                          <a:effectLst/>
                          <a:latin typeface="Adani Regular" panose="02000503000000020004" pitchFamily="2" charset="0"/>
                        </a:rPr>
                        <a:t>02-Jan-26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08-Jan-26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4138" indent="0" algn="l" fontAlgn="ctr">
                        <a:buNone/>
                      </a:pPr>
                      <a:r>
                        <a:rPr lang="en-US" sz="1100" b="1" i="0" u="none" strike="noStrike">
                          <a:solidFill>
                            <a:srgbClr val="00B050"/>
                          </a:solidFill>
                          <a:effectLst/>
                          <a:latin typeface="Adani Regular" panose="02000503000000020004" pitchFamily="2" charset="0"/>
                        </a:rPr>
                        <a:t>Order releases to M/s Delton &amp; M/s Suyog dated 08-Jan-26.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46461236"/>
                  </a:ext>
                </a:extLst>
              </a:tr>
              <a:tr h="569088">
                <a:tc>
                  <a:txBody>
                    <a:bodyPr/>
                    <a:lstStyle/>
                    <a:p>
                      <a:pPr algn="ctr" fontAlgn="ctr"/>
                      <a:r>
                        <a:rPr lang="en-US" sz="1100" b="1" i="0" u="none" strike="noStrike">
                          <a:solidFill>
                            <a:srgbClr val="00B050"/>
                          </a:solidFill>
                          <a:effectLst/>
                          <a:latin typeface="Adani Regular" panose="02000503000000020004" pitchFamily="2" charset="0"/>
                        </a:rPr>
                        <a:t>12</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a:solidFill>
                            <a:srgbClr val="00B050"/>
                          </a:solidFill>
                          <a:effectLst/>
                          <a:latin typeface="Adani Regular" panose="02000503000000020004" pitchFamily="2" charset="0"/>
                        </a:rPr>
                        <a:t>FO Cable</a:t>
                      </a:r>
                      <a:endParaRPr lang="en-US" sz="1100" b="1" i="0" u="none" strike="noStrike" kern="1200">
                        <a:solidFill>
                          <a:srgbClr val="00B050"/>
                        </a:solidFill>
                        <a:effectLst/>
                        <a:latin typeface="Adani Regular" panose="02000503000000020004" pitchFamily="2" charset="0"/>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23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22.5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18 km</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Previous TBER is valid</a:t>
                      </a:r>
                      <a:endParaRPr kumimoji="0" lang="en-US" sz="12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Repeat order confirmation received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03-Jan-26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91440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issued to Paramount on 03-Jan-26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16478900"/>
                  </a:ext>
                </a:extLst>
              </a:tr>
              <a:tr h="1081850">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13</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Precast Supply (Monolithic Beam, Staircase, BOT and NIFPS)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1008 NOS</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1046 NOS</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393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14-Dec-25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30-Dec-25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RFP: </a:t>
                      </a:r>
                      <a:r>
                        <a:rPr lang="en-US" sz="1100" b="1" i="0" u="none" strike="noStrike">
                          <a:solidFill>
                            <a:srgbClr val="00B050"/>
                          </a:solidFill>
                          <a:effectLst/>
                          <a:latin typeface="Adani Regular" panose="02000503000000020004" pitchFamily="2" charset="0"/>
                        </a:rPr>
                        <a:t>Buildcast, Sachi Precast, Sachi Agency, Shreeji, VAB, Fuji</a:t>
                      </a: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16-Jan-26</a:t>
                      </a:r>
                      <a:endParaRPr kumimoji="0" lang="en-US" sz="12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28-Jan-26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Vendors finalized. Orders for Monolithic Beam &amp; BOT released dated 15-Jan-26. All orders for PSS-08(B) released. Orders for NIFPS and Staircase for BCF, PCS &amp; SGR released on 28-Jan.</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180625973"/>
                  </a:ext>
                </a:extLst>
              </a:tr>
            </a:tbl>
          </a:graphicData>
        </a:graphic>
      </p:graphicFrame>
      <p:sp>
        <p:nvSpPr>
          <p:cNvPr id="3" name="Rectangle 2">
            <a:extLst>
              <a:ext uri="{FF2B5EF4-FFF2-40B4-BE49-F238E27FC236}">
                <a16:creationId xmlns:a16="http://schemas.microsoft.com/office/drawing/2014/main" id="{772495A7-A6CF-8B5F-E56A-ADB96C54F425}"/>
              </a:ext>
            </a:extLst>
          </p:cNvPr>
          <p:cNvSpPr txBox="1">
            <a:spLocks noChangeArrowheads="1"/>
          </p:cNvSpPr>
          <p:nvPr/>
        </p:nvSpPr>
        <p:spPr>
          <a:xfrm>
            <a:off x="66695" y="165164"/>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 </a:t>
            </a:r>
            <a:r>
              <a:rPr lang="en-US" sz="2400" b="1">
                <a:solidFill>
                  <a:srgbClr val="912A82"/>
                </a:solidFill>
                <a:highlight>
                  <a:srgbClr val="33CC33"/>
                </a:highlight>
              </a:rPr>
              <a:t>Supply ordering Status (</a:t>
            </a:r>
            <a:r>
              <a:rPr lang="en-IN" sz="2400" b="1">
                <a:solidFill>
                  <a:srgbClr val="912A82"/>
                </a:solidFill>
                <a:highlight>
                  <a:srgbClr val="33CC33"/>
                </a:highlight>
              </a:rPr>
              <a:t>PSS-09, 05(B) &amp; 08(B))</a:t>
            </a:r>
            <a:r>
              <a:rPr lang="en-IN" sz="2400" b="1">
                <a:solidFill>
                  <a:srgbClr val="00B050"/>
                </a:solidFill>
                <a:highlight>
                  <a:srgbClr val="33CC33"/>
                </a:highlight>
              </a:rPr>
              <a:t> - Completed</a:t>
            </a:r>
            <a:endParaRPr lang="en-US" sz="2400" b="1">
              <a:solidFill>
                <a:srgbClr val="3D3DFF"/>
              </a:solidFill>
              <a:highlight>
                <a:srgbClr val="33CC33"/>
              </a:highlight>
            </a:endParaRPr>
          </a:p>
        </p:txBody>
      </p:sp>
    </p:spTree>
    <p:extLst>
      <p:ext uri="{BB962C8B-B14F-4D97-AF65-F5344CB8AC3E}">
        <p14:creationId xmlns:p14="http://schemas.microsoft.com/office/powerpoint/2010/main" val="14495056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F0D92-A088-E2AF-0339-81F8E109DB03}"/>
            </a:ext>
          </a:extLst>
        </p:cNvPr>
        <p:cNvGrpSpPr/>
        <p:nvPr/>
      </p:nvGrpSpPr>
      <p:grpSpPr>
        <a:xfrm>
          <a:off x="0" y="0"/>
          <a:ext cx="0" cy="0"/>
          <a:chOff x="0" y="0"/>
          <a:chExt cx="0" cy="0"/>
        </a:xfrm>
      </p:grpSpPr>
      <p:sp>
        <p:nvSpPr>
          <p:cNvPr id="3" name="Slide Number Placeholder 1">
            <a:extLst>
              <a:ext uri="{FF2B5EF4-FFF2-40B4-BE49-F238E27FC236}">
                <a16:creationId xmlns:a16="http://schemas.microsoft.com/office/drawing/2014/main" id="{700CF4DA-5778-936A-E3E5-622489C72EDF}"/>
              </a:ext>
            </a:extLst>
          </p:cNvPr>
          <p:cNvSpPr>
            <a:spLocks noGrp="1"/>
          </p:cNvSpPr>
          <p:nvPr>
            <p:ph type="sldNum" sz="quarter" idx="12"/>
          </p:nvPr>
        </p:nvSpPr>
        <p:spPr>
          <a:xfrm>
            <a:off x="9213294" y="6486977"/>
            <a:ext cx="2844800" cy="365125"/>
          </a:xfrm>
          <a:prstGeom prst="rect">
            <a:avLst/>
          </a:prstGeom>
        </p:spPr>
        <p:txBody>
          <a:bodyPr vert="horz" lIns="91440" tIns="45720" rIns="91440" bIns="45720" rtlCol="0" anchor="ctr"/>
          <a:lstStyle>
            <a:defPPr>
              <a:defRPr lang="en-US"/>
            </a:defPPr>
            <a:lvl1pPr marL="0" algn="r" defTabSz="914400" rtl="0" eaLnBrk="1" latinLnBrk="0" hangingPunct="1">
              <a:defRPr sz="1400" kern="1200">
                <a:solidFill>
                  <a:schemeClr val="tx1">
                    <a:tint val="75000"/>
                  </a:schemeClr>
                </a:solidFill>
                <a:latin typeface="Adani Regular"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8B285C1-D8A8-4E98-B28C-1FD972D8EC54}" type="slidenum">
              <a:rPr lang="en-IN" smtClean="0"/>
              <a:pPr/>
              <a:t>57</a:t>
            </a:fld>
            <a:endParaRPr lang="en-IN"/>
          </a:p>
        </p:txBody>
      </p:sp>
      <p:sp>
        <p:nvSpPr>
          <p:cNvPr id="5" name="Rectangle 2">
            <a:extLst>
              <a:ext uri="{FF2B5EF4-FFF2-40B4-BE49-F238E27FC236}">
                <a16:creationId xmlns:a16="http://schemas.microsoft.com/office/drawing/2014/main" id="{FA19B350-5C7F-6C7E-1880-991A528A8A3E}"/>
              </a:ext>
            </a:extLst>
          </p:cNvPr>
          <p:cNvSpPr txBox="1">
            <a:spLocks noChangeArrowheads="1"/>
          </p:cNvSpPr>
          <p:nvPr/>
        </p:nvSpPr>
        <p:spPr>
          <a:xfrm>
            <a:off x="66695" y="165164"/>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 </a:t>
            </a:r>
            <a:r>
              <a:rPr lang="en-US" sz="2400" b="1">
                <a:solidFill>
                  <a:srgbClr val="912A82"/>
                </a:solidFill>
                <a:highlight>
                  <a:srgbClr val="33CC33"/>
                </a:highlight>
              </a:rPr>
              <a:t>Supply ordering Status (</a:t>
            </a:r>
            <a:r>
              <a:rPr lang="en-IN" sz="2400" b="1">
                <a:solidFill>
                  <a:srgbClr val="912A82"/>
                </a:solidFill>
                <a:highlight>
                  <a:srgbClr val="33CC33"/>
                </a:highlight>
              </a:rPr>
              <a:t>PSS-09, 05(B) &amp; 08(B))</a:t>
            </a:r>
            <a:endParaRPr lang="en-US" sz="2400" b="1">
              <a:solidFill>
                <a:srgbClr val="00B050"/>
              </a:solidFill>
              <a:highlight>
                <a:srgbClr val="33CC33"/>
              </a:highlight>
            </a:endParaRPr>
          </a:p>
        </p:txBody>
      </p:sp>
      <p:graphicFrame>
        <p:nvGraphicFramePr>
          <p:cNvPr id="6" name="Table 5">
            <a:extLst>
              <a:ext uri="{FF2B5EF4-FFF2-40B4-BE49-F238E27FC236}">
                <a16:creationId xmlns:a16="http://schemas.microsoft.com/office/drawing/2014/main" id="{A741E547-E6BE-93B4-DEC9-A2DE7DEBA6DF}"/>
              </a:ext>
            </a:extLst>
          </p:cNvPr>
          <p:cNvGraphicFramePr>
            <a:graphicFrameLocks noGrp="1"/>
          </p:cNvGraphicFramePr>
          <p:nvPr>
            <p:extLst>
              <p:ext uri="{D42A27DB-BD31-4B8C-83A1-F6EECF244321}">
                <p14:modId xmlns:p14="http://schemas.microsoft.com/office/powerpoint/2010/main" val="199118875"/>
              </p:ext>
            </p:extLst>
          </p:nvPr>
        </p:nvGraphicFramePr>
        <p:xfrm>
          <a:off x="66695" y="641997"/>
          <a:ext cx="12058610" cy="5641996"/>
        </p:xfrm>
        <a:graphic>
          <a:graphicData uri="http://schemas.openxmlformats.org/drawingml/2006/table">
            <a:tbl>
              <a:tblPr/>
              <a:tblGrid>
                <a:gridCol w="398000">
                  <a:extLst>
                    <a:ext uri="{9D8B030D-6E8A-4147-A177-3AD203B41FA5}">
                      <a16:colId xmlns:a16="http://schemas.microsoft.com/office/drawing/2014/main" val="2829026117"/>
                    </a:ext>
                  </a:extLst>
                </a:gridCol>
                <a:gridCol w="1276363">
                  <a:extLst>
                    <a:ext uri="{9D8B030D-6E8A-4147-A177-3AD203B41FA5}">
                      <a16:colId xmlns:a16="http://schemas.microsoft.com/office/drawing/2014/main" val="2773142122"/>
                    </a:ext>
                  </a:extLst>
                </a:gridCol>
                <a:gridCol w="702339">
                  <a:extLst>
                    <a:ext uri="{9D8B030D-6E8A-4147-A177-3AD203B41FA5}">
                      <a16:colId xmlns:a16="http://schemas.microsoft.com/office/drawing/2014/main" val="246702370"/>
                    </a:ext>
                  </a:extLst>
                </a:gridCol>
                <a:gridCol w="1064301">
                  <a:extLst>
                    <a:ext uri="{9D8B030D-6E8A-4147-A177-3AD203B41FA5}">
                      <a16:colId xmlns:a16="http://schemas.microsoft.com/office/drawing/2014/main" val="3558478565"/>
                    </a:ext>
                  </a:extLst>
                </a:gridCol>
                <a:gridCol w="809469">
                  <a:extLst>
                    <a:ext uri="{9D8B030D-6E8A-4147-A177-3AD203B41FA5}">
                      <a16:colId xmlns:a16="http://schemas.microsoft.com/office/drawing/2014/main" val="1271983604"/>
                    </a:ext>
                  </a:extLst>
                </a:gridCol>
                <a:gridCol w="956922">
                  <a:extLst>
                    <a:ext uri="{9D8B030D-6E8A-4147-A177-3AD203B41FA5}">
                      <a16:colId xmlns:a16="http://schemas.microsoft.com/office/drawing/2014/main" val="1705681307"/>
                    </a:ext>
                  </a:extLst>
                </a:gridCol>
                <a:gridCol w="1634619">
                  <a:extLst>
                    <a:ext uri="{9D8B030D-6E8A-4147-A177-3AD203B41FA5}">
                      <a16:colId xmlns:a16="http://schemas.microsoft.com/office/drawing/2014/main" val="916472123"/>
                    </a:ext>
                  </a:extLst>
                </a:gridCol>
                <a:gridCol w="781246">
                  <a:extLst>
                    <a:ext uri="{9D8B030D-6E8A-4147-A177-3AD203B41FA5}">
                      <a16:colId xmlns:a16="http://schemas.microsoft.com/office/drawing/2014/main" val="86425436"/>
                    </a:ext>
                  </a:extLst>
                </a:gridCol>
                <a:gridCol w="851534">
                  <a:extLst>
                    <a:ext uri="{9D8B030D-6E8A-4147-A177-3AD203B41FA5}">
                      <a16:colId xmlns:a16="http://schemas.microsoft.com/office/drawing/2014/main" val="3499724676"/>
                    </a:ext>
                  </a:extLst>
                </a:gridCol>
                <a:gridCol w="816390">
                  <a:extLst>
                    <a:ext uri="{9D8B030D-6E8A-4147-A177-3AD203B41FA5}">
                      <a16:colId xmlns:a16="http://schemas.microsoft.com/office/drawing/2014/main" val="708652653"/>
                    </a:ext>
                  </a:extLst>
                </a:gridCol>
                <a:gridCol w="2767427">
                  <a:extLst>
                    <a:ext uri="{9D8B030D-6E8A-4147-A177-3AD203B41FA5}">
                      <a16:colId xmlns:a16="http://schemas.microsoft.com/office/drawing/2014/main" val="773725385"/>
                    </a:ext>
                  </a:extLst>
                </a:gridCol>
              </a:tblGrid>
              <a:tr h="657982">
                <a:tc>
                  <a:txBody>
                    <a:bodyPr/>
                    <a:lstStyle/>
                    <a:p>
                      <a:pPr algn="ctr" fontAlgn="ctr"/>
                      <a:r>
                        <a:rPr lang="en-US" sz="1100" b="1" i="0" u="none" strike="noStrike">
                          <a:solidFill>
                            <a:srgbClr val="FBFCFE"/>
                          </a:solidFill>
                          <a:effectLst/>
                          <a:latin typeface="Adani Regular" panose="02000503000000020004" pitchFamily="2" charset="0"/>
                        </a:rPr>
                        <a:t>SN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Equipment/ Package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Qty / Scope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Final / Revised Specifications Issue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Verified by Engineering consultant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TBER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Qualified Vendors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Receipt of Offer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Commercial NFA Submission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Release of PO / SO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Update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extLst>
                  <a:ext uri="{0D108BD9-81ED-4DB2-BD59-A6C34878D82A}">
                    <a16:rowId xmlns:a16="http://schemas.microsoft.com/office/drawing/2014/main" val="3826008376"/>
                  </a:ext>
                </a:extLst>
              </a:tr>
              <a:tr h="812684">
                <a:tc>
                  <a:txBody>
                    <a:bodyPr/>
                    <a:lstStyle/>
                    <a:p>
                      <a:pPr algn="ctr" fontAlgn="ctr"/>
                      <a:r>
                        <a:rPr lang="en-US" sz="1100" b="1" i="0" u="none" strike="noStrike">
                          <a:solidFill>
                            <a:srgbClr val="00B050"/>
                          </a:solidFill>
                          <a:effectLst/>
                          <a:latin typeface="Adani Regular" panose="02000503000000020004" pitchFamily="2" charset="0"/>
                        </a:rPr>
                        <a:t>14</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Harmonic Filter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8 SET</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12 SET</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8 SET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30-Mar-26</a:t>
                      </a:r>
                    </a:p>
                    <a:p>
                      <a:pPr algn="ctr" fontAlgn="ctr"/>
                      <a:r>
                        <a:rPr lang="en-US" sz="1100" b="1" i="0" u="none" strike="noStrike">
                          <a:solidFill>
                            <a:srgbClr val="00B050"/>
                          </a:solidFill>
                          <a:effectLst/>
                          <a:latin typeface="Adani Regular" panose="02000503000000020004" pitchFamily="2" charset="0"/>
                        </a:rPr>
                        <a:t>31-Mar-26</a:t>
                      </a:r>
                    </a:p>
                    <a:p>
                      <a:pPr algn="ctr" fontAlgn="ctr"/>
                      <a:r>
                        <a:rPr lang="en-US" sz="1100" b="1" i="0" u="none" strike="noStrike">
                          <a:solidFill>
                            <a:srgbClr val="00B050"/>
                          </a:solidFill>
                          <a:effectLst/>
                          <a:latin typeface="Adani Regular" panose="02000503000000020004" pitchFamily="2" charset="0"/>
                        </a:rPr>
                        <a:t>14-Apr-26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23-May-26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17-Apr-26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15-Apr-26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26-May-26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a:t>
                      </a:r>
                      <a:r>
                        <a:rPr lang="en-US" sz="1100" b="1" i="0" u="none" strike="noStrike" err="1">
                          <a:solidFill>
                            <a:srgbClr val="00B050"/>
                          </a:solidFill>
                          <a:effectLst/>
                          <a:latin typeface="Adani Regular" panose="02000503000000020004" pitchFamily="2" charset="0"/>
                        </a:rPr>
                        <a:t>Clarient</a:t>
                      </a:r>
                      <a:r>
                        <a:rPr lang="en-US" sz="1100" b="1" i="0" u="none" strike="noStrike">
                          <a:solidFill>
                            <a:srgbClr val="00B050"/>
                          </a:solidFill>
                          <a:effectLst/>
                          <a:latin typeface="Adani Regular" panose="02000503000000020004" pitchFamily="2" charset="0"/>
                        </a:rPr>
                        <a:t> for PSS-09 on 17-Apr &amp; PSS-05(B) on 15-Apr-26.</a:t>
                      </a:r>
                    </a:p>
                    <a:p>
                      <a:pPr marL="85725" marR="0" lvl="0" indent="0" algn="l"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LOA issued to Hitachi for PSS-08(B) on 26-May.</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114784010"/>
                  </a:ext>
                </a:extLst>
              </a:tr>
              <a:tr h="773436">
                <a:tc>
                  <a:txBody>
                    <a:bodyPr/>
                    <a:lstStyle/>
                    <a:p>
                      <a:pPr algn="ctr" fontAlgn="ctr"/>
                      <a:r>
                        <a:rPr lang="en-US" sz="1100" b="1" i="0" u="none" strike="noStrike">
                          <a:solidFill>
                            <a:srgbClr val="00B050"/>
                          </a:solidFill>
                          <a:effectLst/>
                          <a:latin typeface="Adani Regular" panose="02000503000000020004" pitchFamily="2" charset="0"/>
                        </a:rPr>
                        <a:t>15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a:solidFill>
                            <a:srgbClr val="00B050"/>
                          </a:solidFill>
                          <a:effectLst/>
                          <a:latin typeface="Adani Regular" panose="02000503000000020004" pitchFamily="2" charset="0"/>
                        </a:rPr>
                        <a:t>High Mast </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7 NOS</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7 NOS</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6 NOS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20-Jan-26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30-Jan-26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b="1" strike="noStrike">
                          <a:solidFill>
                            <a:srgbClr val="00B050"/>
                          </a:solidFill>
                          <a:effectLst/>
                          <a:latin typeface="Adani Regular"/>
                          <a:ea typeface="Aptos" panose="020B0004020202020204" pitchFamily="34" charset="0"/>
                          <a:cs typeface="Aptos" panose="020B0004020202020204" pitchFamily="34" charset="0"/>
                        </a:rPr>
                        <a:t>Pratibha, Akshar, Excel Infra, </a:t>
                      </a:r>
                      <a:r>
                        <a:rPr lang="en-US" sz="1100" b="1" strike="noStrike" err="1">
                          <a:solidFill>
                            <a:srgbClr val="00B050"/>
                          </a:solidFill>
                          <a:effectLst/>
                          <a:latin typeface="Adani Regular"/>
                          <a:ea typeface="Aptos" panose="020B0004020202020204" pitchFamily="34" charset="0"/>
                          <a:cs typeface="Aptos" panose="020B0004020202020204" pitchFamily="34" charset="0"/>
                        </a:rPr>
                        <a:t>Sunlake</a:t>
                      </a:r>
                      <a:r>
                        <a:rPr lang="en-US" sz="1100" b="1" strike="noStrike">
                          <a:solidFill>
                            <a:srgbClr val="00B050"/>
                          </a:solidFill>
                          <a:effectLst/>
                          <a:latin typeface="Adani Regular"/>
                          <a:ea typeface="Aptos" panose="020B0004020202020204" pitchFamily="34" charset="0"/>
                          <a:cs typeface="Aptos" panose="020B0004020202020204" pitchFamily="34" charset="0"/>
                        </a:rPr>
                        <a:t>, </a:t>
                      </a:r>
                      <a:r>
                        <a:rPr lang="en-US" sz="1100" b="1" strike="noStrike" err="1">
                          <a:solidFill>
                            <a:srgbClr val="00B050"/>
                          </a:solidFill>
                          <a:effectLst/>
                          <a:latin typeface="Adani Regular"/>
                          <a:ea typeface="Aptos" panose="020B0004020202020204" pitchFamily="34" charset="0"/>
                          <a:cs typeface="Aptos" panose="020B0004020202020204" pitchFamily="34" charset="0"/>
                        </a:rPr>
                        <a:t>Ompech</a:t>
                      </a:r>
                      <a:endParaRPr lang="en-US" sz="1100" b="1" strike="noStrike">
                        <a:solidFill>
                          <a:srgbClr val="00B050"/>
                        </a:solidFill>
                        <a:effectLst/>
                        <a:latin typeface="Adani Regular"/>
                        <a:ea typeface="Aptos" panose="020B0004020202020204" pitchFamily="34" charset="0"/>
                        <a:cs typeface="Aptos" panose="020B0004020202020204" pitchFamily="34"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06-Feb-26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10-Feb-26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27-Feb-26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issued to M/s </a:t>
                      </a:r>
                      <a:r>
                        <a:rPr kumimoji="0" lang="en-US" sz="1100" b="1" i="0" u="none" strike="noStrike" kern="1200" cap="none" spc="0" normalizeH="0" baseline="0" noProof="0" err="1">
                          <a:ln>
                            <a:noFill/>
                          </a:ln>
                          <a:solidFill>
                            <a:srgbClr val="00B050"/>
                          </a:solidFill>
                          <a:effectLst/>
                          <a:uLnTx/>
                          <a:uFillTx/>
                          <a:latin typeface="Adani Regular" panose="02000503000000020004" pitchFamily="2" charset="0"/>
                          <a:ea typeface="+mn-ea"/>
                          <a:cs typeface="+mn-cs"/>
                        </a:rPr>
                        <a:t>Sunelec</a:t>
                      </a: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31647959"/>
                  </a:ext>
                </a:extLst>
              </a:tr>
              <a:tr h="1293828">
                <a:tc>
                  <a:txBody>
                    <a:bodyPr/>
                    <a:lstStyle/>
                    <a:p>
                      <a:pPr algn="ctr" fontAlgn="ctr"/>
                      <a:r>
                        <a:rPr lang="en-US" sz="1100" b="1" i="0" u="none" strike="noStrike">
                          <a:solidFill>
                            <a:srgbClr val="00B050"/>
                          </a:solidFill>
                          <a:effectLst/>
                          <a:latin typeface="Adani Regular" panose="02000503000000020004" pitchFamily="2" charset="0"/>
                        </a:rPr>
                        <a:t>16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Fire Protection, Detection &amp; Alarm System Package incl of (Hooter, Fire extinguisher, Panel. ) </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LOT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05-Mar-26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18-Apr-26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01-May-26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TBER concluded on 18-Apr-26; </a:t>
                      </a:r>
                    </a:p>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LOA released to M/s APSNP on 01-May-26.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321455541"/>
                  </a:ext>
                </a:extLst>
              </a:tr>
              <a:tr h="1042981">
                <a:tc>
                  <a:txBody>
                    <a:bodyPr/>
                    <a:lstStyle/>
                    <a:p>
                      <a:pPr algn="ctr" fontAlgn="ctr"/>
                      <a:r>
                        <a:rPr lang="en-US" sz="1100" b="1" i="0" u="none" strike="noStrike">
                          <a:solidFill>
                            <a:srgbClr val="00B050"/>
                          </a:solidFill>
                          <a:effectLst/>
                          <a:latin typeface="Adani Regular" panose="02000503000000020004" pitchFamily="2" charset="0"/>
                        </a:rPr>
                        <a:t>17</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kern="1200">
                          <a:solidFill>
                            <a:srgbClr val="00B050"/>
                          </a:solidFill>
                          <a:effectLst/>
                          <a:latin typeface="Adani Regular" panose="02000503000000020004" pitchFamily="2" charset="0"/>
                          <a:ea typeface="+mn-ea"/>
                          <a:cs typeface="+mn-cs"/>
                        </a:rPr>
                        <a:t>Electrical Modification in existing PSS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LOT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sngStrike">
                          <a:solidFill>
                            <a:srgbClr val="00B050"/>
                          </a:solidFill>
                          <a:effectLst/>
                          <a:latin typeface="Adani Regular" panose="02000503000000020004" pitchFamily="2" charset="0"/>
                        </a:rPr>
                        <a:t>07-Feb-26</a:t>
                      </a:r>
                    </a:p>
                    <a:p>
                      <a:pPr algn="ctr" fontAlgn="ctr"/>
                      <a:r>
                        <a:rPr lang="en-US" sz="1100" b="1" i="0" u="none" strike="noStrike">
                          <a:solidFill>
                            <a:srgbClr val="00B050"/>
                          </a:solidFill>
                          <a:effectLst/>
                          <a:latin typeface="Adani Regular" panose="02000503000000020004" pitchFamily="2" charset="0"/>
                        </a:rPr>
                        <a:t>09-Feb-26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01-Apr-26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06-Apr-26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Letter of award (LOA) issued to M/s </a:t>
                      </a:r>
                      <a:r>
                        <a:rPr lang="en-US" sz="1100" b="1" i="0" u="none" strike="noStrike" err="1">
                          <a:solidFill>
                            <a:srgbClr val="00B050"/>
                          </a:solidFill>
                          <a:effectLst/>
                          <a:latin typeface="Adani Regular" panose="02000503000000020004" pitchFamily="2" charset="0"/>
                        </a:rPr>
                        <a:t>Trisquare</a:t>
                      </a:r>
                      <a:r>
                        <a:rPr lang="en-US" sz="1100" b="1" i="0" u="none" strike="noStrike">
                          <a:solidFill>
                            <a:srgbClr val="00B050"/>
                          </a:solidFill>
                          <a:effectLst/>
                          <a:latin typeface="Adani Regular" panose="02000503000000020004" pitchFamily="2" charset="0"/>
                        </a:rPr>
                        <a:t> for PSS-05(B),08(B)  &amp; M/s </a:t>
                      </a:r>
                      <a:r>
                        <a:rPr lang="en-US" sz="1100" b="1" i="0" u="none" strike="noStrike" err="1">
                          <a:solidFill>
                            <a:srgbClr val="00B050"/>
                          </a:solidFill>
                          <a:effectLst/>
                          <a:latin typeface="Adani Regular" panose="02000503000000020004" pitchFamily="2" charset="0"/>
                        </a:rPr>
                        <a:t>Symatic</a:t>
                      </a:r>
                      <a:r>
                        <a:rPr lang="en-US" sz="1100" b="1" i="0" u="none" strike="noStrike">
                          <a:solidFill>
                            <a:srgbClr val="00B050"/>
                          </a:solidFill>
                          <a:effectLst/>
                          <a:latin typeface="Adani Regular" panose="02000503000000020004" pitchFamily="2" charset="0"/>
                        </a:rPr>
                        <a:t> for PSS-09, PSS-05(B) &amp; 08(B)  on 06-Apr-26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90471776"/>
                  </a:ext>
                </a:extLst>
              </a:tr>
              <a:tr h="1042981">
                <a:tc>
                  <a:txBody>
                    <a:bodyPr/>
                    <a:lstStyle/>
                    <a:p>
                      <a:pPr algn="ctr" fontAlgn="ctr"/>
                      <a:r>
                        <a:rPr lang="en-US" sz="1100" b="1" i="0" u="none" strike="noStrike">
                          <a:solidFill>
                            <a:srgbClr val="00B050"/>
                          </a:solidFill>
                          <a:effectLst/>
                          <a:latin typeface="Adani Regular" panose="02000503000000020004" pitchFamily="2" charset="0"/>
                        </a:rPr>
                        <a:t>18</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kern="1200">
                          <a:solidFill>
                            <a:srgbClr val="00B050"/>
                          </a:solidFill>
                          <a:effectLst/>
                          <a:latin typeface="Adani Regular" panose="02000503000000020004" pitchFamily="2" charset="0"/>
                          <a:ea typeface="+mn-ea"/>
                          <a:cs typeface="+mn-cs"/>
                        </a:rPr>
                        <a:t>Structural modification works in existing PSS</a:t>
                      </a:r>
                    </a:p>
                    <a:p>
                      <a:pPr marL="85725" indent="0" algn="l" fontAlgn="ctr"/>
                      <a:r>
                        <a:rPr lang="en-US" sz="1100" b="1" i="0" u="none" strike="noStrike" kern="1200">
                          <a:solidFill>
                            <a:srgbClr val="00B050"/>
                          </a:solidFill>
                          <a:effectLst/>
                          <a:latin typeface="Adani Regular" panose="02000503000000020004" pitchFamily="2" charset="0"/>
                          <a:ea typeface="+mn-ea"/>
                          <a:cs typeface="+mn-cs"/>
                        </a:rPr>
                        <a:t>(Containerized solution)</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 NOS</a:t>
                      </a:r>
                    </a:p>
                    <a:p>
                      <a:pPr algn="ctr" fontAlgn="ctr"/>
                      <a:r>
                        <a:rPr lang="en-US" sz="1100" b="1" i="0" u="none" strike="noStrike">
                          <a:solidFill>
                            <a:srgbClr val="00B050"/>
                          </a:solidFill>
                          <a:effectLst/>
                          <a:latin typeface="Adani Regular" panose="02000503000000020004" pitchFamily="2" charset="0"/>
                        </a:rPr>
                        <a:t>-</a:t>
                      </a:r>
                    </a:p>
                    <a:p>
                      <a:pPr algn="ctr" font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sngStrike">
                          <a:solidFill>
                            <a:srgbClr val="00B050"/>
                          </a:solidFill>
                          <a:effectLst/>
                          <a:latin typeface="Adani Regular" panose="02000503000000020004" pitchFamily="2" charset="0"/>
                        </a:rPr>
                        <a:t>07-Feb-26</a:t>
                      </a:r>
                    </a:p>
                    <a:p>
                      <a:pPr algn="ctr" fontAlgn="ctr"/>
                      <a:r>
                        <a:rPr lang="en-US" sz="1100" b="1" i="0" u="none" strike="sngStrike">
                          <a:solidFill>
                            <a:srgbClr val="00B050"/>
                          </a:solidFill>
                          <a:effectLst/>
                          <a:latin typeface="Adani Regular" panose="02000503000000020004" pitchFamily="2" charset="0"/>
                        </a:rPr>
                        <a:t>28-Feb-26</a:t>
                      </a:r>
                    </a:p>
                    <a:p>
                      <a:pPr algn="ctr" fontAlgn="ctr"/>
                      <a:r>
                        <a:rPr lang="en-US" sz="1100" b="1" i="0" u="none" strike="sngStrike">
                          <a:solidFill>
                            <a:srgbClr val="00B050"/>
                          </a:solidFill>
                          <a:effectLst/>
                          <a:latin typeface="Adani Regular" panose="02000503000000020004" pitchFamily="2" charset="0"/>
                        </a:rPr>
                        <a:t>10-Mar-26</a:t>
                      </a:r>
                    </a:p>
                    <a:p>
                      <a:pPr algn="ctr" fontAlgn="ctr"/>
                      <a:r>
                        <a:rPr lang="en-US" sz="1100" b="1" i="0" u="none" strike="noStrike">
                          <a:solidFill>
                            <a:srgbClr val="00B050"/>
                          </a:solidFill>
                          <a:effectLst/>
                          <a:latin typeface="Adani Regular" panose="02000503000000020004" pitchFamily="2" charset="0"/>
                        </a:rPr>
                        <a:t>23-Mar-26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17-Apr-26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sngStrike" kern="1200" cap="none" spc="0" normalizeH="0" baseline="0" noProof="0">
                          <a:ln>
                            <a:noFill/>
                          </a:ln>
                          <a:solidFill>
                            <a:srgbClr val="00B050"/>
                          </a:solidFill>
                          <a:effectLst/>
                          <a:uLnTx/>
                          <a:uFillTx/>
                          <a:latin typeface="Adani Regular" panose="02000503000000020004" pitchFamily="2" charset="0"/>
                          <a:ea typeface="+mn-ea"/>
                          <a:cs typeface="+mn-cs"/>
                        </a:rPr>
                        <a:t>14-Feb-26</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sngStrike" kern="1200" cap="none" spc="0" normalizeH="0" baseline="0" noProof="0">
                          <a:ln>
                            <a:noFill/>
                          </a:ln>
                          <a:solidFill>
                            <a:srgbClr val="00B050"/>
                          </a:solidFill>
                          <a:effectLst/>
                          <a:uLnTx/>
                          <a:uFillTx/>
                          <a:latin typeface="Adani Regular" panose="02000503000000020004" pitchFamily="2" charset="0"/>
                          <a:ea typeface="+mn-ea"/>
                          <a:cs typeface="+mn-cs"/>
                        </a:rPr>
                        <a:t>27-Feb-26</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sngStrike" kern="1200" cap="none" spc="0" normalizeH="0" baseline="0" noProof="0">
                          <a:ln>
                            <a:noFill/>
                          </a:ln>
                          <a:solidFill>
                            <a:srgbClr val="00B050"/>
                          </a:solidFill>
                          <a:effectLst/>
                          <a:uLnTx/>
                          <a:uFillTx/>
                          <a:latin typeface="Adani Regular" panose="02000503000000020004" pitchFamily="2" charset="0"/>
                          <a:ea typeface="+mn-ea"/>
                          <a:cs typeface="+mn-cs"/>
                        </a:rPr>
                        <a:t>08-Mar-26</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sngStrike" kern="1200" cap="none" spc="0" normalizeH="0" baseline="0" noProof="0">
                          <a:ln>
                            <a:noFill/>
                          </a:ln>
                          <a:solidFill>
                            <a:srgbClr val="00B050"/>
                          </a:solidFill>
                          <a:effectLst/>
                          <a:uLnTx/>
                          <a:uFillTx/>
                          <a:latin typeface="Adani Regular" panose="02000503000000020004" pitchFamily="2" charset="0"/>
                          <a:ea typeface="+mn-ea"/>
                          <a:cs typeface="+mn-cs"/>
                        </a:rPr>
                        <a:t>31-Mar-26</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sngStrike" kern="1200" cap="none" spc="0" normalizeH="0" baseline="0" noProof="0">
                          <a:ln>
                            <a:noFill/>
                          </a:ln>
                          <a:solidFill>
                            <a:srgbClr val="00B050"/>
                          </a:solidFill>
                          <a:effectLst/>
                          <a:uLnTx/>
                          <a:uFillTx/>
                          <a:latin typeface="Adani Regular" panose="02000503000000020004" pitchFamily="2" charset="0"/>
                          <a:ea typeface="+mn-ea"/>
                          <a:cs typeface="+mn-cs"/>
                        </a:rPr>
                        <a:t>14-Apr-26</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17-Apr-26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16-Feb-26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03-Mar-26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12-Mar-26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04-Apr-26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16-Apr-26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18-Apr-26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LOA issued to M/s RV Enterprise dated 18-Apr-26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911342138"/>
                  </a:ext>
                </a:extLst>
              </a:tr>
            </a:tbl>
          </a:graphicData>
        </a:graphic>
      </p:graphicFrame>
    </p:spTree>
    <p:extLst>
      <p:ext uri="{BB962C8B-B14F-4D97-AF65-F5344CB8AC3E}">
        <p14:creationId xmlns:p14="http://schemas.microsoft.com/office/powerpoint/2010/main" val="1928984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31824-A724-7361-E7F1-3471DFE459CD}"/>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3B9897F7-7FA8-0291-DE44-B04662B03F47}"/>
              </a:ext>
            </a:extLst>
          </p:cNvPr>
          <p:cNvSpPr txBox="1">
            <a:spLocks noChangeArrowheads="1"/>
          </p:cNvSpPr>
          <p:nvPr/>
        </p:nvSpPr>
        <p:spPr>
          <a:xfrm>
            <a:off x="66695" y="165164"/>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 </a:t>
            </a:r>
            <a:r>
              <a:rPr lang="en-US" sz="2400" b="1">
                <a:solidFill>
                  <a:srgbClr val="912A82"/>
                </a:solidFill>
                <a:highlight>
                  <a:srgbClr val="33CC33"/>
                </a:highlight>
              </a:rPr>
              <a:t>Supply ordering Status (</a:t>
            </a:r>
            <a:r>
              <a:rPr lang="en-IN" sz="2400" b="1">
                <a:solidFill>
                  <a:srgbClr val="912A82"/>
                </a:solidFill>
                <a:highlight>
                  <a:srgbClr val="33CC33"/>
                </a:highlight>
              </a:rPr>
              <a:t>PSS-09, 05(B) &amp; 08(B))</a:t>
            </a:r>
            <a:r>
              <a:rPr lang="en-IN" sz="2400" b="1">
                <a:solidFill>
                  <a:srgbClr val="00B050"/>
                </a:solidFill>
                <a:highlight>
                  <a:srgbClr val="33CC33"/>
                </a:highlight>
              </a:rPr>
              <a:t> - Completed </a:t>
            </a:r>
            <a:endParaRPr lang="en-US" sz="2400" b="1">
              <a:solidFill>
                <a:srgbClr val="00B050"/>
              </a:solidFill>
              <a:highlight>
                <a:srgbClr val="33CC33"/>
              </a:highlight>
            </a:endParaRPr>
          </a:p>
        </p:txBody>
      </p:sp>
      <p:graphicFrame>
        <p:nvGraphicFramePr>
          <p:cNvPr id="5" name="Table 4">
            <a:extLst>
              <a:ext uri="{FF2B5EF4-FFF2-40B4-BE49-F238E27FC236}">
                <a16:creationId xmlns:a16="http://schemas.microsoft.com/office/drawing/2014/main" id="{E595C929-DCA0-B2C4-4FE5-6929495FD388}"/>
              </a:ext>
            </a:extLst>
          </p:cNvPr>
          <p:cNvGraphicFramePr>
            <a:graphicFrameLocks noGrp="1"/>
          </p:cNvGraphicFramePr>
          <p:nvPr>
            <p:extLst>
              <p:ext uri="{D42A27DB-BD31-4B8C-83A1-F6EECF244321}">
                <p14:modId xmlns:p14="http://schemas.microsoft.com/office/powerpoint/2010/main" val="4142422712"/>
              </p:ext>
            </p:extLst>
          </p:nvPr>
        </p:nvGraphicFramePr>
        <p:xfrm>
          <a:off x="66695" y="641996"/>
          <a:ext cx="12058610" cy="3586575"/>
        </p:xfrm>
        <a:graphic>
          <a:graphicData uri="http://schemas.openxmlformats.org/drawingml/2006/table">
            <a:tbl>
              <a:tblPr/>
              <a:tblGrid>
                <a:gridCol w="402992">
                  <a:extLst>
                    <a:ext uri="{9D8B030D-6E8A-4147-A177-3AD203B41FA5}">
                      <a16:colId xmlns:a16="http://schemas.microsoft.com/office/drawing/2014/main" val="2829026117"/>
                    </a:ext>
                  </a:extLst>
                </a:gridCol>
                <a:gridCol w="1271371">
                  <a:extLst>
                    <a:ext uri="{9D8B030D-6E8A-4147-A177-3AD203B41FA5}">
                      <a16:colId xmlns:a16="http://schemas.microsoft.com/office/drawing/2014/main" val="2773142122"/>
                    </a:ext>
                  </a:extLst>
                </a:gridCol>
                <a:gridCol w="702339">
                  <a:extLst>
                    <a:ext uri="{9D8B030D-6E8A-4147-A177-3AD203B41FA5}">
                      <a16:colId xmlns:a16="http://schemas.microsoft.com/office/drawing/2014/main" val="246702370"/>
                    </a:ext>
                  </a:extLst>
                </a:gridCol>
                <a:gridCol w="1064301">
                  <a:extLst>
                    <a:ext uri="{9D8B030D-6E8A-4147-A177-3AD203B41FA5}">
                      <a16:colId xmlns:a16="http://schemas.microsoft.com/office/drawing/2014/main" val="3558478565"/>
                    </a:ext>
                  </a:extLst>
                </a:gridCol>
                <a:gridCol w="809469">
                  <a:extLst>
                    <a:ext uri="{9D8B030D-6E8A-4147-A177-3AD203B41FA5}">
                      <a16:colId xmlns:a16="http://schemas.microsoft.com/office/drawing/2014/main" val="1271983604"/>
                    </a:ext>
                  </a:extLst>
                </a:gridCol>
                <a:gridCol w="956922">
                  <a:extLst>
                    <a:ext uri="{9D8B030D-6E8A-4147-A177-3AD203B41FA5}">
                      <a16:colId xmlns:a16="http://schemas.microsoft.com/office/drawing/2014/main" val="1705681307"/>
                    </a:ext>
                  </a:extLst>
                </a:gridCol>
                <a:gridCol w="1634619">
                  <a:extLst>
                    <a:ext uri="{9D8B030D-6E8A-4147-A177-3AD203B41FA5}">
                      <a16:colId xmlns:a16="http://schemas.microsoft.com/office/drawing/2014/main" val="916472123"/>
                    </a:ext>
                  </a:extLst>
                </a:gridCol>
                <a:gridCol w="781246">
                  <a:extLst>
                    <a:ext uri="{9D8B030D-6E8A-4147-A177-3AD203B41FA5}">
                      <a16:colId xmlns:a16="http://schemas.microsoft.com/office/drawing/2014/main" val="86425436"/>
                    </a:ext>
                  </a:extLst>
                </a:gridCol>
                <a:gridCol w="851534">
                  <a:extLst>
                    <a:ext uri="{9D8B030D-6E8A-4147-A177-3AD203B41FA5}">
                      <a16:colId xmlns:a16="http://schemas.microsoft.com/office/drawing/2014/main" val="3499724676"/>
                    </a:ext>
                  </a:extLst>
                </a:gridCol>
                <a:gridCol w="816390">
                  <a:extLst>
                    <a:ext uri="{9D8B030D-6E8A-4147-A177-3AD203B41FA5}">
                      <a16:colId xmlns:a16="http://schemas.microsoft.com/office/drawing/2014/main" val="708652653"/>
                    </a:ext>
                  </a:extLst>
                </a:gridCol>
                <a:gridCol w="2767427">
                  <a:extLst>
                    <a:ext uri="{9D8B030D-6E8A-4147-A177-3AD203B41FA5}">
                      <a16:colId xmlns:a16="http://schemas.microsoft.com/office/drawing/2014/main" val="773725385"/>
                    </a:ext>
                  </a:extLst>
                </a:gridCol>
              </a:tblGrid>
              <a:tr h="1639199">
                <a:tc>
                  <a:txBody>
                    <a:bodyPr/>
                    <a:lstStyle/>
                    <a:p>
                      <a:pPr algn="ctr" fontAlgn="ctr"/>
                      <a:r>
                        <a:rPr lang="en-US" sz="1100" b="1" i="0" u="none" strike="noStrike">
                          <a:solidFill>
                            <a:srgbClr val="FBFCFE"/>
                          </a:solidFill>
                          <a:effectLst/>
                          <a:latin typeface="Adani Regular" panose="02000503000000020004" pitchFamily="2" charset="0"/>
                        </a:rPr>
                        <a:t>SN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Equipment/ Package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Qty / Scope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Final / Revised Specifications Issue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Verified by Engineering consultant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TBER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Qualified Vendors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Receipt of Offer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Commercial NFA Submission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Release of PO / SO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Update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extLst>
                  <a:ext uri="{0D108BD9-81ED-4DB2-BD59-A6C34878D82A}">
                    <a16:rowId xmlns:a16="http://schemas.microsoft.com/office/drawing/2014/main" val="3826008376"/>
                  </a:ext>
                </a:extLst>
              </a:tr>
              <a:tr h="1947376">
                <a:tc>
                  <a:txBody>
                    <a:bodyPr/>
                    <a:lstStyle/>
                    <a:p>
                      <a:pPr algn="ctr" fontAlgn="ctr"/>
                      <a:r>
                        <a:rPr lang="en-US" sz="1100" b="1" i="0" u="none" strike="noStrike">
                          <a:solidFill>
                            <a:srgbClr val="00B050"/>
                          </a:solidFill>
                          <a:effectLst/>
                          <a:latin typeface="Adani Regular" panose="02000503000000020004" pitchFamily="2" charset="0"/>
                        </a:rPr>
                        <a:t>19</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Security Porta Cabin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 NOS</a:t>
                      </a:r>
                    </a:p>
                    <a:p>
                      <a:pPr algn="ctr" fontAlgn="ctr"/>
                      <a:r>
                        <a:rPr lang="en-US" sz="1100" b="1" i="0" u="none" strike="noStrike">
                          <a:solidFill>
                            <a:srgbClr val="00B050"/>
                          </a:solidFill>
                          <a:effectLst/>
                          <a:latin typeface="Adani Regular" panose="02000503000000020004" pitchFamily="2" charset="0"/>
                        </a:rPr>
                        <a:t>2 NOS</a:t>
                      </a:r>
                    </a:p>
                    <a:p>
                      <a:pPr algn="ctr" fontAlgn="ctr"/>
                      <a:r>
                        <a:rPr lang="en-US" sz="1100" b="1" i="0" u="none" strike="noStrike">
                          <a:solidFill>
                            <a:srgbClr val="00B050"/>
                          </a:solidFill>
                          <a:effectLst/>
                          <a:latin typeface="Adani Regular" panose="02000503000000020004" pitchFamily="2" charset="0"/>
                        </a:rPr>
                        <a:t>1 NOS</a:t>
                      </a:r>
                    </a:p>
                    <a:p>
                      <a:pPr algn="ctr" fontAlgn="ct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23-Jan-26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Meta Steel Prefab</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11-Feb-26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kern="1200">
                          <a:solidFill>
                            <a:srgbClr val="00B050"/>
                          </a:solidFill>
                          <a:effectLst/>
                          <a:latin typeface="Adani Regular" panose="02000503000000020004" pitchFamily="2" charset="0"/>
                          <a:ea typeface="+mn-ea"/>
                          <a:cs typeface="+mn-cs"/>
                        </a:rPr>
                        <a:t>24-Feb-26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Commercial NFA approved. Order placed to Meta Steel Prefab on 24-Fb-26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927141618"/>
                  </a:ext>
                </a:extLst>
              </a:tr>
            </a:tbl>
          </a:graphicData>
        </a:graphic>
      </p:graphicFrame>
    </p:spTree>
    <p:extLst>
      <p:ext uri="{BB962C8B-B14F-4D97-AF65-F5344CB8AC3E}">
        <p14:creationId xmlns:p14="http://schemas.microsoft.com/office/powerpoint/2010/main" val="4539429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7DF13-C218-B71F-3FDC-A664EA1702EE}"/>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9620380-86AD-FA8E-1252-CB4ECBD8E54D}"/>
              </a:ext>
            </a:extLst>
          </p:cNvPr>
          <p:cNvGraphicFramePr>
            <a:graphicFrameLocks noGrp="1"/>
          </p:cNvGraphicFramePr>
          <p:nvPr/>
        </p:nvGraphicFramePr>
        <p:xfrm>
          <a:off x="66695" y="641997"/>
          <a:ext cx="11769402" cy="6009721"/>
        </p:xfrm>
        <a:graphic>
          <a:graphicData uri="http://schemas.openxmlformats.org/drawingml/2006/table">
            <a:tbl>
              <a:tblPr/>
              <a:tblGrid>
                <a:gridCol w="393327">
                  <a:extLst>
                    <a:ext uri="{9D8B030D-6E8A-4147-A177-3AD203B41FA5}">
                      <a16:colId xmlns:a16="http://schemas.microsoft.com/office/drawing/2014/main" val="2829026117"/>
                    </a:ext>
                  </a:extLst>
                </a:gridCol>
                <a:gridCol w="1240879">
                  <a:extLst>
                    <a:ext uri="{9D8B030D-6E8A-4147-A177-3AD203B41FA5}">
                      <a16:colId xmlns:a16="http://schemas.microsoft.com/office/drawing/2014/main" val="2773142122"/>
                    </a:ext>
                  </a:extLst>
                </a:gridCol>
                <a:gridCol w="779981">
                  <a:extLst>
                    <a:ext uri="{9D8B030D-6E8A-4147-A177-3AD203B41FA5}">
                      <a16:colId xmlns:a16="http://schemas.microsoft.com/office/drawing/2014/main" val="246702370"/>
                    </a:ext>
                  </a:extLst>
                </a:gridCol>
                <a:gridCol w="1045482">
                  <a:extLst>
                    <a:ext uri="{9D8B030D-6E8A-4147-A177-3AD203B41FA5}">
                      <a16:colId xmlns:a16="http://schemas.microsoft.com/office/drawing/2014/main" val="3558478565"/>
                    </a:ext>
                  </a:extLst>
                </a:gridCol>
                <a:gridCol w="811417">
                  <a:extLst>
                    <a:ext uri="{9D8B030D-6E8A-4147-A177-3AD203B41FA5}">
                      <a16:colId xmlns:a16="http://schemas.microsoft.com/office/drawing/2014/main" val="1271983604"/>
                    </a:ext>
                  </a:extLst>
                </a:gridCol>
                <a:gridCol w="811417">
                  <a:extLst>
                    <a:ext uri="{9D8B030D-6E8A-4147-A177-3AD203B41FA5}">
                      <a16:colId xmlns:a16="http://schemas.microsoft.com/office/drawing/2014/main" val="1705681307"/>
                    </a:ext>
                  </a:extLst>
                </a:gridCol>
                <a:gridCol w="1595415">
                  <a:extLst>
                    <a:ext uri="{9D8B030D-6E8A-4147-A177-3AD203B41FA5}">
                      <a16:colId xmlns:a16="http://schemas.microsoft.com/office/drawing/2014/main" val="916472123"/>
                    </a:ext>
                  </a:extLst>
                </a:gridCol>
                <a:gridCol w="796810">
                  <a:extLst>
                    <a:ext uri="{9D8B030D-6E8A-4147-A177-3AD203B41FA5}">
                      <a16:colId xmlns:a16="http://schemas.microsoft.com/office/drawing/2014/main" val="86425436"/>
                    </a:ext>
                  </a:extLst>
                </a:gridCol>
                <a:gridCol w="796810">
                  <a:extLst>
                    <a:ext uri="{9D8B030D-6E8A-4147-A177-3AD203B41FA5}">
                      <a16:colId xmlns:a16="http://schemas.microsoft.com/office/drawing/2014/main" val="3499724676"/>
                    </a:ext>
                  </a:extLst>
                </a:gridCol>
                <a:gridCol w="796810">
                  <a:extLst>
                    <a:ext uri="{9D8B030D-6E8A-4147-A177-3AD203B41FA5}">
                      <a16:colId xmlns:a16="http://schemas.microsoft.com/office/drawing/2014/main" val="708652653"/>
                    </a:ext>
                  </a:extLst>
                </a:gridCol>
                <a:gridCol w="2701054">
                  <a:extLst>
                    <a:ext uri="{9D8B030D-6E8A-4147-A177-3AD203B41FA5}">
                      <a16:colId xmlns:a16="http://schemas.microsoft.com/office/drawing/2014/main" val="773725385"/>
                    </a:ext>
                  </a:extLst>
                </a:gridCol>
              </a:tblGrid>
              <a:tr h="463616">
                <a:tc>
                  <a:txBody>
                    <a:bodyPr/>
                    <a:lstStyle/>
                    <a:p>
                      <a:pPr algn="ctr" fontAlgn="ctr"/>
                      <a:r>
                        <a:rPr lang="en-US" sz="1100" b="1" i="0" u="none" strike="noStrike">
                          <a:solidFill>
                            <a:srgbClr val="FBFCFE"/>
                          </a:solidFill>
                          <a:effectLst/>
                          <a:latin typeface="Adani Regular" panose="02000503000000020004" pitchFamily="2" charset="0"/>
                        </a:rPr>
                        <a:t>SN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Equipment/ Package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Qty / Scope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Final / Revised Specifications Issue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Verified by Engineering consultant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TBER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Qualified Vendors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Receipt of Offer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Commercial NFA Submission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Release of PO / SO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Update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extLst>
                  <a:ext uri="{0D108BD9-81ED-4DB2-BD59-A6C34878D82A}">
                    <a16:rowId xmlns:a16="http://schemas.microsoft.com/office/drawing/2014/main" val="3826008376"/>
                  </a:ext>
                </a:extLst>
              </a:tr>
              <a:tr h="463616">
                <a:tc>
                  <a:txBody>
                    <a:bodyPr/>
                    <a:lstStyle/>
                    <a:p>
                      <a:pPr algn="ctr" fontAlgn="ctr"/>
                      <a:r>
                        <a:rPr lang="en-US" sz="1100" b="1" i="0" u="none" strike="noStrike">
                          <a:solidFill>
                            <a:srgbClr val="00B050"/>
                          </a:solidFill>
                          <a:effectLst/>
                          <a:latin typeface="Adani Regular" panose="02000503000000020004" pitchFamily="2" charset="0"/>
                        </a:rPr>
                        <a:t>1</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Engineering Consultancy Services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 LOT</a:t>
                      </a:r>
                    </a:p>
                    <a:p>
                      <a:pPr algn="ctr" fontAlgn="ctr"/>
                      <a:r>
                        <a:rPr lang="en-US" sz="1100" b="1" i="0" u="none" strike="noStrike">
                          <a:solidFill>
                            <a:srgbClr val="00B050"/>
                          </a:solidFill>
                          <a:effectLst/>
                          <a:latin typeface="Adani Regular" panose="02000503000000020004" pitchFamily="2" charset="0"/>
                        </a:rPr>
                        <a:t>1 LOT</a:t>
                      </a:r>
                    </a:p>
                    <a:p>
                      <a:pPr algn="ctr" fontAlgn="ctr"/>
                      <a:r>
                        <a:rPr lang="en-US" sz="1100" b="1" i="0" u="none" strike="noStrike">
                          <a:solidFill>
                            <a:srgbClr val="00B050"/>
                          </a:solidFill>
                          <a:effectLst/>
                          <a:latin typeface="Adani Regular" panose="02000503000000020004" pitchFamily="2" charset="0"/>
                        </a:rPr>
                        <a:t>1 LOT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25-Dec-25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31-Dec-25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Fictner, Worley, Tractebel  &amp; TCE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17-Nov-25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01-Jan-26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kern="1200">
                          <a:solidFill>
                            <a:srgbClr val="00B050"/>
                          </a:solidFill>
                          <a:effectLst/>
                          <a:latin typeface="Adani Regular" panose="02000503000000020004" pitchFamily="2" charset="0"/>
                          <a:ea typeface="+mn-ea"/>
                          <a:cs typeface="+mn-cs"/>
                        </a:rPr>
                        <a:t>09-Jan-26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Revised order according to itemized breakup released on 09-Jan-26 to Worley.</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31647959"/>
                  </a:ext>
                </a:extLst>
              </a:tr>
              <a:tr h="769552">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2</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ACDC Electrical works</a:t>
                      </a:r>
                      <a:endParaRPr lang="en-US" sz="1100" b="1" i="0" u="none" strike="noStrike" kern="1200">
                        <a:solidFill>
                          <a:srgbClr val="00B050"/>
                        </a:solidFill>
                        <a:effectLst/>
                        <a:latin typeface="Adani Regular" panose="02000503000000020004" pitchFamily="2" charset="0"/>
                        <a:ea typeface="+mn-ea"/>
                        <a:cs typeface="+mn-cs"/>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 LOT</a:t>
                      </a:r>
                    </a:p>
                    <a:p>
                      <a:pPr algn="ctr" fontAlgn="ctr"/>
                      <a:r>
                        <a:rPr lang="en-US" sz="1100" b="1" i="0" u="none" strike="noStrike">
                          <a:solidFill>
                            <a:srgbClr val="00B050"/>
                          </a:solidFill>
                          <a:effectLst/>
                          <a:latin typeface="Adani Regular" panose="02000503000000020004" pitchFamily="2" charset="0"/>
                        </a:rPr>
                        <a:t>1 LOT</a:t>
                      </a:r>
                    </a:p>
                    <a:p>
                      <a:pPr algn="ctr" fontAlgn="ctr"/>
                      <a:r>
                        <a:rPr lang="en-US" sz="1100" b="1" i="0" u="none" strike="noStrike">
                          <a:solidFill>
                            <a:srgbClr val="00B050"/>
                          </a:solidFill>
                          <a:effectLst/>
                          <a:latin typeface="Adani Regular" panose="02000503000000020004" pitchFamily="2" charset="0"/>
                        </a:rPr>
                        <a:t>1 LOT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27-Nov-25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endParaRPr lang="en-US" sz="1100" b="1" i="0" u="none" strike="noStrike" kern="1200">
                        <a:solidFill>
                          <a:srgbClr val="00B050"/>
                        </a:solidFill>
                        <a:effectLst/>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sngStrike" kern="1200" cap="none" spc="0" normalizeH="0" baseline="0" noProof="0">
                          <a:ln>
                            <a:noFill/>
                          </a:ln>
                          <a:solidFill>
                            <a:srgbClr val="00B050"/>
                          </a:solidFill>
                          <a:effectLst/>
                          <a:uLnTx/>
                          <a:uFillTx/>
                          <a:latin typeface="Adani Regular" panose="02000503000000020004" pitchFamily="2" charset="0"/>
                          <a:ea typeface="+mn-ea"/>
                          <a:cs typeface="+mn-cs"/>
                        </a:rPr>
                        <a:t>29-Nov-25</a:t>
                      </a:r>
                    </a:p>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sngStrike" kern="1200" cap="none" spc="0" normalizeH="0" baseline="0" noProof="0">
                          <a:ln>
                            <a:noFill/>
                          </a:ln>
                          <a:solidFill>
                            <a:srgbClr val="00B050"/>
                          </a:solidFill>
                          <a:effectLst/>
                          <a:uLnTx/>
                          <a:uFillTx/>
                          <a:latin typeface="Adani Regular" panose="02000503000000020004" pitchFamily="2" charset="0"/>
                          <a:ea typeface="+mn-ea"/>
                          <a:cs typeface="+mn-cs"/>
                        </a:rPr>
                        <a:t>23-Dec-25</a:t>
                      </a:r>
                    </a:p>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sngStrike" kern="1200" cap="none" spc="0" normalizeH="0" baseline="0" noProof="0">
                          <a:ln>
                            <a:noFill/>
                          </a:ln>
                          <a:solidFill>
                            <a:srgbClr val="00B050"/>
                          </a:solidFill>
                          <a:effectLst/>
                          <a:uLnTx/>
                          <a:uFillTx/>
                          <a:latin typeface="Adani Regular" panose="02000503000000020004" pitchFamily="2" charset="0"/>
                          <a:ea typeface="+mn-ea"/>
                          <a:cs typeface="+mn-cs"/>
                        </a:rPr>
                        <a:t>27-Dec-25</a:t>
                      </a:r>
                    </a:p>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01-Jan-26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Akshar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10-Jan-26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07-Feb-26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issued to M/s Ice Cube for PSS-05(B) dated 17-Jan-26. Order issued for PSS-09 &amp; 08(B) dated 07-Feb-26.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90471776"/>
                  </a:ext>
                </a:extLst>
              </a:tr>
              <a:tr h="509313">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3</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Grid Modelling &amp; System Study</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 LOT</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 LOT</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 LOT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06-Nov-25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15-Nov-25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a:ea typeface="Aptos" panose="020B0004020202020204" pitchFamily="34" charset="0"/>
                          <a:cs typeface="Aptos" panose="020B0004020202020204" pitchFamily="34" charset="0"/>
                        </a:rPr>
                        <a:t>Hitachi</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24-Nov-25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placed to M/s Hitachi </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16478900"/>
                  </a:ext>
                </a:extLst>
              </a:tr>
              <a:tr h="463616">
                <a:tc>
                  <a:txBody>
                    <a:bodyPr/>
                    <a:lstStyle/>
                    <a:p>
                      <a:pPr algn="ctr" fontAlgn="ctr"/>
                      <a:r>
                        <a:rPr lang="en-US" sz="1100" b="1" i="0" u="none" strike="noStrike">
                          <a:solidFill>
                            <a:srgbClr val="00B050"/>
                          </a:solidFill>
                          <a:effectLst/>
                          <a:latin typeface="Adani Regular" panose="02000503000000020004" pitchFamily="2" charset="0"/>
                        </a:rPr>
                        <a:t>4</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Piling works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41,447 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47,321 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17,786 m </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18-Nov-25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Cemindia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25-Nov-25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placed to Cemindia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180625973"/>
                  </a:ext>
                </a:extLst>
              </a:tr>
              <a:tr h="1381423">
                <a:tc>
                  <a:txBody>
                    <a:bodyPr/>
                    <a:lstStyle/>
                    <a:p>
                      <a:pPr algn="ctr" fontAlgn="ctr"/>
                      <a:r>
                        <a:rPr lang="en-US" sz="1100" b="1" i="0" u="none" strike="noStrike">
                          <a:solidFill>
                            <a:srgbClr val="00B050"/>
                          </a:solidFill>
                          <a:effectLst/>
                          <a:latin typeface="Adani Regular" panose="02000503000000020004" pitchFamily="2" charset="0"/>
                        </a:rPr>
                        <a:t>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Civil Works – BOP (Equip. foundations, HF, Roads-drains-fencing, Security cabin, Exist. PSS modification)</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LOT</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LOT</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LOT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26-Nov-25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22-Dec-25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Shreeji, Himalaya, Rajaram&amp;Sons, Rokane, Rathore, Nageshwar Infra, Vinayaka, HSB, DEK &amp; Mavericks, SMP, RAVJI MANJI, NRUPUR, GODARA, DNC, MEERA, M S CHOUHAN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10-Dec-25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02-Jan-26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PSS-09</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31-Dec-25</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PSS-05(B)</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31-Jan-26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PSS-08(B)</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03-Jan-26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Order issued to MS Chauhan for PSS 09 on 31-Dec-25. Order issued to Rajnagnechi for PSS-05(B) on 31-Dec-25.</a:t>
                      </a:r>
                    </a:p>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Order issued to Shreeji Construction for PSS-08(B) on 03-Jan-26. Order issued for Roads-Drains to Odhav Enterprise for PSS-09 &amp; PSS-08(B on 03-Jan-26. Order issued for Roads-Drains to Vaibhav Enterprise on 03-Jan-26.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949976789"/>
                  </a:ext>
                </a:extLst>
              </a:tr>
              <a:tr h="700299">
                <a:tc>
                  <a:txBody>
                    <a:bodyPr/>
                    <a:lstStyle/>
                    <a:p>
                      <a:pPr algn="ctr" fontAlgn="ctr"/>
                      <a:r>
                        <a:rPr lang="en-US" sz="1100" b="1" i="0" u="none" strike="noStrike">
                          <a:solidFill>
                            <a:srgbClr val="00B050"/>
                          </a:solidFill>
                          <a:effectLst/>
                          <a:latin typeface="Adani Regular" panose="02000503000000020004" pitchFamily="2" charset="0"/>
                        </a:rPr>
                        <a:t>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Structural/PEB works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489 MT</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511 MT</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194 MT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26-Nov-25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22-Dec-25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RFP sent to BNAL(regret), DP Consteel, Vats group, Synergy thirlling ton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12-Dec-25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23-Dec-25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06-Feb-26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Order issued to M/s Synergy for PSS-09, 05(B) &amp; 08(B) on 06-Feb.</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62990573"/>
                  </a:ext>
                </a:extLst>
              </a:tr>
              <a:tr h="383287">
                <a:tc>
                  <a:txBody>
                    <a:bodyPr/>
                    <a:lstStyle/>
                    <a:p>
                      <a:pPr algn="ctr" fontAlgn="ctr"/>
                      <a:r>
                        <a:rPr lang="en-US" sz="1100" b="1" i="0" u="none" strike="noStrike">
                          <a:solidFill>
                            <a:srgbClr val="00B050"/>
                          </a:solidFill>
                          <a:effectLst/>
                          <a:latin typeface="Adani Regular" panose="02000503000000020004" pitchFamily="2" charset="0"/>
                        </a:rPr>
                        <a:t>7</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Consultancy for FSPA &amp; Fire NOC</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05-Jan-26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Order for FSPA &amp; Fire NOC consultancy placed on 05-Jan-26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111081204"/>
                  </a:ext>
                </a:extLst>
              </a:tr>
            </a:tbl>
          </a:graphicData>
        </a:graphic>
      </p:graphicFrame>
      <p:sp>
        <p:nvSpPr>
          <p:cNvPr id="3" name="Slide Number Placeholder 1">
            <a:extLst>
              <a:ext uri="{FF2B5EF4-FFF2-40B4-BE49-F238E27FC236}">
                <a16:creationId xmlns:a16="http://schemas.microsoft.com/office/drawing/2014/main" id="{D96B5A68-BA4F-82B4-C040-92CECC92FFDE}"/>
              </a:ext>
            </a:extLst>
          </p:cNvPr>
          <p:cNvSpPr>
            <a:spLocks noGrp="1"/>
          </p:cNvSpPr>
          <p:nvPr>
            <p:ph type="sldNum" sz="quarter" idx="12"/>
          </p:nvPr>
        </p:nvSpPr>
        <p:spPr>
          <a:xfrm>
            <a:off x="9208789" y="6510273"/>
            <a:ext cx="2844800" cy="365125"/>
          </a:xfrm>
          <a:prstGeom prst="rect">
            <a:avLst/>
          </a:prstGeom>
        </p:spPr>
        <p:txBody>
          <a:bodyPr vert="horz" lIns="91440" tIns="45720" rIns="91440" bIns="45720" rtlCol="0" anchor="ctr"/>
          <a:lstStyle>
            <a:defPPr>
              <a:defRPr lang="en-US"/>
            </a:defPPr>
            <a:lvl1pPr marL="0" algn="r" defTabSz="914400" rtl="0" eaLnBrk="1" latinLnBrk="0" hangingPunct="1">
              <a:defRPr sz="1400" kern="1200">
                <a:solidFill>
                  <a:schemeClr val="tx1">
                    <a:tint val="75000"/>
                  </a:schemeClr>
                </a:solidFill>
                <a:latin typeface="Adani Regular"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8B285C1-D8A8-4E98-B28C-1FD972D8EC54}" type="slidenum">
              <a:rPr lang="en-IN" smtClean="0"/>
              <a:pPr/>
              <a:t>59</a:t>
            </a:fld>
            <a:endParaRPr lang="en-IN"/>
          </a:p>
        </p:txBody>
      </p:sp>
      <p:sp>
        <p:nvSpPr>
          <p:cNvPr id="5" name="Rectangle 2">
            <a:extLst>
              <a:ext uri="{FF2B5EF4-FFF2-40B4-BE49-F238E27FC236}">
                <a16:creationId xmlns:a16="http://schemas.microsoft.com/office/drawing/2014/main" id="{088FC6D5-D4B3-492F-BA74-3B1C54B012CE}"/>
              </a:ext>
            </a:extLst>
          </p:cNvPr>
          <p:cNvSpPr txBox="1">
            <a:spLocks noChangeArrowheads="1"/>
          </p:cNvSpPr>
          <p:nvPr/>
        </p:nvSpPr>
        <p:spPr>
          <a:xfrm>
            <a:off x="66695" y="165164"/>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 </a:t>
            </a:r>
            <a:r>
              <a:rPr lang="en-US" sz="2400" b="1">
                <a:solidFill>
                  <a:srgbClr val="912A82"/>
                </a:solidFill>
                <a:highlight>
                  <a:srgbClr val="33CC33"/>
                </a:highlight>
              </a:rPr>
              <a:t>Service ordering Status (</a:t>
            </a:r>
            <a:r>
              <a:rPr lang="en-IN" sz="2400" b="1">
                <a:solidFill>
                  <a:srgbClr val="912A82"/>
                </a:solidFill>
                <a:highlight>
                  <a:srgbClr val="33CC33"/>
                </a:highlight>
              </a:rPr>
              <a:t>PSS-09, 05(B) &amp; 08(B))</a:t>
            </a:r>
            <a:r>
              <a:rPr lang="en-IN" sz="2400" b="1">
                <a:solidFill>
                  <a:srgbClr val="00B050"/>
                </a:solidFill>
                <a:highlight>
                  <a:srgbClr val="33CC33"/>
                </a:highlight>
              </a:rPr>
              <a:t> - Completed </a:t>
            </a:r>
            <a:endParaRPr lang="en-US" sz="2400" b="1">
              <a:solidFill>
                <a:srgbClr val="3D3DFF"/>
              </a:solidFill>
              <a:highlight>
                <a:srgbClr val="33CC33"/>
              </a:highlight>
            </a:endParaRPr>
          </a:p>
        </p:txBody>
      </p:sp>
    </p:spTree>
    <p:extLst>
      <p:ext uri="{BB962C8B-B14F-4D97-AF65-F5344CB8AC3E}">
        <p14:creationId xmlns:p14="http://schemas.microsoft.com/office/powerpoint/2010/main" val="37411914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9EB27-11B4-E0E9-E0C5-D73C9DEC4F2C}"/>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581F4939-E117-CF7E-FF04-DBA9BE4D651C}"/>
              </a:ext>
            </a:extLst>
          </p:cNvPr>
          <p:cNvSpPr txBox="1">
            <a:spLocks noChangeArrowheads="1"/>
          </p:cNvSpPr>
          <p:nvPr/>
        </p:nvSpPr>
        <p:spPr>
          <a:xfrm>
            <a:off x="66695" y="165164"/>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 </a:t>
            </a:r>
            <a:r>
              <a:rPr lang="en-US" sz="2400" b="1">
                <a:solidFill>
                  <a:srgbClr val="912A82"/>
                </a:solidFill>
                <a:highlight>
                  <a:srgbClr val="33CC33"/>
                </a:highlight>
              </a:rPr>
              <a:t>Service ordering Status (</a:t>
            </a:r>
            <a:r>
              <a:rPr lang="en-IN" sz="2400" b="1">
                <a:solidFill>
                  <a:srgbClr val="912A82"/>
                </a:solidFill>
                <a:highlight>
                  <a:srgbClr val="33CC33"/>
                </a:highlight>
              </a:rPr>
              <a:t>PSS-09, 05(B) &amp; 08(B))</a:t>
            </a:r>
            <a:r>
              <a:rPr lang="en-IN" sz="2400" b="1">
                <a:solidFill>
                  <a:srgbClr val="00B050"/>
                </a:solidFill>
                <a:highlight>
                  <a:srgbClr val="33CC33"/>
                </a:highlight>
              </a:rPr>
              <a:t> - Completed </a:t>
            </a:r>
            <a:endParaRPr lang="en-US" sz="2400" b="1">
              <a:solidFill>
                <a:srgbClr val="3D3DFF"/>
              </a:solidFill>
              <a:highlight>
                <a:srgbClr val="33CC33"/>
              </a:highlight>
            </a:endParaRPr>
          </a:p>
        </p:txBody>
      </p:sp>
      <p:graphicFrame>
        <p:nvGraphicFramePr>
          <p:cNvPr id="5" name="Table 4">
            <a:extLst>
              <a:ext uri="{FF2B5EF4-FFF2-40B4-BE49-F238E27FC236}">
                <a16:creationId xmlns:a16="http://schemas.microsoft.com/office/drawing/2014/main" id="{2E61AF5A-91C0-3661-3296-E49974064670}"/>
              </a:ext>
            </a:extLst>
          </p:cNvPr>
          <p:cNvGraphicFramePr>
            <a:graphicFrameLocks noGrp="1"/>
          </p:cNvGraphicFramePr>
          <p:nvPr/>
        </p:nvGraphicFramePr>
        <p:xfrm>
          <a:off x="100256" y="744871"/>
          <a:ext cx="11950762" cy="3962663"/>
        </p:xfrm>
        <a:graphic>
          <a:graphicData uri="http://schemas.openxmlformats.org/drawingml/2006/table">
            <a:tbl>
              <a:tblPr/>
              <a:tblGrid>
                <a:gridCol w="399388">
                  <a:extLst>
                    <a:ext uri="{9D8B030D-6E8A-4147-A177-3AD203B41FA5}">
                      <a16:colId xmlns:a16="http://schemas.microsoft.com/office/drawing/2014/main" val="2829026117"/>
                    </a:ext>
                  </a:extLst>
                </a:gridCol>
                <a:gridCol w="1260000">
                  <a:extLst>
                    <a:ext uri="{9D8B030D-6E8A-4147-A177-3AD203B41FA5}">
                      <a16:colId xmlns:a16="http://schemas.microsoft.com/office/drawing/2014/main" val="2773142122"/>
                    </a:ext>
                  </a:extLst>
                </a:gridCol>
                <a:gridCol w="792000">
                  <a:extLst>
                    <a:ext uri="{9D8B030D-6E8A-4147-A177-3AD203B41FA5}">
                      <a16:colId xmlns:a16="http://schemas.microsoft.com/office/drawing/2014/main" val="246702370"/>
                    </a:ext>
                  </a:extLst>
                </a:gridCol>
                <a:gridCol w="1061592">
                  <a:extLst>
                    <a:ext uri="{9D8B030D-6E8A-4147-A177-3AD203B41FA5}">
                      <a16:colId xmlns:a16="http://schemas.microsoft.com/office/drawing/2014/main" val="3558478565"/>
                    </a:ext>
                  </a:extLst>
                </a:gridCol>
                <a:gridCol w="823921">
                  <a:extLst>
                    <a:ext uri="{9D8B030D-6E8A-4147-A177-3AD203B41FA5}">
                      <a16:colId xmlns:a16="http://schemas.microsoft.com/office/drawing/2014/main" val="1271983604"/>
                    </a:ext>
                  </a:extLst>
                </a:gridCol>
                <a:gridCol w="974292">
                  <a:extLst>
                    <a:ext uri="{9D8B030D-6E8A-4147-A177-3AD203B41FA5}">
                      <a16:colId xmlns:a16="http://schemas.microsoft.com/office/drawing/2014/main" val="1705681307"/>
                    </a:ext>
                  </a:extLst>
                </a:gridCol>
                <a:gridCol w="1469629">
                  <a:extLst>
                    <a:ext uri="{9D8B030D-6E8A-4147-A177-3AD203B41FA5}">
                      <a16:colId xmlns:a16="http://schemas.microsoft.com/office/drawing/2014/main" val="916472123"/>
                    </a:ext>
                  </a:extLst>
                </a:gridCol>
                <a:gridCol w="809088">
                  <a:extLst>
                    <a:ext uri="{9D8B030D-6E8A-4147-A177-3AD203B41FA5}">
                      <a16:colId xmlns:a16="http://schemas.microsoft.com/office/drawing/2014/main" val="86425436"/>
                    </a:ext>
                  </a:extLst>
                </a:gridCol>
                <a:gridCol w="809088">
                  <a:extLst>
                    <a:ext uri="{9D8B030D-6E8A-4147-A177-3AD203B41FA5}">
                      <a16:colId xmlns:a16="http://schemas.microsoft.com/office/drawing/2014/main" val="3499724676"/>
                    </a:ext>
                  </a:extLst>
                </a:gridCol>
                <a:gridCol w="809088">
                  <a:extLst>
                    <a:ext uri="{9D8B030D-6E8A-4147-A177-3AD203B41FA5}">
                      <a16:colId xmlns:a16="http://schemas.microsoft.com/office/drawing/2014/main" val="708652653"/>
                    </a:ext>
                  </a:extLst>
                </a:gridCol>
                <a:gridCol w="2742676">
                  <a:extLst>
                    <a:ext uri="{9D8B030D-6E8A-4147-A177-3AD203B41FA5}">
                      <a16:colId xmlns:a16="http://schemas.microsoft.com/office/drawing/2014/main" val="773725385"/>
                    </a:ext>
                  </a:extLst>
                </a:gridCol>
              </a:tblGrid>
              <a:tr h="859915">
                <a:tc>
                  <a:txBody>
                    <a:bodyPr/>
                    <a:lstStyle/>
                    <a:p>
                      <a:pPr algn="ctr" fontAlgn="ctr"/>
                      <a:r>
                        <a:rPr lang="en-US" sz="1100" b="1" i="0" u="none" strike="noStrike">
                          <a:solidFill>
                            <a:srgbClr val="FBFCFE"/>
                          </a:solidFill>
                          <a:effectLst/>
                          <a:latin typeface="Adani Regular" panose="02000503000000020004" pitchFamily="2" charset="0"/>
                        </a:rPr>
                        <a:t>SN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Equipment/ Package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Qty / Scope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Final / Revised Specifications Issue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Verified by Engineering consultant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TBER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Qualified Vendors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Receipt of Offer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Commercial NFA Submission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Release of PO / SO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Update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extLst>
                  <a:ext uri="{0D108BD9-81ED-4DB2-BD59-A6C34878D82A}">
                    <a16:rowId xmlns:a16="http://schemas.microsoft.com/office/drawing/2014/main" val="3826008376"/>
                  </a:ext>
                </a:extLst>
              </a:tr>
              <a:tr h="775687">
                <a:tc>
                  <a:txBody>
                    <a:bodyPr/>
                    <a:lstStyle/>
                    <a:p>
                      <a:pPr algn="ctr" fontAlgn="ctr"/>
                      <a:r>
                        <a:rPr lang="en-US" sz="1100" b="1" i="0" u="none" strike="noStrike">
                          <a:solidFill>
                            <a:srgbClr val="00B050"/>
                          </a:solidFill>
                          <a:effectLst/>
                          <a:latin typeface="Adani Regular" panose="02000503000000020004" pitchFamily="2" charset="0"/>
                        </a:rPr>
                        <a:t>8</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Transportation of Precast items (from Buildcast)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LOT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Adani Logistics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17-Feb-26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Order issued to </a:t>
                      </a:r>
                      <a:r>
                        <a:rPr lang="en-US" sz="1100" b="1" i="0" u="none" strike="noStrike">
                          <a:solidFill>
                            <a:srgbClr val="00B050"/>
                          </a:solidFill>
                          <a:effectLst/>
                          <a:latin typeface="Adani Regular" panose="02000503000000020004" pitchFamily="2" charset="0"/>
                        </a:rPr>
                        <a:t>Adani Logistics</a:t>
                      </a:r>
                      <a:r>
                        <a:rPr lang="en-US" sz="1100" b="1" i="0" u="none" strike="noStrike" kern="1200">
                          <a:solidFill>
                            <a:srgbClr val="00B050"/>
                          </a:solidFill>
                          <a:effectLst/>
                          <a:latin typeface="Adani Regular" panose="02000503000000020004" pitchFamily="2" charset="0"/>
                          <a:ea typeface="+mn-ea"/>
                          <a:cs typeface="+mn-cs"/>
                        </a:rPr>
                        <a:t> dated 17-Feb-26.</a:t>
                      </a:r>
                      <a:endParaRPr lang="en-US" sz="1100" b="1" i="0" u="none" strike="noStrike">
                        <a:solidFill>
                          <a:srgbClr val="00B050"/>
                        </a:solidFill>
                        <a:effectLst/>
                        <a:latin typeface="Adani Regular" panose="02000503000000020004" pitchFamily="2"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62990573"/>
                  </a:ext>
                </a:extLst>
              </a:tr>
              <a:tr h="775687">
                <a:tc>
                  <a:txBody>
                    <a:bodyPr/>
                    <a:lstStyle/>
                    <a:p>
                      <a:pPr algn="ctr" fontAlgn="ctr"/>
                      <a:r>
                        <a:rPr lang="en-US" sz="1100" b="1" i="0" u="none" strike="noStrike">
                          <a:solidFill>
                            <a:srgbClr val="00B050"/>
                          </a:solidFill>
                          <a:effectLst/>
                          <a:latin typeface="Adani Regular" panose="02000503000000020004" pitchFamily="2" charset="0"/>
                        </a:rPr>
                        <a:t>9</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Hiring for Survey team</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As per old specification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As per old specification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As per old specification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Vital Infratech</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As per old specification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23-Feb-26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05-Mar-26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Order issued to M/s Vital Infratech on 05-Mar.</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32301379"/>
                  </a:ext>
                </a:extLst>
              </a:tr>
              <a:tr h="775687">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10</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kern="1200">
                          <a:solidFill>
                            <a:srgbClr val="00B050"/>
                          </a:solidFill>
                          <a:effectLst/>
                          <a:latin typeface="Adani Regular" panose="02000503000000020004" pitchFamily="2" charset="0"/>
                          <a:ea typeface="+mn-ea"/>
                          <a:cs typeface="+mn-cs"/>
                        </a:rPr>
                        <a:t>Farana/Crane for Stores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6 NOS</a:t>
                      </a:r>
                    </a:p>
                    <a:p>
                      <a:pPr algn="ctr" fontAlgn="ctr"/>
                      <a:r>
                        <a:rPr lang="en-US" sz="1100" b="1" i="0" u="none" strike="noStrike">
                          <a:solidFill>
                            <a:srgbClr val="00B050"/>
                          </a:solidFill>
                          <a:effectLst/>
                          <a:latin typeface="Adani Regular" panose="02000503000000020004" pitchFamily="2" charset="0"/>
                        </a:rPr>
                        <a:t>6 NOS</a:t>
                      </a:r>
                    </a:p>
                    <a:p>
                      <a:pPr algn="ctr" fontAlgn="ctr"/>
                      <a:r>
                        <a:rPr lang="en-US" sz="1100" b="1" i="0" u="none" strike="noStrike">
                          <a:solidFill>
                            <a:srgbClr val="00B050"/>
                          </a:solidFill>
                          <a:effectLst/>
                          <a:latin typeface="Adani Regular" panose="02000503000000020004" pitchFamily="2" charset="0"/>
                        </a:rPr>
                        <a:t>3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14-Jan-26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05-Feb-26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26-Feb-26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16-Feb-26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25-Feb-26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05-Mar-26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12-Mar-26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issued to M/s SAFAR Cranes on 12-Mar-26.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7218883"/>
                  </a:ext>
                </a:extLst>
              </a:tr>
              <a:tr h="775687">
                <a:tc>
                  <a:txBody>
                    <a:bodyPr/>
                    <a:lstStyle/>
                    <a:p>
                      <a:pPr algn="ctr" fontAlgn="ctr"/>
                      <a:r>
                        <a:rPr lang="en-US" sz="1100" b="1" i="0" u="none" strike="noStrike">
                          <a:solidFill>
                            <a:srgbClr val="00B050"/>
                          </a:solidFill>
                          <a:effectLst/>
                          <a:latin typeface="Adani Regular" panose="02000503000000020004" pitchFamily="2" charset="0"/>
                        </a:rPr>
                        <a:t>11</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Mobile Lighting towers (MLT)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2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2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2 NOS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19-Jan-26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29-Jan-26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a:ea typeface="Aptos" panose="020B0004020202020204" pitchFamily="34" charset="0"/>
                          <a:cs typeface="Aptos" panose="020B0004020202020204" pitchFamily="34" charset="0"/>
                        </a:rPr>
                        <a:t>Accurate Power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a:ea typeface="Aptos" panose="020B0004020202020204" pitchFamily="34" charset="0"/>
                          <a:cs typeface="Aptos" panose="020B0004020202020204" pitchFamily="34" charset="0"/>
                        </a:rPr>
                        <a:t>10-Feb-26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16-Feb-26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issued to Accurate Power dated 16-Feb-26.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49902315"/>
                  </a:ext>
                </a:extLst>
              </a:tr>
            </a:tbl>
          </a:graphicData>
        </a:graphic>
      </p:graphicFrame>
    </p:spTree>
    <p:extLst>
      <p:ext uri="{BB962C8B-B14F-4D97-AF65-F5344CB8AC3E}">
        <p14:creationId xmlns:p14="http://schemas.microsoft.com/office/powerpoint/2010/main" val="35952892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CC5B6-3D75-9DEA-2A86-8E639CC55E32}"/>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DE0082EF-7338-A5F8-25FE-308190304F2B}"/>
              </a:ext>
            </a:extLst>
          </p:cNvPr>
          <p:cNvSpPr txBox="1">
            <a:spLocks/>
          </p:cNvSpPr>
          <p:nvPr/>
        </p:nvSpPr>
        <p:spPr>
          <a:xfrm>
            <a:off x="0" y="4048125"/>
            <a:ext cx="12192000" cy="1362075"/>
          </a:xfrm>
          <a:prstGeom prst="rect">
            <a:avLst/>
          </a:prstGeom>
        </p:spPr>
        <p:txBody>
          <a:bodyPr vert="horz" lIns="91440" tIns="45720" rIns="91440" bIns="45720" rtlCol="0" anchor="t">
            <a:normAutofit/>
          </a:bodyPr>
          <a:lstStyle>
            <a:lvl1pPr algn="l" defTabSz="1219170" rtl="0" eaLnBrk="1" latinLnBrk="0" hangingPunct="1">
              <a:spcBef>
                <a:spcPct val="0"/>
              </a:spcBef>
              <a:buNone/>
              <a:defRPr sz="3733" b="0" kern="1200" cap="none" baseline="0">
                <a:solidFill>
                  <a:schemeClr val="bg1"/>
                </a:solidFill>
                <a:latin typeface="Adani Regular" pitchFamily="2" charset="0"/>
                <a:ea typeface="+mj-ea"/>
                <a:cs typeface="+mj-cs"/>
              </a:defRPr>
            </a:lvl1pPr>
          </a:lstStyle>
          <a:p>
            <a:pPr algn="ctr"/>
            <a:r>
              <a:rPr lang="en-IN"/>
              <a:t>Statutory &amp; Other approvals</a:t>
            </a:r>
          </a:p>
          <a:p>
            <a:pPr algn="ctr"/>
            <a:r>
              <a:rPr lang="en-IN" sz="4000">
                <a:latin typeface="Adani Regular"/>
              </a:rPr>
              <a:t>PSS-11, 12 &amp; 10(B)</a:t>
            </a:r>
            <a:endParaRPr lang="en-IN"/>
          </a:p>
        </p:txBody>
      </p:sp>
      <p:sp>
        <p:nvSpPr>
          <p:cNvPr id="3" name="Slide Number Placeholder 1">
            <a:extLst>
              <a:ext uri="{FF2B5EF4-FFF2-40B4-BE49-F238E27FC236}">
                <a16:creationId xmlns:a16="http://schemas.microsoft.com/office/drawing/2014/main" id="{B5929E89-D414-D641-C65B-4680C5376079}"/>
              </a:ext>
            </a:extLst>
          </p:cNvPr>
          <p:cNvSpPr>
            <a:spLocks noGrp="1"/>
          </p:cNvSpPr>
          <p:nvPr>
            <p:ph type="sldNum" sz="quarter" idx="12"/>
          </p:nvPr>
        </p:nvSpPr>
        <p:spPr>
          <a:xfrm>
            <a:off x="11627141" y="6544298"/>
            <a:ext cx="564858" cy="365125"/>
          </a:xfrm>
        </p:spPr>
        <p:txBody>
          <a:bodyPr/>
          <a:lstStyle/>
          <a:p>
            <a:fld id="{98B285C1-D8A8-4E98-B28C-1FD972D8EC54}" type="slidenum">
              <a:rPr lang="en-IN" smtClean="0"/>
              <a:t>61</a:t>
            </a:fld>
            <a:endParaRPr lang="en-IN"/>
          </a:p>
        </p:txBody>
      </p:sp>
    </p:spTree>
    <p:extLst>
      <p:ext uri="{BB962C8B-B14F-4D97-AF65-F5344CB8AC3E}">
        <p14:creationId xmlns:p14="http://schemas.microsoft.com/office/powerpoint/2010/main" val="14525719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16500-7897-EAC9-B337-3D447A3C27C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9866E8B-E681-3AF4-CC19-CA7941F33403}"/>
              </a:ext>
            </a:extLst>
          </p:cNvPr>
          <p:cNvSpPr txBox="1">
            <a:spLocks noChangeArrowheads="1"/>
          </p:cNvSpPr>
          <p:nvPr/>
        </p:nvSpPr>
        <p:spPr>
          <a:xfrm>
            <a:off x="0" y="12745"/>
            <a:ext cx="12192000" cy="476833"/>
          </a:xfrm>
          <a:prstGeom prst="rect">
            <a:avLst/>
          </a:prstGeom>
        </p:spPr>
        <p:txBody>
          <a:bodyPr lIns="121920" tIns="60960" rIns="121920" bIns="6096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US" sz="2400" b="1">
                <a:solidFill>
                  <a:srgbClr val="912A82"/>
                </a:solidFill>
              </a:rPr>
              <a:t> </a:t>
            </a:r>
            <a:r>
              <a:rPr lang="en-US" sz="2400" b="1">
                <a:solidFill>
                  <a:srgbClr val="912A82"/>
                </a:solidFill>
                <a:highlight>
                  <a:srgbClr val="33CC33"/>
                </a:highlight>
              </a:rPr>
              <a:t>Statutory and Other Approvals (PSS-11, 12 &amp; 10(B))</a:t>
            </a:r>
            <a:endParaRPr lang="en-US" sz="2400" b="1">
              <a:solidFill>
                <a:srgbClr val="3D3DFF"/>
              </a:solidFill>
              <a:highlight>
                <a:srgbClr val="33CC33"/>
              </a:highlight>
            </a:endParaRPr>
          </a:p>
        </p:txBody>
      </p:sp>
      <p:sp>
        <p:nvSpPr>
          <p:cNvPr id="2" name="Slide Number Placeholder 1">
            <a:extLst>
              <a:ext uri="{FF2B5EF4-FFF2-40B4-BE49-F238E27FC236}">
                <a16:creationId xmlns:a16="http://schemas.microsoft.com/office/drawing/2014/main" id="{BBAFDC98-B92E-7776-B7B0-F798B75FD2B2}"/>
              </a:ext>
            </a:extLst>
          </p:cNvPr>
          <p:cNvSpPr>
            <a:spLocks noGrp="1"/>
          </p:cNvSpPr>
          <p:nvPr>
            <p:ph type="sldNum" sz="quarter" idx="12"/>
          </p:nvPr>
        </p:nvSpPr>
        <p:spPr>
          <a:xfrm>
            <a:off x="9448800" y="6544298"/>
            <a:ext cx="2743200" cy="365125"/>
          </a:xfrm>
        </p:spPr>
        <p:txBody>
          <a:bodyPr/>
          <a:lstStyle/>
          <a:p>
            <a:fld id="{98B285C1-D8A8-4E98-B28C-1FD972D8EC54}" type="slidenum">
              <a:rPr lang="en-IN" smtClean="0"/>
              <a:t>62</a:t>
            </a:fld>
            <a:endParaRPr lang="en-IN"/>
          </a:p>
        </p:txBody>
      </p:sp>
      <p:graphicFrame>
        <p:nvGraphicFramePr>
          <p:cNvPr id="7" name="Table 6">
            <a:extLst>
              <a:ext uri="{FF2B5EF4-FFF2-40B4-BE49-F238E27FC236}">
                <a16:creationId xmlns:a16="http://schemas.microsoft.com/office/drawing/2014/main" id="{1BE04146-72E7-A670-E4CB-48201C8D1986}"/>
              </a:ext>
            </a:extLst>
          </p:cNvPr>
          <p:cNvGraphicFramePr>
            <a:graphicFrameLocks noGrp="1"/>
          </p:cNvGraphicFramePr>
          <p:nvPr>
            <p:extLst>
              <p:ext uri="{D42A27DB-BD31-4B8C-83A1-F6EECF244321}">
                <p14:modId xmlns:p14="http://schemas.microsoft.com/office/powerpoint/2010/main" val="978925623"/>
              </p:ext>
            </p:extLst>
          </p:nvPr>
        </p:nvGraphicFramePr>
        <p:xfrm>
          <a:off x="170121" y="544017"/>
          <a:ext cx="11840905" cy="5628183"/>
        </p:xfrm>
        <a:graphic>
          <a:graphicData uri="http://schemas.openxmlformats.org/drawingml/2006/table">
            <a:tbl>
              <a:tblPr firstRow="1" bandRow="1">
                <a:tableStyleId>{5C22544A-7EE6-4342-B048-85BDC9FD1C3A}</a:tableStyleId>
              </a:tblPr>
              <a:tblGrid>
                <a:gridCol w="448957">
                  <a:extLst>
                    <a:ext uri="{9D8B030D-6E8A-4147-A177-3AD203B41FA5}">
                      <a16:colId xmlns:a16="http://schemas.microsoft.com/office/drawing/2014/main" val="3099302020"/>
                    </a:ext>
                  </a:extLst>
                </a:gridCol>
                <a:gridCol w="2181437">
                  <a:extLst>
                    <a:ext uri="{9D8B030D-6E8A-4147-A177-3AD203B41FA5}">
                      <a16:colId xmlns:a16="http://schemas.microsoft.com/office/drawing/2014/main" val="1830319299"/>
                    </a:ext>
                  </a:extLst>
                </a:gridCol>
                <a:gridCol w="1315788">
                  <a:extLst>
                    <a:ext uri="{9D8B030D-6E8A-4147-A177-3AD203B41FA5}">
                      <a16:colId xmlns:a16="http://schemas.microsoft.com/office/drawing/2014/main" val="1049725276"/>
                    </a:ext>
                  </a:extLst>
                </a:gridCol>
                <a:gridCol w="1315788">
                  <a:extLst>
                    <a:ext uri="{9D8B030D-6E8A-4147-A177-3AD203B41FA5}">
                      <a16:colId xmlns:a16="http://schemas.microsoft.com/office/drawing/2014/main" val="3717742423"/>
                    </a:ext>
                  </a:extLst>
                </a:gridCol>
                <a:gridCol w="982792">
                  <a:extLst>
                    <a:ext uri="{9D8B030D-6E8A-4147-A177-3AD203B41FA5}">
                      <a16:colId xmlns:a16="http://schemas.microsoft.com/office/drawing/2014/main" val="175036882"/>
                    </a:ext>
                  </a:extLst>
                </a:gridCol>
                <a:gridCol w="982792">
                  <a:extLst>
                    <a:ext uri="{9D8B030D-6E8A-4147-A177-3AD203B41FA5}">
                      <a16:colId xmlns:a16="http://schemas.microsoft.com/office/drawing/2014/main" val="25227117"/>
                    </a:ext>
                  </a:extLst>
                </a:gridCol>
                <a:gridCol w="982792">
                  <a:extLst>
                    <a:ext uri="{9D8B030D-6E8A-4147-A177-3AD203B41FA5}">
                      <a16:colId xmlns:a16="http://schemas.microsoft.com/office/drawing/2014/main" val="2900503877"/>
                    </a:ext>
                  </a:extLst>
                </a:gridCol>
                <a:gridCol w="982792">
                  <a:extLst>
                    <a:ext uri="{9D8B030D-6E8A-4147-A177-3AD203B41FA5}">
                      <a16:colId xmlns:a16="http://schemas.microsoft.com/office/drawing/2014/main" val="769568464"/>
                    </a:ext>
                  </a:extLst>
                </a:gridCol>
                <a:gridCol w="2647767">
                  <a:extLst>
                    <a:ext uri="{9D8B030D-6E8A-4147-A177-3AD203B41FA5}">
                      <a16:colId xmlns:a16="http://schemas.microsoft.com/office/drawing/2014/main" val="3175708860"/>
                    </a:ext>
                  </a:extLst>
                </a:gridCol>
              </a:tblGrid>
              <a:tr h="652950">
                <a:tc>
                  <a:txBody>
                    <a:bodyPr/>
                    <a:lstStyle/>
                    <a:p>
                      <a:pPr algn="ctr" fontAlgn="ctr">
                        <a:buNone/>
                      </a:pPr>
                      <a:r>
                        <a:rPr lang="en-US" sz="1200" b="1" i="0" u="none" strike="noStrike">
                          <a:solidFill>
                            <a:schemeClr val="bg1"/>
                          </a:solidFill>
                          <a:effectLst/>
                          <a:latin typeface="Adani Regular"/>
                        </a:rPr>
                        <a:t>SN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a:rPr>
                        <a:t>Activity Name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a:rPr>
                        <a:t>Responsible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a:rPr>
                        <a:t>Approval Authority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a:rPr>
                        <a:t>Baseline Start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a:rPr>
                        <a:t>Baseline Finish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a:rPr>
                        <a:t>Actual/ Forecast Start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a:rPr>
                        <a:t>Actual/ Forecast Finish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a:solidFill>
                            <a:schemeClr val="bg1"/>
                          </a:solidFill>
                          <a:effectLst/>
                          <a:latin typeface="Adani Regular"/>
                        </a:rPr>
                        <a:t>Remarks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extLst>
                  <a:ext uri="{0D108BD9-81ED-4DB2-BD59-A6C34878D82A}">
                    <a16:rowId xmlns:a16="http://schemas.microsoft.com/office/drawing/2014/main" val="3932833671"/>
                  </a:ext>
                </a:extLst>
              </a:tr>
              <a:tr h="1187789">
                <a:tc>
                  <a:txBody>
                    <a:bodyPr/>
                    <a:lstStyle/>
                    <a:p>
                      <a:pPr algn="ctr" fontAlgn="ctr">
                        <a:buNone/>
                      </a:pPr>
                      <a:r>
                        <a:rPr lang="en-US" sz="1100" b="0" i="0" u="none" strike="noStrike">
                          <a:solidFill>
                            <a:srgbClr val="00B050"/>
                          </a:solidFill>
                          <a:effectLst/>
                          <a:latin typeface="Adani Regular"/>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sz="1100" b="0" i="0" u="none" strike="noStrike">
                          <a:solidFill>
                            <a:srgbClr val="00B050"/>
                          </a:solidFill>
                          <a:effectLst/>
                          <a:latin typeface="Adani Regular"/>
                        </a:rPr>
                        <a:t>CLRA - Contract Labor Regulation &amp; Abolition Act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sz="1100" b="0" i="0" u="none" strike="noStrike">
                          <a:solidFill>
                            <a:srgbClr val="00B050"/>
                          </a:solidFill>
                          <a:effectLst/>
                          <a:latin typeface="Adani Regular"/>
                        </a:rPr>
                        <a:t>Site IR Team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sz="1100" b="0" i="0" u="none" strike="noStrike">
                          <a:solidFill>
                            <a:srgbClr val="00B050"/>
                          </a:solidFill>
                          <a:effectLst/>
                          <a:latin typeface="Adani Regular"/>
                        </a:rPr>
                        <a:t>Govt. of Gujrat</a:t>
                      </a:r>
                      <a:br>
                        <a:rPr lang="en-US" sz="1100" b="0" i="0" u="none" strike="noStrike">
                          <a:solidFill>
                            <a:srgbClr val="00B050"/>
                          </a:solidFill>
                          <a:effectLst/>
                          <a:latin typeface="Adani Regular"/>
                        </a:rPr>
                      </a:br>
                      <a:r>
                        <a:rPr lang="en-US" sz="1100" b="0" i="0" u="none" strike="noStrike">
                          <a:solidFill>
                            <a:srgbClr val="00B050"/>
                          </a:solidFill>
                          <a:effectLst/>
                          <a:latin typeface="Adani Regular"/>
                        </a:rPr>
                        <a:t>(Dept of Labor)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0" i="0" u="none" strike="noStrike">
                          <a:solidFill>
                            <a:srgbClr val="00B050"/>
                          </a:solidFill>
                          <a:effectLst/>
                          <a:latin typeface="Adani Regular"/>
                        </a:rPr>
                        <a:t>30-Nov-25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0" i="0" u="none" strike="noStrike">
                          <a:solidFill>
                            <a:srgbClr val="00B050"/>
                          </a:solidFill>
                          <a:effectLst/>
                          <a:latin typeface="Adani Regular"/>
                        </a:rPr>
                        <a:t>13-Jan-26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0" i="0" u="none" strike="noStrike">
                          <a:solidFill>
                            <a:srgbClr val="00B050"/>
                          </a:solidFill>
                          <a:effectLst/>
                          <a:latin typeface="Adani Regular"/>
                        </a:rPr>
                        <a:t>09-Dec-25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00" b="0" i="0" u="none" strike="sngStrike">
                          <a:solidFill>
                            <a:srgbClr val="00B050"/>
                          </a:solidFill>
                          <a:effectLst/>
                          <a:latin typeface="Adani Regular"/>
                        </a:rPr>
                        <a:t>13-Jan-26</a:t>
                      </a:r>
                      <a:endParaRPr lang="en-US" sz="1100" b="0" i="0" u="none" strike="sngStrike">
                        <a:solidFill>
                          <a:srgbClr val="00B050"/>
                        </a:solidFill>
                        <a:effectLst/>
                        <a:latin typeface="Adani Regular"/>
                      </a:endParaRPr>
                    </a:p>
                    <a:p>
                      <a:pPr algn="ctr" fontAlgn="ctr">
                        <a:buNone/>
                      </a:pPr>
                      <a:r>
                        <a:rPr lang="en-US" sz="1000" b="0" i="0" u="none" strike="sngStrike">
                          <a:solidFill>
                            <a:srgbClr val="00B050"/>
                          </a:solidFill>
                          <a:effectLst/>
                          <a:latin typeface="Adani Regular"/>
                        </a:rPr>
                        <a:t>05-Feb-26</a:t>
                      </a:r>
                    </a:p>
                    <a:p>
                      <a:pPr algn="ctr" fontAlgn="ctr">
                        <a:buNone/>
                      </a:pPr>
                      <a:r>
                        <a:rPr lang="en-US" sz="1000" b="0" i="0" u="none" strike="sngStrike">
                          <a:solidFill>
                            <a:srgbClr val="00B050"/>
                          </a:solidFill>
                          <a:effectLst/>
                          <a:latin typeface="Adani Regular"/>
                        </a:rPr>
                        <a:t>30-Apr-26</a:t>
                      </a:r>
                    </a:p>
                    <a:p>
                      <a:pPr algn="ctr" fontAlgn="ctr">
                        <a:buNone/>
                      </a:pPr>
                      <a:r>
                        <a:rPr lang="en-US" sz="1000" b="0" i="0" u="none" strike="sngStrike">
                          <a:solidFill>
                            <a:srgbClr val="00B050"/>
                          </a:solidFill>
                          <a:effectLst/>
                          <a:latin typeface="Adani Regular"/>
                        </a:rPr>
                        <a:t>May-26</a:t>
                      </a:r>
                    </a:p>
                    <a:p>
                      <a:pPr algn="ctr" fontAlgn="ctr">
                        <a:buNone/>
                      </a:pPr>
                      <a:r>
                        <a:rPr lang="en-US" sz="1000" b="0" i="0" u="none" strike="sngStrike">
                          <a:solidFill>
                            <a:srgbClr val="00B050"/>
                          </a:solidFill>
                          <a:effectLst/>
                          <a:latin typeface="Adani Regular"/>
                        </a:rPr>
                        <a:t>Jun-26</a:t>
                      </a:r>
                    </a:p>
                    <a:p>
                      <a:pPr algn="ctr" fontAlgn="ctr">
                        <a:buNone/>
                      </a:pPr>
                      <a:r>
                        <a:rPr lang="en-US" sz="1000" b="0" i="0" u="none" strike="noStrike">
                          <a:solidFill>
                            <a:srgbClr val="00B050"/>
                          </a:solidFill>
                          <a:effectLst/>
                          <a:latin typeface="Adani Regular"/>
                        </a:rPr>
                        <a:t>Jul-26</a:t>
                      </a:r>
                      <a:endParaRPr lang="en-US" sz="1100" b="0" i="0" u="none" strike="noStrike">
                        <a:solidFill>
                          <a:srgbClr val="00B050"/>
                        </a:solidFill>
                        <a:effectLst/>
                        <a:latin typeface="Adani Regular"/>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100" b="0" i="0" u="none" strike="noStrike">
                          <a:solidFill>
                            <a:srgbClr val="00B050"/>
                          </a:solidFill>
                          <a:effectLst/>
                          <a:latin typeface="Adani Regular" panose="02000503000000020004" pitchFamily="2" charset="0"/>
                        </a:rPr>
                        <a:t>Deemed Approved.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7455117"/>
                  </a:ext>
                </a:extLst>
              </a:tr>
              <a:tr h="1535453">
                <a:tc>
                  <a:txBody>
                    <a:bodyPr/>
                    <a:lstStyle/>
                    <a:p>
                      <a:pPr algn="ctr" fontAlgn="ctr">
                        <a:buNone/>
                      </a:pPr>
                      <a:r>
                        <a:rPr lang="en-US" sz="1100" b="0" i="0" u="none" strike="noStrike">
                          <a:solidFill>
                            <a:srgbClr val="00B050"/>
                          </a:solidFill>
                          <a:effectLst/>
                          <a:latin typeface="Adani Regular"/>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a:rPr>
                        <a:t>Fire Safety Plan Approval (FSPA)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a:rPr>
                        <a:t>Project Team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a:rPr>
                        <a:t>Regional Fire Officer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a:rPr>
                        <a:t>15-Dec-25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a:rPr>
                        <a:t>31-Jan-26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B050"/>
                          </a:solidFill>
                          <a:effectLst/>
                          <a:latin typeface="Adani Regular"/>
                        </a:rPr>
                        <a:t>17-Dec-25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a:rPr>
                        <a:t>-NA-</a:t>
                      </a:r>
                      <a:endParaRPr lang="en-US" sz="1400" b="0" i="0" u="none" strike="noStrike">
                        <a:solidFill>
                          <a:srgbClr val="00B050"/>
                        </a:solidFill>
                        <a:effectLst/>
                        <a:latin typeface="Adani Regular"/>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1100" b="0" i="0" u="none" strike="noStrike">
                          <a:solidFill>
                            <a:srgbClr val="00B050"/>
                          </a:solidFill>
                          <a:effectLst/>
                          <a:latin typeface="Adani Regular"/>
                        </a:rPr>
                        <a:t>CPO's in-person meeting with Fire officer at their Rajkot office conducted on 25-Jun, FSPA and Fire NOC will not be required.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040920818"/>
                  </a:ext>
                </a:extLst>
              </a:tr>
              <a:tr h="1187789">
                <a:tc>
                  <a:txBody>
                    <a:bodyPr/>
                    <a:lstStyle/>
                    <a:p>
                      <a:pPr algn="ctr" fontAlgn="ctr">
                        <a:buNone/>
                      </a:pPr>
                      <a:r>
                        <a:rPr lang="en-US" sz="1100" b="0" i="0" u="none" strike="noStrike">
                          <a:solidFill>
                            <a:srgbClr val="00B050"/>
                          </a:solidFill>
                          <a:effectLst/>
                          <a:latin typeface="Adani Regular"/>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a:rPr>
                        <a:t>Project Import Registration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a:rPr>
                        <a:t>TC Team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a:rPr>
                        <a:t>Commissioner of Customs, Kandla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a:rPr>
                        <a:t>26-Nov-25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a:rPr>
                        <a:t>25-Dec-25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a:rPr>
                        <a:t>08-Dec-25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000" b="0" i="0" u="none" strike="sngStrike">
                          <a:solidFill>
                            <a:srgbClr val="00B050"/>
                          </a:solidFill>
                          <a:effectLst/>
                          <a:latin typeface="Adani Regular"/>
                        </a:rPr>
                        <a:t>25-Dec  31-Jan</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000" b="0" i="0" u="none" strike="sngStrike">
                          <a:solidFill>
                            <a:srgbClr val="00B050"/>
                          </a:solidFill>
                          <a:effectLst/>
                          <a:latin typeface="Adani Regular"/>
                        </a:rPr>
                        <a:t>28-Feb  15-Mar</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000" b="0" i="0" u="none" strike="sngStrike">
                          <a:solidFill>
                            <a:srgbClr val="00B050"/>
                          </a:solidFill>
                          <a:effectLst/>
                          <a:latin typeface="Adani Regular"/>
                        </a:rPr>
                        <a:t>27-Mar  25-Apr</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900" b="0" i="0" u="none" strike="sngStrike">
                          <a:solidFill>
                            <a:srgbClr val="00B050"/>
                          </a:solidFill>
                          <a:effectLst/>
                          <a:latin typeface="Adani Regular"/>
                        </a:rPr>
                        <a:t>04-May  13-May</a:t>
                      </a:r>
                      <a:endParaRPr lang="en-US" sz="1100" b="0" i="0" u="none" strike="sngStrike">
                        <a:solidFill>
                          <a:srgbClr val="00B050"/>
                        </a:solidFill>
                        <a:effectLst/>
                        <a:latin typeface="Adani Regular"/>
                      </a:endParaRP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000" b="0" i="0" u="none" strike="sngStrike">
                          <a:solidFill>
                            <a:srgbClr val="00B050"/>
                          </a:solidFill>
                          <a:effectLst/>
                          <a:latin typeface="Adani Regular"/>
                        </a:rPr>
                        <a:t>18-May</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B050"/>
                          </a:solidFill>
                          <a:effectLst/>
                          <a:latin typeface="Adani Regular"/>
                        </a:rPr>
                        <a:t>21-May-26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B050"/>
                          </a:solidFill>
                          <a:effectLst/>
                          <a:latin typeface="Adani Regular"/>
                        </a:rPr>
                        <a:t>Approval from Customs, Mundra received on 21-May.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610724837"/>
                  </a:ext>
                </a:extLst>
              </a:tr>
              <a:tr h="1064202">
                <a:tc>
                  <a:txBody>
                    <a:bodyPr/>
                    <a:lstStyle/>
                    <a:p>
                      <a:pPr algn="ctr" fontAlgn="ctr">
                        <a:buNone/>
                      </a:pPr>
                      <a:r>
                        <a:rPr lang="en-US" sz="1100" b="0" i="0" u="none" strike="noStrike">
                          <a:solidFill>
                            <a:srgbClr val="00B050"/>
                          </a:solidFill>
                          <a:effectLst/>
                          <a:latin typeface="Adani Regular"/>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a:rPr>
                        <a:t>Project Insurance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a:rPr>
                        <a:t>Group Insurance Team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a:rPr>
                        <a:t>-N.A.-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a:rPr>
                        <a:t>24-Feb-26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sngStrike">
                          <a:solidFill>
                            <a:srgbClr val="00B050"/>
                          </a:solidFill>
                          <a:effectLst/>
                          <a:latin typeface="Adani Regular"/>
                        </a:rPr>
                        <a:t>01-May-26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sngStrike">
                          <a:solidFill>
                            <a:srgbClr val="00B050"/>
                          </a:solidFill>
                          <a:effectLst/>
                          <a:latin typeface="Adani Regular"/>
                        </a:rPr>
                        <a:t>12-May-26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sngStrike">
                          <a:solidFill>
                            <a:srgbClr val="00B050"/>
                          </a:solidFill>
                          <a:effectLst/>
                          <a:latin typeface="Adani Regular"/>
                        </a:rPr>
                        <a:t>23-May-26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B050"/>
                          </a:solidFill>
                          <a:effectLst/>
                          <a:latin typeface="Adani Regular"/>
                        </a:rPr>
                        <a:t>01-Jun-26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B050"/>
                          </a:solidFill>
                          <a:effectLst/>
                          <a:latin typeface="Adani Regular"/>
                        </a:rPr>
                        <a:t>Project Insurance policy issued on 01-Jun.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671567222"/>
                  </a:ext>
                </a:extLst>
              </a:tr>
            </a:tbl>
          </a:graphicData>
        </a:graphic>
      </p:graphicFrame>
      <p:sp>
        <p:nvSpPr>
          <p:cNvPr id="5" name="Arrow: Right 4">
            <a:hlinkClick r:id="rId3" action="ppaction://hlinksldjump"/>
            <a:extLst>
              <a:ext uri="{FF2B5EF4-FFF2-40B4-BE49-F238E27FC236}">
                <a16:creationId xmlns:a16="http://schemas.microsoft.com/office/drawing/2014/main" id="{D2A31C28-0850-8773-6EB8-7C151D733888}"/>
              </a:ext>
            </a:extLst>
          </p:cNvPr>
          <p:cNvSpPr/>
          <p:nvPr/>
        </p:nvSpPr>
        <p:spPr>
          <a:xfrm>
            <a:off x="11381603" y="6702539"/>
            <a:ext cx="237764" cy="155461"/>
          </a:xfrm>
          <a:prstGeom prst="righ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823622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8712C-04EC-6F00-68A5-8C7DDD49606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0A35896-984E-554C-7F99-40F99C53D429}"/>
              </a:ext>
            </a:extLst>
          </p:cNvPr>
          <p:cNvSpPr txBox="1">
            <a:spLocks noChangeArrowheads="1"/>
          </p:cNvSpPr>
          <p:nvPr/>
        </p:nvSpPr>
        <p:spPr>
          <a:xfrm>
            <a:off x="0" y="12745"/>
            <a:ext cx="12192000" cy="476833"/>
          </a:xfrm>
          <a:prstGeom prst="rect">
            <a:avLst/>
          </a:prstGeom>
        </p:spPr>
        <p:txBody>
          <a:bodyPr lIns="121920" tIns="60960" rIns="121920" bIns="6096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US" sz="2400" b="1">
                <a:solidFill>
                  <a:srgbClr val="912A82"/>
                </a:solidFill>
              </a:rPr>
              <a:t> </a:t>
            </a:r>
            <a:r>
              <a:rPr lang="en-US" sz="2400" b="1">
                <a:solidFill>
                  <a:srgbClr val="912A82"/>
                </a:solidFill>
                <a:highlight>
                  <a:srgbClr val="33CC33"/>
                </a:highlight>
              </a:rPr>
              <a:t>Statutory and Other Approvals (PSS-11, 12 &amp; 10(B))</a:t>
            </a:r>
            <a:endParaRPr lang="en-US" sz="2400" b="1">
              <a:solidFill>
                <a:srgbClr val="3D3DFF"/>
              </a:solidFill>
              <a:highlight>
                <a:srgbClr val="33CC33"/>
              </a:highlight>
            </a:endParaRPr>
          </a:p>
        </p:txBody>
      </p:sp>
      <p:sp>
        <p:nvSpPr>
          <p:cNvPr id="2" name="Slide Number Placeholder 1">
            <a:extLst>
              <a:ext uri="{FF2B5EF4-FFF2-40B4-BE49-F238E27FC236}">
                <a16:creationId xmlns:a16="http://schemas.microsoft.com/office/drawing/2014/main" id="{0D86EFD4-3A55-1E4F-2EF5-56DD57B20220}"/>
              </a:ext>
            </a:extLst>
          </p:cNvPr>
          <p:cNvSpPr>
            <a:spLocks noGrp="1"/>
          </p:cNvSpPr>
          <p:nvPr>
            <p:ph type="sldNum" sz="quarter" idx="12"/>
          </p:nvPr>
        </p:nvSpPr>
        <p:spPr>
          <a:xfrm>
            <a:off x="9448800" y="6544298"/>
            <a:ext cx="2743200" cy="365125"/>
          </a:xfrm>
        </p:spPr>
        <p:txBody>
          <a:bodyPr/>
          <a:lstStyle/>
          <a:p>
            <a:fld id="{98B285C1-D8A8-4E98-B28C-1FD972D8EC54}" type="slidenum">
              <a:rPr lang="en-IN" smtClean="0"/>
              <a:t>63</a:t>
            </a:fld>
            <a:endParaRPr lang="en-IN"/>
          </a:p>
        </p:txBody>
      </p:sp>
      <p:graphicFrame>
        <p:nvGraphicFramePr>
          <p:cNvPr id="7" name="Table 6">
            <a:extLst>
              <a:ext uri="{FF2B5EF4-FFF2-40B4-BE49-F238E27FC236}">
                <a16:creationId xmlns:a16="http://schemas.microsoft.com/office/drawing/2014/main" id="{EFFF0E6A-61F0-01C7-D271-AABBC7C4CBC5}"/>
              </a:ext>
            </a:extLst>
          </p:cNvPr>
          <p:cNvGraphicFramePr>
            <a:graphicFrameLocks noGrp="1"/>
          </p:cNvGraphicFramePr>
          <p:nvPr>
            <p:extLst>
              <p:ext uri="{D42A27DB-BD31-4B8C-83A1-F6EECF244321}">
                <p14:modId xmlns:p14="http://schemas.microsoft.com/office/powerpoint/2010/main" val="3389167128"/>
              </p:ext>
            </p:extLst>
          </p:nvPr>
        </p:nvGraphicFramePr>
        <p:xfrm>
          <a:off x="165433" y="371755"/>
          <a:ext cx="11861133" cy="5686144"/>
        </p:xfrm>
        <a:graphic>
          <a:graphicData uri="http://schemas.openxmlformats.org/drawingml/2006/table">
            <a:tbl>
              <a:tblPr firstRow="1" bandRow="1">
                <a:tableStyleId>{5C22544A-7EE6-4342-B048-85BDC9FD1C3A}</a:tableStyleId>
              </a:tblPr>
              <a:tblGrid>
                <a:gridCol w="450862">
                  <a:extLst>
                    <a:ext uri="{9D8B030D-6E8A-4147-A177-3AD203B41FA5}">
                      <a16:colId xmlns:a16="http://schemas.microsoft.com/office/drawing/2014/main" val="3099302020"/>
                    </a:ext>
                  </a:extLst>
                </a:gridCol>
                <a:gridCol w="1996507">
                  <a:extLst>
                    <a:ext uri="{9D8B030D-6E8A-4147-A177-3AD203B41FA5}">
                      <a16:colId xmlns:a16="http://schemas.microsoft.com/office/drawing/2014/main" val="1830319299"/>
                    </a:ext>
                  </a:extLst>
                </a:gridCol>
                <a:gridCol w="1506344">
                  <a:extLst>
                    <a:ext uri="{9D8B030D-6E8A-4147-A177-3AD203B41FA5}">
                      <a16:colId xmlns:a16="http://schemas.microsoft.com/office/drawing/2014/main" val="1049725276"/>
                    </a:ext>
                  </a:extLst>
                </a:gridCol>
                <a:gridCol w="1336896">
                  <a:extLst>
                    <a:ext uri="{9D8B030D-6E8A-4147-A177-3AD203B41FA5}">
                      <a16:colId xmlns:a16="http://schemas.microsoft.com/office/drawing/2014/main" val="3717742423"/>
                    </a:ext>
                  </a:extLst>
                </a:gridCol>
                <a:gridCol w="1094930">
                  <a:extLst>
                    <a:ext uri="{9D8B030D-6E8A-4147-A177-3AD203B41FA5}">
                      <a16:colId xmlns:a16="http://schemas.microsoft.com/office/drawing/2014/main" val="175036882"/>
                    </a:ext>
                  </a:extLst>
                </a:gridCol>
                <a:gridCol w="1079930">
                  <a:extLst>
                    <a:ext uri="{9D8B030D-6E8A-4147-A177-3AD203B41FA5}">
                      <a16:colId xmlns:a16="http://schemas.microsoft.com/office/drawing/2014/main" val="2443939899"/>
                    </a:ext>
                  </a:extLst>
                </a:gridCol>
                <a:gridCol w="1079930">
                  <a:extLst>
                    <a:ext uri="{9D8B030D-6E8A-4147-A177-3AD203B41FA5}">
                      <a16:colId xmlns:a16="http://schemas.microsoft.com/office/drawing/2014/main" val="2900503877"/>
                    </a:ext>
                  </a:extLst>
                </a:gridCol>
                <a:gridCol w="1099509">
                  <a:extLst>
                    <a:ext uri="{9D8B030D-6E8A-4147-A177-3AD203B41FA5}">
                      <a16:colId xmlns:a16="http://schemas.microsoft.com/office/drawing/2014/main" val="769568464"/>
                    </a:ext>
                  </a:extLst>
                </a:gridCol>
                <a:gridCol w="2216225">
                  <a:extLst>
                    <a:ext uri="{9D8B030D-6E8A-4147-A177-3AD203B41FA5}">
                      <a16:colId xmlns:a16="http://schemas.microsoft.com/office/drawing/2014/main" val="3175708860"/>
                    </a:ext>
                  </a:extLst>
                </a:gridCol>
              </a:tblGrid>
              <a:tr h="646627">
                <a:tc>
                  <a:txBody>
                    <a:bodyPr/>
                    <a:lstStyle/>
                    <a:p>
                      <a:pPr algn="ctr" fontAlgn="ctr">
                        <a:buNone/>
                      </a:pPr>
                      <a:r>
                        <a:rPr lang="en-US" sz="1200" b="1" i="0" u="none" strike="noStrike">
                          <a:solidFill>
                            <a:schemeClr val="bg1"/>
                          </a:solidFill>
                          <a:effectLst/>
                          <a:latin typeface="Adani Regular" panose="02000503000000020004" pitchFamily="2" charset="0"/>
                        </a:rPr>
                        <a:t>SN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Activity Name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Responsible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Approval Authority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Baseline Start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Baseline Finish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Actual/ Forecast Start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Actual/ Forecast Finish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a:solidFill>
                            <a:schemeClr val="bg1"/>
                          </a:solidFill>
                          <a:effectLst/>
                          <a:latin typeface="Adani Regular" panose="02000503000000020004" pitchFamily="2" charset="0"/>
                        </a:rPr>
                        <a:t>Remarks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extLst>
                  <a:ext uri="{0D108BD9-81ED-4DB2-BD59-A6C34878D82A}">
                    <a16:rowId xmlns:a16="http://schemas.microsoft.com/office/drawing/2014/main" val="1597099999"/>
                  </a:ext>
                </a:extLst>
              </a:tr>
              <a:tr h="1991849">
                <a:tc>
                  <a:txBody>
                    <a:bodyPr/>
                    <a:lstStyle/>
                    <a:p>
                      <a:pPr algn="ctr" fontAlgn="ctr">
                        <a:buNone/>
                      </a:pPr>
                      <a:r>
                        <a:rPr lang="en-US" sz="1100" b="0" i="0" u="none" strike="noStrike">
                          <a:solidFill>
                            <a:srgbClr val="00B05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panose="02000503000000020004" pitchFamily="2" charset="0"/>
                        </a:rPr>
                        <a:t>Approval of Grid Connectivity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panose="02000503000000020004" pitchFamily="2" charset="0"/>
                        </a:rPr>
                        <a:t>Asset Commissioning + BD HO Team and Delhi Office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panose="02000503000000020004" pitchFamily="2" charset="0"/>
                        </a:rPr>
                        <a:t>CTU</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20-Nov-25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30-Nov-25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05-Dec-25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05-Aug-26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b="0" i="0" u="none" strike="noStrike">
                          <a:solidFill>
                            <a:srgbClr val="00B050"/>
                          </a:solidFill>
                          <a:effectLst/>
                          <a:latin typeface="Adani Regular" panose="02000503000000020004" pitchFamily="2" charset="0"/>
                        </a:rPr>
                        <a:t>In-principal grant received on 20-Jul.</a:t>
                      </a:r>
                    </a:p>
                    <a:p>
                      <a:pPr algn="l" fontAlgn="ctr">
                        <a:buNone/>
                      </a:pPr>
                      <a:r>
                        <a:rPr lang="en-US" sz="1100" b="0" i="0" u="none" strike="noStrike">
                          <a:solidFill>
                            <a:srgbClr val="00B050"/>
                          </a:solidFill>
                          <a:effectLst/>
                          <a:latin typeface="Adani Regular" panose="02000503000000020004" pitchFamily="2" charset="0"/>
                        </a:rPr>
                        <a:t>Final grant received on 05-Aug.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60904576"/>
                  </a:ext>
                </a:extLst>
              </a:tr>
              <a:tr h="826430">
                <a:tc>
                  <a:txBody>
                    <a:bodyPr/>
                    <a:lstStyle/>
                    <a:p>
                      <a:pPr algn="ctr" fontAlgn="ctr">
                        <a:buNone/>
                      </a:pPr>
                      <a:r>
                        <a:rPr lang="en-US" sz="1100" b="0" i="0" u="none" strike="noStrike">
                          <a:solidFill>
                            <a:srgbClr val="00B050"/>
                          </a:solidFill>
                          <a:effectLst/>
                          <a:latin typeface="Adani Regular" panose="02000503000000020004" pitchFamily="2"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panose="02000503000000020004" pitchFamily="2" charset="0"/>
                        </a:rPr>
                        <a:t>Metering Scheme approval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panose="02000503000000020004" pitchFamily="2" charset="0"/>
                        </a:rPr>
                        <a:t>Engineering + Asset Commissioning Team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panose="02000503000000020004" pitchFamily="2" charset="0"/>
                        </a:rPr>
                        <a:t>RLDC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23-Feb-26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20-Mar-26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20-Jul-26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0" i="0" u="none" strike="noStrike">
                          <a:solidFill>
                            <a:srgbClr val="00B050"/>
                          </a:solidFill>
                          <a:effectLst/>
                          <a:latin typeface="Adani Regular" panose="02000503000000020004" pitchFamily="2" charset="0"/>
                        </a:rPr>
                        <a:t>06-Aug-26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b="0" i="0" u="none" strike="noStrike">
                          <a:solidFill>
                            <a:srgbClr val="00B050"/>
                          </a:solidFill>
                          <a:effectLst/>
                          <a:latin typeface="Adani Regular" panose="02000503000000020004" pitchFamily="2" charset="0"/>
                        </a:rPr>
                        <a:t>Metering scheme approved on 06-Aug.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062496606"/>
                  </a:ext>
                </a:extLst>
              </a:tr>
              <a:tr h="646627">
                <a:tc>
                  <a:txBody>
                    <a:bodyPr/>
                    <a:lstStyle/>
                    <a:p>
                      <a:pPr algn="ctr" fontAlgn="ctr">
                        <a:buNone/>
                      </a:pPr>
                      <a:r>
                        <a:rPr lang="en-US" sz="1100" b="0" i="0" u="none" strike="noStrike">
                          <a:solidFill>
                            <a:srgbClr val="00B050"/>
                          </a:solidFill>
                          <a:effectLst/>
                          <a:latin typeface="Adani Regular" panose="02000503000000020004" pitchFamily="2" charset="0"/>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sz="1100" b="0" i="0" u="none" strike="noStrike">
                          <a:solidFill>
                            <a:srgbClr val="00B050"/>
                          </a:solidFill>
                          <a:effectLst/>
                          <a:latin typeface="Adani Regular" panose="02000503000000020004" pitchFamily="2" charset="0"/>
                        </a:rPr>
                        <a:t>Connectivity Agreement</a:t>
                      </a:r>
                    </a:p>
                    <a:p>
                      <a:pPr algn="ctr" rtl="0" fontAlgn="ctr">
                        <a:buNone/>
                      </a:pPr>
                      <a:r>
                        <a:rPr lang="en-US" sz="1100" b="0" i="0" u="none" strike="noStrike">
                          <a:solidFill>
                            <a:srgbClr val="00B050"/>
                          </a:solidFill>
                          <a:effectLst/>
                          <a:latin typeface="Adani Regular" panose="02000503000000020004" pitchFamily="2" charset="0"/>
                        </a:rPr>
                        <a:t>(Con VI)</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sz="1100" b="0" i="0" u="none" strike="noStrike">
                          <a:solidFill>
                            <a:srgbClr val="00B050"/>
                          </a:solidFill>
                          <a:effectLst/>
                          <a:latin typeface="Adani Regular" panose="02000503000000020004" pitchFamily="2" charset="0"/>
                        </a:rPr>
                        <a:t>Asset Commissioning, Engineering and Delhi Office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sz="1100" b="0" i="0" u="none" strike="noStrike">
                          <a:solidFill>
                            <a:srgbClr val="00B050"/>
                          </a:solidFill>
                          <a:effectLst/>
                          <a:latin typeface="Adani Regular" panose="02000503000000020004" pitchFamily="2" charset="0"/>
                        </a:rPr>
                        <a:t>CTU &amp; WRLDC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0" i="0" u="none" strike="noStrike">
                          <a:solidFill>
                            <a:srgbClr val="00B050"/>
                          </a:solidFill>
                          <a:effectLst/>
                          <a:latin typeface="Adani Regular" panose="02000503000000020004" pitchFamily="2" charset="0"/>
                        </a:rPr>
                        <a:t>18-Feb-26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0" i="0" u="none" strike="noStrike">
                          <a:solidFill>
                            <a:srgbClr val="00B050"/>
                          </a:solidFill>
                          <a:effectLst/>
                          <a:latin typeface="Adani Regular" panose="02000503000000020004" pitchFamily="2" charset="0"/>
                        </a:rPr>
                        <a:t>20-Mar-26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00" b="0" i="0" u="none" strike="noStrike">
                          <a:solidFill>
                            <a:srgbClr val="00B050"/>
                          </a:solidFill>
                          <a:effectLst/>
                          <a:latin typeface="Adani Regular"/>
                        </a:rPr>
                        <a:t>09-May-26</a:t>
                      </a:r>
                      <a:endParaRPr lang="en-US" sz="1100" b="0" i="0" u="none" strike="noStrike">
                        <a:solidFill>
                          <a:srgbClr val="00B050"/>
                        </a:solidFill>
                        <a:effectLst/>
                        <a:latin typeface="Adani Regular"/>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0" i="0" u="none" strike="noStrike">
                          <a:solidFill>
                            <a:srgbClr val="00B050"/>
                          </a:solidFill>
                          <a:effectLst/>
                          <a:latin typeface="Adani Regular" panose="02000503000000020004" pitchFamily="2" charset="0"/>
                        </a:rPr>
                        <a:t>8-Aug-26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100" b="0" i="0" u="none" strike="noStrike">
                          <a:solidFill>
                            <a:srgbClr val="00B050"/>
                          </a:solidFill>
                          <a:effectLst/>
                          <a:latin typeface="Adani Regular"/>
                        </a:rPr>
                        <a:t>Priority wise: PSS-11 &gt; PSS-12 ~ PSS-10(B)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611682"/>
                  </a:ext>
                </a:extLst>
              </a:tr>
              <a:tr h="910969">
                <a:tc>
                  <a:txBody>
                    <a:bodyPr/>
                    <a:lstStyle/>
                    <a:p>
                      <a:pPr algn="ctr" fontAlgn="ctr">
                        <a:buNone/>
                      </a:pPr>
                      <a:r>
                        <a:rPr lang="en-US" sz="1100" b="0" i="0" u="none" strike="noStrike">
                          <a:solidFill>
                            <a:srgbClr val="00B050"/>
                          </a:solidFill>
                          <a:effectLst/>
                          <a:latin typeface="Adani Regular" panose="02000503000000020004" pitchFamily="2"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panose="02000503000000020004" pitchFamily="2" charset="0"/>
                        </a:rPr>
                        <a:t>PTCC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panose="02000503000000020004" pitchFamily="2" charset="0"/>
                        </a:rPr>
                        <a:t>Asset Commissioning &amp; Projects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panose="02000503000000020004" pitchFamily="2" charset="0"/>
                        </a:rPr>
                        <a:t>CEA, Department of Telecommunications &amp; Indian Railways &amp; Defense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01-Feb-26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24-Mar-26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B050"/>
                          </a:solidFill>
                          <a:effectLst/>
                          <a:latin typeface="Adani Regular" panose="02000503000000020004" pitchFamily="2" charset="0"/>
                        </a:rPr>
                        <a:t>01-Feb-26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900" b="0" i="0" u="none" strike="noStrike">
                          <a:solidFill>
                            <a:srgbClr val="00B050"/>
                          </a:solidFill>
                          <a:effectLst/>
                          <a:latin typeface="Adani Regular" panose="02000503000000020004" pitchFamily="2" charset="0"/>
                        </a:rPr>
                        <a:t>24-Jun-26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b="0" i="0" u="none" strike="noStrike">
                          <a:solidFill>
                            <a:srgbClr val="00B050"/>
                          </a:solidFill>
                          <a:effectLst/>
                          <a:latin typeface="Adani Regular" panose="02000503000000020004" pitchFamily="2" charset="0"/>
                        </a:rPr>
                        <a:t>Final approval received on 24-Jun for PSS-11 &amp; 12 and 18-Jun for PSS-10(B).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92294093"/>
                  </a:ext>
                </a:extLst>
              </a:tr>
              <a:tr h="663642">
                <a:tc>
                  <a:txBody>
                    <a:bodyPr/>
                    <a:lstStyle/>
                    <a:p>
                      <a:pPr algn="ctr" fontAlgn="ctr">
                        <a:buNone/>
                      </a:pPr>
                      <a:r>
                        <a:rPr lang="en-US" sz="1100" b="0" i="0" u="none" strike="noStrike">
                          <a:solidFill>
                            <a:srgbClr val="000000"/>
                          </a:solidFill>
                          <a:effectLst/>
                          <a:latin typeface="Adani Regular" panose="02000503000000020004" pitchFamily="2" charset="0"/>
                        </a:rPr>
                        <a:t>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Intimation to Labor Inspector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Site IR Team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Govt. of Gujrat</a:t>
                      </a:r>
                      <a:br>
                        <a:rPr lang="en-US" sz="1100" b="0" i="0" u="none" strike="noStrike">
                          <a:solidFill>
                            <a:srgbClr val="000000"/>
                          </a:solidFill>
                          <a:effectLst/>
                          <a:latin typeface="Adani Regular" panose="02000503000000020004" pitchFamily="2" charset="0"/>
                        </a:rPr>
                      </a:br>
                      <a:r>
                        <a:rPr lang="en-US" sz="1100" b="0" i="0" u="none" strike="noStrike">
                          <a:solidFill>
                            <a:srgbClr val="000000"/>
                          </a:solidFill>
                          <a:effectLst/>
                          <a:latin typeface="Adani Regular" panose="02000503000000020004" pitchFamily="2" charset="0"/>
                        </a:rPr>
                        <a:t>(Dept of Labor)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Post Commissioning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Post Commissioning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Post Commissioning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Post Commissioning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b="0" i="0" u="none" strike="noStrike">
                          <a:solidFill>
                            <a:srgbClr val="000000"/>
                          </a:solidFill>
                          <a:effectLst/>
                          <a:latin typeface="Adani Regular" panose="02000503000000020004" pitchFamily="2" charset="0"/>
                        </a:rPr>
                        <a:t>Intimation to Labor Inspector needs to be sent post Commissioning.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94728786"/>
                  </a:ext>
                </a:extLst>
              </a:tr>
            </a:tbl>
          </a:graphicData>
        </a:graphic>
      </p:graphicFrame>
      <p:sp>
        <p:nvSpPr>
          <p:cNvPr id="5" name="Arrow: Right 4">
            <a:hlinkClick r:id="rId3" action="ppaction://hlinksldjump"/>
            <a:extLst>
              <a:ext uri="{FF2B5EF4-FFF2-40B4-BE49-F238E27FC236}">
                <a16:creationId xmlns:a16="http://schemas.microsoft.com/office/drawing/2014/main" id="{0BC1508D-A05C-126A-49D3-20FA422C39E5}"/>
              </a:ext>
            </a:extLst>
          </p:cNvPr>
          <p:cNvSpPr/>
          <p:nvPr/>
        </p:nvSpPr>
        <p:spPr>
          <a:xfrm>
            <a:off x="11381603" y="6702539"/>
            <a:ext cx="237764" cy="155461"/>
          </a:xfrm>
          <a:prstGeom prst="righ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0037DFA-713E-3A56-E58C-50DCAE72193F}"/>
              </a:ext>
            </a:extLst>
          </p:cNvPr>
          <p:cNvSpPr txBox="1"/>
          <p:nvPr/>
        </p:nvSpPr>
        <p:spPr>
          <a:xfrm>
            <a:off x="264115" y="6577711"/>
            <a:ext cx="10405242" cy="276999"/>
          </a:xfrm>
          <a:prstGeom prst="rect">
            <a:avLst/>
          </a:prstGeom>
          <a:noFill/>
        </p:spPr>
        <p:txBody>
          <a:bodyPr wrap="square" rtlCol="0">
            <a:spAutoFit/>
          </a:bodyPr>
          <a:lstStyle/>
          <a:p>
            <a:r>
              <a:rPr lang="en-IN" sz="1200">
                <a:latin typeface="Adani Regular" panose="02000503000000020004" pitchFamily="2" charset="0"/>
              </a:rPr>
              <a:t>* Dates are considered on a very aggressive completion path as PSS-11, 12 &amp; 10(B) is on top priority.</a:t>
            </a:r>
          </a:p>
        </p:txBody>
      </p:sp>
    </p:spTree>
    <p:extLst>
      <p:ext uri="{BB962C8B-B14F-4D97-AF65-F5344CB8AC3E}">
        <p14:creationId xmlns:p14="http://schemas.microsoft.com/office/powerpoint/2010/main" val="352170390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9BA9A-14EE-3281-1222-90B362AF30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FB839A-6C97-4103-1C68-3B520EA50E90}"/>
              </a:ext>
            </a:extLst>
          </p:cNvPr>
          <p:cNvSpPr>
            <a:spLocks noGrp="1"/>
          </p:cNvSpPr>
          <p:nvPr>
            <p:ph type="sldNum" sz="quarter" idx="12"/>
          </p:nvPr>
        </p:nvSpPr>
        <p:spPr/>
        <p:txBody>
          <a:bodyPr/>
          <a:lstStyle/>
          <a:p>
            <a:pPr defTabSz="1219170"/>
            <a:fld id="{9759575B-79F4-462B-BD8B-0038BD3A3767}" type="slidenum">
              <a:rPr lang="en-US">
                <a:solidFill>
                  <a:prstClr val="black">
                    <a:tint val="75000"/>
                  </a:prstClr>
                </a:solidFill>
              </a:rPr>
              <a:pPr defTabSz="1219170"/>
              <a:t>64</a:t>
            </a:fld>
            <a:endParaRPr lang="en-US">
              <a:solidFill>
                <a:prstClr val="black">
                  <a:tint val="75000"/>
                </a:prstClr>
              </a:solidFill>
            </a:endParaRPr>
          </a:p>
        </p:txBody>
      </p:sp>
      <p:sp>
        <p:nvSpPr>
          <p:cNvPr id="6" name="Title 2">
            <a:extLst>
              <a:ext uri="{FF2B5EF4-FFF2-40B4-BE49-F238E27FC236}">
                <a16:creationId xmlns:a16="http://schemas.microsoft.com/office/drawing/2014/main" id="{731CB350-49FD-83BD-8595-C0EBE8541A4A}"/>
              </a:ext>
            </a:extLst>
          </p:cNvPr>
          <p:cNvSpPr txBox="1">
            <a:spLocks/>
          </p:cNvSpPr>
          <p:nvPr/>
        </p:nvSpPr>
        <p:spPr>
          <a:xfrm>
            <a:off x="0" y="4057649"/>
            <a:ext cx="12192000" cy="1343025"/>
          </a:xfrm>
          <a:prstGeom prst="rect">
            <a:avLst/>
          </a:prstGeom>
        </p:spPr>
        <p:txBody>
          <a:bodyPr vert="horz" lIns="91440" tIns="45720" rIns="91440" bIns="45720" rtlCol="0" anchor="t">
            <a:normAutofit/>
          </a:bodyPr>
          <a:lstStyle>
            <a:lvl1pPr algn="l" defTabSz="1219170" rtl="0" eaLnBrk="1" latinLnBrk="0" hangingPunct="1">
              <a:spcBef>
                <a:spcPct val="0"/>
              </a:spcBef>
              <a:buNone/>
              <a:defRPr sz="3733" b="0" kern="1200" cap="none" baseline="0">
                <a:solidFill>
                  <a:schemeClr val="bg1"/>
                </a:solidFill>
                <a:latin typeface="Adani Regular" pitchFamily="2" charset="0"/>
                <a:ea typeface="+mj-ea"/>
                <a:cs typeface="+mj-cs"/>
              </a:defRPr>
            </a:lvl1pPr>
          </a:lstStyle>
          <a:p>
            <a:pPr algn="ctr"/>
            <a:r>
              <a:rPr lang="en-IN"/>
              <a:t>Statutory &amp; Other approvals</a:t>
            </a:r>
          </a:p>
          <a:p>
            <a:pPr algn="ctr"/>
            <a:r>
              <a:rPr lang="en-IN"/>
              <a:t>PSS-09, 05(B) &amp; 08(B)</a:t>
            </a:r>
          </a:p>
        </p:txBody>
      </p:sp>
    </p:spTree>
    <p:extLst>
      <p:ext uri="{BB962C8B-B14F-4D97-AF65-F5344CB8AC3E}">
        <p14:creationId xmlns:p14="http://schemas.microsoft.com/office/powerpoint/2010/main" val="40744373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0078C-0937-D0EC-D5EC-1F759F45EF6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6C0793D-DC2F-E2B8-F456-78F2B13A618F}"/>
              </a:ext>
            </a:extLst>
          </p:cNvPr>
          <p:cNvSpPr txBox="1">
            <a:spLocks noChangeArrowheads="1"/>
          </p:cNvSpPr>
          <p:nvPr/>
        </p:nvSpPr>
        <p:spPr>
          <a:xfrm>
            <a:off x="0" y="12745"/>
            <a:ext cx="12192000" cy="476833"/>
          </a:xfrm>
          <a:prstGeom prst="rect">
            <a:avLst/>
          </a:prstGeom>
        </p:spPr>
        <p:txBody>
          <a:bodyPr lIns="121920" tIns="60960" rIns="121920" bIns="6096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US" sz="2400" b="1">
                <a:solidFill>
                  <a:srgbClr val="912A82"/>
                </a:solidFill>
              </a:rPr>
              <a:t> </a:t>
            </a:r>
            <a:r>
              <a:rPr lang="en-US" sz="2400" b="1">
                <a:solidFill>
                  <a:srgbClr val="912A82"/>
                </a:solidFill>
                <a:highlight>
                  <a:srgbClr val="33CC33"/>
                </a:highlight>
              </a:rPr>
              <a:t>Statutory and Other Approvals (PSS-09, 05(B) &amp; 08(B))</a:t>
            </a:r>
            <a:endParaRPr lang="en-US" sz="2400" b="1">
              <a:solidFill>
                <a:srgbClr val="3D3DFF"/>
              </a:solidFill>
              <a:highlight>
                <a:srgbClr val="33CC33"/>
              </a:highlight>
            </a:endParaRPr>
          </a:p>
        </p:txBody>
      </p:sp>
      <p:graphicFrame>
        <p:nvGraphicFramePr>
          <p:cNvPr id="7" name="Table 6">
            <a:extLst>
              <a:ext uri="{FF2B5EF4-FFF2-40B4-BE49-F238E27FC236}">
                <a16:creationId xmlns:a16="http://schemas.microsoft.com/office/drawing/2014/main" id="{6DA0D5EF-E2E9-3DD9-049B-54D4AD68001A}"/>
              </a:ext>
            </a:extLst>
          </p:cNvPr>
          <p:cNvGraphicFramePr>
            <a:graphicFrameLocks noGrp="1"/>
          </p:cNvGraphicFramePr>
          <p:nvPr>
            <p:extLst>
              <p:ext uri="{D42A27DB-BD31-4B8C-83A1-F6EECF244321}">
                <p14:modId xmlns:p14="http://schemas.microsoft.com/office/powerpoint/2010/main" val="3026961226"/>
              </p:ext>
            </p:extLst>
          </p:nvPr>
        </p:nvGraphicFramePr>
        <p:xfrm>
          <a:off x="168941" y="537987"/>
          <a:ext cx="11842085" cy="5945981"/>
        </p:xfrm>
        <a:graphic>
          <a:graphicData uri="http://schemas.openxmlformats.org/drawingml/2006/table">
            <a:tbl>
              <a:tblPr firstRow="1" bandRow="1">
                <a:tableStyleId>{5C22544A-7EE6-4342-B048-85BDC9FD1C3A}</a:tableStyleId>
              </a:tblPr>
              <a:tblGrid>
                <a:gridCol w="450137">
                  <a:extLst>
                    <a:ext uri="{9D8B030D-6E8A-4147-A177-3AD203B41FA5}">
                      <a16:colId xmlns:a16="http://schemas.microsoft.com/office/drawing/2014/main" val="3099302020"/>
                    </a:ext>
                  </a:extLst>
                </a:gridCol>
                <a:gridCol w="2181437">
                  <a:extLst>
                    <a:ext uri="{9D8B030D-6E8A-4147-A177-3AD203B41FA5}">
                      <a16:colId xmlns:a16="http://schemas.microsoft.com/office/drawing/2014/main" val="1830319299"/>
                    </a:ext>
                  </a:extLst>
                </a:gridCol>
                <a:gridCol w="1315788">
                  <a:extLst>
                    <a:ext uri="{9D8B030D-6E8A-4147-A177-3AD203B41FA5}">
                      <a16:colId xmlns:a16="http://schemas.microsoft.com/office/drawing/2014/main" val="1049725276"/>
                    </a:ext>
                  </a:extLst>
                </a:gridCol>
                <a:gridCol w="1315788">
                  <a:extLst>
                    <a:ext uri="{9D8B030D-6E8A-4147-A177-3AD203B41FA5}">
                      <a16:colId xmlns:a16="http://schemas.microsoft.com/office/drawing/2014/main" val="3717742423"/>
                    </a:ext>
                  </a:extLst>
                </a:gridCol>
                <a:gridCol w="982792">
                  <a:extLst>
                    <a:ext uri="{9D8B030D-6E8A-4147-A177-3AD203B41FA5}">
                      <a16:colId xmlns:a16="http://schemas.microsoft.com/office/drawing/2014/main" val="175036882"/>
                    </a:ext>
                  </a:extLst>
                </a:gridCol>
                <a:gridCol w="982792">
                  <a:extLst>
                    <a:ext uri="{9D8B030D-6E8A-4147-A177-3AD203B41FA5}">
                      <a16:colId xmlns:a16="http://schemas.microsoft.com/office/drawing/2014/main" val="4040188735"/>
                    </a:ext>
                  </a:extLst>
                </a:gridCol>
                <a:gridCol w="982792">
                  <a:extLst>
                    <a:ext uri="{9D8B030D-6E8A-4147-A177-3AD203B41FA5}">
                      <a16:colId xmlns:a16="http://schemas.microsoft.com/office/drawing/2014/main" val="2900503877"/>
                    </a:ext>
                  </a:extLst>
                </a:gridCol>
                <a:gridCol w="982792">
                  <a:extLst>
                    <a:ext uri="{9D8B030D-6E8A-4147-A177-3AD203B41FA5}">
                      <a16:colId xmlns:a16="http://schemas.microsoft.com/office/drawing/2014/main" val="769568464"/>
                    </a:ext>
                  </a:extLst>
                </a:gridCol>
                <a:gridCol w="2647767">
                  <a:extLst>
                    <a:ext uri="{9D8B030D-6E8A-4147-A177-3AD203B41FA5}">
                      <a16:colId xmlns:a16="http://schemas.microsoft.com/office/drawing/2014/main" val="3175708860"/>
                    </a:ext>
                  </a:extLst>
                </a:gridCol>
              </a:tblGrid>
              <a:tr h="531042">
                <a:tc>
                  <a:txBody>
                    <a:bodyPr/>
                    <a:lstStyle/>
                    <a:p>
                      <a:pPr algn="ctr" fontAlgn="ctr">
                        <a:buNone/>
                      </a:pPr>
                      <a:r>
                        <a:rPr lang="en-US" sz="1200" b="1" i="0" u="none" strike="noStrike">
                          <a:solidFill>
                            <a:schemeClr val="bg1"/>
                          </a:solidFill>
                          <a:effectLst/>
                          <a:latin typeface="Adani Regular" panose="02000503000000020004" pitchFamily="2" charset="0"/>
                        </a:rPr>
                        <a:t>SN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Activity Name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Responsible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Approval Authority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Baseline Start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Baseline Finish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Actual/ Forecast Start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Actual/ Forecast Finish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a:solidFill>
                            <a:schemeClr val="bg1"/>
                          </a:solidFill>
                          <a:effectLst/>
                          <a:latin typeface="Adani Regular" panose="02000503000000020004" pitchFamily="2" charset="0"/>
                        </a:rPr>
                        <a:t>Remarks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extLst>
                  <a:ext uri="{0D108BD9-81ED-4DB2-BD59-A6C34878D82A}">
                    <a16:rowId xmlns:a16="http://schemas.microsoft.com/office/drawing/2014/main" val="3932833671"/>
                  </a:ext>
                </a:extLst>
              </a:tr>
              <a:tr h="777533">
                <a:tc>
                  <a:txBody>
                    <a:bodyPr/>
                    <a:lstStyle/>
                    <a:p>
                      <a:pPr algn="ctr" fontAlgn="ctr">
                        <a:buNone/>
                      </a:pPr>
                      <a:r>
                        <a:rPr lang="en-US" sz="1100" b="0" i="0" u="none" strike="noStrike">
                          <a:solidFill>
                            <a:srgbClr val="00B050"/>
                          </a:solidFill>
                          <a:effectLst/>
                          <a:latin typeface="Adani Regular" panose="02000503000000020004" pitchFamily="2"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sz="1100" b="0" i="0" u="none" strike="noStrike">
                          <a:solidFill>
                            <a:srgbClr val="00B050"/>
                          </a:solidFill>
                          <a:effectLst/>
                          <a:latin typeface="Adani Regular" panose="02000503000000020004" pitchFamily="2" charset="0"/>
                        </a:rPr>
                        <a:t>CLRA - Contract Labor Regulation &amp; Abolition Act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sz="1100" b="0" i="0" u="none" strike="noStrike">
                          <a:solidFill>
                            <a:srgbClr val="00B050"/>
                          </a:solidFill>
                          <a:effectLst/>
                          <a:latin typeface="Adani Regular" panose="02000503000000020004" pitchFamily="2" charset="0"/>
                        </a:rPr>
                        <a:t>Site IR Team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sz="1100" b="0" i="0" u="none" strike="noStrike">
                          <a:solidFill>
                            <a:srgbClr val="00B050"/>
                          </a:solidFill>
                          <a:effectLst/>
                          <a:latin typeface="Adani Regular" panose="02000503000000020004" pitchFamily="2" charset="0"/>
                        </a:rPr>
                        <a:t>Govt. of Gujrat</a:t>
                      </a:r>
                      <a:br>
                        <a:rPr lang="en-US" sz="1100" b="0" i="0" u="none" strike="noStrike">
                          <a:solidFill>
                            <a:srgbClr val="00B050"/>
                          </a:solidFill>
                          <a:effectLst/>
                          <a:latin typeface="Adani Regular" panose="02000503000000020004" pitchFamily="2" charset="0"/>
                        </a:rPr>
                      </a:br>
                      <a:r>
                        <a:rPr lang="en-US" sz="1100" b="0" i="0" u="none" strike="noStrike">
                          <a:solidFill>
                            <a:srgbClr val="00B050"/>
                          </a:solidFill>
                          <a:effectLst/>
                          <a:latin typeface="Adani Regular" panose="02000503000000020004" pitchFamily="2" charset="0"/>
                        </a:rPr>
                        <a:t>(Dept of Labor)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0" i="0" u="none" strike="noStrike">
                          <a:solidFill>
                            <a:srgbClr val="00B050"/>
                          </a:solidFill>
                          <a:effectLst/>
                          <a:latin typeface="Adani Regular" panose="02000503000000020004" pitchFamily="2" charset="0"/>
                        </a:rPr>
                        <a:t>25-Dec-25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0" i="0" u="none" strike="noStrike">
                          <a:solidFill>
                            <a:srgbClr val="00B050"/>
                          </a:solidFill>
                          <a:effectLst/>
                          <a:latin typeface="Adani Regular" panose="02000503000000020004" pitchFamily="2" charset="0"/>
                        </a:rPr>
                        <a:t>07-Feb-26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0" i="0" u="none" strike="noStrike">
                          <a:solidFill>
                            <a:srgbClr val="00B050"/>
                          </a:solidFill>
                          <a:effectLst/>
                          <a:latin typeface="Adani Regular" panose="02000503000000020004" pitchFamily="2" charset="0"/>
                        </a:rPr>
                        <a:t>25-Dec-25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00" b="0" i="0" u="none" strike="sngStrike">
                          <a:solidFill>
                            <a:srgbClr val="00B050"/>
                          </a:solidFill>
                          <a:effectLst/>
                          <a:latin typeface="Adani Regular" panose="02000503000000020004" pitchFamily="2" charset="0"/>
                        </a:rPr>
                        <a:t>07-Feb-26</a:t>
                      </a:r>
                    </a:p>
                    <a:p>
                      <a:pPr algn="ctr" fontAlgn="ctr">
                        <a:buNone/>
                      </a:pPr>
                      <a:r>
                        <a:rPr lang="en-US" sz="1100" b="0" i="0" u="none" strike="sngStrike">
                          <a:solidFill>
                            <a:srgbClr val="00B050"/>
                          </a:solidFill>
                          <a:effectLst/>
                          <a:latin typeface="Adani Regular" panose="02000503000000020004" pitchFamily="2" charset="0"/>
                        </a:rPr>
                        <a:t>30-Apr-26</a:t>
                      </a:r>
                    </a:p>
                    <a:p>
                      <a:pPr algn="ctr" fontAlgn="ctr">
                        <a:buNone/>
                      </a:pPr>
                      <a:r>
                        <a:rPr lang="en-US" sz="1100" b="0" i="0" u="none" strike="sngStrike">
                          <a:solidFill>
                            <a:srgbClr val="00B050"/>
                          </a:solidFill>
                          <a:effectLst/>
                          <a:latin typeface="Adani Regular" panose="02000503000000020004" pitchFamily="2" charset="0"/>
                        </a:rPr>
                        <a:t>May-26</a:t>
                      </a:r>
                    </a:p>
                    <a:p>
                      <a:pPr algn="ctr" fontAlgn="ctr">
                        <a:buNone/>
                      </a:pPr>
                      <a:r>
                        <a:rPr lang="en-US" sz="1050" b="0" i="0" u="none" strike="sngStrike">
                          <a:solidFill>
                            <a:srgbClr val="00B050"/>
                          </a:solidFill>
                          <a:effectLst/>
                          <a:latin typeface="Adani Regular" panose="02000503000000020004" pitchFamily="2" charset="0"/>
                        </a:rPr>
                        <a:t>Jun-26</a:t>
                      </a:r>
                    </a:p>
                    <a:p>
                      <a:pPr algn="ctr" fontAlgn="ctr">
                        <a:buNone/>
                      </a:pPr>
                      <a:r>
                        <a:rPr lang="en-US" sz="1050" b="0" i="0" u="none" strike="noStrike">
                          <a:solidFill>
                            <a:srgbClr val="00B050"/>
                          </a:solidFill>
                          <a:effectLst/>
                          <a:latin typeface="Adani Regular" panose="02000503000000020004" pitchFamily="2" charset="0"/>
                        </a:rPr>
                        <a:t>Jul-26</a:t>
                      </a:r>
                      <a:endParaRPr lang="en-US" sz="1400" b="0" i="0" u="none" strike="noStrike">
                        <a:solidFill>
                          <a:srgbClr val="00B050"/>
                        </a:solidFill>
                        <a:effectLst/>
                        <a:latin typeface="Adani Regular" panose="02000503000000020004" pitchFamily="2"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100" b="0" i="0" u="none" strike="noStrike">
                          <a:solidFill>
                            <a:srgbClr val="00B050"/>
                          </a:solidFill>
                          <a:effectLst/>
                          <a:latin typeface="Adani Regular" panose="02000503000000020004" pitchFamily="2" charset="0"/>
                        </a:rPr>
                        <a:t>Deemed Approved.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7455117"/>
                  </a:ext>
                </a:extLst>
              </a:tr>
              <a:tr h="995024">
                <a:tc>
                  <a:txBody>
                    <a:bodyPr/>
                    <a:lstStyle/>
                    <a:p>
                      <a:pPr algn="ctr" fontAlgn="ctr">
                        <a:buNone/>
                      </a:pPr>
                      <a:r>
                        <a:rPr lang="en-US" sz="1100" b="0" i="0" u="none" strike="noStrike">
                          <a:solidFill>
                            <a:srgbClr val="00B05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panose="02000503000000020004" pitchFamily="2" charset="0"/>
                        </a:rPr>
                        <a:t>Implementation Support Agreement (ISA)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panose="02000503000000020004" pitchFamily="2" charset="0"/>
                        </a:rPr>
                        <a:t>BD Team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panose="02000503000000020004" pitchFamily="2" charset="0"/>
                        </a:rPr>
                        <a:t>Internal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26-Dec-25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24-Jan-26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26-Dec-25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04-Aug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1100" b="0" i="0" u="none" strike="noStrike">
                          <a:solidFill>
                            <a:srgbClr val="00B050"/>
                          </a:solidFill>
                          <a:effectLst/>
                          <a:latin typeface="Adani Regular" panose="02000503000000020004" pitchFamily="2" charset="0"/>
                        </a:rPr>
                        <a:t>RPT approval received on 21-Jul.</a:t>
                      </a:r>
                    </a:p>
                    <a:p>
                      <a:pPr algn="l" fontAlgn="ctr">
                        <a:buNone/>
                      </a:pPr>
                      <a:r>
                        <a:rPr lang="en-US" sz="1100" b="0" i="0" u="none" strike="noStrike">
                          <a:solidFill>
                            <a:srgbClr val="00B050"/>
                          </a:solidFill>
                          <a:effectLst/>
                          <a:latin typeface="Adani Regular" panose="02000503000000020004" pitchFamily="2" charset="0"/>
                        </a:rPr>
                        <a:t>ISA signed-off on 04-Aug.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110694427"/>
                  </a:ext>
                </a:extLst>
              </a:tr>
              <a:tr h="1366329">
                <a:tc>
                  <a:txBody>
                    <a:bodyPr/>
                    <a:lstStyle/>
                    <a:p>
                      <a:pPr algn="ctr" fontAlgn="ctr">
                        <a:buNone/>
                      </a:pPr>
                      <a:r>
                        <a:rPr lang="en-US" sz="1100" b="0" i="0" u="none" strike="noStrike">
                          <a:solidFill>
                            <a:srgbClr val="00B050"/>
                          </a:solidFill>
                          <a:effectLst/>
                          <a:latin typeface="Adani Regular" panose="02000503000000020004" pitchFamily="2" charset="0"/>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panose="02000503000000020004" pitchFamily="2" charset="0"/>
                        </a:rPr>
                        <a:t>Fire Safety Plan Approval (FSPA)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panose="02000503000000020004" pitchFamily="2" charset="0"/>
                        </a:rPr>
                        <a:t>Project Team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panose="02000503000000020004" pitchFamily="2" charset="0"/>
                        </a:rPr>
                        <a:t>Regional Fire Officer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01-Jan-26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15-Feb-26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01-Jan-26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a:rPr>
                        <a:t>-NA-</a:t>
                      </a:r>
                      <a:endParaRPr lang="en-US" sz="1400" b="0" i="0" u="none" strike="noStrike">
                        <a:solidFill>
                          <a:srgbClr val="00B050"/>
                        </a:solidFill>
                        <a:effectLst/>
                        <a:latin typeface="Adani Regular"/>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1100" b="0" i="0" u="none" strike="noStrike">
                          <a:solidFill>
                            <a:srgbClr val="00B050"/>
                          </a:solidFill>
                          <a:effectLst/>
                          <a:latin typeface="Adani Regular"/>
                        </a:rPr>
                        <a:t>CPO's in-person meeting with Fire officer at their Rajkot office conducted on 25-Jun, FSPA and Fire NOC will not be required.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24186005"/>
                  </a:ext>
                </a:extLst>
              </a:tr>
              <a:tr h="1176268">
                <a:tc>
                  <a:txBody>
                    <a:bodyPr/>
                    <a:lstStyle/>
                    <a:p>
                      <a:pPr algn="ctr" fontAlgn="ctr">
                        <a:buNone/>
                      </a:pPr>
                      <a:r>
                        <a:rPr lang="en-US" sz="1100" b="0" i="0" u="none" strike="noStrike">
                          <a:solidFill>
                            <a:srgbClr val="00B050"/>
                          </a:solidFill>
                          <a:effectLst/>
                          <a:latin typeface="Adani Regular" panose="02000503000000020004" pitchFamily="2" charset="0"/>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panose="02000503000000020004" pitchFamily="2" charset="0"/>
                        </a:rPr>
                        <a:t>Project Import Registration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panose="02000503000000020004" pitchFamily="2" charset="0"/>
                        </a:rPr>
                        <a:t>TC Team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panose="02000503000000020004" pitchFamily="2" charset="0"/>
                        </a:rPr>
                        <a:t>Commissioner of Customs, Kandla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24-Jan-26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22-Feb-26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24-Jan-26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10-Aug</a:t>
                      </a:r>
                      <a:endParaRPr lang="en-US" sz="1100" b="0" i="0" u="none" strike="noStrike">
                        <a:solidFill>
                          <a:srgbClr val="00B050"/>
                        </a:solidFill>
                        <a:effectLst/>
                        <a:latin typeface="Adani Regular" panose="02000503000000020004" pitchFamily="2"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1100" b="0" i="0" u="none" strike="noStrike">
                          <a:solidFill>
                            <a:srgbClr val="00B050"/>
                          </a:solidFill>
                          <a:effectLst/>
                          <a:latin typeface="Adani Regular" panose="02000503000000020004" pitchFamily="2" charset="0"/>
                        </a:rPr>
                        <a:t>Application submitted on 05-Jun.</a:t>
                      </a:r>
                    </a:p>
                    <a:p>
                      <a:pPr algn="l" fontAlgn="ctr">
                        <a:buNone/>
                      </a:pPr>
                      <a:r>
                        <a:rPr lang="en-US" sz="1100" b="0" i="0" u="none" strike="noStrike">
                          <a:solidFill>
                            <a:srgbClr val="00B050"/>
                          </a:solidFill>
                          <a:effectLst/>
                          <a:latin typeface="Adani Regular" panose="02000503000000020004" pitchFamily="2" charset="0"/>
                        </a:rPr>
                        <a:t>Approval received on 10-Aug.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267310287"/>
                  </a:ext>
                </a:extLst>
              </a:tr>
              <a:tr h="1032950">
                <a:tc>
                  <a:txBody>
                    <a:bodyPr/>
                    <a:lstStyle/>
                    <a:p>
                      <a:pPr algn="ctr" fontAlgn="ctr">
                        <a:buNone/>
                      </a:pPr>
                      <a:r>
                        <a:rPr lang="en-US" sz="1100" b="0" i="0" u="none" strike="noStrike">
                          <a:solidFill>
                            <a:srgbClr val="00B050"/>
                          </a:solidFill>
                          <a:effectLst/>
                          <a:latin typeface="Adani Regular"/>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a:rPr>
                        <a:t>Project Insurance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a:rPr>
                        <a:t>Group Insurance Team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a:rPr>
                        <a:t>-N.A.-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a:rPr>
                        <a:t>24-Feb-26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B050"/>
                          </a:solidFill>
                          <a:effectLst/>
                          <a:latin typeface="Adani Regular" panose="02000503000000020004" pitchFamily="2" charset="0"/>
                        </a:rPr>
                        <a:t>19-Aug</a:t>
                      </a:r>
                      <a:endParaRPr lang="en-US" sz="1100" b="0" i="0" u="none" strike="noStrike">
                        <a:solidFill>
                          <a:srgbClr val="00B050"/>
                        </a:solidFill>
                        <a:effectLst/>
                        <a:latin typeface="Adani Regular"/>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1100" b="0" i="0" u="none" strike="noStrike">
                          <a:solidFill>
                            <a:srgbClr val="00B050"/>
                          </a:solidFill>
                          <a:effectLst/>
                          <a:latin typeface="Adani Regular" panose="02000503000000020004" pitchFamily="2" charset="0"/>
                        </a:rPr>
                        <a:t>Payment completed. </a:t>
                      </a:r>
                    </a:p>
                    <a:p>
                      <a:pPr algn="l" fontAlgn="ctr">
                        <a:buNone/>
                      </a:pPr>
                      <a:r>
                        <a:rPr lang="en-US" sz="1100" b="0" i="0" u="none" strike="noStrike">
                          <a:solidFill>
                            <a:srgbClr val="00B050"/>
                          </a:solidFill>
                          <a:effectLst/>
                          <a:latin typeface="Adani Regular" panose="02000503000000020004" pitchFamily="2" charset="0"/>
                        </a:rPr>
                        <a:t>NFA approved on 08-Aug. </a:t>
                      </a:r>
                    </a:p>
                    <a:p>
                      <a:pPr algn="l" fontAlgn="ctr">
                        <a:buNone/>
                      </a:pPr>
                      <a:r>
                        <a:rPr lang="en-US" sz="1100" b="0" i="0" u="none" strike="noStrike">
                          <a:solidFill>
                            <a:srgbClr val="00B050"/>
                          </a:solidFill>
                          <a:effectLst/>
                          <a:latin typeface="Adani Regular" panose="02000503000000020004" pitchFamily="2" charset="0"/>
                        </a:rPr>
                        <a:t>Policy cover letter issued dated 19-Aug.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788893011"/>
                  </a:ext>
                </a:extLst>
              </a:tr>
            </a:tbl>
          </a:graphicData>
        </a:graphic>
      </p:graphicFrame>
      <p:sp>
        <p:nvSpPr>
          <p:cNvPr id="2" name="Arrow: Left 1">
            <a:hlinkClick r:id="rId3" action="ppaction://hlinksldjump"/>
            <a:extLst>
              <a:ext uri="{FF2B5EF4-FFF2-40B4-BE49-F238E27FC236}">
                <a16:creationId xmlns:a16="http://schemas.microsoft.com/office/drawing/2014/main" id="{AA4E0E22-0C98-6AB8-848F-6863383C1B64}"/>
              </a:ext>
            </a:extLst>
          </p:cNvPr>
          <p:cNvSpPr/>
          <p:nvPr/>
        </p:nvSpPr>
        <p:spPr>
          <a:xfrm>
            <a:off x="10927070" y="6702539"/>
            <a:ext cx="237764" cy="155461"/>
          </a:xfrm>
          <a:prstGeom prst="lef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51783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88656-B61F-6D92-48FC-992B3790B261}"/>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BAF4F027-3EBE-E731-59F4-A413F50EFDA7}"/>
              </a:ext>
            </a:extLst>
          </p:cNvPr>
          <p:cNvGraphicFramePr>
            <a:graphicFrameLocks noGrp="1"/>
          </p:cNvGraphicFramePr>
          <p:nvPr>
            <p:extLst>
              <p:ext uri="{D42A27DB-BD31-4B8C-83A1-F6EECF244321}">
                <p14:modId xmlns:p14="http://schemas.microsoft.com/office/powerpoint/2010/main" val="2380164670"/>
              </p:ext>
            </p:extLst>
          </p:nvPr>
        </p:nvGraphicFramePr>
        <p:xfrm>
          <a:off x="87086" y="559431"/>
          <a:ext cx="11962040" cy="6076501"/>
        </p:xfrm>
        <a:graphic>
          <a:graphicData uri="http://schemas.openxmlformats.org/drawingml/2006/table">
            <a:tbl>
              <a:tblPr firstRow="1" bandRow="1">
                <a:tableStyleId>{5C22544A-7EE6-4342-B048-85BDC9FD1C3A}</a:tableStyleId>
              </a:tblPr>
              <a:tblGrid>
                <a:gridCol w="447730">
                  <a:extLst>
                    <a:ext uri="{9D8B030D-6E8A-4147-A177-3AD203B41FA5}">
                      <a16:colId xmlns:a16="http://schemas.microsoft.com/office/drawing/2014/main" val="3099302020"/>
                    </a:ext>
                  </a:extLst>
                </a:gridCol>
                <a:gridCol w="2014711">
                  <a:extLst>
                    <a:ext uri="{9D8B030D-6E8A-4147-A177-3AD203B41FA5}">
                      <a16:colId xmlns:a16="http://schemas.microsoft.com/office/drawing/2014/main" val="1830319299"/>
                    </a:ext>
                  </a:extLst>
                </a:gridCol>
                <a:gridCol w="1515298">
                  <a:extLst>
                    <a:ext uri="{9D8B030D-6E8A-4147-A177-3AD203B41FA5}">
                      <a16:colId xmlns:a16="http://schemas.microsoft.com/office/drawing/2014/main" val="1049725276"/>
                    </a:ext>
                  </a:extLst>
                </a:gridCol>
                <a:gridCol w="1334701">
                  <a:extLst>
                    <a:ext uri="{9D8B030D-6E8A-4147-A177-3AD203B41FA5}">
                      <a16:colId xmlns:a16="http://schemas.microsoft.com/office/drawing/2014/main" val="3717742423"/>
                    </a:ext>
                  </a:extLst>
                </a:gridCol>
                <a:gridCol w="1015601">
                  <a:extLst>
                    <a:ext uri="{9D8B030D-6E8A-4147-A177-3AD203B41FA5}">
                      <a16:colId xmlns:a16="http://schemas.microsoft.com/office/drawing/2014/main" val="175036882"/>
                    </a:ext>
                  </a:extLst>
                </a:gridCol>
                <a:gridCol w="1015601">
                  <a:extLst>
                    <a:ext uri="{9D8B030D-6E8A-4147-A177-3AD203B41FA5}">
                      <a16:colId xmlns:a16="http://schemas.microsoft.com/office/drawing/2014/main" val="2696290855"/>
                    </a:ext>
                  </a:extLst>
                </a:gridCol>
                <a:gridCol w="1015601">
                  <a:extLst>
                    <a:ext uri="{9D8B030D-6E8A-4147-A177-3AD203B41FA5}">
                      <a16:colId xmlns:a16="http://schemas.microsoft.com/office/drawing/2014/main" val="2900503877"/>
                    </a:ext>
                  </a:extLst>
                </a:gridCol>
                <a:gridCol w="1015601">
                  <a:extLst>
                    <a:ext uri="{9D8B030D-6E8A-4147-A177-3AD203B41FA5}">
                      <a16:colId xmlns:a16="http://schemas.microsoft.com/office/drawing/2014/main" val="769568464"/>
                    </a:ext>
                  </a:extLst>
                </a:gridCol>
                <a:gridCol w="2587196">
                  <a:extLst>
                    <a:ext uri="{9D8B030D-6E8A-4147-A177-3AD203B41FA5}">
                      <a16:colId xmlns:a16="http://schemas.microsoft.com/office/drawing/2014/main" val="3175708860"/>
                    </a:ext>
                  </a:extLst>
                </a:gridCol>
              </a:tblGrid>
              <a:tr h="577575">
                <a:tc>
                  <a:txBody>
                    <a:bodyPr/>
                    <a:lstStyle/>
                    <a:p>
                      <a:pPr algn="ctr" fontAlgn="ctr">
                        <a:buNone/>
                      </a:pPr>
                      <a:r>
                        <a:rPr lang="en-US" sz="1200" b="1" i="0" u="none" strike="noStrike">
                          <a:solidFill>
                            <a:schemeClr val="bg1"/>
                          </a:solidFill>
                          <a:effectLst/>
                          <a:latin typeface="Adani Regular" panose="02000503000000020004" pitchFamily="2" charset="0"/>
                        </a:rPr>
                        <a:t>SN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Activity Name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Responsible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Approval Authority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Baseline Start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Baseline Finish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Actual/ Forecast Start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Actual/ Forecast Finish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a:solidFill>
                            <a:schemeClr val="bg1"/>
                          </a:solidFill>
                          <a:effectLst/>
                          <a:latin typeface="Adani Regular" panose="02000503000000020004" pitchFamily="2" charset="0"/>
                        </a:rPr>
                        <a:t>Remarks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extLst>
                  <a:ext uri="{0D108BD9-81ED-4DB2-BD59-A6C34878D82A}">
                    <a16:rowId xmlns:a16="http://schemas.microsoft.com/office/drawing/2014/main" val="1597099999"/>
                  </a:ext>
                </a:extLst>
              </a:tr>
              <a:tr h="1571082">
                <a:tc>
                  <a:txBody>
                    <a:bodyPr/>
                    <a:lstStyle/>
                    <a:p>
                      <a:pPr algn="ctr" fontAlgn="ctr">
                        <a:buNone/>
                      </a:pPr>
                      <a:r>
                        <a:rPr lang="en-US" sz="1100" b="0" i="0" u="none" strike="noStrike">
                          <a:solidFill>
                            <a:srgbClr val="000000"/>
                          </a:solidFill>
                          <a:effectLst/>
                          <a:latin typeface="Adani Regular" panose="02000503000000020004" pitchFamily="2"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chemeClr val="tx1"/>
                          </a:solidFill>
                          <a:effectLst/>
                          <a:latin typeface="Adani Regular" panose="02000503000000020004" pitchFamily="2" charset="0"/>
                        </a:rPr>
                        <a:t>Approval of Grid Connectivity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chemeClr val="tx1"/>
                          </a:solidFill>
                          <a:effectLst/>
                          <a:latin typeface="Adani Regular" panose="02000503000000020004" pitchFamily="2" charset="0"/>
                        </a:rPr>
                        <a:t>Asset Commissioning + BD HO Team and Delhi Office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chemeClr val="tx1"/>
                          </a:solidFill>
                          <a:effectLst/>
                          <a:latin typeface="Adani Regular" panose="02000503000000020004" pitchFamily="2" charset="0"/>
                        </a:rPr>
                        <a:t>CTU</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chemeClr val="tx1"/>
                          </a:solidFill>
                          <a:effectLst/>
                          <a:latin typeface="Adani Regular" panose="02000503000000020004" pitchFamily="2" charset="0"/>
                        </a:rPr>
                        <a:t>30-Dec-25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chemeClr val="tx1"/>
                          </a:solidFill>
                          <a:effectLst/>
                          <a:latin typeface="Adani Regular" panose="02000503000000020004" pitchFamily="2" charset="0"/>
                        </a:rPr>
                        <a:t>09-Jan-26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05-Dec-25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chemeClr val="tx1"/>
                          </a:solidFill>
                          <a:effectLst/>
                          <a:latin typeface="Adani Regular" panose="02000503000000020004" pitchFamily="2" charset="0"/>
                        </a:rPr>
                        <a:t>10-Sep-26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b="0" i="0" u="none" strike="noStrike">
                          <a:solidFill>
                            <a:srgbClr val="00B050"/>
                          </a:solidFill>
                          <a:effectLst/>
                          <a:latin typeface="Adani Regular" panose="02000503000000020004" pitchFamily="2" charset="0"/>
                        </a:rPr>
                        <a:t>PSS09:In-principal grant received on 20-Jul. Final grant received on 14-Aug.</a:t>
                      </a:r>
                    </a:p>
                    <a:p>
                      <a:pPr algn="l" fontAlgn="ctr">
                        <a:buNone/>
                      </a:pPr>
                      <a:r>
                        <a:rPr lang="en-US" sz="1100" b="0" i="0" u="none" strike="noStrike">
                          <a:solidFill>
                            <a:srgbClr val="00B050"/>
                          </a:solidFill>
                          <a:effectLst/>
                          <a:latin typeface="Adani Regular" panose="02000503000000020004" pitchFamily="2" charset="0"/>
                        </a:rPr>
                        <a:t>PSS08B: In-principal grant received on 23-Jul. </a:t>
                      </a:r>
                    </a:p>
                    <a:p>
                      <a:pPr algn="l" fontAlgn="ctr">
                        <a:buNone/>
                      </a:pPr>
                      <a:r>
                        <a:rPr lang="en-US" sz="1100" b="0" i="0" u="none" strike="noStrike">
                          <a:solidFill>
                            <a:srgbClr val="00B050"/>
                          </a:solidFill>
                          <a:effectLst/>
                          <a:latin typeface="Adani Regular" panose="02000503000000020004" pitchFamily="2" charset="0"/>
                        </a:rPr>
                        <a:t>Final grant received on 21-Aug.</a:t>
                      </a:r>
                    </a:p>
                    <a:p>
                      <a:pPr algn="l" fontAlgn="ctr">
                        <a:buNone/>
                      </a:pPr>
                      <a:r>
                        <a:rPr lang="en-US" sz="1100" b="0" i="0" u="none" strike="noStrike">
                          <a:solidFill>
                            <a:schemeClr val="tx1"/>
                          </a:solidFill>
                          <a:effectLst/>
                          <a:latin typeface="Adani Regular" panose="02000503000000020004" pitchFamily="2" charset="0"/>
                        </a:rPr>
                        <a:t>PSS05B: </a:t>
                      </a:r>
                      <a:r>
                        <a:rPr lang="en-US" sz="1100" b="0" i="0" u="none" strike="noStrike">
                          <a:solidFill>
                            <a:srgbClr val="00B050"/>
                          </a:solidFill>
                          <a:effectLst/>
                          <a:latin typeface="Adani Regular" panose="02000503000000020004" pitchFamily="2" charset="0"/>
                        </a:rPr>
                        <a:t>In-principal grant received on 23-Jul. (1 of 2). Final grant received on 21-Aug.</a:t>
                      </a:r>
                    </a:p>
                    <a:p>
                      <a:pPr algn="l" fontAlgn="ctr">
                        <a:buNone/>
                      </a:pPr>
                      <a:r>
                        <a:rPr lang="en-US" sz="1100" b="0" i="0" u="none" strike="noStrike">
                          <a:solidFill>
                            <a:schemeClr val="tx1"/>
                          </a:solidFill>
                          <a:effectLst/>
                          <a:latin typeface="Adani Regular" panose="02000503000000020004" pitchFamily="2" charset="0"/>
                        </a:rPr>
                        <a:t>Balance approval expected by 10-Sep.</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60904576"/>
                  </a:ext>
                </a:extLst>
              </a:tr>
              <a:tr h="1744551">
                <a:tc>
                  <a:txBody>
                    <a:bodyPr/>
                    <a:lstStyle/>
                    <a:p>
                      <a:pPr algn="ctr" fontAlgn="ctr">
                        <a:buNone/>
                      </a:pPr>
                      <a:r>
                        <a:rPr lang="en-US" sz="1100" b="0" i="0" u="none" strike="noStrike">
                          <a:solidFill>
                            <a:srgbClr val="000000"/>
                          </a:solidFill>
                          <a:effectLst/>
                          <a:latin typeface="Adani Regular" panose="02000503000000020004" pitchFamily="2" charset="0"/>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Metering Scheme approval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Engineering + Asset Commissioning Team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RLDC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26-Apr-26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25-May-26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1100" b="0" i="0" u="none" strike="sngStrike">
                          <a:solidFill>
                            <a:srgbClr val="000000"/>
                          </a:solidFill>
                          <a:effectLst/>
                          <a:latin typeface="Adani Regular" panose="02000503000000020004" pitchFamily="2" charset="0"/>
                        </a:rPr>
                        <a:t>30-Apr-26</a:t>
                      </a:r>
                    </a:p>
                    <a:p>
                      <a:pPr algn="ctr" fontAlgn="ctr">
                        <a:buNone/>
                      </a:pPr>
                      <a:r>
                        <a:rPr lang="en-US" sz="1100" b="0" i="0" u="none" strike="sngStrike">
                          <a:solidFill>
                            <a:srgbClr val="000000"/>
                          </a:solidFill>
                          <a:effectLst/>
                          <a:latin typeface="Adani Regular" panose="02000503000000020004" pitchFamily="2" charset="0"/>
                        </a:rPr>
                        <a:t>30-May-26</a:t>
                      </a:r>
                    </a:p>
                    <a:p>
                      <a:pPr algn="ctr" fontAlgn="ctr">
                        <a:buNone/>
                      </a:pPr>
                      <a:r>
                        <a:rPr lang="en-US" sz="1100" b="0" i="0" u="none" strike="sngStrike">
                          <a:solidFill>
                            <a:srgbClr val="000000"/>
                          </a:solidFill>
                          <a:effectLst/>
                          <a:latin typeface="Adani Regular" panose="02000503000000020004" pitchFamily="2" charset="0"/>
                        </a:rPr>
                        <a:t>20-Jun-26</a:t>
                      </a:r>
                    </a:p>
                    <a:p>
                      <a:pPr algn="ctr" fontAlgn="ctr">
                        <a:buNone/>
                      </a:pPr>
                      <a:r>
                        <a:rPr lang="en-US" sz="1100" b="0" i="0" u="none" strike="noStrike">
                          <a:solidFill>
                            <a:srgbClr val="00B050"/>
                          </a:solidFill>
                          <a:effectLst/>
                          <a:latin typeface="Adani Regular" panose="02000503000000020004" pitchFamily="2" charset="0"/>
                        </a:rPr>
                        <a:t>20-Jul-26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0" i="0" u="none" strike="sngStrike">
                          <a:solidFill>
                            <a:srgbClr val="000000"/>
                          </a:solidFill>
                          <a:effectLst/>
                          <a:latin typeface="Adani Regular" panose="02000503000000020004" pitchFamily="2" charset="0"/>
                        </a:rPr>
                        <a:t>25-May-26</a:t>
                      </a:r>
                    </a:p>
                    <a:p>
                      <a:pPr algn="ctr" fontAlgn="ctr">
                        <a:buNone/>
                      </a:pPr>
                      <a:r>
                        <a:rPr lang="en-US" sz="1100" b="0" i="0" u="none" strike="sngStrike">
                          <a:solidFill>
                            <a:srgbClr val="000000"/>
                          </a:solidFill>
                          <a:effectLst/>
                          <a:latin typeface="Adani Regular" panose="02000503000000020004" pitchFamily="2" charset="0"/>
                        </a:rPr>
                        <a:t>30-Jun-26</a:t>
                      </a:r>
                    </a:p>
                    <a:p>
                      <a:pPr algn="ctr" fontAlgn="ctr">
                        <a:buNone/>
                      </a:pPr>
                      <a:r>
                        <a:rPr lang="en-US" sz="1100" b="0" i="0" u="none" strike="sngStrike">
                          <a:solidFill>
                            <a:srgbClr val="000000"/>
                          </a:solidFill>
                          <a:effectLst/>
                          <a:latin typeface="Adani Regular" panose="02000503000000020004" pitchFamily="2" charset="0"/>
                        </a:rPr>
                        <a:t>15-Jul-26</a:t>
                      </a:r>
                    </a:p>
                    <a:p>
                      <a:pPr algn="ctr" fontAlgn="ctr">
                        <a:buNone/>
                      </a:pPr>
                      <a:r>
                        <a:rPr lang="en-US" sz="1100" b="0" i="0" u="none" strike="sngStrike">
                          <a:solidFill>
                            <a:srgbClr val="000000"/>
                          </a:solidFill>
                          <a:effectLst/>
                          <a:latin typeface="Adani Regular" panose="02000503000000020004" pitchFamily="2" charset="0"/>
                        </a:rPr>
                        <a:t>10-Aug-26</a:t>
                      </a:r>
                    </a:p>
                    <a:p>
                      <a:pPr algn="ctr" fontAlgn="ctr">
                        <a:buNone/>
                      </a:pPr>
                      <a:r>
                        <a:rPr lang="en-US" sz="1100" b="0" i="0" u="none" strike="noStrike">
                          <a:solidFill>
                            <a:srgbClr val="000000"/>
                          </a:solidFill>
                          <a:effectLst/>
                          <a:latin typeface="Adani Regular" panose="02000503000000020004" pitchFamily="2" charset="0"/>
                        </a:rPr>
                        <a:t>11-Sep-26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b="0" i="0" u="none" strike="noStrike">
                          <a:solidFill>
                            <a:schemeClr val="tx1"/>
                          </a:solidFill>
                          <a:effectLst/>
                          <a:latin typeface="Adani Regular" panose="02000503000000020004" pitchFamily="2" charset="0"/>
                        </a:rPr>
                        <a:t>PSS09</a:t>
                      </a:r>
                      <a:r>
                        <a:rPr lang="en-US" sz="1100" b="0" i="0" u="none" strike="noStrike">
                          <a:solidFill>
                            <a:srgbClr val="00B050"/>
                          </a:solidFill>
                          <a:effectLst/>
                          <a:latin typeface="Adani Regular" panose="02000503000000020004" pitchFamily="2" charset="0"/>
                        </a:rPr>
                        <a:t>: </a:t>
                      </a:r>
                      <a:r>
                        <a:rPr lang="en-US" sz="1100" b="0" i="0" u="none" strike="noStrike">
                          <a:solidFill>
                            <a:schemeClr val="tx1"/>
                          </a:solidFill>
                          <a:effectLst/>
                          <a:latin typeface="Adani Regular" panose="02000503000000020004" pitchFamily="2" charset="0"/>
                        </a:rPr>
                        <a:t>Metering scheme approval request submitted on 22-Jul.</a:t>
                      </a:r>
                    </a:p>
                    <a:p>
                      <a:pPr algn="l" fontAlgn="ctr">
                        <a:buNone/>
                      </a:pPr>
                      <a:r>
                        <a:rPr lang="en-US" sz="1100" b="0" i="0" u="none" strike="noStrike">
                          <a:solidFill>
                            <a:schemeClr val="tx1"/>
                          </a:solidFill>
                          <a:effectLst/>
                          <a:latin typeface="Adani Regular" panose="02000503000000020004" pitchFamily="2" charset="0"/>
                        </a:rPr>
                        <a:t>Expected approval by 11-Sep</a:t>
                      </a:r>
                      <a:r>
                        <a:rPr lang="en-US" sz="1100" b="0" i="0" u="none" strike="noStrike">
                          <a:solidFill>
                            <a:srgbClr val="00B050"/>
                          </a:solidFill>
                          <a:effectLst/>
                          <a:latin typeface="Adani Regular" panose="02000503000000020004" pitchFamily="2" charset="0"/>
                        </a:rPr>
                        <a:t>.</a:t>
                      </a:r>
                    </a:p>
                    <a:p>
                      <a:pPr algn="l" fontAlgn="ctr">
                        <a:buNone/>
                      </a:pPr>
                      <a:r>
                        <a:rPr lang="en-US" sz="1100" b="0" i="0" u="none" strike="noStrike">
                          <a:solidFill>
                            <a:schemeClr val="tx1"/>
                          </a:solidFill>
                          <a:effectLst/>
                          <a:latin typeface="Adani Regular" panose="02000503000000020004" pitchFamily="2" charset="0"/>
                        </a:rPr>
                        <a:t>PSS08B: Metering scheme application to be submitted after SLD update for MW.</a:t>
                      </a:r>
                    </a:p>
                    <a:p>
                      <a:pPr algn="l" fontAlgn="ctr">
                        <a:buNone/>
                      </a:pPr>
                      <a:r>
                        <a:rPr lang="en-US" sz="1100" b="0" i="0" u="none" strike="noStrike">
                          <a:solidFill>
                            <a:schemeClr val="tx1"/>
                          </a:solidFill>
                          <a:effectLst/>
                          <a:latin typeface="Adani Regular" panose="02000503000000020004" pitchFamily="2" charset="0"/>
                        </a:rPr>
                        <a:t>PSS05B: Metering scheme approval to be initiated after balance application in-principal connectivity approval.</a:t>
                      </a:r>
                    </a:p>
                    <a:p>
                      <a:pPr algn="l" fontAlgn="ctr">
                        <a:buNone/>
                      </a:pPr>
                      <a:endParaRPr lang="en-US" sz="1100" b="0" i="0" u="none" strike="noStrike">
                        <a:solidFill>
                          <a:srgbClr val="000000"/>
                        </a:solidFill>
                        <a:effectLst/>
                        <a:latin typeface="Adani Regular" panose="02000503000000020004" pitchFamily="2"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062496606"/>
                  </a:ext>
                </a:extLst>
              </a:tr>
              <a:tr h="877204">
                <a:tc>
                  <a:txBody>
                    <a:bodyPr/>
                    <a:lstStyle/>
                    <a:p>
                      <a:pPr algn="ctr" fontAlgn="ctr">
                        <a:buNone/>
                      </a:pPr>
                      <a:r>
                        <a:rPr lang="en-US" sz="1100" b="0" i="0" u="none" strike="noStrike">
                          <a:solidFill>
                            <a:srgbClr val="000000"/>
                          </a:solidFill>
                          <a:effectLst/>
                          <a:latin typeface="Adani Regular" panose="02000503000000020004" pitchFamily="2"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Adani Regular" panose="02000503000000020004" pitchFamily="2" charset="0"/>
                        </a:rPr>
                        <a:t>Connectivity Agreement</a:t>
                      </a:r>
                    </a:p>
                    <a:p>
                      <a:pPr algn="ctr" rtl="0" fontAlgn="ctr">
                        <a:buNone/>
                      </a:pPr>
                      <a:r>
                        <a:rPr lang="en-US" sz="1100" b="0" i="0" u="none" strike="noStrike">
                          <a:solidFill>
                            <a:srgbClr val="000000"/>
                          </a:solidFill>
                          <a:effectLst/>
                          <a:latin typeface="Adani Regular" panose="02000503000000020004" pitchFamily="2" charset="0"/>
                        </a:rPr>
                        <a:t>(Con VI)</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Adani Regular" panose="02000503000000020004" pitchFamily="2" charset="0"/>
                        </a:rPr>
                        <a:t>Asset Commissioning, Engineering and Delhi Office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Adani Regular" panose="02000503000000020004" pitchFamily="2" charset="0"/>
                        </a:rPr>
                        <a:t>CTU &amp; WRLDC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dani Regular" panose="02000503000000020004" pitchFamily="2" charset="0"/>
                        </a:rPr>
                        <a:t>09-Apr-26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dani Regular" panose="02000503000000020004" pitchFamily="2" charset="0"/>
                        </a:rPr>
                        <a:t>18-May-26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0" i="0" u="none" strike="sngStrike">
                          <a:solidFill>
                            <a:srgbClr val="000000"/>
                          </a:solidFill>
                          <a:effectLst/>
                          <a:latin typeface="Adani Regular" panose="02000503000000020004" pitchFamily="2" charset="0"/>
                        </a:rPr>
                        <a:t>09-Apr  20-Apr</a:t>
                      </a:r>
                    </a:p>
                    <a:p>
                      <a:pPr algn="ctr" fontAlgn="ctr">
                        <a:buNone/>
                      </a:pPr>
                      <a:r>
                        <a:rPr lang="en-US" sz="1100" b="0" i="0" u="none" strike="sngStrike">
                          <a:solidFill>
                            <a:srgbClr val="000000"/>
                          </a:solidFill>
                          <a:effectLst/>
                          <a:latin typeface="Adani Regular"/>
                        </a:rPr>
                        <a:t>27-Jun-26</a:t>
                      </a:r>
                    </a:p>
                    <a:p>
                      <a:pPr algn="ctr" fontAlgn="ctr">
                        <a:buNone/>
                      </a:pPr>
                      <a:r>
                        <a:rPr lang="en-US" sz="1100" b="0" i="0" u="none" strike="noStrike">
                          <a:solidFill>
                            <a:srgbClr val="00B050"/>
                          </a:solidFill>
                          <a:effectLst/>
                          <a:latin typeface="Adani Regular"/>
                        </a:rPr>
                        <a:t>16-Jun-26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0" i="0" u="none" strike="sngStrike">
                          <a:solidFill>
                            <a:srgbClr val="000000"/>
                          </a:solidFill>
                          <a:effectLst/>
                          <a:latin typeface="Adani Regular" panose="02000503000000020004" pitchFamily="2" charset="0"/>
                        </a:rPr>
                        <a:t>18-May-26</a:t>
                      </a:r>
                    </a:p>
                    <a:p>
                      <a:pPr algn="ctr" fontAlgn="ctr">
                        <a:buNone/>
                      </a:pPr>
                      <a:r>
                        <a:rPr lang="en-US" sz="1100" b="0" i="0" u="none" strike="sngStrike">
                          <a:solidFill>
                            <a:srgbClr val="000000"/>
                          </a:solidFill>
                          <a:effectLst/>
                          <a:latin typeface="Adani Regular"/>
                        </a:rPr>
                        <a:t>25-Jul-26 to</a:t>
                      </a:r>
                    </a:p>
                    <a:p>
                      <a:pPr algn="ctr" fontAlgn="ctr">
                        <a:buNone/>
                      </a:pPr>
                      <a:r>
                        <a:rPr lang="en-US" sz="1100" b="0" i="0" u="none" strike="sngStrike">
                          <a:solidFill>
                            <a:srgbClr val="000000"/>
                          </a:solidFill>
                          <a:effectLst/>
                          <a:latin typeface="Adani Regular" panose="02000503000000020004" pitchFamily="2" charset="0"/>
                        </a:rPr>
                        <a:t>26-Aug-26</a:t>
                      </a:r>
                    </a:p>
                    <a:p>
                      <a:pPr algn="ctr" fontAlgn="ctr">
                        <a:buNone/>
                      </a:pPr>
                      <a:r>
                        <a:rPr lang="en-US" sz="1100" b="0" i="0" u="none" strike="sngStrike">
                          <a:solidFill>
                            <a:srgbClr val="000000"/>
                          </a:solidFill>
                          <a:effectLst/>
                          <a:latin typeface="Adani Regular" panose="02000503000000020004" pitchFamily="2" charset="0"/>
                        </a:rPr>
                        <a:t>14-Aug-26</a:t>
                      </a:r>
                    </a:p>
                    <a:p>
                      <a:pPr algn="ctr" fontAlgn="ctr">
                        <a:buNone/>
                      </a:pPr>
                      <a:r>
                        <a:rPr lang="en-US" sz="1100" b="0" i="0" u="none" strike="noStrike">
                          <a:solidFill>
                            <a:srgbClr val="000000"/>
                          </a:solidFill>
                          <a:effectLst/>
                          <a:latin typeface="Adani Regular" panose="02000503000000020004" pitchFamily="2" charset="0"/>
                        </a:rPr>
                        <a:t>25-Oct-26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Adani Regular"/>
                        </a:rPr>
                        <a:t>Priority wise: PSS-08(B) &gt; PSS-09 &gt; PSS-05(B)</a:t>
                      </a:r>
                      <a:endParaRPr lang="en-US" sz="1100" b="0" i="0" u="none" strike="noStrike">
                        <a:solidFill>
                          <a:srgbClr val="000000"/>
                        </a:solidFill>
                        <a:effectLst/>
                        <a:latin typeface="Adani Regular" panose="02000503000000020004" pitchFamily="2"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611682"/>
                  </a:ext>
                </a:extLst>
              </a:tr>
              <a:tr h="775824">
                <a:tc>
                  <a:txBody>
                    <a:bodyPr/>
                    <a:lstStyle/>
                    <a:p>
                      <a:pPr algn="ctr" fontAlgn="ctr">
                        <a:buNone/>
                      </a:pPr>
                      <a:r>
                        <a:rPr lang="en-US" sz="1100" b="0" i="0" u="none" strike="noStrike">
                          <a:solidFill>
                            <a:srgbClr val="00B050"/>
                          </a:solidFill>
                          <a:effectLst/>
                          <a:latin typeface="Adani Regular" panose="02000503000000020004" pitchFamily="2" charset="0"/>
                        </a:rPr>
                        <a:t>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panose="02000503000000020004" pitchFamily="2" charset="0"/>
                        </a:rPr>
                        <a:t>PTCC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panose="02000503000000020004" pitchFamily="2" charset="0"/>
                        </a:rPr>
                        <a:t>Asset Commissioning &amp; Projects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panose="02000503000000020004" pitchFamily="2" charset="0"/>
                        </a:rPr>
                        <a:t>CEA, Department of Telecommunications &amp; Indian Railways &amp; Defense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25-Mar-26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22-May-26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01-Feb-26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24-Jun-26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b="0" i="0" u="none" strike="noStrike">
                          <a:solidFill>
                            <a:srgbClr val="00B050"/>
                          </a:solidFill>
                          <a:effectLst/>
                          <a:latin typeface="Adani Regular" panose="02000503000000020004" pitchFamily="2" charset="0"/>
                        </a:rPr>
                        <a:t>Final approval received on 22-Jun for PSS-09 &amp; 05(B) and 18-Jun for PSS-08(B).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92294093"/>
                  </a:ext>
                </a:extLst>
              </a:tr>
              <a:tr h="530265">
                <a:tc>
                  <a:txBody>
                    <a:bodyPr/>
                    <a:lstStyle/>
                    <a:p>
                      <a:pPr algn="ctr" fontAlgn="ctr">
                        <a:buNone/>
                      </a:pPr>
                      <a:r>
                        <a:rPr lang="en-US" sz="1100" b="0" i="0" u="none" strike="noStrike">
                          <a:solidFill>
                            <a:srgbClr val="000000"/>
                          </a:solidFill>
                          <a:effectLst/>
                          <a:latin typeface="Adani Regular" panose="02000503000000020004" pitchFamily="2" charset="0"/>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Intimation to Labor Inspector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Site IR Team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Govt. of Gujrat</a:t>
                      </a:r>
                      <a:br>
                        <a:rPr lang="en-US" sz="1100" b="0" i="0" u="none" strike="noStrike">
                          <a:solidFill>
                            <a:srgbClr val="000000"/>
                          </a:solidFill>
                          <a:effectLst/>
                          <a:latin typeface="Adani Regular" panose="02000503000000020004" pitchFamily="2" charset="0"/>
                        </a:rPr>
                      </a:br>
                      <a:r>
                        <a:rPr lang="en-US" sz="1100" b="0" i="0" u="none" strike="noStrike">
                          <a:solidFill>
                            <a:srgbClr val="000000"/>
                          </a:solidFill>
                          <a:effectLst/>
                          <a:latin typeface="Adani Regular" panose="02000503000000020004" pitchFamily="2" charset="0"/>
                        </a:rPr>
                        <a:t>(Dept of Labor)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Post Commissioning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Post Commissioning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Post Commissioning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Post Commissioning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b="0" i="0" u="none" strike="noStrike">
                          <a:solidFill>
                            <a:srgbClr val="000000"/>
                          </a:solidFill>
                          <a:effectLst/>
                          <a:latin typeface="Adani Regular" panose="02000503000000020004" pitchFamily="2" charset="0"/>
                        </a:rPr>
                        <a:t>Intimation to Labor Inspector needs to be send post Commissioning.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198571423"/>
                  </a:ext>
                </a:extLst>
              </a:tr>
            </a:tbl>
          </a:graphicData>
        </a:graphic>
      </p:graphicFrame>
      <p:sp>
        <p:nvSpPr>
          <p:cNvPr id="4" name="Rectangle 2">
            <a:extLst>
              <a:ext uri="{FF2B5EF4-FFF2-40B4-BE49-F238E27FC236}">
                <a16:creationId xmlns:a16="http://schemas.microsoft.com/office/drawing/2014/main" id="{FF1F72BF-BC59-FAB0-1EDF-517DEC5F74CA}"/>
              </a:ext>
            </a:extLst>
          </p:cNvPr>
          <p:cNvSpPr txBox="1">
            <a:spLocks noChangeArrowheads="1"/>
          </p:cNvSpPr>
          <p:nvPr/>
        </p:nvSpPr>
        <p:spPr>
          <a:xfrm>
            <a:off x="0" y="12745"/>
            <a:ext cx="12192000" cy="476833"/>
          </a:xfrm>
          <a:prstGeom prst="rect">
            <a:avLst/>
          </a:prstGeom>
        </p:spPr>
        <p:txBody>
          <a:bodyPr lIns="121920" tIns="60960" rIns="121920" bIns="6096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US" sz="2400" b="1">
                <a:solidFill>
                  <a:srgbClr val="912A82"/>
                </a:solidFill>
              </a:rPr>
              <a:t> </a:t>
            </a:r>
            <a:r>
              <a:rPr lang="en-US" sz="2400" b="1">
                <a:solidFill>
                  <a:srgbClr val="912A82"/>
                </a:solidFill>
                <a:highlight>
                  <a:srgbClr val="33CC33"/>
                </a:highlight>
              </a:rPr>
              <a:t>Statutory and Other Approvals (PSS-09, 05(B) &amp; 08(B))</a:t>
            </a:r>
            <a:endParaRPr lang="en-US" sz="2400" b="1">
              <a:solidFill>
                <a:srgbClr val="3D3DFF"/>
              </a:solidFill>
              <a:highlight>
                <a:srgbClr val="33CC33"/>
              </a:highlight>
            </a:endParaRPr>
          </a:p>
        </p:txBody>
      </p:sp>
      <p:sp>
        <p:nvSpPr>
          <p:cNvPr id="3" name="Arrow: Left 2">
            <a:hlinkClick r:id="rId3" action="ppaction://hlinksldjump"/>
            <a:extLst>
              <a:ext uri="{FF2B5EF4-FFF2-40B4-BE49-F238E27FC236}">
                <a16:creationId xmlns:a16="http://schemas.microsoft.com/office/drawing/2014/main" id="{9B9C4E48-BE89-715F-9B9D-CC88564C2DCF}"/>
              </a:ext>
            </a:extLst>
          </p:cNvPr>
          <p:cNvSpPr/>
          <p:nvPr/>
        </p:nvSpPr>
        <p:spPr>
          <a:xfrm>
            <a:off x="10927070" y="6702539"/>
            <a:ext cx="237764" cy="155461"/>
          </a:xfrm>
          <a:prstGeom prst="lef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72960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F7F6E-3631-22BA-BA53-81E7085AF6F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7E30F36-D8DE-38F6-D71E-B94E75FC9CEB}"/>
              </a:ext>
            </a:extLst>
          </p:cNvPr>
          <p:cNvSpPr txBox="1"/>
          <p:nvPr/>
        </p:nvSpPr>
        <p:spPr>
          <a:xfrm>
            <a:off x="158462" y="95882"/>
            <a:ext cx="11610974" cy="424732"/>
          </a:xfrm>
          <a:prstGeom prst="rect">
            <a:avLst/>
          </a:prstGeom>
          <a:noFill/>
        </p:spPr>
        <p:txBody>
          <a:bodyPr vert="horz" wrap="square" lIns="91440" tIns="45720" rIns="91440" bIns="45720" rtlCol="0" anchor="b" anchorCtr="0">
            <a:spAutoFit/>
          </a:bodyPr>
          <a:lstStyle>
            <a:defPPr>
              <a:defRPr lang="en-US"/>
            </a:defPPr>
            <a:lvl1pPr indent="0">
              <a:lnSpc>
                <a:spcPct val="90000"/>
              </a:lnSpc>
              <a:spcBef>
                <a:spcPts val="1000"/>
              </a:spcBef>
              <a:buFont typeface="Arial" panose="020B0604020202020204" pitchFamily="34" charset="0"/>
              <a:buNone/>
              <a:defRPr sz="2400" b="1">
                <a:gradFill flip="none" rotWithShape="1">
                  <a:gsLst>
                    <a:gs pos="0">
                      <a:srgbClr val="FF2F5C"/>
                    </a:gs>
                    <a:gs pos="100000">
                      <a:srgbClr val="0070C0"/>
                    </a:gs>
                  </a:gsLst>
                  <a:path path="circle">
                    <a:fillToRect l="100000" t="100000"/>
                  </a:path>
                  <a:tileRect r="-100000" b="-100000"/>
                </a:gradFill>
                <a:latin typeface="Adani Regular" panose="02000503000000020004" pitchFamily="2"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361950" indent="0">
              <a:lnSpc>
                <a:spcPct val="90000"/>
              </a:lnSpc>
              <a:spcBef>
                <a:spcPts val="500"/>
              </a:spcBef>
              <a:buFont typeface="Arial" panose="020B0604020202020204" pitchFamily="34" charset="0"/>
              <a:buNone/>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gradFill>
                  <a:gsLst>
                    <a:gs pos="9735">
                      <a:schemeClr val="tx2"/>
                    </a:gs>
                    <a:gs pos="63000">
                      <a:srgbClr val="8E278F"/>
                    </a:gs>
                    <a:gs pos="38000">
                      <a:srgbClr val="57499E"/>
                    </a:gs>
                  </a:gsLst>
                  <a:lin ang="0" scaled="0"/>
                </a:gradFill>
              </a:rPr>
              <a:t>Physical Progress : PSS 10A S-Curve </a:t>
            </a:r>
            <a:endParaRPr lang="en-US" i="1">
              <a:gradFill>
                <a:gsLst>
                  <a:gs pos="9735">
                    <a:schemeClr val="tx2"/>
                  </a:gs>
                  <a:gs pos="63000">
                    <a:srgbClr val="8E278F"/>
                  </a:gs>
                  <a:gs pos="38000">
                    <a:srgbClr val="57499E"/>
                  </a:gs>
                </a:gsLst>
                <a:lin ang="0" scaled="0"/>
              </a:gradFill>
            </a:endParaRPr>
          </a:p>
        </p:txBody>
      </p:sp>
      <p:graphicFrame>
        <p:nvGraphicFramePr>
          <p:cNvPr id="12" name="object 4">
            <a:extLst>
              <a:ext uri="{FF2B5EF4-FFF2-40B4-BE49-F238E27FC236}">
                <a16:creationId xmlns:a16="http://schemas.microsoft.com/office/drawing/2014/main" id="{45DE5DBD-5ACF-BA31-7D71-303F799C5DAC}"/>
              </a:ext>
            </a:extLst>
          </p:cNvPr>
          <p:cNvGraphicFramePr>
            <a:graphicFrameLocks noGrp="1"/>
          </p:cNvGraphicFramePr>
          <p:nvPr>
            <p:extLst>
              <p:ext uri="{D42A27DB-BD31-4B8C-83A1-F6EECF244321}">
                <p14:modId xmlns:p14="http://schemas.microsoft.com/office/powerpoint/2010/main" val="3767458288"/>
              </p:ext>
            </p:extLst>
          </p:nvPr>
        </p:nvGraphicFramePr>
        <p:xfrm>
          <a:off x="294640" y="3863679"/>
          <a:ext cx="11643359" cy="2934128"/>
        </p:xfrm>
        <a:graphic>
          <a:graphicData uri="http://schemas.openxmlformats.org/drawingml/2006/table">
            <a:tbl>
              <a:tblPr firstRow="1" bandRow="1">
                <a:tableStyleId>{2D5ABB26-0587-4C30-8999-92F81FD0307C}</a:tableStyleId>
              </a:tblPr>
              <a:tblGrid>
                <a:gridCol w="1877060">
                  <a:extLst>
                    <a:ext uri="{9D8B030D-6E8A-4147-A177-3AD203B41FA5}">
                      <a16:colId xmlns:a16="http://schemas.microsoft.com/office/drawing/2014/main" val="20000"/>
                    </a:ext>
                  </a:extLst>
                </a:gridCol>
                <a:gridCol w="600075">
                  <a:extLst>
                    <a:ext uri="{9D8B030D-6E8A-4147-A177-3AD203B41FA5}">
                      <a16:colId xmlns:a16="http://schemas.microsoft.com/office/drawing/2014/main" val="20001"/>
                    </a:ext>
                  </a:extLst>
                </a:gridCol>
                <a:gridCol w="768814">
                  <a:extLst>
                    <a:ext uri="{9D8B030D-6E8A-4147-A177-3AD203B41FA5}">
                      <a16:colId xmlns:a16="http://schemas.microsoft.com/office/drawing/2014/main" val="1846315748"/>
                    </a:ext>
                  </a:extLst>
                </a:gridCol>
                <a:gridCol w="707126">
                  <a:extLst>
                    <a:ext uri="{9D8B030D-6E8A-4147-A177-3AD203B41FA5}">
                      <a16:colId xmlns:a16="http://schemas.microsoft.com/office/drawing/2014/main" val="1665052075"/>
                    </a:ext>
                  </a:extLst>
                </a:gridCol>
                <a:gridCol w="707126">
                  <a:extLst>
                    <a:ext uri="{9D8B030D-6E8A-4147-A177-3AD203B41FA5}">
                      <a16:colId xmlns:a16="http://schemas.microsoft.com/office/drawing/2014/main" val="1453986706"/>
                    </a:ext>
                  </a:extLst>
                </a:gridCol>
                <a:gridCol w="6983158">
                  <a:extLst>
                    <a:ext uri="{9D8B030D-6E8A-4147-A177-3AD203B41FA5}">
                      <a16:colId xmlns:a16="http://schemas.microsoft.com/office/drawing/2014/main" val="20006"/>
                    </a:ext>
                  </a:extLst>
                </a:gridCol>
              </a:tblGrid>
              <a:tr h="270087">
                <a:tc rowSpan="2">
                  <a:txBody>
                    <a:bodyPr/>
                    <a:lstStyle/>
                    <a:p>
                      <a:pPr marL="45720" algn="ctr">
                        <a:lnSpc>
                          <a:spcPct val="100000"/>
                        </a:lnSpc>
                      </a:pPr>
                      <a:r>
                        <a:rPr lang="en-US" sz="1100" b="1" spc="-10">
                          <a:solidFill>
                            <a:srgbClr val="FFFFFF"/>
                          </a:solidFill>
                          <a:latin typeface="Adani Regular" panose="02000503000000020004" pitchFamily="2" charset="0"/>
                          <a:cs typeface="Adani Regular"/>
                        </a:rPr>
                        <a:t>Activity</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635" algn="ctr">
                        <a:lnSpc>
                          <a:spcPct val="100000"/>
                        </a:lnSpc>
                      </a:pPr>
                      <a:r>
                        <a:rPr lang="en-US" sz="1100" b="1" spc="-20">
                          <a:solidFill>
                            <a:srgbClr val="FFFFFF"/>
                          </a:solidFill>
                          <a:latin typeface="Adani Regular" panose="02000503000000020004" pitchFamily="2" charset="0"/>
                          <a:cs typeface="Adani Regular"/>
                        </a:rPr>
                        <a:t>Wtg.</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2">
                  <a:txBody>
                    <a:bodyPr/>
                    <a:lstStyle/>
                    <a:p>
                      <a:pPr algn="ctr">
                        <a:lnSpc>
                          <a:spcPct val="100000"/>
                        </a:lnSpc>
                        <a:spcBef>
                          <a:spcPts val="450"/>
                        </a:spcBef>
                      </a:pPr>
                      <a:r>
                        <a:rPr lang="en-US" sz="900" b="1" spc="-25">
                          <a:solidFill>
                            <a:srgbClr val="FFFFFF"/>
                          </a:solidFill>
                          <a:latin typeface="Adani Regular"/>
                          <a:cs typeface="Adani Regular"/>
                        </a:rPr>
                        <a:t>FTM</a:t>
                      </a:r>
                      <a:endParaRPr lang="en-US" sz="900" b="1">
                        <a:latin typeface="Adani Regular"/>
                        <a:cs typeface="Adani Regular"/>
                      </a:endParaRP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hMerge="1">
                  <a:txBody>
                    <a:bodyPr/>
                    <a:lstStyle/>
                    <a:p>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030A0"/>
                    </a:solidFill>
                  </a:tcPr>
                </a:tc>
                <a:tc rowSpan="2">
                  <a:txBody>
                    <a:bodyPr/>
                    <a:lstStyle/>
                    <a:p>
                      <a:pPr algn="ctr">
                        <a:lnSpc>
                          <a:spcPct val="100000"/>
                        </a:lnSpc>
                        <a:spcBef>
                          <a:spcPts val="450"/>
                        </a:spcBef>
                      </a:pPr>
                      <a:r>
                        <a:rPr lang="en-US" sz="1100" b="1">
                          <a:solidFill>
                            <a:schemeClr val="bg1"/>
                          </a:solidFill>
                          <a:latin typeface="Adani Regular"/>
                          <a:cs typeface="Adani Regular"/>
                        </a:rPr>
                        <a:t>Variance in Plan Vs Actual</a:t>
                      </a: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1270" algn="ctr">
                        <a:lnSpc>
                          <a:spcPct val="100000"/>
                        </a:lnSpc>
                      </a:pPr>
                      <a:r>
                        <a:rPr lang="en-US" sz="1100" b="1">
                          <a:solidFill>
                            <a:schemeClr val="bg1"/>
                          </a:solidFill>
                          <a:latin typeface="Adani Regular" panose="02000503000000020004" pitchFamily="2" charset="0"/>
                          <a:cs typeface="Adani Regular"/>
                        </a:rPr>
                        <a:t>Variance Remark &amp; Mitigation/Action Plan</a:t>
                      </a: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275842">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a:txBody>
                    <a:bodyPr/>
                    <a:lstStyle/>
                    <a:p>
                      <a:pPr marL="635" algn="ctr">
                        <a:lnSpc>
                          <a:spcPct val="100000"/>
                        </a:lnSpc>
                        <a:spcBef>
                          <a:spcPts val="455"/>
                        </a:spcBef>
                      </a:pPr>
                      <a:r>
                        <a:rPr lang="en-US" sz="1100" b="1" spc="-20">
                          <a:solidFill>
                            <a:srgbClr val="FFFFFF"/>
                          </a:solidFill>
                          <a:latin typeface="Adani Regular" panose="02000503000000020004" pitchFamily="2" charset="0"/>
                          <a:cs typeface="Adani Regular"/>
                        </a:rPr>
                        <a:t>Plan</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lnSpc>
                          <a:spcPct val="100000"/>
                        </a:lnSpc>
                        <a:spcBef>
                          <a:spcPts val="455"/>
                        </a:spcBef>
                      </a:pPr>
                      <a:r>
                        <a:rPr lang="en-US" sz="1100" b="1" spc="-20">
                          <a:solidFill>
                            <a:srgbClr val="FFFFFF"/>
                          </a:solidFill>
                          <a:latin typeface="Adani Regular" panose="02000503000000020004" pitchFamily="2" charset="0"/>
                          <a:cs typeface="Adani Regular"/>
                        </a:rPr>
                        <a:t>Actual</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pPr algn="ctr">
                        <a:lnSpc>
                          <a:spcPct val="100000"/>
                        </a:lnSpc>
                        <a:spcBef>
                          <a:spcPts val="455"/>
                        </a:spcBef>
                      </a:pPr>
                      <a:endParaRPr lang="en-US" sz="9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extLst>
                  <a:ext uri="{0D108BD9-81ED-4DB2-BD59-A6C34878D82A}">
                    <a16:rowId xmlns:a16="http://schemas.microsoft.com/office/drawing/2014/main" val="10001"/>
                  </a:ext>
                </a:extLst>
              </a:tr>
              <a:tr h="270087">
                <a:tc>
                  <a:txBody>
                    <a:bodyPr/>
                    <a:lstStyle/>
                    <a:p>
                      <a:pPr marL="45720" marR="0" lvl="0" indent="0" algn="l" rtl="0" eaLnBrk="1" fontAlgn="auto" latinLnBrk="0" hangingPunct="1">
                        <a:lnSpc>
                          <a:spcPct val="100000"/>
                        </a:lnSpc>
                        <a:spcBef>
                          <a:spcPts val="445"/>
                        </a:spcBef>
                        <a:spcAft>
                          <a:spcPts val="0"/>
                        </a:spcAft>
                        <a:buClrTx/>
                        <a:buSzTx/>
                        <a:buFontTx/>
                        <a:buNone/>
                      </a:pPr>
                      <a:r>
                        <a:rPr lang="en-IN" sz="1100" b="0" i="0" u="none" strike="noStrike">
                          <a:solidFill>
                            <a:schemeClr val="tx1"/>
                          </a:solidFill>
                          <a:effectLst/>
                          <a:latin typeface="Adani Regular" panose="02000503000000020004" pitchFamily="2" charset="0"/>
                        </a:rPr>
                        <a:t>Statutory Approvals</a:t>
                      </a:r>
                      <a:endParaRPr lang="en-US" sz="1100">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0.06%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just">
                        <a:lnSpc>
                          <a:spcPct val="100000"/>
                        </a:lnSpc>
                        <a:spcBef>
                          <a:spcPts val="0"/>
                        </a:spcBef>
                        <a:spcAft>
                          <a:spcPts val="0"/>
                        </a:spcAft>
                        <a:buNone/>
                      </a:pPr>
                      <a:r>
                        <a:rPr lang="en-US" sz="1100" b="0" i="0" u="none" strike="noStrike" noProof="0">
                          <a:solidFill>
                            <a:schemeClr val="tx1"/>
                          </a:solidFill>
                          <a:effectLst/>
                          <a:latin typeface="Adani Regular" panose="02000503000000020004" pitchFamily="2" charset="0"/>
                        </a:rPr>
                        <a:t>Balance approval (Factory License)</a:t>
                      </a:r>
                      <a:endParaRPr lang="en-US" sz="1100">
                        <a:solidFill>
                          <a:schemeClr val="tx1"/>
                        </a:solidFill>
                        <a:latin typeface="Adani Regular" panose="02000503000000020004" pitchFamily="2"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70133264"/>
                  </a:ext>
                </a:extLst>
              </a:tr>
              <a:tr h="270087">
                <a:tc>
                  <a:txBody>
                    <a:bodyPr/>
                    <a:lstStyle/>
                    <a:p>
                      <a:pPr marL="45720">
                        <a:lnSpc>
                          <a:spcPct val="100000"/>
                        </a:lnSpc>
                        <a:spcBef>
                          <a:spcPts val="445"/>
                        </a:spcBef>
                      </a:pPr>
                      <a:r>
                        <a:rPr lang="en-US" sz="1100" spc="-10">
                          <a:latin typeface="Adani Regular" panose="02000503000000020004" pitchFamily="2" charset="0"/>
                          <a:cs typeface="Adani Regular"/>
                        </a:rPr>
                        <a:t>Engineering</a:t>
                      </a:r>
                      <a:endParaRPr lang="en-US" sz="1100">
                        <a:latin typeface="Adani Regular" panose="02000503000000020004" pitchFamily="2" charset="0"/>
                        <a:cs typeface="Adani Regular"/>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a:solidFill>
                            <a:schemeClr val="tx1"/>
                          </a:solidFill>
                          <a:effectLst/>
                          <a:latin typeface="Adani Regular" panose="02000503000000020004" pitchFamily="2" charset="0"/>
                          <a:ea typeface="Aptos" panose="020B0004020202020204" pitchFamily="34" charset="0"/>
                          <a:cs typeface="Aptos" panose="020B0004020202020204" pitchFamily="34" charset="0"/>
                        </a:rPr>
                        <a:t>Completed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5946">
                <a:tc>
                  <a:txBody>
                    <a:bodyPr/>
                    <a:lstStyle/>
                    <a:p>
                      <a:pPr marL="45720" marR="0" lvl="0" indent="0" algn="l" defTabSz="914400" rtl="0" eaLnBrk="1" fontAlgn="auto" latinLnBrk="0" hangingPunct="1">
                        <a:lnSpc>
                          <a:spcPct val="100000"/>
                        </a:lnSpc>
                        <a:spcBef>
                          <a:spcPts val="445"/>
                        </a:spcBef>
                        <a:spcAft>
                          <a:spcPts val="0"/>
                        </a:spcAft>
                        <a:buClrTx/>
                        <a:buSzTx/>
                        <a:buFontTx/>
                        <a:buNone/>
                      </a:pPr>
                      <a:r>
                        <a:rPr lang="en-US" sz="1100" b="0" i="0" u="none" strike="noStrike" kern="1200" noProof="0">
                          <a:solidFill>
                            <a:schemeClr val="tx1"/>
                          </a:solidFill>
                          <a:effectLst/>
                          <a:latin typeface="Adani Regular" panose="02000503000000020004" pitchFamily="2" charset="0"/>
                          <a:ea typeface="+mn-ea"/>
                          <a:cs typeface="+mn-cs"/>
                        </a:rPr>
                        <a:t>Ordering, Manufacturing &amp; Supply </a:t>
                      </a:r>
                      <a:endParaRPr lang="en-US"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100">
                          <a:solidFill>
                            <a:schemeClr val="tx1"/>
                          </a:solidFill>
                          <a:effectLst/>
                          <a:latin typeface="Adani Regular" panose="02000503000000020004" pitchFamily="2" charset="0"/>
                          <a:ea typeface="Aptos" panose="020B0004020202020204" pitchFamily="34" charset="0"/>
                          <a:cs typeface="Aptos" panose="020B0004020202020204" pitchFamily="34" charset="0"/>
                        </a:rPr>
                        <a:t>Completed</a:t>
                      </a:r>
                      <a:r>
                        <a:rPr lang="en-US" sz="1100" kern="1200" noProof="0">
                          <a:solidFill>
                            <a:schemeClr val="tx1"/>
                          </a:solidFill>
                          <a:effectLst/>
                          <a:latin typeface="Adani Regular" panose="02000503000000020004" pitchFamily="2"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980444">
                <a:tc>
                  <a:txBody>
                    <a:bodyPr/>
                    <a:lstStyle/>
                    <a:p>
                      <a:r>
                        <a:rPr lang="en-US" sz="1100" b="0" i="0" u="none" strike="noStrike" kern="1200">
                          <a:solidFill>
                            <a:schemeClr val="tx1"/>
                          </a:solidFill>
                          <a:effectLst/>
                          <a:latin typeface="Adani Regular" panose="02000503000000020004" pitchFamily="2" charset="0"/>
                          <a:ea typeface="+mn-ea"/>
                          <a:cs typeface="+mn-cs"/>
                        </a:rPr>
                        <a:t>Construction (Civil), Electrical,</a:t>
                      </a:r>
                    </a:p>
                    <a:p>
                      <a:r>
                        <a:rPr lang="en-US" sz="1100" b="0" i="0" u="none" strike="noStrike" kern="1200">
                          <a:solidFill>
                            <a:schemeClr val="tx1"/>
                          </a:solidFill>
                          <a:effectLst/>
                          <a:latin typeface="Adani Regular" panose="02000503000000020004" pitchFamily="2" charset="0"/>
                          <a:ea typeface="+mn-ea"/>
                          <a:cs typeface="+mn-cs"/>
                        </a:rPr>
                        <a:t>Integration &amp; Commissioning</a:t>
                      </a:r>
                      <a:endParaRPr lang="en-IN"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54.30%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0.70%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100" kern="1200" noProof="0">
                          <a:solidFill>
                            <a:schemeClr val="tx1"/>
                          </a:solidFill>
                          <a:effectLst/>
                          <a:latin typeface="Adani Regular" panose="02000503000000020004" pitchFamily="2" charset="0"/>
                        </a:rPr>
                        <a:t>Contract Closure is pending.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0448443"/>
                  </a:ext>
                </a:extLst>
              </a:tr>
              <a:tr h="415946">
                <a:tc>
                  <a:txBody>
                    <a:bodyPr/>
                    <a:lstStyle/>
                    <a:p>
                      <a:pPr algn="ctr"/>
                      <a:r>
                        <a:rPr lang="en-US" sz="1100" b="1" spc="-10">
                          <a:solidFill>
                            <a:schemeClr val="bg1"/>
                          </a:solidFill>
                          <a:latin typeface="Adani Regular" panose="02000503000000020004" pitchFamily="2" charset="0"/>
                        </a:rPr>
                        <a:t>Total</a:t>
                      </a:r>
                      <a:endParaRPr lang="en-IN" sz="1100">
                        <a:solidFill>
                          <a:schemeClr val="bg1"/>
                        </a:solidFill>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algn="ctr" defTabSz="914400" rtl="0" eaLnBrk="1" fontAlgn="ctr" latinLnBrk="0" hangingPunct="1">
                        <a:buNone/>
                      </a:pPr>
                      <a:r>
                        <a:rPr lang="en-IN" sz="1100" b="1" i="0" u="none" strike="noStrike" kern="1200">
                          <a:solidFill>
                            <a:schemeClr val="bg1"/>
                          </a:solidFill>
                          <a:effectLst/>
                          <a:latin typeface="Adani Regular" panose="02000503000000020004" pitchFamily="2" charset="0"/>
                          <a:ea typeface="+mn-ea"/>
                          <a:cs typeface="+mn-cs"/>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99.2%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dirty="0">
                          <a:solidFill>
                            <a:srgbClr val="FFFFFF"/>
                          </a:solidFill>
                          <a:effectLst/>
                          <a:latin typeface="Adani Regular" panose="02000503000000020004" pitchFamily="2" charset="0"/>
                        </a:rPr>
                        <a:t>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35560" lvl="0" indent="0" algn="l" defTabSz="914400" rtl="0" eaLnBrk="1" fontAlgn="ctr" latinLnBrk="0" hangingPunct="1">
                        <a:lnSpc>
                          <a:spcPct val="100000"/>
                        </a:lnSpc>
                        <a:spcBef>
                          <a:spcPts val="65"/>
                        </a:spcBef>
                        <a:spcAft>
                          <a:spcPts val="0"/>
                        </a:spcAft>
                        <a:buClrTx/>
                        <a:buSzTx/>
                        <a:buFont typeface="Arial" panose="020B0604020202020204" pitchFamily="34" charset="0"/>
                        <a:buNone/>
                        <a:tabLst>
                          <a:tab pos="219075" algn="l"/>
                        </a:tabLst>
                        <a:defRPr/>
                      </a:pPr>
                      <a:r>
                        <a:rPr lang="en-US" sz="1100" b="1" dirty="0">
                          <a:solidFill>
                            <a:schemeClr val="bg1"/>
                          </a:solidFill>
                          <a:latin typeface="Adani Regular" panose="02000503000000020004" pitchFamily="2" charset="0"/>
                        </a:rPr>
                        <a:t>Mitigation Plan: </a:t>
                      </a:r>
                      <a:r>
                        <a:rPr lang="en-US" sz="1100" dirty="0">
                          <a:solidFill>
                            <a:schemeClr val="bg1"/>
                          </a:solidFill>
                          <a:latin typeface="Adani Regular" panose="02000503000000020004" pitchFamily="2" charset="0"/>
                        </a:rPr>
                        <a:t>Expedite the pending delivery of battery containers and accelerate associated activities, including cable termination, integration for remaining containers.</a:t>
                      </a:r>
                      <a:endParaRPr lang="en-US" sz="1100" b="1" i="0" u="none" strike="noStrike" kern="1200" dirty="0">
                        <a:solidFill>
                          <a:schemeClr val="bg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20722021"/>
                  </a:ext>
                </a:extLst>
              </a:tr>
            </a:tbl>
          </a:graphicData>
        </a:graphic>
      </p:graphicFrame>
      <p:sp>
        <p:nvSpPr>
          <p:cNvPr id="2" name="Slide Number Placeholder 2">
            <a:extLst>
              <a:ext uri="{FF2B5EF4-FFF2-40B4-BE49-F238E27FC236}">
                <a16:creationId xmlns:a16="http://schemas.microsoft.com/office/drawing/2014/main" id="{D00D176E-600A-C45A-EC55-4CE9031450DD}"/>
              </a:ext>
            </a:extLst>
          </p:cNvPr>
          <p:cNvSpPr>
            <a:spLocks noGrp="1"/>
          </p:cNvSpPr>
          <p:nvPr>
            <p:ph type="sldNum" sz="quarter" idx="12"/>
          </p:nvPr>
        </p:nvSpPr>
        <p:spPr>
          <a:xfrm>
            <a:off x="11683999" y="6497285"/>
            <a:ext cx="493311" cy="365125"/>
          </a:xfrm>
        </p:spPr>
        <p:txBody>
          <a:bodyPr/>
          <a:lstStyle/>
          <a:p>
            <a:fld id="{98B285C1-D8A8-4E98-B28C-1FD972D8EC54}" type="slidenum">
              <a:rPr lang="en-IN" smtClean="0"/>
              <a:t>67</a:t>
            </a:fld>
            <a:endParaRPr lang="en-IN"/>
          </a:p>
        </p:txBody>
      </p:sp>
      <p:pic>
        <p:nvPicPr>
          <p:cNvPr id="3" name="Picture 2">
            <a:extLst>
              <a:ext uri="{FF2B5EF4-FFF2-40B4-BE49-F238E27FC236}">
                <a16:creationId xmlns:a16="http://schemas.microsoft.com/office/drawing/2014/main" id="{37C3881C-BD70-A6B2-9435-25C166FDA22E}"/>
              </a:ext>
            </a:extLst>
          </p:cNvPr>
          <p:cNvPicPr>
            <a:picLocks noChangeAspect="1"/>
          </p:cNvPicPr>
          <p:nvPr/>
        </p:nvPicPr>
        <p:blipFill>
          <a:blip r:embed="rId2"/>
          <a:stretch>
            <a:fillRect/>
          </a:stretch>
        </p:blipFill>
        <p:spPr>
          <a:xfrm>
            <a:off x="294640" y="725953"/>
            <a:ext cx="11389358" cy="2934128"/>
          </a:xfrm>
          <a:prstGeom prst="rect">
            <a:avLst/>
          </a:prstGeom>
        </p:spPr>
      </p:pic>
    </p:spTree>
    <p:extLst>
      <p:ext uri="{BB962C8B-B14F-4D97-AF65-F5344CB8AC3E}">
        <p14:creationId xmlns:p14="http://schemas.microsoft.com/office/powerpoint/2010/main" val="1146422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27E28-20E0-2B94-A169-3E0E2FD9882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68819BC-A42E-8508-300C-FF5BABFEFD0E}"/>
              </a:ext>
            </a:extLst>
          </p:cNvPr>
          <p:cNvSpPr txBox="1"/>
          <p:nvPr/>
        </p:nvSpPr>
        <p:spPr>
          <a:xfrm>
            <a:off x="158462" y="95882"/>
            <a:ext cx="11610974" cy="424732"/>
          </a:xfrm>
          <a:prstGeom prst="rect">
            <a:avLst/>
          </a:prstGeom>
          <a:noFill/>
        </p:spPr>
        <p:txBody>
          <a:bodyPr vert="horz" wrap="square" lIns="91440" tIns="45720" rIns="91440" bIns="45720" rtlCol="0" anchor="b" anchorCtr="0">
            <a:spAutoFit/>
          </a:bodyPr>
          <a:lstStyle>
            <a:defPPr>
              <a:defRPr lang="en-US"/>
            </a:defPPr>
            <a:lvl1pPr indent="0">
              <a:lnSpc>
                <a:spcPct val="90000"/>
              </a:lnSpc>
              <a:spcBef>
                <a:spcPts val="1000"/>
              </a:spcBef>
              <a:buFont typeface="Arial" panose="020B0604020202020204" pitchFamily="34" charset="0"/>
              <a:buNone/>
              <a:defRPr sz="2400" b="1">
                <a:gradFill flip="none" rotWithShape="1">
                  <a:gsLst>
                    <a:gs pos="0">
                      <a:srgbClr val="FF2F5C"/>
                    </a:gs>
                    <a:gs pos="100000">
                      <a:srgbClr val="0070C0"/>
                    </a:gs>
                  </a:gsLst>
                  <a:path path="circle">
                    <a:fillToRect l="100000" t="100000"/>
                  </a:path>
                  <a:tileRect r="-100000" b="-100000"/>
                </a:gradFill>
                <a:latin typeface="Adani Regular" panose="02000503000000020004" pitchFamily="2"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361950" indent="0">
              <a:lnSpc>
                <a:spcPct val="90000"/>
              </a:lnSpc>
              <a:spcBef>
                <a:spcPts val="500"/>
              </a:spcBef>
              <a:buFont typeface="Arial" panose="020B0604020202020204" pitchFamily="34" charset="0"/>
              <a:buNone/>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defRPr/>
            </a:pPr>
            <a:r>
              <a:rPr lang="en-US">
                <a:gradFill>
                  <a:gsLst>
                    <a:gs pos="9735">
                      <a:schemeClr val="tx2"/>
                    </a:gs>
                    <a:gs pos="63000">
                      <a:srgbClr val="8E278F"/>
                    </a:gs>
                    <a:gs pos="38000">
                      <a:srgbClr val="57499E"/>
                    </a:gs>
                  </a:gsLst>
                  <a:lin ang="0" scaled="0"/>
                </a:gradFill>
              </a:rPr>
              <a:t>Physical Progress : PSS 5A S-Curve </a:t>
            </a:r>
          </a:p>
        </p:txBody>
      </p:sp>
      <p:graphicFrame>
        <p:nvGraphicFramePr>
          <p:cNvPr id="12" name="object 4">
            <a:extLst>
              <a:ext uri="{FF2B5EF4-FFF2-40B4-BE49-F238E27FC236}">
                <a16:creationId xmlns:a16="http://schemas.microsoft.com/office/drawing/2014/main" id="{8E0D475E-0C9C-6981-17B4-6EFD03289EAF}"/>
              </a:ext>
            </a:extLst>
          </p:cNvPr>
          <p:cNvGraphicFramePr>
            <a:graphicFrameLocks noGrp="1"/>
          </p:cNvGraphicFramePr>
          <p:nvPr>
            <p:extLst>
              <p:ext uri="{D42A27DB-BD31-4B8C-83A1-F6EECF244321}">
                <p14:modId xmlns:p14="http://schemas.microsoft.com/office/powerpoint/2010/main" val="1685291129"/>
              </p:ext>
            </p:extLst>
          </p:nvPr>
        </p:nvGraphicFramePr>
        <p:xfrm>
          <a:off x="290705" y="3782262"/>
          <a:ext cx="11610973" cy="2812065"/>
        </p:xfrm>
        <a:graphic>
          <a:graphicData uri="http://schemas.openxmlformats.org/drawingml/2006/table">
            <a:tbl>
              <a:tblPr firstRow="1" bandRow="1">
                <a:tableStyleId>{2D5ABB26-0587-4C30-8999-92F81FD0307C}</a:tableStyleId>
              </a:tblPr>
              <a:tblGrid>
                <a:gridCol w="1911912">
                  <a:extLst>
                    <a:ext uri="{9D8B030D-6E8A-4147-A177-3AD203B41FA5}">
                      <a16:colId xmlns:a16="http://schemas.microsoft.com/office/drawing/2014/main" val="20000"/>
                    </a:ext>
                  </a:extLst>
                </a:gridCol>
                <a:gridCol w="576456">
                  <a:extLst>
                    <a:ext uri="{9D8B030D-6E8A-4147-A177-3AD203B41FA5}">
                      <a16:colId xmlns:a16="http://schemas.microsoft.com/office/drawing/2014/main" val="20001"/>
                    </a:ext>
                  </a:extLst>
                </a:gridCol>
                <a:gridCol w="748552">
                  <a:extLst>
                    <a:ext uri="{9D8B030D-6E8A-4147-A177-3AD203B41FA5}">
                      <a16:colId xmlns:a16="http://schemas.microsoft.com/office/drawing/2014/main" val="1846315748"/>
                    </a:ext>
                  </a:extLst>
                </a:gridCol>
                <a:gridCol w="705159">
                  <a:extLst>
                    <a:ext uri="{9D8B030D-6E8A-4147-A177-3AD203B41FA5}">
                      <a16:colId xmlns:a16="http://schemas.microsoft.com/office/drawing/2014/main" val="1665052075"/>
                    </a:ext>
                  </a:extLst>
                </a:gridCol>
                <a:gridCol w="705159">
                  <a:extLst>
                    <a:ext uri="{9D8B030D-6E8A-4147-A177-3AD203B41FA5}">
                      <a16:colId xmlns:a16="http://schemas.microsoft.com/office/drawing/2014/main" val="3817577203"/>
                    </a:ext>
                  </a:extLst>
                </a:gridCol>
                <a:gridCol w="6963735">
                  <a:extLst>
                    <a:ext uri="{9D8B030D-6E8A-4147-A177-3AD203B41FA5}">
                      <a16:colId xmlns:a16="http://schemas.microsoft.com/office/drawing/2014/main" val="20006"/>
                    </a:ext>
                  </a:extLst>
                </a:gridCol>
              </a:tblGrid>
              <a:tr h="282675">
                <a:tc rowSpan="2">
                  <a:txBody>
                    <a:bodyPr/>
                    <a:lstStyle/>
                    <a:p>
                      <a:pPr marL="45720" algn="ctr">
                        <a:lnSpc>
                          <a:spcPct val="100000"/>
                        </a:lnSpc>
                      </a:pPr>
                      <a:r>
                        <a:rPr lang="en-US" sz="1100" b="1" spc="-10">
                          <a:solidFill>
                            <a:srgbClr val="FFFFFF"/>
                          </a:solidFill>
                          <a:latin typeface="Adani Regular" panose="02000503000000020004" pitchFamily="2" charset="0"/>
                          <a:cs typeface="Adani Regular"/>
                        </a:rPr>
                        <a:t>Activity</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635" algn="ctr">
                        <a:lnSpc>
                          <a:spcPct val="100000"/>
                        </a:lnSpc>
                      </a:pPr>
                      <a:r>
                        <a:rPr lang="en-US" sz="1100" b="1" spc="-20" err="1">
                          <a:solidFill>
                            <a:srgbClr val="FFFFFF"/>
                          </a:solidFill>
                          <a:latin typeface="Adani Regular" panose="02000503000000020004" pitchFamily="2" charset="0"/>
                          <a:cs typeface="Adani Regular"/>
                        </a:rPr>
                        <a:t>Wtg</a:t>
                      </a:r>
                      <a:r>
                        <a:rPr lang="en-US" sz="1100" b="1" spc="-20">
                          <a:solidFill>
                            <a:srgbClr val="FFFFFF"/>
                          </a:solidFill>
                          <a:latin typeface="Adani Regular" panose="02000503000000020004" pitchFamily="2" charset="0"/>
                          <a:cs typeface="Adani Regular"/>
                        </a:rPr>
                        <a:t>.</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2">
                  <a:txBody>
                    <a:bodyPr/>
                    <a:lstStyle/>
                    <a:p>
                      <a:pPr algn="ctr">
                        <a:lnSpc>
                          <a:spcPct val="100000"/>
                        </a:lnSpc>
                        <a:spcBef>
                          <a:spcPts val="450"/>
                        </a:spcBef>
                      </a:pPr>
                      <a:r>
                        <a:rPr lang="en-US" sz="1100" b="1" spc="-25">
                          <a:solidFill>
                            <a:srgbClr val="FFFFFF"/>
                          </a:solidFill>
                          <a:latin typeface="Adani Regular"/>
                          <a:cs typeface="Adani Regular"/>
                        </a:rPr>
                        <a:t>FTM</a:t>
                      </a:r>
                      <a:endParaRPr lang="en-US" sz="1100" b="1">
                        <a:latin typeface="Adani Regular"/>
                        <a:cs typeface="Adani Regular"/>
                      </a:endParaRP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hMerge="1">
                  <a:txBody>
                    <a:bodyPr/>
                    <a:lstStyle/>
                    <a:p>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030A0"/>
                    </a:solidFill>
                  </a:tcPr>
                </a:tc>
                <a:tc rowSpan="2">
                  <a:txBody>
                    <a:bodyPr/>
                    <a:lstStyle/>
                    <a:p>
                      <a:pPr marL="0" marR="0" lvl="0" indent="0" algn="ctr" defTabSz="914400" rtl="0" eaLnBrk="1" fontAlgn="auto" latinLnBrk="0" hangingPunct="1">
                        <a:lnSpc>
                          <a:spcPct val="100000"/>
                        </a:lnSpc>
                        <a:spcBef>
                          <a:spcPts val="450"/>
                        </a:spcBef>
                        <a:spcAft>
                          <a:spcPts val="0"/>
                        </a:spcAft>
                        <a:buClrTx/>
                        <a:buSzTx/>
                        <a:buFontTx/>
                        <a:buNone/>
                        <a:tabLst/>
                        <a:defRPr/>
                      </a:pPr>
                      <a:r>
                        <a:rPr lang="en-US" sz="1100" b="1">
                          <a:solidFill>
                            <a:schemeClr val="bg1"/>
                          </a:solidFill>
                          <a:latin typeface="Adani Regular"/>
                          <a:cs typeface="Adani Regular"/>
                        </a:rPr>
                        <a:t>Variance in Plan Vs Actual</a:t>
                      </a: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1270" algn="ctr">
                        <a:lnSpc>
                          <a:spcPct val="100000"/>
                        </a:lnSpc>
                      </a:pPr>
                      <a:r>
                        <a:rPr lang="en-US" sz="1100" b="1">
                          <a:solidFill>
                            <a:schemeClr val="bg1"/>
                          </a:solidFill>
                          <a:latin typeface="Adani Regular" panose="02000503000000020004" pitchFamily="2" charset="0"/>
                          <a:cs typeface="Adani Regular"/>
                        </a:rPr>
                        <a:t>Variance Remark &amp; Mitigation/Action Plan</a:t>
                      </a: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282675">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a:txBody>
                    <a:bodyPr/>
                    <a:lstStyle/>
                    <a:p>
                      <a:pPr marL="635" algn="ctr">
                        <a:lnSpc>
                          <a:spcPct val="100000"/>
                        </a:lnSpc>
                        <a:spcBef>
                          <a:spcPts val="455"/>
                        </a:spcBef>
                      </a:pPr>
                      <a:r>
                        <a:rPr lang="en-US" sz="1100" b="1" spc="-20">
                          <a:solidFill>
                            <a:srgbClr val="FFFFFF"/>
                          </a:solidFill>
                          <a:latin typeface="Adani Regular" panose="02000503000000020004" pitchFamily="2" charset="0"/>
                          <a:cs typeface="Adani Regular"/>
                        </a:rPr>
                        <a:t>Plan</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lnSpc>
                          <a:spcPct val="100000"/>
                        </a:lnSpc>
                        <a:spcBef>
                          <a:spcPts val="455"/>
                        </a:spcBef>
                      </a:pPr>
                      <a:r>
                        <a:rPr lang="en-US" sz="1100" b="1" spc="-20">
                          <a:solidFill>
                            <a:srgbClr val="FFFFFF"/>
                          </a:solidFill>
                          <a:latin typeface="Adani Regular" panose="02000503000000020004" pitchFamily="2" charset="0"/>
                          <a:cs typeface="Adani Regular"/>
                        </a:rPr>
                        <a:t>Actual</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pPr marL="635" algn="ctr">
                        <a:lnSpc>
                          <a:spcPct val="100000"/>
                        </a:lnSpc>
                        <a:spcBef>
                          <a:spcPts val="455"/>
                        </a:spcBef>
                      </a:pPr>
                      <a:endParaRPr lang="en-US" sz="9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extLst>
                  <a:ext uri="{0D108BD9-81ED-4DB2-BD59-A6C34878D82A}">
                    <a16:rowId xmlns:a16="http://schemas.microsoft.com/office/drawing/2014/main" val="10001"/>
                  </a:ext>
                </a:extLst>
              </a:tr>
              <a:tr h="245121">
                <a:tc>
                  <a:txBody>
                    <a:bodyPr/>
                    <a:lstStyle/>
                    <a:p>
                      <a:pPr marL="45720" marR="0" lvl="0" indent="0" algn="l" rtl="0" eaLnBrk="1" fontAlgn="auto" latinLnBrk="0" hangingPunct="1">
                        <a:lnSpc>
                          <a:spcPct val="100000"/>
                        </a:lnSpc>
                        <a:spcBef>
                          <a:spcPts val="445"/>
                        </a:spcBef>
                        <a:spcAft>
                          <a:spcPts val="0"/>
                        </a:spcAft>
                        <a:buClrTx/>
                        <a:buSzTx/>
                        <a:buFontTx/>
                        <a:buNone/>
                      </a:pPr>
                      <a:r>
                        <a:rPr lang="en-IN" sz="1100" b="0" i="0" u="none" strike="noStrike">
                          <a:solidFill>
                            <a:schemeClr val="tx1"/>
                          </a:solidFill>
                          <a:effectLst/>
                          <a:latin typeface="Adani Regular" panose="02000503000000020004" pitchFamily="2" charset="0"/>
                        </a:rPr>
                        <a:t>Statutory Approvals</a:t>
                      </a:r>
                      <a:endParaRPr lang="en-US" sz="1100">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0.06%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just">
                        <a:lnSpc>
                          <a:spcPct val="100000"/>
                        </a:lnSpc>
                        <a:spcBef>
                          <a:spcPts val="0"/>
                        </a:spcBef>
                        <a:spcAft>
                          <a:spcPts val="0"/>
                        </a:spcAft>
                        <a:buNone/>
                      </a:pPr>
                      <a:r>
                        <a:rPr lang="en-US" sz="1100" b="0" i="0" u="none" strike="noStrike" noProof="0">
                          <a:solidFill>
                            <a:schemeClr val="tx1"/>
                          </a:solidFill>
                          <a:effectLst/>
                          <a:latin typeface="Adani Regular" panose="02000503000000020004" pitchFamily="2" charset="0"/>
                        </a:rPr>
                        <a:t>Balance approval (Factory License)</a:t>
                      </a:r>
                      <a:endParaRPr lang="en-US" sz="1100">
                        <a:solidFill>
                          <a:schemeClr val="tx1"/>
                        </a:solidFill>
                        <a:latin typeface="Adani Regular" panose="02000503000000020004" pitchFamily="2"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70133264"/>
                  </a:ext>
                </a:extLst>
              </a:tr>
              <a:tr h="251189">
                <a:tc>
                  <a:txBody>
                    <a:bodyPr/>
                    <a:lstStyle/>
                    <a:p>
                      <a:pPr marL="45720">
                        <a:lnSpc>
                          <a:spcPct val="100000"/>
                        </a:lnSpc>
                        <a:spcBef>
                          <a:spcPts val="445"/>
                        </a:spcBef>
                      </a:pPr>
                      <a:r>
                        <a:rPr lang="en-US" sz="1100" spc="-10">
                          <a:latin typeface="Adani Regular" panose="02000503000000020004" pitchFamily="2" charset="0"/>
                          <a:cs typeface="Adani Regular"/>
                        </a:rPr>
                        <a:t>Engineering</a:t>
                      </a:r>
                      <a:endParaRPr lang="en-US" sz="1100">
                        <a:latin typeface="Adani Regular" panose="02000503000000020004" pitchFamily="2" charset="0"/>
                        <a:cs typeface="Adani Regular"/>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a:solidFill>
                            <a:schemeClr val="tx1"/>
                          </a:solidFill>
                          <a:effectLst/>
                          <a:latin typeface="Adani Regular" panose="02000503000000020004" pitchFamily="2" charset="0"/>
                          <a:ea typeface="Aptos" panose="020B0004020202020204" pitchFamily="34" charset="0"/>
                          <a:cs typeface="Aptos" panose="020B0004020202020204" pitchFamily="34" charset="0"/>
                        </a:rPr>
                        <a:t>Completed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87574">
                <a:tc>
                  <a:txBody>
                    <a:bodyPr/>
                    <a:lstStyle/>
                    <a:p>
                      <a:pPr marL="45720" marR="0" lvl="0" indent="0" algn="l" defTabSz="914400" rtl="0" eaLnBrk="1" fontAlgn="auto" latinLnBrk="0" hangingPunct="1">
                        <a:lnSpc>
                          <a:spcPct val="100000"/>
                        </a:lnSpc>
                        <a:spcBef>
                          <a:spcPts val="445"/>
                        </a:spcBef>
                        <a:spcAft>
                          <a:spcPts val="0"/>
                        </a:spcAft>
                        <a:buClrTx/>
                        <a:buSzTx/>
                        <a:buFontTx/>
                        <a:buNone/>
                      </a:pPr>
                      <a:r>
                        <a:rPr lang="en-US" sz="1100" b="0" i="0" u="none" strike="noStrike" kern="1200" noProof="0">
                          <a:solidFill>
                            <a:schemeClr val="tx1"/>
                          </a:solidFill>
                          <a:effectLst/>
                          <a:latin typeface="Adani Regular" panose="02000503000000020004" pitchFamily="2" charset="0"/>
                          <a:ea typeface="+mn-ea"/>
                          <a:cs typeface="+mn-cs"/>
                        </a:rPr>
                        <a:t>Ordering, Manufacturing &amp; Supply </a:t>
                      </a:r>
                      <a:endParaRPr lang="en-US"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a:solidFill>
                            <a:schemeClr val="tx1"/>
                          </a:solidFill>
                          <a:effectLst/>
                          <a:latin typeface="Adani Regular" panose="02000503000000020004" pitchFamily="2" charset="0"/>
                          <a:ea typeface="Aptos" panose="020B0004020202020204" pitchFamily="34" charset="0"/>
                          <a:cs typeface="Aptos" panose="020B0004020202020204" pitchFamily="34" charset="0"/>
                        </a:rPr>
                        <a:t>Completed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61306">
                <a:tc>
                  <a:txBody>
                    <a:bodyPr/>
                    <a:lstStyle/>
                    <a:p>
                      <a:r>
                        <a:rPr lang="en-US" sz="1100" b="0" i="0" u="none" strike="noStrike" kern="1200">
                          <a:solidFill>
                            <a:schemeClr val="tx1"/>
                          </a:solidFill>
                          <a:effectLst/>
                          <a:latin typeface="Adani Regular" panose="02000503000000020004" pitchFamily="2" charset="0"/>
                          <a:ea typeface="+mn-ea"/>
                          <a:cs typeface="+mn-cs"/>
                        </a:rPr>
                        <a:t>Construction (Civil), Electrical,</a:t>
                      </a:r>
                    </a:p>
                    <a:p>
                      <a:r>
                        <a:rPr lang="en-US" sz="1100" b="0" i="0" u="none" strike="noStrike" kern="1200">
                          <a:solidFill>
                            <a:schemeClr val="tx1"/>
                          </a:solidFill>
                          <a:effectLst/>
                          <a:latin typeface="Adani Regular" panose="02000503000000020004" pitchFamily="2" charset="0"/>
                          <a:ea typeface="+mn-ea"/>
                          <a:cs typeface="+mn-cs"/>
                        </a:rPr>
                        <a:t>Integration &amp; Commissioning</a:t>
                      </a:r>
                      <a:endParaRPr lang="en-IN"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54.50%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0.50%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100" kern="1200" noProof="0">
                          <a:solidFill>
                            <a:schemeClr val="tx1"/>
                          </a:solidFill>
                          <a:effectLst/>
                          <a:latin typeface="Adani Regular" panose="02000503000000020004" pitchFamily="2" charset="0"/>
                        </a:rPr>
                        <a:t>Contract Closure is pending.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0448443"/>
                  </a:ext>
                </a:extLst>
              </a:tr>
              <a:tr h="539835">
                <a:tc>
                  <a:txBody>
                    <a:bodyPr/>
                    <a:lstStyle/>
                    <a:p>
                      <a:pPr algn="ctr"/>
                      <a:r>
                        <a:rPr lang="en-US" sz="1100" b="1" spc="-10">
                          <a:solidFill>
                            <a:schemeClr val="bg1"/>
                          </a:solidFill>
                          <a:latin typeface="Adani Regular" panose="02000503000000020004" pitchFamily="2" charset="0"/>
                        </a:rPr>
                        <a:t>Total</a:t>
                      </a:r>
                      <a:endParaRPr lang="en-IN" sz="1100">
                        <a:solidFill>
                          <a:schemeClr val="bg1"/>
                        </a:solidFill>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algn="ctr" defTabSz="914400" rtl="0" eaLnBrk="1" fontAlgn="ctr" latinLnBrk="0" hangingPunct="1">
                        <a:buNone/>
                      </a:pPr>
                      <a:r>
                        <a:rPr lang="en-IN" sz="1100" b="1" i="0" u="none" strike="noStrike" kern="1200">
                          <a:solidFill>
                            <a:schemeClr val="bg1"/>
                          </a:solidFill>
                          <a:effectLst/>
                          <a:latin typeface="Adani Regular" panose="02000503000000020004" pitchFamily="2" charset="0"/>
                          <a:ea typeface="+mn-ea"/>
                          <a:cs typeface="+mn-cs"/>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99.4%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dirty="0">
                          <a:solidFill>
                            <a:srgbClr val="FFFFFF"/>
                          </a:solidFill>
                          <a:effectLst/>
                          <a:latin typeface="Adani Regular" panose="02000503000000020004" pitchFamily="2" charset="0"/>
                        </a:rPr>
                        <a:t>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35560" lvl="0" indent="0" algn="l" defTabSz="914400" rtl="0" eaLnBrk="1" fontAlgn="ctr" latinLnBrk="0" hangingPunct="1">
                        <a:lnSpc>
                          <a:spcPct val="100000"/>
                        </a:lnSpc>
                        <a:spcBef>
                          <a:spcPts val="65"/>
                        </a:spcBef>
                        <a:spcAft>
                          <a:spcPts val="0"/>
                        </a:spcAft>
                        <a:buClrTx/>
                        <a:buSzTx/>
                        <a:buFont typeface="Arial" panose="020B0604020202020204" pitchFamily="34" charset="0"/>
                        <a:buNone/>
                        <a:tabLst>
                          <a:tab pos="219075" algn="l"/>
                        </a:tabLst>
                        <a:defRPr/>
                      </a:pPr>
                      <a:endParaRPr lang="en-US" sz="1100" b="1" i="0" u="none" strike="noStrike" kern="1200" dirty="0">
                        <a:solidFill>
                          <a:schemeClr val="bg1"/>
                        </a:solidFill>
                        <a:effectLst/>
                        <a:highlight>
                          <a:srgbClr val="FFFF00"/>
                        </a:highligh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20722021"/>
                  </a:ext>
                </a:extLst>
              </a:tr>
            </a:tbl>
          </a:graphicData>
        </a:graphic>
      </p:graphicFrame>
      <p:sp>
        <p:nvSpPr>
          <p:cNvPr id="3" name="Slide Number Placeholder 2">
            <a:extLst>
              <a:ext uri="{FF2B5EF4-FFF2-40B4-BE49-F238E27FC236}">
                <a16:creationId xmlns:a16="http://schemas.microsoft.com/office/drawing/2014/main" id="{528FF21F-9375-FEE3-953B-258B48D416CD}"/>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68</a:t>
            </a:fld>
            <a:endParaRPr lang="en-IN"/>
          </a:p>
        </p:txBody>
      </p:sp>
      <p:pic>
        <p:nvPicPr>
          <p:cNvPr id="2" name="Picture 1">
            <a:extLst>
              <a:ext uri="{FF2B5EF4-FFF2-40B4-BE49-F238E27FC236}">
                <a16:creationId xmlns:a16="http://schemas.microsoft.com/office/drawing/2014/main" id="{A67B0091-48D2-3049-2A1D-A5FB810E46DE}"/>
              </a:ext>
            </a:extLst>
          </p:cNvPr>
          <p:cNvPicPr>
            <a:picLocks noChangeAspect="1"/>
          </p:cNvPicPr>
          <p:nvPr/>
        </p:nvPicPr>
        <p:blipFill>
          <a:blip r:embed="rId2"/>
          <a:stretch>
            <a:fillRect/>
          </a:stretch>
        </p:blipFill>
        <p:spPr>
          <a:xfrm>
            <a:off x="290321" y="792791"/>
            <a:ext cx="11610973" cy="2729778"/>
          </a:xfrm>
          <a:prstGeom prst="rect">
            <a:avLst/>
          </a:prstGeom>
        </p:spPr>
      </p:pic>
    </p:spTree>
    <p:extLst>
      <p:ext uri="{BB962C8B-B14F-4D97-AF65-F5344CB8AC3E}">
        <p14:creationId xmlns:p14="http://schemas.microsoft.com/office/powerpoint/2010/main" val="14682933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1295B-7B56-0C7B-1F2C-D8C322561A2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0F1DCFC-3000-06AD-02EB-E3745DE86B0B}"/>
              </a:ext>
            </a:extLst>
          </p:cNvPr>
          <p:cNvSpPr txBox="1"/>
          <p:nvPr/>
        </p:nvSpPr>
        <p:spPr>
          <a:xfrm>
            <a:off x="158462" y="31788"/>
            <a:ext cx="7012359" cy="424732"/>
          </a:xfrm>
          <a:prstGeom prst="rect">
            <a:avLst/>
          </a:prstGeom>
          <a:noFill/>
        </p:spPr>
        <p:txBody>
          <a:bodyPr vert="horz" wrap="square" lIns="91440" tIns="45720" rIns="91440" bIns="45720" rtlCol="0" anchor="b" anchorCtr="0">
            <a:spAutoFit/>
          </a:bodyPr>
          <a:lstStyle>
            <a:defPPr>
              <a:defRPr lang="en-US"/>
            </a:defPPr>
            <a:lvl1pPr indent="0">
              <a:lnSpc>
                <a:spcPct val="90000"/>
              </a:lnSpc>
              <a:spcBef>
                <a:spcPts val="1000"/>
              </a:spcBef>
              <a:buFont typeface="Arial" panose="020B0604020202020204" pitchFamily="34" charset="0"/>
              <a:buNone/>
              <a:defRPr sz="2400" b="1">
                <a:gradFill flip="none" rotWithShape="1">
                  <a:gsLst>
                    <a:gs pos="0">
                      <a:srgbClr val="FF2F5C"/>
                    </a:gs>
                    <a:gs pos="100000">
                      <a:srgbClr val="0070C0"/>
                    </a:gs>
                  </a:gsLst>
                  <a:path path="circle">
                    <a:fillToRect l="100000" t="100000"/>
                  </a:path>
                  <a:tileRect r="-100000" b="-100000"/>
                </a:gradFill>
                <a:latin typeface="Adani Regular" panose="02000503000000020004" pitchFamily="2"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361950" indent="0">
              <a:lnSpc>
                <a:spcPct val="90000"/>
              </a:lnSpc>
              <a:spcBef>
                <a:spcPts val="500"/>
              </a:spcBef>
              <a:buFont typeface="Arial" panose="020B0604020202020204" pitchFamily="34" charset="0"/>
              <a:buNone/>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defRPr/>
            </a:pPr>
            <a:r>
              <a:rPr lang="en-US" dirty="0">
                <a:gradFill>
                  <a:gsLst>
                    <a:gs pos="9735">
                      <a:schemeClr val="tx2"/>
                    </a:gs>
                    <a:gs pos="63000">
                      <a:srgbClr val="8E278F"/>
                    </a:gs>
                    <a:gs pos="38000">
                      <a:srgbClr val="57499E"/>
                    </a:gs>
                  </a:gsLst>
                  <a:lin ang="0" scaled="0"/>
                </a:gradFill>
              </a:rPr>
              <a:t>Physical Progress : PSS 8A S-Curve </a:t>
            </a:r>
          </a:p>
        </p:txBody>
      </p:sp>
      <p:graphicFrame>
        <p:nvGraphicFramePr>
          <p:cNvPr id="12" name="object 4">
            <a:extLst>
              <a:ext uri="{FF2B5EF4-FFF2-40B4-BE49-F238E27FC236}">
                <a16:creationId xmlns:a16="http://schemas.microsoft.com/office/drawing/2014/main" id="{48769C31-1EBE-20D6-30A5-51601B7027FB}"/>
              </a:ext>
            </a:extLst>
          </p:cNvPr>
          <p:cNvGraphicFramePr>
            <a:graphicFrameLocks noGrp="1"/>
          </p:cNvGraphicFramePr>
          <p:nvPr>
            <p:extLst>
              <p:ext uri="{D42A27DB-BD31-4B8C-83A1-F6EECF244321}">
                <p14:modId xmlns:p14="http://schemas.microsoft.com/office/powerpoint/2010/main" val="3079146593"/>
              </p:ext>
            </p:extLst>
          </p:nvPr>
        </p:nvGraphicFramePr>
        <p:xfrm>
          <a:off x="292586" y="3701860"/>
          <a:ext cx="11727965" cy="2993632"/>
        </p:xfrm>
        <a:graphic>
          <a:graphicData uri="http://schemas.openxmlformats.org/drawingml/2006/table">
            <a:tbl>
              <a:tblPr firstRow="1" bandRow="1">
                <a:tableStyleId>{2D5ABB26-0587-4C30-8999-92F81FD0307C}</a:tableStyleId>
              </a:tblPr>
              <a:tblGrid>
                <a:gridCol w="1793389">
                  <a:extLst>
                    <a:ext uri="{9D8B030D-6E8A-4147-A177-3AD203B41FA5}">
                      <a16:colId xmlns:a16="http://schemas.microsoft.com/office/drawing/2014/main" val="20000"/>
                    </a:ext>
                  </a:extLst>
                </a:gridCol>
                <a:gridCol w="409575">
                  <a:extLst>
                    <a:ext uri="{9D8B030D-6E8A-4147-A177-3AD203B41FA5}">
                      <a16:colId xmlns:a16="http://schemas.microsoft.com/office/drawing/2014/main" val="20001"/>
                    </a:ext>
                  </a:extLst>
                </a:gridCol>
                <a:gridCol w="619125">
                  <a:extLst>
                    <a:ext uri="{9D8B030D-6E8A-4147-A177-3AD203B41FA5}">
                      <a16:colId xmlns:a16="http://schemas.microsoft.com/office/drawing/2014/main" val="1846315748"/>
                    </a:ext>
                  </a:extLst>
                </a:gridCol>
                <a:gridCol w="638175">
                  <a:extLst>
                    <a:ext uri="{9D8B030D-6E8A-4147-A177-3AD203B41FA5}">
                      <a16:colId xmlns:a16="http://schemas.microsoft.com/office/drawing/2014/main" val="1665052075"/>
                    </a:ext>
                  </a:extLst>
                </a:gridCol>
                <a:gridCol w="628650">
                  <a:extLst>
                    <a:ext uri="{9D8B030D-6E8A-4147-A177-3AD203B41FA5}">
                      <a16:colId xmlns:a16="http://schemas.microsoft.com/office/drawing/2014/main" val="3974385257"/>
                    </a:ext>
                  </a:extLst>
                </a:gridCol>
                <a:gridCol w="7639051">
                  <a:extLst>
                    <a:ext uri="{9D8B030D-6E8A-4147-A177-3AD203B41FA5}">
                      <a16:colId xmlns:a16="http://schemas.microsoft.com/office/drawing/2014/main" val="20006"/>
                    </a:ext>
                  </a:extLst>
                </a:gridCol>
              </a:tblGrid>
              <a:tr h="284955">
                <a:tc rowSpan="2">
                  <a:txBody>
                    <a:bodyPr/>
                    <a:lstStyle/>
                    <a:p>
                      <a:pPr marL="45720" algn="ctr">
                        <a:lnSpc>
                          <a:spcPct val="100000"/>
                        </a:lnSpc>
                      </a:pPr>
                      <a:r>
                        <a:rPr lang="en-US" sz="1100" b="1" spc="-10">
                          <a:solidFill>
                            <a:srgbClr val="FFFFFF"/>
                          </a:solidFill>
                          <a:latin typeface="Adani Regular" panose="02000503000000020004" pitchFamily="2" charset="0"/>
                          <a:cs typeface="Adani Regular"/>
                        </a:rPr>
                        <a:t>Activity</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635" algn="ctr">
                        <a:lnSpc>
                          <a:spcPct val="100000"/>
                        </a:lnSpc>
                      </a:pPr>
                      <a:r>
                        <a:rPr lang="en-US" sz="1100" b="1" spc="-20">
                          <a:solidFill>
                            <a:srgbClr val="FFFFFF"/>
                          </a:solidFill>
                          <a:latin typeface="Adani Regular" panose="02000503000000020004" pitchFamily="2" charset="0"/>
                          <a:cs typeface="Adani Regular"/>
                        </a:rPr>
                        <a:t>Wtg.</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2">
                  <a:txBody>
                    <a:bodyPr/>
                    <a:lstStyle/>
                    <a:p>
                      <a:pPr algn="ctr">
                        <a:lnSpc>
                          <a:spcPct val="100000"/>
                        </a:lnSpc>
                        <a:spcBef>
                          <a:spcPts val="450"/>
                        </a:spcBef>
                      </a:pPr>
                      <a:r>
                        <a:rPr lang="en-US" sz="1100" b="1" spc="-25">
                          <a:solidFill>
                            <a:srgbClr val="FFFFFF"/>
                          </a:solidFill>
                          <a:latin typeface="Adani Regular"/>
                          <a:cs typeface="Adani Regular"/>
                        </a:rPr>
                        <a:t>FTM</a:t>
                      </a:r>
                      <a:endParaRPr lang="en-US" sz="1100" b="1">
                        <a:latin typeface="Adani Regular"/>
                        <a:cs typeface="Adani Regular"/>
                      </a:endParaRP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hMerge="1">
                  <a:txBody>
                    <a:bodyPr/>
                    <a:lstStyle/>
                    <a:p>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030A0"/>
                    </a:solidFill>
                  </a:tcPr>
                </a:tc>
                <a:tc rowSpan="2">
                  <a:txBody>
                    <a:bodyPr/>
                    <a:lstStyle/>
                    <a:p>
                      <a:pPr marL="0" marR="0" lvl="0" indent="0" algn="ctr" defTabSz="914400" rtl="0" eaLnBrk="1" fontAlgn="auto" latinLnBrk="0" hangingPunct="1">
                        <a:lnSpc>
                          <a:spcPct val="100000"/>
                        </a:lnSpc>
                        <a:spcBef>
                          <a:spcPts val="450"/>
                        </a:spcBef>
                        <a:spcAft>
                          <a:spcPts val="0"/>
                        </a:spcAft>
                        <a:buClrTx/>
                        <a:buSzTx/>
                        <a:buFontTx/>
                        <a:buNone/>
                        <a:tabLst/>
                        <a:defRPr/>
                      </a:pPr>
                      <a:r>
                        <a:rPr lang="en-US" sz="1100" b="1">
                          <a:solidFill>
                            <a:schemeClr val="bg1"/>
                          </a:solidFill>
                          <a:latin typeface="Adani Regular"/>
                          <a:cs typeface="Adani Regular"/>
                        </a:rPr>
                        <a:t>Variance in Plan Vs Actual</a:t>
                      </a: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1270" algn="ctr">
                        <a:lnSpc>
                          <a:spcPct val="100000"/>
                        </a:lnSpc>
                      </a:pPr>
                      <a:r>
                        <a:rPr lang="en-US" sz="1100" b="1">
                          <a:solidFill>
                            <a:schemeClr val="bg1"/>
                          </a:solidFill>
                          <a:latin typeface="Adani Regular" panose="02000503000000020004" pitchFamily="2" charset="0"/>
                          <a:cs typeface="Adani Regular"/>
                        </a:rPr>
                        <a:t>Variance Remark &amp; Mitigation/Action Plan</a:t>
                      </a: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299830">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a:txBody>
                    <a:bodyPr/>
                    <a:lstStyle/>
                    <a:p>
                      <a:pPr marL="635" algn="ctr">
                        <a:lnSpc>
                          <a:spcPct val="100000"/>
                        </a:lnSpc>
                        <a:spcBef>
                          <a:spcPts val="455"/>
                        </a:spcBef>
                      </a:pPr>
                      <a:r>
                        <a:rPr lang="en-US" sz="1100" b="1" spc="-20">
                          <a:solidFill>
                            <a:srgbClr val="FFFFFF"/>
                          </a:solidFill>
                          <a:latin typeface="Adani Regular" panose="02000503000000020004" pitchFamily="2" charset="0"/>
                          <a:cs typeface="Adani Regular"/>
                        </a:rPr>
                        <a:t>Plan</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lnSpc>
                          <a:spcPct val="100000"/>
                        </a:lnSpc>
                        <a:spcBef>
                          <a:spcPts val="455"/>
                        </a:spcBef>
                      </a:pPr>
                      <a:r>
                        <a:rPr lang="en-US" sz="1100" b="1" spc="-20">
                          <a:solidFill>
                            <a:srgbClr val="FFFFFF"/>
                          </a:solidFill>
                          <a:latin typeface="Adani Regular" panose="02000503000000020004" pitchFamily="2" charset="0"/>
                          <a:cs typeface="Adani Regular"/>
                        </a:rPr>
                        <a:t>Actual</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pPr marL="635" algn="ctr">
                        <a:lnSpc>
                          <a:spcPct val="100000"/>
                        </a:lnSpc>
                        <a:spcBef>
                          <a:spcPts val="455"/>
                        </a:spcBef>
                      </a:pPr>
                      <a:endParaRPr lang="en-US" sz="10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extLst>
                  <a:ext uri="{0D108BD9-81ED-4DB2-BD59-A6C34878D82A}">
                    <a16:rowId xmlns:a16="http://schemas.microsoft.com/office/drawing/2014/main" val="10001"/>
                  </a:ext>
                </a:extLst>
              </a:tr>
              <a:tr h="284955">
                <a:tc>
                  <a:txBody>
                    <a:bodyPr/>
                    <a:lstStyle/>
                    <a:p>
                      <a:pPr marL="45720" marR="0" lvl="0" indent="0" algn="l" rtl="0" eaLnBrk="1" fontAlgn="auto" latinLnBrk="0" hangingPunct="1">
                        <a:lnSpc>
                          <a:spcPct val="100000"/>
                        </a:lnSpc>
                        <a:spcBef>
                          <a:spcPts val="445"/>
                        </a:spcBef>
                        <a:spcAft>
                          <a:spcPts val="0"/>
                        </a:spcAft>
                        <a:buClrTx/>
                        <a:buSzTx/>
                        <a:buFontTx/>
                        <a:buNone/>
                      </a:pPr>
                      <a:r>
                        <a:rPr lang="en-IN" sz="1100" b="0" i="0" u="none" strike="noStrike">
                          <a:solidFill>
                            <a:schemeClr val="tx1"/>
                          </a:solidFill>
                          <a:effectLst/>
                          <a:latin typeface="Adani Regular" panose="02000503000000020004" pitchFamily="2" charset="0"/>
                        </a:rPr>
                        <a:t>Statutory Approvals</a:t>
                      </a:r>
                      <a:endParaRPr lang="en-US" sz="1100">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0.06%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just">
                        <a:lnSpc>
                          <a:spcPct val="100000"/>
                        </a:lnSpc>
                        <a:spcBef>
                          <a:spcPts val="0"/>
                        </a:spcBef>
                        <a:spcAft>
                          <a:spcPts val="0"/>
                        </a:spcAft>
                        <a:buNone/>
                      </a:pPr>
                      <a:r>
                        <a:rPr lang="en-US" sz="1100" b="0" i="0" u="none" strike="noStrike" noProof="0">
                          <a:solidFill>
                            <a:schemeClr val="tx1"/>
                          </a:solidFill>
                          <a:effectLst/>
                          <a:latin typeface="Adani Regular" panose="02000503000000020004" pitchFamily="2" charset="0"/>
                        </a:rPr>
                        <a:t>Balance approval (Factory License)</a:t>
                      </a:r>
                      <a:endParaRPr lang="en-US" sz="1100">
                        <a:solidFill>
                          <a:schemeClr val="tx1"/>
                        </a:solidFill>
                        <a:latin typeface="Adani Regular" panose="02000503000000020004" pitchFamily="2"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70133264"/>
                  </a:ext>
                </a:extLst>
              </a:tr>
              <a:tr h="284955">
                <a:tc>
                  <a:txBody>
                    <a:bodyPr/>
                    <a:lstStyle/>
                    <a:p>
                      <a:pPr marL="45720">
                        <a:lnSpc>
                          <a:spcPct val="100000"/>
                        </a:lnSpc>
                        <a:spcBef>
                          <a:spcPts val="445"/>
                        </a:spcBef>
                      </a:pPr>
                      <a:r>
                        <a:rPr lang="en-US" sz="1100" spc="-10">
                          <a:latin typeface="Adani Regular" panose="02000503000000020004" pitchFamily="2" charset="0"/>
                          <a:cs typeface="Adani Regular"/>
                        </a:rPr>
                        <a:t>Engineering</a:t>
                      </a:r>
                      <a:endParaRPr lang="en-US" sz="1100">
                        <a:latin typeface="Adani Regular" panose="02000503000000020004" pitchFamily="2" charset="0"/>
                        <a:cs typeface="Adani Regular"/>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a:solidFill>
                            <a:schemeClr val="tx1"/>
                          </a:solidFill>
                          <a:effectLst/>
                          <a:latin typeface="Adani Regular" panose="02000503000000020004" pitchFamily="2" charset="0"/>
                          <a:ea typeface="Aptos" panose="020B0004020202020204" pitchFamily="34" charset="0"/>
                          <a:cs typeface="Aptos" panose="020B0004020202020204" pitchFamily="34" charset="0"/>
                        </a:rPr>
                        <a:t>Completed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45551">
                <a:tc>
                  <a:txBody>
                    <a:bodyPr/>
                    <a:lstStyle/>
                    <a:p>
                      <a:pPr marL="45720" marR="0" lvl="0" indent="0" algn="l" defTabSz="914400" rtl="0" eaLnBrk="1" fontAlgn="auto" latinLnBrk="0" hangingPunct="1">
                        <a:lnSpc>
                          <a:spcPct val="100000"/>
                        </a:lnSpc>
                        <a:spcBef>
                          <a:spcPts val="445"/>
                        </a:spcBef>
                        <a:spcAft>
                          <a:spcPts val="0"/>
                        </a:spcAft>
                        <a:buClrTx/>
                        <a:buSzTx/>
                        <a:buFontTx/>
                        <a:buNone/>
                      </a:pPr>
                      <a:r>
                        <a:rPr lang="en-US" sz="1100" b="0" i="0" u="none" strike="noStrike" kern="1200" noProof="0">
                          <a:solidFill>
                            <a:schemeClr val="tx1"/>
                          </a:solidFill>
                          <a:effectLst/>
                          <a:latin typeface="Adani Regular" panose="02000503000000020004" pitchFamily="2" charset="0"/>
                          <a:ea typeface="+mn-ea"/>
                          <a:cs typeface="+mn-cs"/>
                        </a:rPr>
                        <a:t>Ordering, Manufacturing &amp; Supply </a:t>
                      </a:r>
                      <a:endParaRPr lang="en-US"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a:solidFill>
                            <a:schemeClr val="tx1"/>
                          </a:solidFill>
                          <a:effectLst/>
                          <a:latin typeface="Adani Regular" panose="02000503000000020004" pitchFamily="2" charset="0"/>
                          <a:ea typeface="Aptos" panose="020B0004020202020204" pitchFamily="34" charset="0"/>
                          <a:cs typeface="Aptos" panose="020B0004020202020204" pitchFamily="34" charset="0"/>
                        </a:rPr>
                        <a:t>Completed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95626">
                <a:tc>
                  <a:txBody>
                    <a:bodyPr/>
                    <a:lstStyle/>
                    <a:p>
                      <a:r>
                        <a:rPr lang="en-US" sz="1100" b="0" i="0" u="none" strike="noStrike" kern="1200">
                          <a:solidFill>
                            <a:schemeClr val="tx1"/>
                          </a:solidFill>
                          <a:effectLst/>
                          <a:latin typeface="Adani Regular" panose="02000503000000020004" pitchFamily="2" charset="0"/>
                          <a:ea typeface="+mn-ea"/>
                          <a:cs typeface="+mn-cs"/>
                        </a:rPr>
                        <a:t>Construction (Civil), Electrical,</a:t>
                      </a:r>
                    </a:p>
                    <a:p>
                      <a:r>
                        <a:rPr lang="en-US" sz="1100" b="0" i="0" u="none" strike="noStrike" kern="1200">
                          <a:solidFill>
                            <a:schemeClr val="tx1"/>
                          </a:solidFill>
                          <a:effectLst/>
                          <a:latin typeface="Adani Regular" panose="02000503000000020004" pitchFamily="2" charset="0"/>
                          <a:ea typeface="+mn-ea"/>
                          <a:cs typeface="+mn-cs"/>
                        </a:rPr>
                        <a:t>Integration &amp; Commissioning</a:t>
                      </a:r>
                      <a:endParaRPr lang="en-IN"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54.99%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0.01%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100" kern="1200" noProof="0">
                          <a:solidFill>
                            <a:schemeClr val="tx1"/>
                          </a:solidFill>
                          <a:effectLst/>
                          <a:latin typeface="Adani Regular" panose="02000503000000020004" pitchFamily="2" charset="0"/>
                        </a:rPr>
                        <a:t>Contract Closure is pending.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0448443"/>
                  </a:ext>
                </a:extLst>
              </a:tr>
              <a:tr h="454835">
                <a:tc>
                  <a:txBody>
                    <a:bodyPr/>
                    <a:lstStyle/>
                    <a:p>
                      <a:pPr algn="ctr"/>
                      <a:r>
                        <a:rPr lang="en-US" sz="1100" b="1" spc="-10">
                          <a:solidFill>
                            <a:schemeClr val="bg1"/>
                          </a:solidFill>
                          <a:latin typeface="Adani Regular" panose="02000503000000020004" pitchFamily="2" charset="0"/>
                        </a:rPr>
                        <a:t>Total</a:t>
                      </a:r>
                      <a:endParaRPr lang="en-IN" sz="1100">
                        <a:solidFill>
                          <a:schemeClr val="bg1"/>
                        </a:solidFill>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algn="ctr" defTabSz="914400" rtl="0" eaLnBrk="1" fontAlgn="ctr" latinLnBrk="0" hangingPunct="1">
                        <a:buNone/>
                      </a:pPr>
                      <a:r>
                        <a:rPr lang="en-IN" sz="1100" b="1" i="0" u="none" strike="noStrike" kern="1200">
                          <a:solidFill>
                            <a:schemeClr val="bg1"/>
                          </a:solidFill>
                          <a:effectLst/>
                          <a:latin typeface="Adani Regular" panose="02000503000000020004" pitchFamily="2" charset="0"/>
                          <a:ea typeface="+mn-ea"/>
                          <a:cs typeface="+mn-cs"/>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99.9%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35560" lvl="0" indent="0" algn="l" defTabSz="914400" rtl="0" eaLnBrk="1" fontAlgn="ctr" latinLnBrk="0" hangingPunct="1">
                        <a:lnSpc>
                          <a:spcPct val="100000"/>
                        </a:lnSpc>
                        <a:spcBef>
                          <a:spcPts val="65"/>
                        </a:spcBef>
                        <a:spcAft>
                          <a:spcPts val="0"/>
                        </a:spcAft>
                        <a:buClrTx/>
                        <a:buSzTx/>
                        <a:buFont typeface="Arial" panose="020B0604020202020204" pitchFamily="34" charset="0"/>
                        <a:buNone/>
                        <a:tabLst>
                          <a:tab pos="219075" algn="l"/>
                        </a:tabLst>
                        <a:defRPr/>
                      </a:pPr>
                      <a:endParaRPr lang="en-US" sz="1100" b="1" i="0" u="none" strike="noStrike" kern="1200">
                        <a:solidFill>
                          <a:schemeClr val="bg1"/>
                        </a:solidFill>
                        <a:effectLst/>
                        <a:highlight>
                          <a:srgbClr val="FFFF00"/>
                        </a:highligh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20722021"/>
                  </a:ext>
                </a:extLst>
              </a:tr>
            </a:tbl>
          </a:graphicData>
        </a:graphic>
      </p:graphicFrame>
      <p:sp>
        <p:nvSpPr>
          <p:cNvPr id="2" name="Slide Number Placeholder 2">
            <a:extLst>
              <a:ext uri="{FF2B5EF4-FFF2-40B4-BE49-F238E27FC236}">
                <a16:creationId xmlns:a16="http://schemas.microsoft.com/office/drawing/2014/main" id="{56B55EE8-A571-E04C-92A4-F24D66EA6A06}"/>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69</a:t>
            </a:fld>
            <a:endParaRPr lang="en-IN"/>
          </a:p>
        </p:txBody>
      </p:sp>
      <p:pic>
        <p:nvPicPr>
          <p:cNvPr id="4" name="Picture 3">
            <a:extLst>
              <a:ext uri="{FF2B5EF4-FFF2-40B4-BE49-F238E27FC236}">
                <a16:creationId xmlns:a16="http://schemas.microsoft.com/office/drawing/2014/main" id="{8427675C-C313-93C3-82C2-59CC960B3D60}"/>
              </a:ext>
            </a:extLst>
          </p:cNvPr>
          <p:cNvPicPr>
            <a:picLocks noChangeAspect="1"/>
          </p:cNvPicPr>
          <p:nvPr/>
        </p:nvPicPr>
        <p:blipFill>
          <a:blip r:embed="rId2"/>
          <a:stretch>
            <a:fillRect/>
          </a:stretch>
        </p:blipFill>
        <p:spPr>
          <a:xfrm>
            <a:off x="292585" y="748150"/>
            <a:ext cx="11727965" cy="2795181"/>
          </a:xfrm>
          <a:prstGeom prst="rect">
            <a:avLst/>
          </a:prstGeom>
        </p:spPr>
      </p:pic>
    </p:spTree>
    <p:extLst>
      <p:ext uri="{BB962C8B-B14F-4D97-AF65-F5344CB8AC3E}">
        <p14:creationId xmlns:p14="http://schemas.microsoft.com/office/powerpoint/2010/main" val="117700959"/>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8d4c7d81-9469-435b-a8ba-582efe8dadc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57E817B3A7D38469FCB1914B38A626F" ma:contentTypeVersion="15" ma:contentTypeDescription="Create a new document." ma:contentTypeScope="" ma:versionID="97201fdc5f5f299f79190cfb139c2859">
  <xsd:schema xmlns:xsd="http://www.w3.org/2001/XMLSchema" xmlns:xs="http://www.w3.org/2001/XMLSchema" xmlns:p="http://schemas.microsoft.com/office/2006/metadata/properties" xmlns:ns3="8d4c7d81-9469-435b-a8ba-582efe8dadca" xmlns:ns4="99fa29a3-d09d-48f4-9c4c-d47d57dde5a6" targetNamespace="http://schemas.microsoft.com/office/2006/metadata/properties" ma:root="true" ma:fieldsID="08798cd83b8095d94b216b174b4a26c0" ns3:_="" ns4:_="">
    <xsd:import namespace="8d4c7d81-9469-435b-a8ba-582efe8dadca"/>
    <xsd:import namespace="99fa29a3-d09d-48f4-9c4c-d47d57dde5a6"/>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_activity" minOccurs="0"/>
                <xsd:element ref="ns4:SharedWithUsers" minOccurs="0"/>
                <xsd:element ref="ns4:SharedWithDetails" minOccurs="0"/>
                <xsd:element ref="ns4:SharingHintHash" minOccurs="0"/>
                <xsd:element ref="ns3:MediaServiceBillingMetadata"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4c7d81-9469-435b-a8ba-582efe8dadc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_activity" ma:index="17" nillable="true" ma:displayName="_activity" ma:hidden="true" ma:internalName="_activity">
      <xsd:simpleType>
        <xsd:restriction base="dms:Note"/>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9fa29a3-d09d-48f4-9c4c-d47d57dde5a6"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26D7DE2-94BD-4408-9C77-0F1A8A0041BB}">
  <ds:schemaRefs>
    <ds:schemaRef ds:uri="8d4c7d81-9469-435b-a8ba-582efe8dadca"/>
    <ds:schemaRef ds:uri="99fa29a3-d09d-48f4-9c4c-d47d57dde5a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761E0F0-AE7B-4924-9EA0-39C03D82A9AA}">
  <ds:schemaRefs>
    <ds:schemaRef ds:uri="8d4c7d81-9469-435b-a8ba-582efe8dadca"/>
    <ds:schemaRef ds:uri="99fa29a3-d09d-48f4-9c4c-d47d57dde5a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AE60410-CD26-4672-AC95-924FD542FF31}">
  <ds:schemaRefs>
    <ds:schemaRef ds:uri="http://schemas.microsoft.com/sharepoint/v3/contenttype/forms"/>
  </ds:schemaRefs>
</ds:datastoreItem>
</file>

<file path=docMetadata/LabelInfo.xml><?xml version="1.0" encoding="utf-8"?>
<clbl:labelList xmlns:clbl="http://schemas.microsoft.com/office/2020/mipLabelMetadata">
  <clbl:label id="{04c72f56-1848-46a2-8167-8e5d36510cbc}" enabled="0" method="" siteId="{04c72f56-1848-46a2-8167-8e5d36510cbc}" removed="1"/>
</clbl:labelList>
</file>

<file path=docProps/app.xml><?xml version="1.0" encoding="utf-8"?>
<Properties xmlns="http://schemas.openxmlformats.org/officeDocument/2006/extended-properties" xmlns:vt="http://schemas.openxmlformats.org/officeDocument/2006/docPropsVTypes">
  <Template/>
  <TotalTime>62</TotalTime>
  <Words>10108</Words>
  <Application>Microsoft Office PowerPoint</Application>
  <PresentationFormat>Widescreen</PresentationFormat>
  <Paragraphs>3629</Paragraphs>
  <Slides>69</Slides>
  <Notes>52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69</vt:i4>
      </vt:variant>
    </vt:vector>
  </HeadingPairs>
  <TitlesOfParts>
    <vt:vector size="77" baseType="lpstr">
      <vt:lpstr>Adani Light</vt:lpstr>
      <vt:lpstr>Adani Medium</vt:lpstr>
      <vt:lpstr>Adani Regular</vt:lpstr>
      <vt:lpstr>Aptos</vt:lpstr>
      <vt:lpstr>Arial</vt:lpstr>
      <vt:lpstr>Calibri</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Engineering Progress : PSS 11 / PSS 12 / PSS 10B/ PSS 09/ PSS08B/ PSS05B</vt:lpstr>
      <vt:lpstr>Procurement Status: PSS 11, 12, 10B, 9, 05B &amp; 08B </vt:lpstr>
      <vt:lpstr>Procurement &amp; Monthly Rolling Plan for Supply of Equipment – PSS 11</vt:lpstr>
      <vt:lpstr>Procurement &amp; Monthly Rolling Plan for Supply of Equipment – PSS 12</vt:lpstr>
      <vt:lpstr>Procurement &amp; Monthly Rolling Plan for Supply of Equipment – PSS 10B</vt:lpstr>
      <vt:lpstr>Procurement &amp; Monthly Rolling Plan for Supply of Equipment – PSS 09</vt:lpstr>
      <vt:lpstr>Procurement &amp; Monthly Rolling Plan for Supply of Equipment – PSS 05B</vt:lpstr>
      <vt:lpstr>Procurement &amp; Monthly Rolling Plan for Supply of Equipment – PSS 08B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Manpower &amp; Mandays Status: PSS 11, 12, 10B, 9, 05B &amp; 08B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Major Milestones – Next 3 months (PSS – 11, 12, 10B, 9, 5B, 8B)</vt:lpstr>
      <vt:lpstr>CRITICAL ISSUES FY 26-27</vt:lpstr>
      <vt:lpstr>PowerPoint Presentation</vt:lpstr>
      <vt:lpstr>PowerPoint Presentation</vt:lpstr>
      <vt:lpstr>Ordering Status  PSS-11, 12 &amp; 10(B)</vt:lpstr>
      <vt:lpstr>PowerPoint Presentation</vt:lpstr>
      <vt:lpstr>PowerPoint Presentation</vt:lpstr>
      <vt:lpstr>PowerPoint Presentation</vt:lpstr>
      <vt:lpstr>PowerPoint Presentation</vt:lpstr>
      <vt:lpstr>PowerPoint Presentation</vt:lpstr>
      <vt:lpstr>PowerPoint Presentation</vt:lpstr>
      <vt:lpstr>Ordering Status  PSS-09, 05(B) &amp; 08(B)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Rahulsingh Tomar</dc:creator>
  <cp:lastModifiedBy>Divyanshi Tahkit</cp:lastModifiedBy>
  <cp:revision>1</cp:revision>
  <cp:lastPrinted>2026-07-08T10:43:53Z</cp:lastPrinted>
  <dcterms:created xsi:type="dcterms:W3CDTF">2023-08-27T05:23:05Z</dcterms:created>
  <dcterms:modified xsi:type="dcterms:W3CDTF">2026-09-22T13:10:24Z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0x010100357E817B3A7D38469FCB1914B38A626F</vt:lpwstr>
  </property>
</Properties>
</file>