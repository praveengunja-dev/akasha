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147378442" r:id="rId5"/>
    <p:sldId id="2147376139" r:id="rId6"/>
    <p:sldId id="2147376708" r:id="rId7"/>
    <p:sldId id="2147482526" r:id="rId8"/>
    <p:sldId id="2147378507" r:id="rId9"/>
    <p:sldId id="2147482531" r:id="rId10"/>
    <p:sldId id="2147482572" r:id="rId11"/>
    <p:sldId id="2147482491" r:id="rId12"/>
    <p:sldId id="2147482492" r:id="rId13"/>
    <p:sldId id="2147482571" r:id="rId14"/>
    <p:sldId id="2147482494" r:id="rId15"/>
    <p:sldId id="2147378517" r:id="rId16"/>
    <p:sldId id="2147482556" r:id="rId17"/>
    <p:sldId id="2147482557" r:id="rId18"/>
    <p:sldId id="2147482558" r:id="rId19"/>
    <p:sldId id="2147482573" r:id="rId20"/>
    <p:sldId id="2147482560" r:id="rId21"/>
    <p:sldId id="2147482569" r:id="rId22"/>
    <p:sldId id="2147483647" r:id="rId23"/>
    <p:sldId id="2147482563" r:id="rId24"/>
    <p:sldId id="2147482564" r:id="rId25"/>
    <p:sldId id="2146848161" r:id="rId26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2C501D-1819-F1E8-64DF-FF0CAA8F970E}" name="Satya Nagar" initials="SN" userId="S::30135924@adani.com::5e00535b-d87d-4fdd-ba2b-20b5bd05069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DFD1EF"/>
    <a:srgbClr val="CFD5EA"/>
    <a:srgbClr val="A5A5A5"/>
    <a:srgbClr val="B2B2B2"/>
    <a:srgbClr val="DDDDDD"/>
    <a:srgbClr val="EAD8F4"/>
    <a:srgbClr val="E1C7EF"/>
    <a:srgbClr val="ECE3F5"/>
    <a:srgbClr val="F4E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D264E4-FFF7-498F-920D-6EB2B31771C9}" v="8" dt="2026-09-09T06:43:39.9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il Vyas" userId="8d57d19d-8a0f-4087-ac37-3655e008dac7" providerId="ADAL" clId="{787FFE10-D76E-4DA2-B14D-AC7143B2D6A6}"/>
    <pc:docChg chg="undo custSel modSld">
      <pc:chgData name="Sunil Vyas" userId="8d57d19d-8a0f-4087-ac37-3655e008dac7" providerId="ADAL" clId="{787FFE10-D76E-4DA2-B14D-AC7143B2D6A6}" dt="2026-08-31T12:07:29.075" v="536" actId="20577"/>
      <pc:docMkLst>
        <pc:docMk/>
      </pc:docMkLst>
      <pc:sldChg chg="modSp mod">
        <pc:chgData name="Sunil Vyas" userId="8d57d19d-8a0f-4087-ac37-3655e008dac7" providerId="ADAL" clId="{787FFE10-D76E-4DA2-B14D-AC7143B2D6A6}" dt="2026-08-31T12:07:29.075" v="536" actId="20577"/>
        <pc:sldMkLst>
          <pc:docMk/>
          <pc:sldMk cId="2708754664" sldId="2147376708"/>
        </pc:sldMkLst>
        <pc:graphicFrameChg chg="modGraphic">
          <ac:chgData name="Sunil Vyas" userId="8d57d19d-8a0f-4087-ac37-3655e008dac7" providerId="ADAL" clId="{787FFE10-D76E-4DA2-B14D-AC7143B2D6A6}" dt="2026-08-31T12:07:29.075" v="536" actId="20577"/>
          <ac:graphicFrameMkLst>
            <pc:docMk/>
            <pc:sldMk cId="2708754664" sldId="2147376708"/>
            <ac:graphicFrameMk id="4" creationId="{799435ED-A231-E13F-1D74-A6966BAE1BA2}"/>
          </ac:graphicFrameMkLst>
        </pc:graphicFrameChg>
      </pc:sldChg>
      <pc:sldChg chg="modSp mod">
        <pc:chgData name="Sunil Vyas" userId="8d57d19d-8a0f-4087-ac37-3655e008dac7" providerId="ADAL" clId="{787FFE10-D76E-4DA2-B14D-AC7143B2D6A6}" dt="2026-08-11T07:18:30.188" v="526" actId="20577"/>
        <pc:sldMkLst>
          <pc:docMk/>
          <pc:sldMk cId="1704265810" sldId="2147482563"/>
        </pc:sldMkLst>
        <pc:graphicFrameChg chg="modGraphic">
          <ac:chgData name="Sunil Vyas" userId="8d57d19d-8a0f-4087-ac37-3655e008dac7" providerId="ADAL" clId="{787FFE10-D76E-4DA2-B14D-AC7143B2D6A6}" dt="2026-08-11T07:18:30.188" v="526" actId="20577"/>
          <ac:graphicFrameMkLst>
            <pc:docMk/>
            <pc:sldMk cId="1704265810" sldId="2147482563"/>
            <ac:graphicFrameMk id="5" creationId="{7F2226DF-97B6-D90A-3DE5-783E009312B7}"/>
          </ac:graphicFrameMkLst>
        </pc:graphicFrameChg>
      </pc:sldChg>
      <pc:sldChg chg="addSp delSp modSp mod">
        <pc:chgData name="Sunil Vyas" userId="8d57d19d-8a0f-4087-ac37-3655e008dac7" providerId="ADAL" clId="{787FFE10-D76E-4DA2-B14D-AC7143B2D6A6}" dt="2026-08-11T07:11:55.161" v="514" actId="1076"/>
        <pc:sldMkLst>
          <pc:docMk/>
          <pc:sldMk cId="1337925191" sldId="2147482564"/>
        </pc:sldMkLst>
        <pc:graphicFrameChg chg="add mod">
          <ac:chgData name="Sunil Vyas" userId="8d57d19d-8a0f-4087-ac37-3655e008dac7" providerId="ADAL" clId="{787FFE10-D76E-4DA2-B14D-AC7143B2D6A6}" dt="2026-08-11T07:11:55.161" v="514" actId="1076"/>
          <ac:graphicFrameMkLst>
            <pc:docMk/>
            <pc:sldMk cId="1337925191" sldId="2147482564"/>
            <ac:graphicFrameMk id="5" creationId="{7C26CF29-5AAF-4103-9580-26ABC59F0B5C}"/>
          </ac:graphicFrameMkLst>
        </pc:graphicFrameChg>
      </pc:sldChg>
    </pc:docChg>
  </pc:docChgLst>
  <pc:docChgLst>
    <pc:chgData name="Satya Nagar" userId="5e00535b-d87d-4fdd-ba2b-20b5bd050693" providerId="ADAL" clId="{EB67D2CF-0BBB-45CC-A2D8-A0B2C401934D}"/>
    <pc:docChg chg="undo custSel addSld delSld modSld">
      <pc:chgData name="Satya Nagar" userId="5e00535b-d87d-4fdd-ba2b-20b5bd050693" providerId="ADAL" clId="{EB67D2CF-0BBB-45CC-A2D8-A0B2C401934D}" dt="2026-09-09T06:44:25.031" v="199" actId="20577"/>
      <pc:docMkLst>
        <pc:docMk/>
      </pc:docMkLst>
      <pc:sldChg chg="modSp mod">
        <pc:chgData name="Satya Nagar" userId="5e00535b-d87d-4fdd-ba2b-20b5bd050693" providerId="ADAL" clId="{EB67D2CF-0BBB-45CC-A2D8-A0B2C401934D}" dt="2026-09-09T06:32:23.296" v="158" actId="20577"/>
        <pc:sldMkLst>
          <pc:docMk/>
          <pc:sldMk cId="2708754664" sldId="2147376708"/>
        </pc:sldMkLst>
        <pc:graphicFrameChg chg="modGraphic">
          <ac:chgData name="Satya Nagar" userId="5e00535b-d87d-4fdd-ba2b-20b5bd050693" providerId="ADAL" clId="{EB67D2CF-0BBB-45CC-A2D8-A0B2C401934D}" dt="2026-09-09T06:32:23.296" v="158" actId="20577"/>
          <ac:graphicFrameMkLst>
            <pc:docMk/>
            <pc:sldMk cId="2708754664" sldId="2147376708"/>
            <ac:graphicFrameMk id="4" creationId="{799435ED-A231-E13F-1D74-A6966BAE1BA2}"/>
          </ac:graphicFrameMkLst>
        </pc:graphicFrameChg>
      </pc:sldChg>
      <pc:sldChg chg="modSp mod">
        <pc:chgData name="Satya Nagar" userId="5e00535b-d87d-4fdd-ba2b-20b5bd050693" providerId="ADAL" clId="{EB67D2CF-0BBB-45CC-A2D8-A0B2C401934D}" dt="2026-09-09T06:28:53.457" v="115" actId="20577"/>
        <pc:sldMkLst>
          <pc:docMk/>
          <pc:sldMk cId="1747068498" sldId="2147378442"/>
        </pc:sldMkLst>
        <pc:spChg chg="mod">
          <ac:chgData name="Satya Nagar" userId="5e00535b-d87d-4fdd-ba2b-20b5bd050693" providerId="ADAL" clId="{EB67D2CF-0BBB-45CC-A2D8-A0B2C401934D}" dt="2026-09-09T06:28:53.457" v="115" actId="20577"/>
          <ac:spMkLst>
            <pc:docMk/>
            <pc:sldMk cId="1747068498" sldId="2147378442"/>
            <ac:spMk id="9" creationId="{FF510602-FB1E-4F2C-1A67-FA8AA9741A4B}"/>
          </ac:spMkLst>
        </pc:spChg>
      </pc:sldChg>
      <pc:sldChg chg="modSp mod">
        <pc:chgData name="Satya Nagar" userId="5e00535b-d87d-4fdd-ba2b-20b5bd050693" providerId="ADAL" clId="{EB67D2CF-0BBB-45CC-A2D8-A0B2C401934D}" dt="2026-09-09T06:35:28.286" v="171" actId="20577"/>
        <pc:sldMkLst>
          <pc:docMk/>
          <pc:sldMk cId="2709283893" sldId="2147482492"/>
        </pc:sldMkLst>
        <pc:graphicFrameChg chg="mod modGraphic">
          <ac:chgData name="Satya Nagar" userId="5e00535b-d87d-4fdd-ba2b-20b5bd050693" providerId="ADAL" clId="{EB67D2CF-0BBB-45CC-A2D8-A0B2C401934D}" dt="2026-09-09T06:35:28.286" v="171" actId="20577"/>
          <ac:graphicFrameMkLst>
            <pc:docMk/>
            <pc:sldMk cId="2709283893" sldId="2147482492"/>
            <ac:graphicFrameMk id="5" creationId="{E18D4D6B-D594-6CFB-67CE-A9D80343D916}"/>
          </ac:graphicFrameMkLst>
        </pc:graphicFrameChg>
      </pc:sldChg>
      <pc:sldChg chg="del">
        <pc:chgData name="Satya Nagar" userId="5e00535b-d87d-4fdd-ba2b-20b5bd050693" providerId="ADAL" clId="{EB67D2CF-0BBB-45CC-A2D8-A0B2C401934D}" dt="2026-09-09T06:37:31.063" v="173" actId="47"/>
        <pc:sldMkLst>
          <pc:docMk/>
          <pc:sldMk cId="1120284727" sldId="2147482496"/>
        </pc:sldMkLst>
      </pc:sldChg>
      <pc:sldChg chg="del">
        <pc:chgData name="Satya Nagar" userId="5e00535b-d87d-4fdd-ba2b-20b5bd050693" providerId="ADAL" clId="{EB67D2CF-0BBB-45CC-A2D8-A0B2C401934D}" dt="2026-09-09T06:34:35.540" v="160" actId="47"/>
        <pc:sldMkLst>
          <pc:docMk/>
          <pc:sldMk cId="403155318" sldId="2147482522"/>
        </pc:sldMkLst>
      </pc:sldChg>
      <pc:sldChg chg="modSp mod">
        <pc:chgData name="Satya Nagar" userId="5e00535b-d87d-4fdd-ba2b-20b5bd050693" providerId="ADAL" clId="{EB67D2CF-0BBB-45CC-A2D8-A0B2C401934D}" dt="2026-09-09T06:44:25.031" v="199" actId="20577"/>
        <pc:sldMkLst>
          <pc:docMk/>
          <pc:sldMk cId="1704265810" sldId="2147482563"/>
        </pc:sldMkLst>
        <pc:graphicFrameChg chg="modGraphic">
          <ac:chgData name="Satya Nagar" userId="5e00535b-d87d-4fdd-ba2b-20b5bd050693" providerId="ADAL" clId="{EB67D2CF-0BBB-45CC-A2D8-A0B2C401934D}" dt="2026-09-09T06:44:25.031" v="199" actId="20577"/>
          <ac:graphicFrameMkLst>
            <pc:docMk/>
            <pc:sldMk cId="1704265810" sldId="2147482563"/>
            <ac:graphicFrameMk id="5" creationId="{7F2226DF-97B6-D90A-3DE5-783E009312B7}"/>
          </ac:graphicFrameMkLst>
        </pc:graphicFrameChg>
      </pc:sldChg>
      <pc:sldChg chg="del">
        <pc:chgData name="Satya Nagar" userId="5e00535b-d87d-4fdd-ba2b-20b5bd050693" providerId="ADAL" clId="{EB67D2CF-0BBB-45CC-A2D8-A0B2C401934D}" dt="2026-09-09T06:41:08.714" v="176" actId="47"/>
        <pc:sldMkLst>
          <pc:docMk/>
          <pc:sldMk cId="1507068822" sldId="2147482568"/>
        </pc:sldMkLst>
      </pc:sldChg>
      <pc:sldChg chg="modSp mod">
        <pc:chgData name="Satya Nagar" userId="5e00535b-d87d-4fdd-ba2b-20b5bd050693" providerId="ADAL" clId="{EB67D2CF-0BBB-45CC-A2D8-A0B2C401934D}" dt="2026-09-09T06:41:54.516" v="190" actId="20577"/>
        <pc:sldMkLst>
          <pc:docMk/>
          <pc:sldMk cId="1768599677" sldId="2147482569"/>
        </pc:sldMkLst>
        <pc:graphicFrameChg chg="mod modGraphic">
          <ac:chgData name="Satya Nagar" userId="5e00535b-d87d-4fdd-ba2b-20b5bd050693" providerId="ADAL" clId="{EB67D2CF-0BBB-45CC-A2D8-A0B2C401934D}" dt="2026-09-09T06:41:54.516" v="190" actId="20577"/>
          <ac:graphicFrameMkLst>
            <pc:docMk/>
            <pc:sldMk cId="1768599677" sldId="2147482569"/>
            <ac:graphicFrameMk id="5" creationId="{77564F93-C034-D9FA-BB09-58DFEF829508}"/>
          </ac:graphicFrameMkLst>
        </pc:graphicFrameChg>
      </pc:sldChg>
      <pc:sldChg chg="del">
        <pc:chgData name="Satya Nagar" userId="5e00535b-d87d-4fdd-ba2b-20b5bd050693" providerId="ADAL" clId="{EB67D2CF-0BBB-45CC-A2D8-A0B2C401934D}" dt="2026-09-09T06:43:56.323" v="192" actId="47"/>
        <pc:sldMkLst>
          <pc:docMk/>
          <pc:sldMk cId="1929119301" sldId="2147482570"/>
        </pc:sldMkLst>
      </pc:sldChg>
      <pc:sldChg chg="add">
        <pc:chgData name="Satya Nagar" userId="5e00535b-d87d-4fdd-ba2b-20b5bd050693" providerId="ADAL" clId="{EB67D2CF-0BBB-45CC-A2D8-A0B2C401934D}" dt="2026-09-09T06:34:04.833" v="159"/>
        <pc:sldMkLst>
          <pc:docMk/>
          <pc:sldMk cId="1781182698" sldId="2147482571"/>
        </pc:sldMkLst>
      </pc:sldChg>
      <pc:sldChg chg="add">
        <pc:chgData name="Satya Nagar" userId="5e00535b-d87d-4fdd-ba2b-20b5bd050693" providerId="ADAL" clId="{EB67D2CF-0BBB-45CC-A2D8-A0B2C401934D}" dt="2026-09-09T06:36:07.526" v="172"/>
        <pc:sldMkLst>
          <pc:docMk/>
          <pc:sldMk cId="379444614" sldId="2147482572"/>
        </pc:sldMkLst>
      </pc:sldChg>
      <pc:sldChg chg="modSp add">
        <pc:chgData name="Satya Nagar" userId="5e00535b-d87d-4fdd-ba2b-20b5bd050693" providerId="ADAL" clId="{EB67D2CF-0BBB-45CC-A2D8-A0B2C401934D}" dt="2026-09-09T06:40:04.985" v="175"/>
        <pc:sldMkLst>
          <pc:docMk/>
          <pc:sldMk cId="1712140307" sldId="2147482573"/>
        </pc:sldMkLst>
        <pc:graphicFrameChg chg="mod">
          <ac:chgData name="Satya Nagar" userId="5e00535b-d87d-4fdd-ba2b-20b5bd050693" providerId="ADAL" clId="{EB67D2CF-0BBB-45CC-A2D8-A0B2C401934D}" dt="2026-09-09T06:40:04.985" v="175"/>
          <ac:graphicFrameMkLst>
            <pc:docMk/>
            <pc:sldMk cId="1712140307" sldId="2147482573"/>
            <ac:graphicFrameMk id="6" creationId="{49AEC20E-1065-4532-BB00-BA944D9D99A8}"/>
          </ac:graphicFrameMkLst>
        </pc:graphicFrameChg>
      </pc:sldChg>
      <pc:sldChg chg="add">
        <pc:chgData name="Satya Nagar" userId="5e00535b-d87d-4fdd-ba2b-20b5bd050693" providerId="ADAL" clId="{EB67D2CF-0BBB-45CC-A2D8-A0B2C401934D}" dt="2026-09-09T06:43:39.918" v="191"/>
        <pc:sldMkLst>
          <pc:docMk/>
          <pc:sldMk cId="931092214" sldId="214748364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adaniltd.sharepoint.com/sites/AGEL_Project_Controls/Shared%20Documents/Project%20Services/Planning/1.%20Solar/2.%20Schedules/RJ%2026-27%20450%20MW/02.%20Bandha%20500%20MW/4.%20S-Curve/Bandha%20S%20Curve%20CPA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adaniltd.sharepoint.com/sites/AGEL_Project_Controls/Shared%20Documents/Project%20Services/Planning/1.%20Solar/2.%20Schedules/RJ%2026-27%20450%20MW/01.%20Baiya%20600%20MW/4.%20S-Curve/Baiya%20S%20Curve%20CPAG%20-%20Revised%20S%20Curv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r>
              <a:rPr lang="en-IN"/>
              <a:t>Bandha_500 MW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dani Regular" panose="02000503000000020004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 Curve'!$A$38:$B$38</c:f>
              <c:strCache>
                <c:ptCount val="2"/>
                <c:pt idx="0">
                  <c:v>Overall</c:v>
                </c:pt>
                <c:pt idx="1">
                  <c:v>Plan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'S Curve'!$C$37:$AM$37</c:f>
              <c:strCache>
                <c:ptCount val="31"/>
                <c:pt idx="0">
                  <c:v>Aug-24</c:v>
                </c:pt>
                <c:pt idx="1">
                  <c:v>Sep-24</c:v>
                </c:pt>
                <c:pt idx="2">
                  <c:v>Oct-24</c:v>
                </c:pt>
                <c:pt idx="3">
                  <c:v>Nov-24</c:v>
                </c:pt>
                <c:pt idx="4">
                  <c:v>Dec-24</c:v>
                </c:pt>
                <c:pt idx="5">
                  <c:v>Jan-25</c:v>
                </c:pt>
                <c:pt idx="6">
                  <c:v>Feb-25</c:v>
                </c:pt>
                <c:pt idx="7">
                  <c:v>Mar-25</c:v>
                </c:pt>
                <c:pt idx="8">
                  <c:v>Apr-25</c:v>
                </c:pt>
                <c:pt idx="9">
                  <c:v>May-25</c:v>
                </c:pt>
                <c:pt idx="10">
                  <c:v>Jun-25</c:v>
                </c:pt>
                <c:pt idx="11">
                  <c:v>Jul-25</c:v>
                </c:pt>
                <c:pt idx="12">
                  <c:v>Aug-25</c:v>
                </c:pt>
                <c:pt idx="13">
                  <c:v>Sep-25</c:v>
                </c:pt>
                <c:pt idx="14">
                  <c:v>Oct-25</c:v>
                </c:pt>
                <c:pt idx="15">
                  <c:v>Nov-25</c:v>
                </c:pt>
                <c:pt idx="16">
                  <c:v>Dec-25</c:v>
                </c:pt>
                <c:pt idx="17">
                  <c:v>Jan-26</c:v>
                </c:pt>
                <c:pt idx="18">
                  <c:v>Feb-26</c:v>
                </c:pt>
                <c:pt idx="19">
                  <c:v>Mar-26</c:v>
                </c:pt>
                <c:pt idx="20">
                  <c:v>Apr-26</c:v>
                </c:pt>
                <c:pt idx="21">
                  <c:v>May-26</c:v>
                </c:pt>
                <c:pt idx="22">
                  <c:v>Jun-26</c:v>
                </c:pt>
                <c:pt idx="23">
                  <c:v>Jul-26</c:v>
                </c:pt>
                <c:pt idx="24">
                  <c:v>Aug-26</c:v>
                </c:pt>
                <c:pt idx="25">
                  <c:v>Sep-26</c:v>
                </c:pt>
                <c:pt idx="26">
                  <c:v>Oct-26</c:v>
                </c:pt>
                <c:pt idx="27">
                  <c:v>Nov-26</c:v>
                </c:pt>
                <c:pt idx="28">
                  <c:v>Dec-26</c:v>
                </c:pt>
                <c:pt idx="29">
                  <c:v>Jan-27</c:v>
                </c:pt>
                <c:pt idx="30">
                  <c:v>Feb-27</c:v>
                </c:pt>
              </c:strCache>
            </c:strRef>
          </c:cat>
          <c:val>
            <c:numRef>
              <c:f>'S Curve'!$C$38:$AM$38</c:f>
              <c:numCache>
                <c:formatCode>0.0%</c:formatCode>
                <c:ptCount val="31"/>
                <c:pt idx="0">
                  <c:v>4.4444426031740774E-3</c:v>
                </c:pt>
                <c:pt idx="1">
                  <c:v>1.4444442793650324E-2</c:v>
                </c:pt>
                <c:pt idx="2">
                  <c:v>2.7876321271642439E-3</c:v>
                </c:pt>
                <c:pt idx="3">
                  <c:v>5.9724546948011197E-3</c:v>
                </c:pt>
                <c:pt idx="4">
                  <c:v>4.9333007582497597E-3</c:v>
                </c:pt>
                <c:pt idx="5">
                  <c:v>7.5231141728849E-3</c:v>
                </c:pt>
                <c:pt idx="6">
                  <c:v>1.8973015269345837E-2</c:v>
                </c:pt>
                <c:pt idx="7">
                  <c:v>2.8239682376075406E-2</c:v>
                </c:pt>
                <c:pt idx="8">
                  <c:v>8.8064050397440433E-2</c:v>
                </c:pt>
                <c:pt idx="9">
                  <c:v>4.8278116272544407E-2</c:v>
                </c:pt>
                <c:pt idx="10">
                  <c:v>6.3630843136491921E-2</c:v>
                </c:pt>
                <c:pt idx="11">
                  <c:v>6.9857895786369278E-2</c:v>
                </c:pt>
                <c:pt idx="12">
                  <c:v>6.1917714128797978E-2</c:v>
                </c:pt>
                <c:pt idx="13">
                  <c:v>7.1896860015348563E-2</c:v>
                </c:pt>
                <c:pt idx="14">
                  <c:v>4.8041059921121676E-2</c:v>
                </c:pt>
                <c:pt idx="15">
                  <c:v>4.1430730454777263E-2</c:v>
                </c:pt>
                <c:pt idx="16">
                  <c:v>3.8132453960570835E-2</c:v>
                </c:pt>
                <c:pt idx="17">
                  <c:v>3.9020468069075442E-2</c:v>
                </c:pt>
                <c:pt idx="18">
                  <c:v>4.0179767088018473E-2</c:v>
                </c:pt>
                <c:pt idx="19">
                  <c:v>3.1417655715084911E-2</c:v>
                </c:pt>
                <c:pt idx="20">
                  <c:v>4.0088550319224755E-3</c:v>
                </c:pt>
                <c:pt idx="21">
                  <c:v>3.2790702085472488E-2</c:v>
                </c:pt>
                <c:pt idx="22">
                  <c:v>3.5667979596593943E-2</c:v>
                </c:pt>
                <c:pt idx="23">
                  <c:v>1.7355312014664746E-2</c:v>
                </c:pt>
                <c:pt idx="24">
                  <c:v>4.7663605194630783E-3</c:v>
                </c:pt>
                <c:pt idx="25">
                  <c:v>5.9497003394944001E-3</c:v>
                </c:pt>
                <c:pt idx="26">
                  <c:v>3.5692535780633472E-2</c:v>
                </c:pt>
                <c:pt idx="27">
                  <c:v>3.7940248097300941E-2</c:v>
                </c:pt>
                <c:pt idx="28">
                  <c:v>5.2401723895540625E-2</c:v>
                </c:pt>
                <c:pt idx="29">
                  <c:v>3.0333693700537945E-2</c:v>
                </c:pt>
                <c:pt idx="30">
                  <c:v>1.2697148988392344E-2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45F6-4D32-B2FA-8CC666D3A44A}"/>
            </c:ext>
          </c:extLst>
        </c:ser>
        <c:ser>
          <c:idx val="2"/>
          <c:order val="2"/>
          <c:tx>
            <c:strRef>
              <c:f>'S Curve'!$A$40:$B$40</c:f>
              <c:strCache>
                <c:ptCount val="2"/>
                <c:pt idx="0">
                  <c:v>Overall</c:v>
                </c:pt>
                <c:pt idx="1">
                  <c:v>Actual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'S Curve'!$C$37:$AM$37</c:f>
              <c:strCache>
                <c:ptCount val="31"/>
                <c:pt idx="0">
                  <c:v>Aug-24</c:v>
                </c:pt>
                <c:pt idx="1">
                  <c:v>Sep-24</c:v>
                </c:pt>
                <c:pt idx="2">
                  <c:v>Oct-24</c:v>
                </c:pt>
                <c:pt idx="3">
                  <c:v>Nov-24</c:v>
                </c:pt>
                <c:pt idx="4">
                  <c:v>Dec-24</c:v>
                </c:pt>
                <c:pt idx="5">
                  <c:v>Jan-25</c:v>
                </c:pt>
                <c:pt idx="6">
                  <c:v>Feb-25</c:v>
                </c:pt>
                <c:pt idx="7">
                  <c:v>Mar-25</c:v>
                </c:pt>
                <c:pt idx="8">
                  <c:v>Apr-25</c:v>
                </c:pt>
                <c:pt idx="9">
                  <c:v>May-25</c:v>
                </c:pt>
                <c:pt idx="10">
                  <c:v>Jun-25</c:v>
                </c:pt>
                <c:pt idx="11">
                  <c:v>Jul-25</c:v>
                </c:pt>
                <c:pt idx="12">
                  <c:v>Aug-25</c:v>
                </c:pt>
                <c:pt idx="13">
                  <c:v>Sep-25</c:v>
                </c:pt>
                <c:pt idx="14">
                  <c:v>Oct-25</c:v>
                </c:pt>
                <c:pt idx="15">
                  <c:v>Nov-25</c:v>
                </c:pt>
                <c:pt idx="16">
                  <c:v>Dec-25</c:v>
                </c:pt>
                <c:pt idx="17">
                  <c:v>Jan-26</c:v>
                </c:pt>
                <c:pt idx="18">
                  <c:v>Feb-26</c:v>
                </c:pt>
                <c:pt idx="19">
                  <c:v>Mar-26</c:v>
                </c:pt>
                <c:pt idx="20">
                  <c:v>Apr-26</c:v>
                </c:pt>
                <c:pt idx="21">
                  <c:v>May-26</c:v>
                </c:pt>
                <c:pt idx="22">
                  <c:v>Jun-26</c:v>
                </c:pt>
                <c:pt idx="23">
                  <c:v>Jul-26</c:v>
                </c:pt>
                <c:pt idx="24">
                  <c:v>Aug-26</c:v>
                </c:pt>
                <c:pt idx="25">
                  <c:v>Sep-26</c:v>
                </c:pt>
                <c:pt idx="26">
                  <c:v>Oct-26</c:v>
                </c:pt>
                <c:pt idx="27">
                  <c:v>Nov-26</c:v>
                </c:pt>
                <c:pt idx="28">
                  <c:v>Dec-26</c:v>
                </c:pt>
                <c:pt idx="29">
                  <c:v>Jan-27</c:v>
                </c:pt>
                <c:pt idx="30">
                  <c:v>Feb-27</c:v>
                </c:pt>
              </c:strCache>
            </c:strRef>
          </c:cat>
          <c:val>
            <c:numRef>
              <c:f>'S Curve'!$C$40:$AM$40</c:f>
              <c:numCache>
                <c:formatCode>0.0%</c:formatCode>
                <c:ptCount val="31"/>
                <c:pt idx="0">
                  <c:v>4.4444426031740774E-3</c:v>
                </c:pt>
                <c:pt idx="1">
                  <c:v>1.4444442793650324E-2</c:v>
                </c:pt>
                <c:pt idx="2">
                  <c:v>2.7876321271642439E-3</c:v>
                </c:pt>
                <c:pt idx="3">
                  <c:v>5.9724546948011197E-3</c:v>
                </c:pt>
                <c:pt idx="4">
                  <c:v>4.9333007582497597E-3</c:v>
                </c:pt>
                <c:pt idx="5">
                  <c:v>7.5231141728849E-3</c:v>
                </c:pt>
                <c:pt idx="6">
                  <c:v>1.8973015269345837E-2</c:v>
                </c:pt>
                <c:pt idx="7">
                  <c:v>2.8239682376075406E-2</c:v>
                </c:pt>
                <c:pt idx="8">
                  <c:v>8.8064050397440433E-2</c:v>
                </c:pt>
                <c:pt idx="9">
                  <c:v>4.8278116272544407E-2</c:v>
                </c:pt>
                <c:pt idx="10">
                  <c:v>6.3630843136491921E-2</c:v>
                </c:pt>
                <c:pt idx="11">
                  <c:v>6.9857895786369278E-2</c:v>
                </c:pt>
                <c:pt idx="12">
                  <c:v>6.1917714128797978E-2</c:v>
                </c:pt>
                <c:pt idx="13">
                  <c:v>7.1896860015348563E-2</c:v>
                </c:pt>
                <c:pt idx="14">
                  <c:v>4.8041059921121676E-2</c:v>
                </c:pt>
                <c:pt idx="15">
                  <c:v>4.1430730454777263E-2</c:v>
                </c:pt>
                <c:pt idx="16">
                  <c:v>3.8132453960570835E-2</c:v>
                </c:pt>
                <c:pt idx="17">
                  <c:v>3.9020468069075442E-2</c:v>
                </c:pt>
                <c:pt idx="18">
                  <c:v>4.0179767088018473E-2</c:v>
                </c:pt>
                <c:pt idx="19">
                  <c:v>3.1417655715084911E-2</c:v>
                </c:pt>
                <c:pt idx="20">
                  <c:v>4.0088550319224755E-3</c:v>
                </c:pt>
                <c:pt idx="21">
                  <c:v>1.1139326095939296E-2</c:v>
                </c:pt>
                <c:pt idx="22">
                  <c:v>9.6321072819945865E-3</c:v>
                </c:pt>
                <c:pt idx="23">
                  <c:v>7.5874009480428155E-3</c:v>
                </c:pt>
                <c:pt idx="24">
                  <c:v>-1.9206090429861138E-3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45F6-4D32-B2FA-8CC666D3A44A}"/>
            </c:ext>
          </c:extLst>
        </c:ser>
        <c:ser>
          <c:idx val="4"/>
          <c:order val="4"/>
          <c:tx>
            <c:strRef>
              <c:f>'S Curve'!$A$46:$B$46</c:f>
              <c:strCache>
                <c:ptCount val="2"/>
                <c:pt idx="0">
                  <c:v>Engineering</c:v>
                </c:pt>
                <c:pt idx="1">
                  <c:v>Plan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'S Curve'!$C$37:$AM$37</c:f>
              <c:strCache>
                <c:ptCount val="31"/>
                <c:pt idx="0">
                  <c:v>Aug-24</c:v>
                </c:pt>
                <c:pt idx="1">
                  <c:v>Sep-24</c:v>
                </c:pt>
                <c:pt idx="2">
                  <c:v>Oct-24</c:v>
                </c:pt>
                <c:pt idx="3">
                  <c:v>Nov-24</c:v>
                </c:pt>
                <c:pt idx="4">
                  <c:v>Dec-24</c:v>
                </c:pt>
                <c:pt idx="5">
                  <c:v>Jan-25</c:v>
                </c:pt>
                <c:pt idx="6">
                  <c:v>Feb-25</c:v>
                </c:pt>
                <c:pt idx="7">
                  <c:v>Mar-25</c:v>
                </c:pt>
                <c:pt idx="8">
                  <c:v>Apr-25</c:v>
                </c:pt>
                <c:pt idx="9">
                  <c:v>May-25</c:v>
                </c:pt>
                <c:pt idx="10">
                  <c:v>Jun-25</c:v>
                </c:pt>
                <c:pt idx="11">
                  <c:v>Jul-25</c:v>
                </c:pt>
                <c:pt idx="12">
                  <c:v>Aug-25</c:v>
                </c:pt>
                <c:pt idx="13">
                  <c:v>Sep-25</c:v>
                </c:pt>
                <c:pt idx="14">
                  <c:v>Oct-25</c:v>
                </c:pt>
                <c:pt idx="15">
                  <c:v>Nov-25</c:v>
                </c:pt>
                <c:pt idx="16">
                  <c:v>Dec-25</c:v>
                </c:pt>
                <c:pt idx="17">
                  <c:v>Jan-26</c:v>
                </c:pt>
                <c:pt idx="18">
                  <c:v>Feb-26</c:v>
                </c:pt>
                <c:pt idx="19">
                  <c:v>Mar-26</c:v>
                </c:pt>
                <c:pt idx="20">
                  <c:v>Apr-26</c:v>
                </c:pt>
                <c:pt idx="21">
                  <c:v>May-26</c:v>
                </c:pt>
                <c:pt idx="22">
                  <c:v>Jun-26</c:v>
                </c:pt>
                <c:pt idx="23">
                  <c:v>Jul-26</c:v>
                </c:pt>
                <c:pt idx="24">
                  <c:v>Aug-26</c:v>
                </c:pt>
                <c:pt idx="25">
                  <c:v>Sep-26</c:v>
                </c:pt>
                <c:pt idx="26">
                  <c:v>Oct-26</c:v>
                </c:pt>
                <c:pt idx="27">
                  <c:v>Nov-26</c:v>
                </c:pt>
                <c:pt idx="28">
                  <c:v>Dec-26</c:v>
                </c:pt>
                <c:pt idx="29">
                  <c:v>Jan-27</c:v>
                </c:pt>
                <c:pt idx="30">
                  <c:v>Feb-27</c:v>
                </c:pt>
              </c:strCache>
            </c:strRef>
          </c:cat>
          <c:val>
            <c:numRef>
              <c:f>'S Curve'!$C$46:$AM$46</c:f>
            </c:numRef>
          </c:val>
          <c:extLst>
            <c:ext xmlns:c16="http://schemas.microsoft.com/office/drawing/2014/chart" uri="{C3380CC4-5D6E-409C-BE32-E72D297353CC}">
              <c16:uniqueId val="{00000002-45F6-4D32-B2FA-8CC666D3A44A}"/>
            </c:ext>
          </c:extLst>
        </c:ser>
        <c:ser>
          <c:idx val="6"/>
          <c:order val="6"/>
          <c:tx>
            <c:strRef>
              <c:f>'S Curve'!$A$48:$B$48</c:f>
              <c:strCache>
                <c:ptCount val="2"/>
                <c:pt idx="0">
                  <c:v>Engineering</c:v>
                </c:pt>
                <c:pt idx="1">
                  <c:v>Actual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'S Curve'!$C$37:$AM$37</c:f>
              <c:strCache>
                <c:ptCount val="31"/>
                <c:pt idx="0">
                  <c:v>Aug-24</c:v>
                </c:pt>
                <c:pt idx="1">
                  <c:v>Sep-24</c:v>
                </c:pt>
                <c:pt idx="2">
                  <c:v>Oct-24</c:v>
                </c:pt>
                <c:pt idx="3">
                  <c:v>Nov-24</c:v>
                </c:pt>
                <c:pt idx="4">
                  <c:v>Dec-24</c:v>
                </c:pt>
                <c:pt idx="5">
                  <c:v>Jan-25</c:v>
                </c:pt>
                <c:pt idx="6">
                  <c:v>Feb-25</c:v>
                </c:pt>
                <c:pt idx="7">
                  <c:v>Mar-25</c:v>
                </c:pt>
                <c:pt idx="8">
                  <c:v>Apr-25</c:v>
                </c:pt>
                <c:pt idx="9">
                  <c:v>May-25</c:v>
                </c:pt>
                <c:pt idx="10">
                  <c:v>Jun-25</c:v>
                </c:pt>
                <c:pt idx="11">
                  <c:v>Jul-25</c:v>
                </c:pt>
                <c:pt idx="12">
                  <c:v>Aug-25</c:v>
                </c:pt>
                <c:pt idx="13">
                  <c:v>Sep-25</c:v>
                </c:pt>
                <c:pt idx="14">
                  <c:v>Oct-25</c:v>
                </c:pt>
                <c:pt idx="15">
                  <c:v>Nov-25</c:v>
                </c:pt>
                <c:pt idx="16">
                  <c:v>Dec-25</c:v>
                </c:pt>
                <c:pt idx="17">
                  <c:v>Jan-26</c:v>
                </c:pt>
                <c:pt idx="18">
                  <c:v>Feb-26</c:v>
                </c:pt>
                <c:pt idx="19">
                  <c:v>Mar-26</c:v>
                </c:pt>
                <c:pt idx="20">
                  <c:v>Apr-26</c:v>
                </c:pt>
                <c:pt idx="21">
                  <c:v>May-26</c:v>
                </c:pt>
                <c:pt idx="22">
                  <c:v>Jun-26</c:v>
                </c:pt>
                <c:pt idx="23">
                  <c:v>Jul-26</c:v>
                </c:pt>
                <c:pt idx="24">
                  <c:v>Aug-26</c:v>
                </c:pt>
                <c:pt idx="25">
                  <c:v>Sep-26</c:v>
                </c:pt>
                <c:pt idx="26">
                  <c:v>Oct-26</c:v>
                </c:pt>
                <c:pt idx="27">
                  <c:v>Nov-26</c:v>
                </c:pt>
                <c:pt idx="28">
                  <c:v>Dec-26</c:v>
                </c:pt>
                <c:pt idx="29">
                  <c:v>Jan-27</c:v>
                </c:pt>
                <c:pt idx="30">
                  <c:v>Feb-27</c:v>
                </c:pt>
              </c:strCache>
            </c:strRef>
          </c:cat>
          <c:val>
            <c:numRef>
              <c:f>'S Curve'!$C$48:$AM$48</c:f>
            </c:numRef>
          </c:val>
          <c:extLst>
            <c:ext xmlns:c16="http://schemas.microsoft.com/office/drawing/2014/chart" uri="{C3380CC4-5D6E-409C-BE32-E72D297353CC}">
              <c16:uniqueId val="{00000003-45F6-4D32-B2FA-8CC666D3A44A}"/>
            </c:ext>
          </c:extLst>
        </c:ser>
        <c:ser>
          <c:idx val="8"/>
          <c:order val="8"/>
          <c:tx>
            <c:strRef>
              <c:f>'S Curve'!$A$50:$B$50</c:f>
              <c:strCache>
                <c:ptCount val="2"/>
                <c:pt idx="0">
                  <c:v>Procurement</c:v>
                </c:pt>
                <c:pt idx="1">
                  <c:v>Plan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'S Curve'!$C$37:$AM$37</c:f>
              <c:strCache>
                <c:ptCount val="31"/>
                <c:pt idx="0">
                  <c:v>Aug-24</c:v>
                </c:pt>
                <c:pt idx="1">
                  <c:v>Sep-24</c:v>
                </c:pt>
                <c:pt idx="2">
                  <c:v>Oct-24</c:v>
                </c:pt>
                <c:pt idx="3">
                  <c:v>Nov-24</c:v>
                </c:pt>
                <c:pt idx="4">
                  <c:v>Dec-24</c:v>
                </c:pt>
                <c:pt idx="5">
                  <c:v>Jan-25</c:v>
                </c:pt>
                <c:pt idx="6">
                  <c:v>Feb-25</c:v>
                </c:pt>
                <c:pt idx="7">
                  <c:v>Mar-25</c:v>
                </c:pt>
                <c:pt idx="8">
                  <c:v>Apr-25</c:v>
                </c:pt>
                <c:pt idx="9">
                  <c:v>May-25</c:v>
                </c:pt>
                <c:pt idx="10">
                  <c:v>Jun-25</c:v>
                </c:pt>
                <c:pt idx="11">
                  <c:v>Jul-25</c:v>
                </c:pt>
                <c:pt idx="12">
                  <c:v>Aug-25</c:v>
                </c:pt>
                <c:pt idx="13">
                  <c:v>Sep-25</c:v>
                </c:pt>
                <c:pt idx="14">
                  <c:v>Oct-25</c:v>
                </c:pt>
                <c:pt idx="15">
                  <c:v>Nov-25</c:v>
                </c:pt>
                <c:pt idx="16">
                  <c:v>Dec-25</c:v>
                </c:pt>
                <c:pt idx="17">
                  <c:v>Jan-26</c:v>
                </c:pt>
                <c:pt idx="18">
                  <c:v>Feb-26</c:v>
                </c:pt>
                <c:pt idx="19">
                  <c:v>Mar-26</c:v>
                </c:pt>
                <c:pt idx="20">
                  <c:v>Apr-26</c:v>
                </c:pt>
                <c:pt idx="21">
                  <c:v>May-26</c:v>
                </c:pt>
                <c:pt idx="22">
                  <c:v>Jun-26</c:v>
                </c:pt>
                <c:pt idx="23">
                  <c:v>Jul-26</c:v>
                </c:pt>
                <c:pt idx="24">
                  <c:v>Aug-26</c:v>
                </c:pt>
                <c:pt idx="25">
                  <c:v>Sep-26</c:v>
                </c:pt>
                <c:pt idx="26">
                  <c:v>Oct-26</c:v>
                </c:pt>
                <c:pt idx="27">
                  <c:v>Nov-26</c:v>
                </c:pt>
                <c:pt idx="28">
                  <c:v>Dec-26</c:v>
                </c:pt>
                <c:pt idx="29">
                  <c:v>Jan-27</c:v>
                </c:pt>
                <c:pt idx="30">
                  <c:v>Feb-27</c:v>
                </c:pt>
              </c:strCache>
            </c:strRef>
          </c:cat>
          <c:val>
            <c:numRef>
              <c:f>'S Curve'!$C$50:$AM$50</c:f>
            </c:numRef>
          </c:val>
          <c:extLst>
            <c:ext xmlns:c16="http://schemas.microsoft.com/office/drawing/2014/chart" uri="{C3380CC4-5D6E-409C-BE32-E72D297353CC}">
              <c16:uniqueId val="{00000004-45F6-4D32-B2FA-8CC666D3A44A}"/>
            </c:ext>
          </c:extLst>
        </c:ser>
        <c:ser>
          <c:idx val="10"/>
          <c:order val="10"/>
          <c:tx>
            <c:strRef>
              <c:f>'S Curve'!$A$52:$B$52</c:f>
              <c:strCache>
                <c:ptCount val="2"/>
                <c:pt idx="0">
                  <c:v>Procurement</c:v>
                </c:pt>
                <c:pt idx="1">
                  <c:v>Actual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'S Curve'!$C$37:$AM$37</c:f>
              <c:strCache>
                <c:ptCount val="31"/>
                <c:pt idx="0">
                  <c:v>Aug-24</c:v>
                </c:pt>
                <c:pt idx="1">
                  <c:v>Sep-24</c:v>
                </c:pt>
                <c:pt idx="2">
                  <c:v>Oct-24</c:v>
                </c:pt>
                <c:pt idx="3">
                  <c:v>Nov-24</c:v>
                </c:pt>
                <c:pt idx="4">
                  <c:v>Dec-24</c:v>
                </c:pt>
                <c:pt idx="5">
                  <c:v>Jan-25</c:v>
                </c:pt>
                <c:pt idx="6">
                  <c:v>Feb-25</c:v>
                </c:pt>
                <c:pt idx="7">
                  <c:v>Mar-25</c:v>
                </c:pt>
                <c:pt idx="8">
                  <c:v>Apr-25</c:v>
                </c:pt>
                <c:pt idx="9">
                  <c:v>May-25</c:v>
                </c:pt>
                <c:pt idx="10">
                  <c:v>Jun-25</c:v>
                </c:pt>
                <c:pt idx="11">
                  <c:v>Jul-25</c:v>
                </c:pt>
                <c:pt idx="12">
                  <c:v>Aug-25</c:v>
                </c:pt>
                <c:pt idx="13">
                  <c:v>Sep-25</c:v>
                </c:pt>
                <c:pt idx="14">
                  <c:v>Oct-25</c:v>
                </c:pt>
                <c:pt idx="15">
                  <c:v>Nov-25</c:v>
                </c:pt>
                <c:pt idx="16">
                  <c:v>Dec-25</c:v>
                </c:pt>
                <c:pt idx="17">
                  <c:v>Jan-26</c:v>
                </c:pt>
                <c:pt idx="18">
                  <c:v>Feb-26</c:v>
                </c:pt>
                <c:pt idx="19">
                  <c:v>Mar-26</c:v>
                </c:pt>
                <c:pt idx="20">
                  <c:v>Apr-26</c:v>
                </c:pt>
                <c:pt idx="21">
                  <c:v>May-26</c:v>
                </c:pt>
                <c:pt idx="22">
                  <c:v>Jun-26</c:v>
                </c:pt>
                <c:pt idx="23">
                  <c:v>Jul-26</c:v>
                </c:pt>
                <c:pt idx="24">
                  <c:v>Aug-26</c:v>
                </c:pt>
                <c:pt idx="25">
                  <c:v>Sep-26</c:v>
                </c:pt>
                <c:pt idx="26">
                  <c:v>Oct-26</c:v>
                </c:pt>
                <c:pt idx="27">
                  <c:v>Nov-26</c:v>
                </c:pt>
                <c:pt idx="28">
                  <c:v>Dec-26</c:v>
                </c:pt>
                <c:pt idx="29">
                  <c:v>Jan-27</c:v>
                </c:pt>
                <c:pt idx="30">
                  <c:v>Feb-27</c:v>
                </c:pt>
              </c:strCache>
            </c:strRef>
          </c:cat>
          <c:val>
            <c:numRef>
              <c:f>'S Curve'!$C$52:$AM$52</c:f>
            </c:numRef>
          </c:val>
          <c:extLst>
            <c:ext xmlns:c16="http://schemas.microsoft.com/office/drawing/2014/chart" uri="{C3380CC4-5D6E-409C-BE32-E72D297353CC}">
              <c16:uniqueId val="{00000005-45F6-4D32-B2FA-8CC666D3A44A}"/>
            </c:ext>
          </c:extLst>
        </c:ser>
        <c:ser>
          <c:idx val="12"/>
          <c:order val="12"/>
          <c:tx>
            <c:strRef>
              <c:f>'S Curve'!$A$54:$B$54</c:f>
              <c:strCache>
                <c:ptCount val="2"/>
                <c:pt idx="0">
                  <c:v>Construction</c:v>
                </c:pt>
                <c:pt idx="1">
                  <c:v>Plan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'S Curve'!$C$37:$AM$37</c:f>
              <c:strCache>
                <c:ptCount val="31"/>
                <c:pt idx="0">
                  <c:v>Aug-24</c:v>
                </c:pt>
                <c:pt idx="1">
                  <c:v>Sep-24</c:v>
                </c:pt>
                <c:pt idx="2">
                  <c:v>Oct-24</c:v>
                </c:pt>
                <c:pt idx="3">
                  <c:v>Nov-24</c:v>
                </c:pt>
                <c:pt idx="4">
                  <c:v>Dec-24</c:v>
                </c:pt>
                <c:pt idx="5">
                  <c:v>Jan-25</c:v>
                </c:pt>
                <c:pt idx="6">
                  <c:v>Feb-25</c:v>
                </c:pt>
                <c:pt idx="7">
                  <c:v>Mar-25</c:v>
                </c:pt>
                <c:pt idx="8">
                  <c:v>Apr-25</c:v>
                </c:pt>
                <c:pt idx="9">
                  <c:v>May-25</c:v>
                </c:pt>
                <c:pt idx="10">
                  <c:v>Jun-25</c:v>
                </c:pt>
                <c:pt idx="11">
                  <c:v>Jul-25</c:v>
                </c:pt>
                <c:pt idx="12">
                  <c:v>Aug-25</c:v>
                </c:pt>
                <c:pt idx="13">
                  <c:v>Sep-25</c:v>
                </c:pt>
                <c:pt idx="14">
                  <c:v>Oct-25</c:v>
                </c:pt>
                <c:pt idx="15">
                  <c:v>Nov-25</c:v>
                </c:pt>
                <c:pt idx="16">
                  <c:v>Dec-25</c:v>
                </c:pt>
                <c:pt idx="17">
                  <c:v>Jan-26</c:v>
                </c:pt>
                <c:pt idx="18">
                  <c:v>Feb-26</c:v>
                </c:pt>
                <c:pt idx="19">
                  <c:v>Mar-26</c:v>
                </c:pt>
                <c:pt idx="20">
                  <c:v>Apr-26</c:v>
                </c:pt>
                <c:pt idx="21">
                  <c:v>May-26</c:v>
                </c:pt>
                <c:pt idx="22">
                  <c:v>Jun-26</c:v>
                </c:pt>
                <c:pt idx="23">
                  <c:v>Jul-26</c:v>
                </c:pt>
                <c:pt idx="24">
                  <c:v>Aug-26</c:v>
                </c:pt>
                <c:pt idx="25">
                  <c:v>Sep-26</c:v>
                </c:pt>
                <c:pt idx="26">
                  <c:v>Oct-26</c:v>
                </c:pt>
                <c:pt idx="27">
                  <c:v>Nov-26</c:v>
                </c:pt>
                <c:pt idx="28">
                  <c:v>Dec-26</c:v>
                </c:pt>
                <c:pt idx="29">
                  <c:v>Jan-27</c:v>
                </c:pt>
                <c:pt idx="30">
                  <c:v>Feb-27</c:v>
                </c:pt>
              </c:strCache>
            </c:strRef>
          </c:cat>
          <c:val>
            <c:numRef>
              <c:f>'S Curve'!$C$54:$AM$54</c:f>
            </c:numRef>
          </c:val>
          <c:extLst>
            <c:ext xmlns:c16="http://schemas.microsoft.com/office/drawing/2014/chart" uri="{C3380CC4-5D6E-409C-BE32-E72D297353CC}">
              <c16:uniqueId val="{00000006-45F6-4D32-B2FA-8CC666D3A44A}"/>
            </c:ext>
          </c:extLst>
        </c:ser>
        <c:ser>
          <c:idx val="14"/>
          <c:order val="14"/>
          <c:tx>
            <c:strRef>
              <c:f>'S Curve'!$A$56:$B$56</c:f>
              <c:strCache>
                <c:ptCount val="2"/>
                <c:pt idx="0">
                  <c:v>Construction</c:v>
                </c:pt>
                <c:pt idx="1">
                  <c:v>Actual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'S Curve'!$C$37:$AM$37</c:f>
              <c:strCache>
                <c:ptCount val="31"/>
                <c:pt idx="0">
                  <c:v>Aug-24</c:v>
                </c:pt>
                <c:pt idx="1">
                  <c:v>Sep-24</c:v>
                </c:pt>
                <c:pt idx="2">
                  <c:v>Oct-24</c:v>
                </c:pt>
                <c:pt idx="3">
                  <c:v>Nov-24</c:v>
                </c:pt>
                <c:pt idx="4">
                  <c:v>Dec-24</c:v>
                </c:pt>
                <c:pt idx="5">
                  <c:v>Jan-25</c:v>
                </c:pt>
                <c:pt idx="6">
                  <c:v>Feb-25</c:v>
                </c:pt>
                <c:pt idx="7">
                  <c:v>Mar-25</c:v>
                </c:pt>
                <c:pt idx="8">
                  <c:v>Apr-25</c:v>
                </c:pt>
                <c:pt idx="9">
                  <c:v>May-25</c:v>
                </c:pt>
                <c:pt idx="10">
                  <c:v>Jun-25</c:v>
                </c:pt>
                <c:pt idx="11">
                  <c:v>Jul-25</c:v>
                </c:pt>
                <c:pt idx="12">
                  <c:v>Aug-25</c:v>
                </c:pt>
                <c:pt idx="13">
                  <c:v>Sep-25</c:v>
                </c:pt>
                <c:pt idx="14">
                  <c:v>Oct-25</c:v>
                </c:pt>
                <c:pt idx="15">
                  <c:v>Nov-25</c:v>
                </c:pt>
                <c:pt idx="16">
                  <c:v>Dec-25</c:v>
                </c:pt>
                <c:pt idx="17">
                  <c:v>Jan-26</c:v>
                </c:pt>
                <c:pt idx="18">
                  <c:v>Feb-26</c:v>
                </c:pt>
                <c:pt idx="19">
                  <c:v>Mar-26</c:v>
                </c:pt>
                <c:pt idx="20">
                  <c:v>Apr-26</c:v>
                </c:pt>
                <c:pt idx="21">
                  <c:v>May-26</c:v>
                </c:pt>
                <c:pt idx="22">
                  <c:v>Jun-26</c:v>
                </c:pt>
                <c:pt idx="23">
                  <c:v>Jul-26</c:v>
                </c:pt>
                <c:pt idx="24">
                  <c:v>Aug-26</c:v>
                </c:pt>
                <c:pt idx="25">
                  <c:v>Sep-26</c:v>
                </c:pt>
                <c:pt idx="26">
                  <c:v>Oct-26</c:v>
                </c:pt>
                <c:pt idx="27">
                  <c:v>Nov-26</c:v>
                </c:pt>
                <c:pt idx="28">
                  <c:v>Dec-26</c:v>
                </c:pt>
                <c:pt idx="29">
                  <c:v>Jan-27</c:v>
                </c:pt>
                <c:pt idx="30">
                  <c:v>Feb-27</c:v>
                </c:pt>
              </c:strCache>
            </c:strRef>
          </c:cat>
          <c:val>
            <c:numRef>
              <c:f>'S Curve'!$C$56:$AM$56</c:f>
            </c:numRef>
          </c:val>
          <c:extLst>
            <c:ext xmlns:c16="http://schemas.microsoft.com/office/drawing/2014/chart" uri="{C3380CC4-5D6E-409C-BE32-E72D297353CC}">
              <c16:uniqueId val="{00000007-45F6-4D32-B2FA-8CC666D3A44A}"/>
            </c:ext>
          </c:extLst>
        </c:ser>
        <c:ser>
          <c:idx val="16"/>
          <c:order val="16"/>
          <c:tx>
            <c:strRef>
              <c:f>'S Curve'!$A$42:$B$42</c:f>
              <c:strCache>
                <c:ptCount val="2"/>
                <c:pt idx="0">
                  <c:v>Land</c:v>
                </c:pt>
                <c:pt idx="1">
                  <c:v>Plan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'S Curve'!$C$37:$AM$37</c:f>
              <c:strCache>
                <c:ptCount val="31"/>
                <c:pt idx="0">
                  <c:v>Aug-24</c:v>
                </c:pt>
                <c:pt idx="1">
                  <c:v>Sep-24</c:v>
                </c:pt>
                <c:pt idx="2">
                  <c:v>Oct-24</c:v>
                </c:pt>
                <c:pt idx="3">
                  <c:v>Nov-24</c:v>
                </c:pt>
                <c:pt idx="4">
                  <c:v>Dec-24</c:v>
                </c:pt>
                <c:pt idx="5">
                  <c:v>Jan-25</c:v>
                </c:pt>
                <c:pt idx="6">
                  <c:v>Feb-25</c:v>
                </c:pt>
                <c:pt idx="7">
                  <c:v>Mar-25</c:v>
                </c:pt>
                <c:pt idx="8">
                  <c:v>Apr-25</c:v>
                </c:pt>
                <c:pt idx="9">
                  <c:v>May-25</c:v>
                </c:pt>
                <c:pt idx="10">
                  <c:v>Jun-25</c:v>
                </c:pt>
                <c:pt idx="11">
                  <c:v>Jul-25</c:v>
                </c:pt>
                <c:pt idx="12">
                  <c:v>Aug-25</c:v>
                </c:pt>
                <c:pt idx="13">
                  <c:v>Sep-25</c:v>
                </c:pt>
                <c:pt idx="14">
                  <c:v>Oct-25</c:v>
                </c:pt>
                <c:pt idx="15">
                  <c:v>Nov-25</c:v>
                </c:pt>
                <c:pt idx="16">
                  <c:v>Dec-25</c:v>
                </c:pt>
                <c:pt idx="17">
                  <c:v>Jan-26</c:v>
                </c:pt>
                <c:pt idx="18">
                  <c:v>Feb-26</c:v>
                </c:pt>
                <c:pt idx="19">
                  <c:v>Mar-26</c:v>
                </c:pt>
                <c:pt idx="20">
                  <c:v>Apr-26</c:v>
                </c:pt>
                <c:pt idx="21">
                  <c:v>May-26</c:v>
                </c:pt>
                <c:pt idx="22">
                  <c:v>Jun-26</c:v>
                </c:pt>
                <c:pt idx="23">
                  <c:v>Jul-26</c:v>
                </c:pt>
                <c:pt idx="24">
                  <c:v>Aug-26</c:v>
                </c:pt>
                <c:pt idx="25">
                  <c:v>Sep-26</c:v>
                </c:pt>
                <c:pt idx="26">
                  <c:v>Oct-26</c:v>
                </c:pt>
                <c:pt idx="27">
                  <c:v>Nov-26</c:v>
                </c:pt>
                <c:pt idx="28">
                  <c:v>Dec-26</c:v>
                </c:pt>
                <c:pt idx="29">
                  <c:v>Jan-27</c:v>
                </c:pt>
                <c:pt idx="30">
                  <c:v>Feb-27</c:v>
                </c:pt>
              </c:strCache>
            </c:strRef>
          </c:cat>
          <c:val>
            <c:numRef>
              <c:f>'S Curve'!$C$42:$AM$42</c:f>
            </c:numRef>
          </c:val>
          <c:extLst>
            <c:ext xmlns:c16="http://schemas.microsoft.com/office/drawing/2014/chart" uri="{C3380CC4-5D6E-409C-BE32-E72D297353CC}">
              <c16:uniqueId val="{00000008-45F6-4D32-B2FA-8CC666D3A44A}"/>
            </c:ext>
          </c:extLst>
        </c:ser>
        <c:ser>
          <c:idx val="18"/>
          <c:order val="18"/>
          <c:tx>
            <c:strRef>
              <c:f>'S Curve'!$A$44:$B$44</c:f>
              <c:strCache>
                <c:ptCount val="2"/>
                <c:pt idx="0">
                  <c:v>Land</c:v>
                </c:pt>
                <c:pt idx="1">
                  <c:v>Actual</c:v>
                </c:pt>
              </c:strCache>
            </c:strRef>
          </c:tx>
          <c:spPr>
            <a:solidFill>
              <a:schemeClr val="accent1">
                <a:lumMod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'S Curve'!$C$37:$AM$37</c:f>
              <c:strCache>
                <c:ptCount val="31"/>
                <c:pt idx="0">
                  <c:v>Aug-24</c:v>
                </c:pt>
                <c:pt idx="1">
                  <c:v>Sep-24</c:v>
                </c:pt>
                <c:pt idx="2">
                  <c:v>Oct-24</c:v>
                </c:pt>
                <c:pt idx="3">
                  <c:v>Nov-24</c:v>
                </c:pt>
                <c:pt idx="4">
                  <c:v>Dec-24</c:v>
                </c:pt>
                <c:pt idx="5">
                  <c:v>Jan-25</c:v>
                </c:pt>
                <c:pt idx="6">
                  <c:v>Feb-25</c:v>
                </c:pt>
                <c:pt idx="7">
                  <c:v>Mar-25</c:v>
                </c:pt>
                <c:pt idx="8">
                  <c:v>Apr-25</c:v>
                </c:pt>
                <c:pt idx="9">
                  <c:v>May-25</c:v>
                </c:pt>
                <c:pt idx="10">
                  <c:v>Jun-25</c:v>
                </c:pt>
                <c:pt idx="11">
                  <c:v>Jul-25</c:v>
                </c:pt>
                <c:pt idx="12">
                  <c:v>Aug-25</c:v>
                </c:pt>
                <c:pt idx="13">
                  <c:v>Sep-25</c:v>
                </c:pt>
                <c:pt idx="14">
                  <c:v>Oct-25</c:v>
                </c:pt>
                <c:pt idx="15">
                  <c:v>Nov-25</c:v>
                </c:pt>
                <c:pt idx="16">
                  <c:v>Dec-25</c:v>
                </c:pt>
                <c:pt idx="17">
                  <c:v>Jan-26</c:v>
                </c:pt>
                <c:pt idx="18">
                  <c:v>Feb-26</c:v>
                </c:pt>
                <c:pt idx="19">
                  <c:v>Mar-26</c:v>
                </c:pt>
                <c:pt idx="20">
                  <c:v>Apr-26</c:v>
                </c:pt>
                <c:pt idx="21">
                  <c:v>May-26</c:v>
                </c:pt>
                <c:pt idx="22">
                  <c:v>Jun-26</c:v>
                </c:pt>
                <c:pt idx="23">
                  <c:v>Jul-26</c:v>
                </c:pt>
                <c:pt idx="24">
                  <c:v>Aug-26</c:v>
                </c:pt>
                <c:pt idx="25">
                  <c:v>Sep-26</c:v>
                </c:pt>
                <c:pt idx="26">
                  <c:v>Oct-26</c:v>
                </c:pt>
                <c:pt idx="27">
                  <c:v>Nov-26</c:v>
                </c:pt>
                <c:pt idx="28">
                  <c:v>Dec-26</c:v>
                </c:pt>
                <c:pt idx="29">
                  <c:v>Jan-27</c:v>
                </c:pt>
                <c:pt idx="30">
                  <c:v>Feb-27</c:v>
                </c:pt>
              </c:strCache>
            </c:strRef>
          </c:cat>
          <c:val>
            <c:numRef>
              <c:f>'S Curve'!$C$44:$AM$44</c:f>
            </c:numRef>
          </c:val>
          <c:extLst>
            <c:ext xmlns:c16="http://schemas.microsoft.com/office/drawing/2014/chart" uri="{C3380CC4-5D6E-409C-BE32-E72D297353CC}">
              <c16:uniqueId val="{00000009-45F6-4D32-B2FA-8CC666D3A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37075615"/>
        <c:axId val="937076095"/>
      </c:barChart>
      <c:lineChart>
        <c:grouping val="standard"/>
        <c:varyColors val="0"/>
        <c:ser>
          <c:idx val="1"/>
          <c:order val="1"/>
          <c:tx>
            <c:strRef>
              <c:f>'S Curve'!$A$39:$B$39</c:f>
              <c:strCache>
                <c:ptCount val="2"/>
                <c:pt idx="0">
                  <c:v>Overall</c:v>
                </c:pt>
                <c:pt idx="1">
                  <c:v>Cummulative Plan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dLbls>
            <c:dLbl>
              <c:idx val="24"/>
              <c:layout>
                <c:manualLayout>
                  <c:x val="-7.5017942283439762E-2"/>
                  <c:y val="-5.0774130580469277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5F6-4D32-B2FA-8CC666D3A44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'S Curve'!$C$37:$AG$37</c:f>
              <c:strCache>
                <c:ptCount val="31"/>
                <c:pt idx="0">
                  <c:v>Aug-24</c:v>
                </c:pt>
                <c:pt idx="1">
                  <c:v>Sep-24</c:v>
                </c:pt>
                <c:pt idx="2">
                  <c:v>Oct-24</c:v>
                </c:pt>
                <c:pt idx="3">
                  <c:v>Nov-24</c:v>
                </c:pt>
                <c:pt idx="4">
                  <c:v>Dec-24</c:v>
                </c:pt>
                <c:pt idx="5">
                  <c:v>Jan-25</c:v>
                </c:pt>
                <c:pt idx="6">
                  <c:v>Feb-25</c:v>
                </c:pt>
                <c:pt idx="7">
                  <c:v>Mar-25</c:v>
                </c:pt>
                <c:pt idx="8">
                  <c:v>Apr-25</c:v>
                </c:pt>
                <c:pt idx="9">
                  <c:v>May-25</c:v>
                </c:pt>
                <c:pt idx="10">
                  <c:v>Jun-25</c:v>
                </c:pt>
                <c:pt idx="11">
                  <c:v>Jul-25</c:v>
                </c:pt>
                <c:pt idx="12">
                  <c:v>Aug-25</c:v>
                </c:pt>
                <c:pt idx="13">
                  <c:v>Sep-25</c:v>
                </c:pt>
                <c:pt idx="14">
                  <c:v>Oct-25</c:v>
                </c:pt>
                <c:pt idx="15">
                  <c:v>Nov-25</c:v>
                </c:pt>
                <c:pt idx="16">
                  <c:v>Dec-25</c:v>
                </c:pt>
                <c:pt idx="17">
                  <c:v>Jan-26</c:v>
                </c:pt>
                <c:pt idx="18">
                  <c:v>Feb-26</c:v>
                </c:pt>
                <c:pt idx="19">
                  <c:v>Mar-26</c:v>
                </c:pt>
                <c:pt idx="20">
                  <c:v>Apr-26</c:v>
                </c:pt>
                <c:pt idx="21">
                  <c:v>May-26</c:v>
                </c:pt>
                <c:pt idx="22">
                  <c:v>Jun-26</c:v>
                </c:pt>
                <c:pt idx="23">
                  <c:v>Jul-26</c:v>
                </c:pt>
                <c:pt idx="24">
                  <c:v>Aug-26</c:v>
                </c:pt>
                <c:pt idx="25">
                  <c:v>Sep-26</c:v>
                </c:pt>
                <c:pt idx="26">
                  <c:v>Oct-26</c:v>
                </c:pt>
                <c:pt idx="27">
                  <c:v>Nov-26</c:v>
                </c:pt>
                <c:pt idx="28">
                  <c:v>Dec-26</c:v>
                </c:pt>
                <c:pt idx="29">
                  <c:v>Jan-27</c:v>
                </c:pt>
                <c:pt idx="30">
                  <c:v>Feb-27</c:v>
                </c:pt>
              </c:strCache>
            </c:strRef>
          </c:cat>
          <c:val>
            <c:numRef>
              <c:f>'S Curve'!$C$39:$AG$39</c:f>
              <c:numCache>
                <c:formatCode>0.0%</c:formatCode>
                <c:ptCount val="31"/>
                <c:pt idx="0">
                  <c:v>4.4444426031740774E-3</c:v>
                </c:pt>
                <c:pt idx="1">
                  <c:v>1.8888885396824401E-2</c:v>
                </c:pt>
                <c:pt idx="2">
                  <c:v>2.1676517523988643E-2</c:v>
                </c:pt>
                <c:pt idx="3">
                  <c:v>2.7648972218789765E-2</c:v>
                </c:pt>
                <c:pt idx="4">
                  <c:v>3.2582272977039528E-2</c:v>
                </c:pt>
                <c:pt idx="5">
                  <c:v>4.0105387149924426E-2</c:v>
                </c:pt>
                <c:pt idx="6">
                  <c:v>5.9078402419270259E-2</c:v>
                </c:pt>
                <c:pt idx="7">
                  <c:v>8.7318084795345668E-2</c:v>
                </c:pt>
                <c:pt idx="8">
                  <c:v>0.17538213519278611</c:v>
                </c:pt>
                <c:pt idx="9">
                  <c:v>0.22366025146533053</c:v>
                </c:pt>
                <c:pt idx="10">
                  <c:v>0.28729109460182245</c:v>
                </c:pt>
                <c:pt idx="11">
                  <c:v>0.3571489903881917</c:v>
                </c:pt>
                <c:pt idx="12">
                  <c:v>0.41906670451698969</c:v>
                </c:pt>
                <c:pt idx="13">
                  <c:v>0.49096356453233825</c:v>
                </c:pt>
                <c:pt idx="14">
                  <c:v>0.53900462445345987</c:v>
                </c:pt>
                <c:pt idx="15">
                  <c:v>0.58043535490823717</c:v>
                </c:pt>
                <c:pt idx="16">
                  <c:v>0.61856780886880802</c:v>
                </c:pt>
                <c:pt idx="17">
                  <c:v>0.65758827693788346</c:v>
                </c:pt>
                <c:pt idx="18">
                  <c:v>0.69776804402590198</c:v>
                </c:pt>
                <c:pt idx="19">
                  <c:v>0.7291856997409869</c:v>
                </c:pt>
                <c:pt idx="20">
                  <c:v>0.7331945547729094</c:v>
                </c:pt>
                <c:pt idx="21">
                  <c:v>0.76598525685838192</c:v>
                </c:pt>
                <c:pt idx="22">
                  <c:v>0.80165323645497588</c:v>
                </c:pt>
                <c:pt idx="23">
                  <c:v>0.81900854846964066</c:v>
                </c:pt>
                <c:pt idx="24">
                  <c:v>0.82377490898910377</c:v>
                </c:pt>
                <c:pt idx="25">
                  <c:v>0.82972460932859815</c:v>
                </c:pt>
                <c:pt idx="26">
                  <c:v>0.86541714510923162</c:v>
                </c:pt>
                <c:pt idx="27">
                  <c:v>0.90335739320653252</c:v>
                </c:pt>
                <c:pt idx="28">
                  <c:v>0.95575911710207317</c:v>
                </c:pt>
                <c:pt idx="29">
                  <c:v>0.98609281080261113</c:v>
                </c:pt>
                <c:pt idx="30">
                  <c:v>0.99878995979100349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45F6-4D32-B2FA-8CC666D3A44A}"/>
            </c:ext>
          </c:extLst>
        </c:ser>
        <c:ser>
          <c:idx val="3"/>
          <c:order val="3"/>
          <c:tx>
            <c:strRef>
              <c:f>'S Curve'!$A$41:$B$41</c:f>
              <c:strCache>
                <c:ptCount val="2"/>
                <c:pt idx="0">
                  <c:v>Overall</c:v>
                </c:pt>
                <c:pt idx="1">
                  <c:v>Cummulative Actual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dLbls>
            <c:dLbl>
              <c:idx val="24"/>
              <c:layout>
                <c:manualLayout>
                  <c:x val="0"/>
                  <c:y val="6.4098954121831045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5F6-4D32-B2FA-8CC666D3A44A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'S Curve'!$C$37:$AG$37</c:f>
              <c:strCache>
                <c:ptCount val="31"/>
                <c:pt idx="0">
                  <c:v>Aug-24</c:v>
                </c:pt>
                <c:pt idx="1">
                  <c:v>Sep-24</c:v>
                </c:pt>
                <c:pt idx="2">
                  <c:v>Oct-24</c:v>
                </c:pt>
                <c:pt idx="3">
                  <c:v>Nov-24</c:v>
                </c:pt>
                <c:pt idx="4">
                  <c:v>Dec-24</c:v>
                </c:pt>
                <c:pt idx="5">
                  <c:v>Jan-25</c:v>
                </c:pt>
                <c:pt idx="6">
                  <c:v>Feb-25</c:v>
                </c:pt>
                <c:pt idx="7">
                  <c:v>Mar-25</c:v>
                </c:pt>
                <c:pt idx="8">
                  <c:v>Apr-25</c:v>
                </c:pt>
                <c:pt idx="9">
                  <c:v>May-25</c:v>
                </c:pt>
                <c:pt idx="10">
                  <c:v>Jun-25</c:v>
                </c:pt>
                <c:pt idx="11">
                  <c:v>Jul-25</c:v>
                </c:pt>
                <c:pt idx="12">
                  <c:v>Aug-25</c:v>
                </c:pt>
                <c:pt idx="13">
                  <c:v>Sep-25</c:v>
                </c:pt>
                <c:pt idx="14">
                  <c:v>Oct-25</c:v>
                </c:pt>
                <c:pt idx="15">
                  <c:v>Nov-25</c:v>
                </c:pt>
                <c:pt idx="16">
                  <c:v>Dec-25</c:v>
                </c:pt>
                <c:pt idx="17">
                  <c:v>Jan-26</c:v>
                </c:pt>
                <c:pt idx="18">
                  <c:v>Feb-26</c:v>
                </c:pt>
                <c:pt idx="19">
                  <c:v>Mar-26</c:v>
                </c:pt>
                <c:pt idx="20">
                  <c:v>Apr-26</c:v>
                </c:pt>
                <c:pt idx="21">
                  <c:v>May-26</c:v>
                </c:pt>
                <c:pt idx="22">
                  <c:v>Jun-26</c:v>
                </c:pt>
                <c:pt idx="23">
                  <c:v>Jul-26</c:v>
                </c:pt>
                <c:pt idx="24">
                  <c:v>Aug-26</c:v>
                </c:pt>
                <c:pt idx="25">
                  <c:v>Sep-26</c:v>
                </c:pt>
                <c:pt idx="26">
                  <c:v>Oct-26</c:v>
                </c:pt>
                <c:pt idx="27">
                  <c:v>Nov-26</c:v>
                </c:pt>
                <c:pt idx="28">
                  <c:v>Dec-26</c:v>
                </c:pt>
                <c:pt idx="29">
                  <c:v>Jan-27</c:v>
                </c:pt>
                <c:pt idx="30">
                  <c:v>Feb-27</c:v>
                </c:pt>
              </c:strCache>
            </c:strRef>
          </c:cat>
          <c:val>
            <c:numRef>
              <c:f>'S Curve'!$C$41:$AG$41</c:f>
              <c:numCache>
                <c:formatCode>0.0%</c:formatCode>
                <c:ptCount val="31"/>
                <c:pt idx="0">
                  <c:v>4.4444426031740774E-3</c:v>
                </c:pt>
                <c:pt idx="1">
                  <c:v>1.8888885396824401E-2</c:v>
                </c:pt>
                <c:pt idx="2">
                  <c:v>2.1676517523988643E-2</c:v>
                </c:pt>
                <c:pt idx="3">
                  <c:v>2.7648972218789765E-2</c:v>
                </c:pt>
                <c:pt idx="4">
                  <c:v>3.2582272977039528E-2</c:v>
                </c:pt>
                <c:pt idx="5">
                  <c:v>4.0105387149924426E-2</c:v>
                </c:pt>
                <c:pt idx="6">
                  <c:v>5.9078402419270259E-2</c:v>
                </c:pt>
                <c:pt idx="7">
                  <c:v>8.7318084795345668E-2</c:v>
                </c:pt>
                <c:pt idx="8">
                  <c:v>0.17538213519278611</c:v>
                </c:pt>
                <c:pt idx="9">
                  <c:v>0.22366025146533053</c:v>
                </c:pt>
                <c:pt idx="10">
                  <c:v>0.28729109460182245</c:v>
                </c:pt>
                <c:pt idx="11">
                  <c:v>0.3571489903881917</c:v>
                </c:pt>
                <c:pt idx="12">
                  <c:v>0.41906670451698969</c:v>
                </c:pt>
                <c:pt idx="13">
                  <c:v>0.49096356453233825</c:v>
                </c:pt>
                <c:pt idx="14">
                  <c:v>0.53900462445345987</c:v>
                </c:pt>
                <c:pt idx="15">
                  <c:v>0.58043535490823717</c:v>
                </c:pt>
                <c:pt idx="16">
                  <c:v>0.61856780886880802</c:v>
                </c:pt>
                <c:pt idx="17">
                  <c:v>0.65758827693788346</c:v>
                </c:pt>
                <c:pt idx="18">
                  <c:v>0.69776804402590198</c:v>
                </c:pt>
                <c:pt idx="19">
                  <c:v>0.7291856997409869</c:v>
                </c:pt>
                <c:pt idx="20">
                  <c:v>0.7331945547729094</c:v>
                </c:pt>
                <c:pt idx="21">
                  <c:v>0.74433388086884866</c:v>
                </c:pt>
                <c:pt idx="22">
                  <c:v>0.75396598815084326</c:v>
                </c:pt>
                <c:pt idx="23">
                  <c:v>0.76155338909888604</c:v>
                </c:pt>
                <c:pt idx="24">
                  <c:v>0.75963278005589996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45F6-4D32-B2FA-8CC666D3A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09810943"/>
        <c:axId val="1409809023"/>
      </c:lineChart>
      <c:lineChart>
        <c:grouping val="standard"/>
        <c:varyColors val="0"/>
        <c:ser>
          <c:idx val="5"/>
          <c:order val="5"/>
          <c:tx>
            <c:strRef>
              <c:f>'S Curve'!$A$47:$B$47</c:f>
              <c:strCache>
                <c:ptCount val="2"/>
                <c:pt idx="0">
                  <c:v>Engineering</c:v>
                </c:pt>
                <c:pt idx="1">
                  <c:v>Cummulative Plan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'S Curve'!$C$37:$AE$37</c:f>
              <c:strCache>
                <c:ptCount val="29"/>
                <c:pt idx="0">
                  <c:v>Aug-24</c:v>
                </c:pt>
                <c:pt idx="1">
                  <c:v>Sep-24</c:v>
                </c:pt>
                <c:pt idx="2">
                  <c:v>Oct-24</c:v>
                </c:pt>
                <c:pt idx="3">
                  <c:v>Nov-24</c:v>
                </c:pt>
                <c:pt idx="4">
                  <c:v>Dec-24</c:v>
                </c:pt>
                <c:pt idx="5">
                  <c:v>Jan-25</c:v>
                </c:pt>
                <c:pt idx="6">
                  <c:v>Feb-25</c:v>
                </c:pt>
                <c:pt idx="7">
                  <c:v>Mar-25</c:v>
                </c:pt>
                <c:pt idx="8">
                  <c:v>Apr-25</c:v>
                </c:pt>
                <c:pt idx="9">
                  <c:v>May-25</c:v>
                </c:pt>
                <c:pt idx="10">
                  <c:v>Jun-25</c:v>
                </c:pt>
                <c:pt idx="11">
                  <c:v>Jul-25</c:v>
                </c:pt>
                <c:pt idx="12">
                  <c:v>Aug-25</c:v>
                </c:pt>
                <c:pt idx="13">
                  <c:v>Sep-25</c:v>
                </c:pt>
                <c:pt idx="14">
                  <c:v>Oct-25</c:v>
                </c:pt>
                <c:pt idx="15">
                  <c:v>Nov-25</c:v>
                </c:pt>
                <c:pt idx="16">
                  <c:v>Dec-25</c:v>
                </c:pt>
                <c:pt idx="17">
                  <c:v>Jan-26</c:v>
                </c:pt>
                <c:pt idx="18">
                  <c:v>Feb-26</c:v>
                </c:pt>
                <c:pt idx="19">
                  <c:v>Mar-26</c:v>
                </c:pt>
                <c:pt idx="20">
                  <c:v>Apr-26</c:v>
                </c:pt>
                <c:pt idx="21">
                  <c:v>May-26</c:v>
                </c:pt>
                <c:pt idx="22">
                  <c:v>Jun-26</c:v>
                </c:pt>
                <c:pt idx="23">
                  <c:v>Jul-26</c:v>
                </c:pt>
                <c:pt idx="24">
                  <c:v>Aug-26</c:v>
                </c:pt>
                <c:pt idx="25">
                  <c:v>Sep-26</c:v>
                </c:pt>
                <c:pt idx="26">
                  <c:v>Oct-26</c:v>
                </c:pt>
                <c:pt idx="27">
                  <c:v>Nov-26</c:v>
                </c:pt>
                <c:pt idx="28">
                  <c:v>Dec-26</c:v>
                </c:pt>
              </c:strCache>
            </c:strRef>
          </c:cat>
          <c:val>
            <c:numRef>
              <c:f>'S Curve'!$C$47:$AM$47</c:f>
            </c:numRef>
          </c:val>
          <c:smooth val="0"/>
          <c:extLst>
            <c:ext xmlns:c16="http://schemas.microsoft.com/office/drawing/2014/chart" uri="{C3380CC4-5D6E-409C-BE32-E72D297353CC}">
              <c16:uniqueId val="{0000000E-45F6-4D32-B2FA-8CC666D3A44A}"/>
            </c:ext>
          </c:extLst>
        </c:ser>
        <c:ser>
          <c:idx val="7"/>
          <c:order val="7"/>
          <c:tx>
            <c:strRef>
              <c:f>'S Curve'!$A$49:$B$49</c:f>
              <c:strCache>
                <c:ptCount val="2"/>
                <c:pt idx="0">
                  <c:v>Engineering</c:v>
                </c:pt>
                <c:pt idx="1">
                  <c:v>Cummulative Actual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'S Curve'!$C$37:$AE$37</c:f>
              <c:strCache>
                <c:ptCount val="29"/>
                <c:pt idx="0">
                  <c:v>Aug-24</c:v>
                </c:pt>
                <c:pt idx="1">
                  <c:v>Sep-24</c:v>
                </c:pt>
                <c:pt idx="2">
                  <c:v>Oct-24</c:v>
                </c:pt>
                <c:pt idx="3">
                  <c:v>Nov-24</c:v>
                </c:pt>
                <c:pt idx="4">
                  <c:v>Dec-24</c:v>
                </c:pt>
                <c:pt idx="5">
                  <c:v>Jan-25</c:v>
                </c:pt>
                <c:pt idx="6">
                  <c:v>Feb-25</c:v>
                </c:pt>
                <c:pt idx="7">
                  <c:v>Mar-25</c:v>
                </c:pt>
                <c:pt idx="8">
                  <c:v>Apr-25</c:v>
                </c:pt>
                <c:pt idx="9">
                  <c:v>May-25</c:v>
                </c:pt>
                <c:pt idx="10">
                  <c:v>Jun-25</c:v>
                </c:pt>
                <c:pt idx="11">
                  <c:v>Jul-25</c:v>
                </c:pt>
                <c:pt idx="12">
                  <c:v>Aug-25</c:v>
                </c:pt>
                <c:pt idx="13">
                  <c:v>Sep-25</c:v>
                </c:pt>
                <c:pt idx="14">
                  <c:v>Oct-25</c:v>
                </c:pt>
                <c:pt idx="15">
                  <c:v>Nov-25</c:v>
                </c:pt>
                <c:pt idx="16">
                  <c:v>Dec-25</c:v>
                </c:pt>
                <c:pt idx="17">
                  <c:v>Jan-26</c:v>
                </c:pt>
                <c:pt idx="18">
                  <c:v>Feb-26</c:v>
                </c:pt>
                <c:pt idx="19">
                  <c:v>Mar-26</c:v>
                </c:pt>
                <c:pt idx="20">
                  <c:v>Apr-26</c:v>
                </c:pt>
                <c:pt idx="21">
                  <c:v>May-26</c:v>
                </c:pt>
                <c:pt idx="22">
                  <c:v>Jun-26</c:v>
                </c:pt>
                <c:pt idx="23">
                  <c:v>Jul-26</c:v>
                </c:pt>
                <c:pt idx="24">
                  <c:v>Aug-26</c:v>
                </c:pt>
                <c:pt idx="25">
                  <c:v>Sep-26</c:v>
                </c:pt>
                <c:pt idx="26">
                  <c:v>Oct-26</c:v>
                </c:pt>
                <c:pt idx="27">
                  <c:v>Nov-26</c:v>
                </c:pt>
                <c:pt idx="28">
                  <c:v>Dec-26</c:v>
                </c:pt>
              </c:strCache>
            </c:strRef>
          </c:cat>
          <c:val>
            <c:numRef>
              <c:f>'S Curve'!$C$49:$AM$49</c:f>
            </c:numRef>
          </c:val>
          <c:smooth val="0"/>
          <c:extLst>
            <c:ext xmlns:c16="http://schemas.microsoft.com/office/drawing/2014/chart" uri="{C3380CC4-5D6E-409C-BE32-E72D297353CC}">
              <c16:uniqueId val="{0000000F-45F6-4D32-B2FA-8CC666D3A44A}"/>
            </c:ext>
          </c:extLst>
        </c:ser>
        <c:ser>
          <c:idx val="9"/>
          <c:order val="9"/>
          <c:tx>
            <c:strRef>
              <c:f>'S Curve'!$A$51:$B$51</c:f>
              <c:strCache>
                <c:ptCount val="2"/>
                <c:pt idx="0">
                  <c:v>Procurement</c:v>
                </c:pt>
                <c:pt idx="1">
                  <c:v>Cummulative Plan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'S Curve'!$C$37:$AE$37</c:f>
              <c:strCache>
                <c:ptCount val="29"/>
                <c:pt idx="0">
                  <c:v>Aug-24</c:v>
                </c:pt>
                <c:pt idx="1">
                  <c:v>Sep-24</c:v>
                </c:pt>
                <c:pt idx="2">
                  <c:v>Oct-24</c:v>
                </c:pt>
                <c:pt idx="3">
                  <c:v>Nov-24</c:v>
                </c:pt>
                <c:pt idx="4">
                  <c:v>Dec-24</c:v>
                </c:pt>
                <c:pt idx="5">
                  <c:v>Jan-25</c:v>
                </c:pt>
                <c:pt idx="6">
                  <c:v>Feb-25</c:v>
                </c:pt>
                <c:pt idx="7">
                  <c:v>Mar-25</c:v>
                </c:pt>
                <c:pt idx="8">
                  <c:v>Apr-25</c:v>
                </c:pt>
                <c:pt idx="9">
                  <c:v>May-25</c:v>
                </c:pt>
                <c:pt idx="10">
                  <c:v>Jun-25</c:v>
                </c:pt>
                <c:pt idx="11">
                  <c:v>Jul-25</c:v>
                </c:pt>
                <c:pt idx="12">
                  <c:v>Aug-25</c:v>
                </c:pt>
                <c:pt idx="13">
                  <c:v>Sep-25</c:v>
                </c:pt>
                <c:pt idx="14">
                  <c:v>Oct-25</c:v>
                </c:pt>
                <c:pt idx="15">
                  <c:v>Nov-25</c:v>
                </c:pt>
                <c:pt idx="16">
                  <c:v>Dec-25</c:v>
                </c:pt>
                <c:pt idx="17">
                  <c:v>Jan-26</c:v>
                </c:pt>
                <c:pt idx="18">
                  <c:v>Feb-26</c:v>
                </c:pt>
                <c:pt idx="19">
                  <c:v>Mar-26</c:v>
                </c:pt>
                <c:pt idx="20">
                  <c:v>Apr-26</c:v>
                </c:pt>
                <c:pt idx="21">
                  <c:v>May-26</c:v>
                </c:pt>
                <c:pt idx="22">
                  <c:v>Jun-26</c:v>
                </c:pt>
                <c:pt idx="23">
                  <c:v>Jul-26</c:v>
                </c:pt>
                <c:pt idx="24">
                  <c:v>Aug-26</c:v>
                </c:pt>
                <c:pt idx="25">
                  <c:v>Sep-26</c:v>
                </c:pt>
                <c:pt idx="26">
                  <c:v>Oct-26</c:v>
                </c:pt>
                <c:pt idx="27">
                  <c:v>Nov-26</c:v>
                </c:pt>
                <c:pt idx="28">
                  <c:v>Dec-26</c:v>
                </c:pt>
              </c:strCache>
            </c:strRef>
          </c:cat>
          <c:val>
            <c:numRef>
              <c:f>'S Curve'!$C$51:$AM$51</c:f>
            </c:numRef>
          </c:val>
          <c:smooth val="0"/>
          <c:extLst>
            <c:ext xmlns:c16="http://schemas.microsoft.com/office/drawing/2014/chart" uri="{C3380CC4-5D6E-409C-BE32-E72D297353CC}">
              <c16:uniqueId val="{00000010-45F6-4D32-B2FA-8CC666D3A44A}"/>
            </c:ext>
          </c:extLst>
        </c:ser>
        <c:ser>
          <c:idx val="11"/>
          <c:order val="11"/>
          <c:tx>
            <c:strRef>
              <c:f>'S Curve'!$A$53:$B$53</c:f>
              <c:strCache>
                <c:ptCount val="2"/>
                <c:pt idx="0">
                  <c:v>Procurement</c:v>
                </c:pt>
                <c:pt idx="1">
                  <c:v>Cummulative Actual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'S Curve'!$C$37:$AE$37</c:f>
              <c:strCache>
                <c:ptCount val="29"/>
                <c:pt idx="0">
                  <c:v>Aug-24</c:v>
                </c:pt>
                <c:pt idx="1">
                  <c:v>Sep-24</c:v>
                </c:pt>
                <c:pt idx="2">
                  <c:v>Oct-24</c:v>
                </c:pt>
                <c:pt idx="3">
                  <c:v>Nov-24</c:v>
                </c:pt>
                <c:pt idx="4">
                  <c:v>Dec-24</c:v>
                </c:pt>
                <c:pt idx="5">
                  <c:v>Jan-25</c:v>
                </c:pt>
                <c:pt idx="6">
                  <c:v>Feb-25</c:v>
                </c:pt>
                <c:pt idx="7">
                  <c:v>Mar-25</c:v>
                </c:pt>
                <c:pt idx="8">
                  <c:v>Apr-25</c:v>
                </c:pt>
                <c:pt idx="9">
                  <c:v>May-25</c:v>
                </c:pt>
                <c:pt idx="10">
                  <c:v>Jun-25</c:v>
                </c:pt>
                <c:pt idx="11">
                  <c:v>Jul-25</c:v>
                </c:pt>
                <c:pt idx="12">
                  <c:v>Aug-25</c:v>
                </c:pt>
                <c:pt idx="13">
                  <c:v>Sep-25</c:v>
                </c:pt>
                <c:pt idx="14">
                  <c:v>Oct-25</c:v>
                </c:pt>
                <c:pt idx="15">
                  <c:v>Nov-25</c:v>
                </c:pt>
                <c:pt idx="16">
                  <c:v>Dec-25</c:v>
                </c:pt>
                <c:pt idx="17">
                  <c:v>Jan-26</c:v>
                </c:pt>
                <c:pt idx="18">
                  <c:v>Feb-26</c:v>
                </c:pt>
                <c:pt idx="19">
                  <c:v>Mar-26</c:v>
                </c:pt>
                <c:pt idx="20">
                  <c:v>Apr-26</c:v>
                </c:pt>
                <c:pt idx="21">
                  <c:v>May-26</c:v>
                </c:pt>
                <c:pt idx="22">
                  <c:v>Jun-26</c:v>
                </c:pt>
                <c:pt idx="23">
                  <c:v>Jul-26</c:v>
                </c:pt>
                <c:pt idx="24">
                  <c:v>Aug-26</c:v>
                </c:pt>
                <c:pt idx="25">
                  <c:v>Sep-26</c:v>
                </c:pt>
                <c:pt idx="26">
                  <c:v>Oct-26</c:v>
                </c:pt>
                <c:pt idx="27">
                  <c:v>Nov-26</c:v>
                </c:pt>
                <c:pt idx="28">
                  <c:v>Dec-26</c:v>
                </c:pt>
              </c:strCache>
            </c:strRef>
          </c:cat>
          <c:val>
            <c:numRef>
              <c:f>'S Curve'!$C$53:$AM$53</c:f>
            </c:numRef>
          </c:val>
          <c:smooth val="0"/>
          <c:extLst>
            <c:ext xmlns:c16="http://schemas.microsoft.com/office/drawing/2014/chart" uri="{C3380CC4-5D6E-409C-BE32-E72D297353CC}">
              <c16:uniqueId val="{00000011-45F6-4D32-B2FA-8CC666D3A44A}"/>
            </c:ext>
          </c:extLst>
        </c:ser>
        <c:ser>
          <c:idx val="13"/>
          <c:order val="13"/>
          <c:tx>
            <c:strRef>
              <c:f>'S Curve'!$A$55:$B$55</c:f>
              <c:strCache>
                <c:ptCount val="2"/>
                <c:pt idx="0">
                  <c:v>Construction</c:v>
                </c:pt>
                <c:pt idx="1">
                  <c:v>Cummulative Plan</c:v>
                </c:pt>
              </c:strCache>
            </c:strRef>
          </c:tx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'S Curve'!$C$37:$AE$37</c:f>
              <c:strCache>
                <c:ptCount val="29"/>
                <c:pt idx="0">
                  <c:v>Aug-24</c:v>
                </c:pt>
                <c:pt idx="1">
                  <c:v>Sep-24</c:v>
                </c:pt>
                <c:pt idx="2">
                  <c:v>Oct-24</c:v>
                </c:pt>
                <c:pt idx="3">
                  <c:v>Nov-24</c:v>
                </c:pt>
                <c:pt idx="4">
                  <c:v>Dec-24</c:v>
                </c:pt>
                <c:pt idx="5">
                  <c:v>Jan-25</c:v>
                </c:pt>
                <c:pt idx="6">
                  <c:v>Feb-25</c:v>
                </c:pt>
                <c:pt idx="7">
                  <c:v>Mar-25</c:v>
                </c:pt>
                <c:pt idx="8">
                  <c:v>Apr-25</c:v>
                </c:pt>
                <c:pt idx="9">
                  <c:v>May-25</c:v>
                </c:pt>
                <c:pt idx="10">
                  <c:v>Jun-25</c:v>
                </c:pt>
                <c:pt idx="11">
                  <c:v>Jul-25</c:v>
                </c:pt>
                <c:pt idx="12">
                  <c:v>Aug-25</c:v>
                </c:pt>
                <c:pt idx="13">
                  <c:v>Sep-25</c:v>
                </c:pt>
                <c:pt idx="14">
                  <c:v>Oct-25</c:v>
                </c:pt>
                <c:pt idx="15">
                  <c:v>Nov-25</c:v>
                </c:pt>
                <c:pt idx="16">
                  <c:v>Dec-25</c:v>
                </c:pt>
                <c:pt idx="17">
                  <c:v>Jan-26</c:v>
                </c:pt>
                <c:pt idx="18">
                  <c:v>Feb-26</c:v>
                </c:pt>
                <c:pt idx="19">
                  <c:v>Mar-26</c:v>
                </c:pt>
                <c:pt idx="20">
                  <c:v>Apr-26</c:v>
                </c:pt>
                <c:pt idx="21">
                  <c:v>May-26</c:v>
                </c:pt>
                <c:pt idx="22">
                  <c:v>Jun-26</c:v>
                </c:pt>
                <c:pt idx="23">
                  <c:v>Jul-26</c:v>
                </c:pt>
                <c:pt idx="24">
                  <c:v>Aug-26</c:v>
                </c:pt>
                <c:pt idx="25">
                  <c:v>Sep-26</c:v>
                </c:pt>
                <c:pt idx="26">
                  <c:v>Oct-26</c:v>
                </c:pt>
                <c:pt idx="27">
                  <c:v>Nov-26</c:v>
                </c:pt>
                <c:pt idx="28">
                  <c:v>Dec-26</c:v>
                </c:pt>
              </c:strCache>
            </c:strRef>
          </c:cat>
          <c:val>
            <c:numRef>
              <c:f>'S Curve'!$C$55:$AM$55</c:f>
            </c:numRef>
          </c:val>
          <c:smooth val="0"/>
          <c:extLst>
            <c:ext xmlns:c16="http://schemas.microsoft.com/office/drawing/2014/chart" uri="{C3380CC4-5D6E-409C-BE32-E72D297353CC}">
              <c16:uniqueId val="{00000012-45F6-4D32-B2FA-8CC666D3A44A}"/>
            </c:ext>
          </c:extLst>
        </c:ser>
        <c:ser>
          <c:idx val="15"/>
          <c:order val="15"/>
          <c:tx>
            <c:strRef>
              <c:f>'S Curve'!$A$57:$B$57</c:f>
              <c:strCache>
                <c:ptCount val="2"/>
                <c:pt idx="0">
                  <c:v>Construction</c:v>
                </c:pt>
                <c:pt idx="1">
                  <c:v>Cummulative Actual</c:v>
                </c:pt>
              </c:strCache>
            </c:strRef>
          </c:tx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'S Curve'!$C$37:$AE$37</c:f>
              <c:strCache>
                <c:ptCount val="29"/>
                <c:pt idx="0">
                  <c:v>Aug-24</c:v>
                </c:pt>
                <c:pt idx="1">
                  <c:v>Sep-24</c:v>
                </c:pt>
                <c:pt idx="2">
                  <c:v>Oct-24</c:v>
                </c:pt>
                <c:pt idx="3">
                  <c:v>Nov-24</c:v>
                </c:pt>
                <c:pt idx="4">
                  <c:v>Dec-24</c:v>
                </c:pt>
                <c:pt idx="5">
                  <c:v>Jan-25</c:v>
                </c:pt>
                <c:pt idx="6">
                  <c:v>Feb-25</c:v>
                </c:pt>
                <c:pt idx="7">
                  <c:v>Mar-25</c:v>
                </c:pt>
                <c:pt idx="8">
                  <c:v>Apr-25</c:v>
                </c:pt>
                <c:pt idx="9">
                  <c:v>May-25</c:v>
                </c:pt>
                <c:pt idx="10">
                  <c:v>Jun-25</c:v>
                </c:pt>
                <c:pt idx="11">
                  <c:v>Jul-25</c:v>
                </c:pt>
                <c:pt idx="12">
                  <c:v>Aug-25</c:v>
                </c:pt>
                <c:pt idx="13">
                  <c:v>Sep-25</c:v>
                </c:pt>
                <c:pt idx="14">
                  <c:v>Oct-25</c:v>
                </c:pt>
                <c:pt idx="15">
                  <c:v>Nov-25</c:v>
                </c:pt>
                <c:pt idx="16">
                  <c:v>Dec-25</c:v>
                </c:pt>
                <c:pt idx="17">
                  <c:v>Jan-26</c:v>
                </c:pt>
                <c:pt idx="18">
                  <c:v>Feb-26</c:v>
                </c:pt>
                <c:pt idx="19">
                  <c:v>Mar-26</c:v>
                </c:pt>
                <c:pt idx="20">
                  <c:v>Apr-26</c:v>
                </c:pt>
                <c:pt idx="21">
                  <c:v>May-26</c:v>
                </c:pt>
                <c:pt idx="22">
                  <c:v>Jun-26</c:v>
                </c:pt>
                <c:pt idx="23">
                  <c:v>Jul-26</c:v>
                </c:pt>
                <c:pt idx="24">
                  <c:v>Aug-26</c:v>
                </c:pt>
                <c:pt idx="25">
                  <c:v>Sep-26</c:v>
                </c:pt>
                <c:pt idx="26">
                  <c:v>Oct-26</c:v>
                </c:pt>
                <c:pt idx="27">
                  <c:v>Nov-26</c:v>
                </c:pt>
                <c:pt idx="28">
                  <c:v>Dec-26</c:v>
                </c:pt>
              </c:strCache>
            </c:strRef>
          </c:cat>
          <c:val>
            <c:numRef>
              <c:f>'S Curve'!$C$57:$AM$57</c:f>
            </c:numRef>
          </c:val>
          <c:smooth val="0"/>
          <c:extLst>
            <c:ext xmlns:c16="http://schemas.microsoft.com/office/drawing/2014/chart" uri="{C3380CC4-5D6E-409C-BE32-E72D297353CC}">
              <c16:uniqueId val="{00000013-45F6-4D32-B2FA-8CC666D3A44A}"/>
            </c:ext>
          </c:extLst>
        </c:ser>
        <c:ser>
          <c:idx val="17"/>
          <c:order val="17"/>
          <c:tx>
            <c:strRef>
              <c:f>'S Curve'!$A$43:$B$43</c:f>
              <c:strCache>
                <c:ptCount val="2"/>
                <c:pt idx="0">
                  <c:v>Land</c:v>
                </c:pt>
                <c:pt idx="1">
                  <c:v>Cummulative Plan</c:v>
                </c:pt>
              </c:strCache>
            </c:strRef>
          </c:tx>
          <c:spPr>
            <a:ln w="28575" cap="rnd">
              <a:solidFill>
                <a:schemeClr val="accent6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'S Curve'!$C$37:$AE$37</c:f>
              <c:strCache>
                <c:ptCount val="29"/>
                <c:pt idx="0">
                  <c:v>Aug-24</c:v>
                </c:pt>
                <c:pt idx="1">
                  <c:v>Sep-24</c:v>
                </c:pt>
                <c:pt idx="2">
                  <c:v>Oct-24</c:v>
                </c:pt>
                <c:pt idx="3">
                  <c:v>Nov-24</c:v>
                </c:pt>
                <c:pt idx="4">
                  <c:v>Dec-24</c:v>
                </c:pt>
                <c:pt idx="5">
                  <c:v>Jan-25</c:v>
                </c:pt>
                <c:pt idx="6">
                  <c:v>Feb-25</c:v>
                </c:pt>
                <c:pt idx="7">
                  <c:v>Mar-25</c:v>
                </c:pt>
                <c:pt idx="8">
                  <c:v>Apr-25</c:v>
                </c:pt>
                <c:pt idx="9">
                  <c:v>May-25</c:v>
                </c:pt>
                <c:pt idx="10">
                  <c:v>Jun-25</c:v>
                </c:pt>
                <c:pt idx="11">
                  <c:v>Jul-25</c:v>
                </c:pt>
                <c:pt idx="12">
                  <c:v>Aug-25</c:v>
                </c:pt>
                <c:pt idx="13">
                  <c:v>Sep-25</c:v>
                </c:pt>
                <c:pt idx="14">
                  <c:v>Oct-25</c:v>
                </c:pt>
                <c:pt idx="15">
                  <c:v>Nov-25</c:v>
                </c:pt>
                <c:pt idx="16">
                  <c:v>Dec-25</c:v>
                </c:pt>
                <c:pt idx="17">
                  <c:v>Jan-26</c:v>
                </c:pt>
                <c:pt idx="18">
                  <c:v>Feb-26</c:v>
                </c:pt>
                <c:pt idx="19">
                  <c:v>Mar-26</c:v>
                </c:pt>
                <c:pt idx="20">
                  <c:v>Apr-26</c:v>
                </c:pt>
                <c:pt idx="21">
                  <c:v>May-26</c:v>
                </c:pt>
                <c:pt idx="22">
                  <c:v>Jun-26</c:v>
                </c:pt>
                <c:pt idx="23">
                  <c:v>Jul-26</c:v>
                </c:pt>
                <c:pt idx="24">
                  <c:v>Aug-26</c:v>
                </c:pt>
                <c:pt idx="25">
                  <c:v>Sep-26</c:v>
                </c:pt>
                <c:pt idx="26">
                  <c:v>Oct-26</c:v>
                </c:pt>
                <c:pt idx="27">
                  <c:v>Nov-26</c:v>
                </c:pt>
                <c:pt idx="28">
                  <c:v>Dec-26</c:v>
                </c:pt>
              </c:strCache>
            </c:strRef>
          </c:cat>
          <c:val>
            <c:numRef>
              <c:f>'S Curve'!$C$43:$AE$43</c:f>
            </c:numRef>
          </c:val>
          <c:smooth val="0"/>
          <c:extLst>
            <c:ext xmlns:c16="http://schemas.microsoft.com/office/drawing/2014/chart" uri="{C3380CC4-5D6E-409C-BE32-E72D297353CC}">
              <c16:uniqueId val="{00000014-45F6-4D32-B2FA-8CC666D3A44A}"/>
            </c:ext>
          </c:extLst>
        </c:ser>
        <c:ser>
          <c:idx val="19"/>
          <c:order val="19"/>
          <c:tx>
            <c:strRef>
              <c:f>'S Curve'!$A$45:$B$45</c:f>
              <c:strCache>
                <c:ptCount val="2"/>
                <c:pt idx="0">
                  <c:v>Land</c:v>
                </c:pt>
                <c:pt idx="1">
                  <c:v>Cummulative Actual</c:v>
                </c:pt>
              </c:strCache>
            </c:strRef>
          </c:tx>
          <c:spPr>
            <a:ln w="28575" cap="rnd">
              <a:solidFill>
                <a:schemeClr val="accent2">
                  <a:lumMod val="8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'S Curve'!$C$37:$AE$37</c:f>
              <c:strCache>
                <c:ptCount val="29"/>
                <c:pt idx="0">
                  <c:v>Aug-24</c:v>
                </c:pt>
                <c:pt idx="1">
                  <c:v>Sep-24</c:v>
                </c:pt>
                <c:pt idx="2">
                  <c:v>Oct-24</c:v>
                </c:pt>
                <c:pt idx="3">
                  <c:v>Nov-24</c:v>
                </c:pt>
                <c:pt idx="4">
                  <c:v>Dec-24</c:v>
                </c:pt>
                <c:pt idx="5">
                  <c:v>Jan-25</c:v>
                </c:pt>
                <c:pt idx="6">
                  <c:v>Feb-25</c:v>
                </c:pt>
                <c:pt idx="7">
                  <c:v>Mar-25</c:v>
                </c:pt>
                <c:pt idx="8">
                  <c:v>Apr-25</c:v>
                </c:pt>
                <c:pt idx="9">
                  <c:v>May-25</c:v>
                </c:pt>
                <c:pt idx="10">
                  <c:v>Jun-25</c:v>
                </c:pt>
                <c:pt idx="11">
                  <c:v>Jul-25</c:v>
                </c:pt>
                <c:pt idx="12">
                  <c:v>Aug-25</c:v>
                </c:pt>
                <c:pt idx="13">
                  <c:v>Sep-25</c:v>
                </c:pt>
                <c:pt idx="14">
                  <c:v>Oct-25</c:v>
                </c:pt>
                <c:pt idx="15">
                  <c:v>Nov-25</c:v>
                </c:pt>
                <c:pt idx="16">
                  <c:v>Dec-25</c:v>
                </c:pt>
                <c:pt idx="17">
                  <c:v>Jan-26</c:v>
                </c:pt>
                <c:pt idx="18">
                  <c:v>Feb-26</c:v>
                </c:pt>
                <c:pt idx="19">
                  <c:v>Mar-26</c:v>
                </c:pt>
                <c:pt idx="20">
                  <c:v>Apr-26</c:v>
                </c:pt>
                <c:pt idx="21">
                  <c:v>May-26</c:v>
                </c:pt>
                <c:pt idx="22">
                  <c:v>Jun-26</c:v>
                </c:pt>
                <c:pt idx="23">
                  <c:v>Jul-26</c:v>
                </c:pt>
                <c:pt idx="24">
                  <c:v>Aug-26</c:v>
                </c:pt>
                <c:pt idx="25">
                  <c:v>Sep-26</c:v>
                </c:pt>
                <c:pt idx="26">
                  <c:v>Oct-26</c:v>
                </c:pt>
                <c:pt idx="27">
                  <c:v>Nov-26</c:v>
                </c:pt>
                <c:pt idx="28">
                  <c:v>Dec-26</c:v>
                </c:pt>
              </c:strCache>
            </c:strRef>
          </c:cat>
          <c:val>
            <c:numRef>
              <c:f>'S Curve'!$C$45:$AE$45</c:f>
            </c:numRef>
          </c:val>
          <c:smooth val="0"/>
          <c:extLst>
            <c:ext xmlns:c16="http://schemas.microsoft.com/office/drawing/2014/chart" uri="{C3380CC4-5D6E-409C-BE32-E72D297353CC}">
              <c16:uniqueId val="{00000015-45F6-4D32-B2FA-8CC666D3A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09810943"/>
        <c:axId val="1409809023"/>
      </c:lineChart>
      <c:dateAx>
        <c:axId val="937075615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192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937076095"/>
        <c:crosses val="autoZero"/>
        <c:auto val="0"/>
        <c:lblOffset val="100"/>
        <c:baseTimeUnit val="days"/>
        <c:majorUnit val="1"/>
      </c:dateAx>
      <c:valAx>
        <c:axId val="937076095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r>
                  <a:rPr lang="en-IN"/>
                  <a:t>% Progress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dani Regular" panose="02000503000000020004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937075615"/>
        <c:crosses val="autoZero"/>
        <c:crossBetween val="between"/>
      </c:valAx>
      <c:valAx>
        <c:axId val="1409809023"/>
        <c:scaling>
          <c:orientation val="minMax"/>
          <c:max val="1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1409810943"/>
        <c:crosses val="max"/>
        <c:crossBetween val="between"/>
      </c:valAx>
      <c:catAx>
        <c:axId val="140981094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40980902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dani Regular" panose="02000503000000020004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dani Regular" panose="02000503000000020004" pitchFamily="2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'Bandha 500MW'!$B$4</c:f>
              <c:strCache>
                <c:ptCount val="1"/>
                <c:pt idx="0">
                  <c:v>Piling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'Bandha 500MW'!$C$2:$AK$3</c:f>
              <c:multiLvlStrCache>
                <c:ptCount val="35"/>
                <c:lvl>
                  <c:pt idx="0">
                    <c:v>Actual</c:v>
                  </c:pt>
                  <c:pt idx="1">
                    <c:v>Actual</c:v>
                  </c:pt>
                  <c:pt idx="2">
                    <c:v>Actual</c:v>
                  </c:pt>
                  <c:pt idx="3">
                    <c:v>Actual</c:v>
                  </c:pt>
                  <c:pt idx="4">
                    <c:v>Actual</c:v>
                  </c:pt>
                  <c:pt idx="5">
                    <c:v>Actual</c:v>
                  </c:pt>
                  <c:pt idx="6">
                    <c:v>Actual</c:v>
                  </c:pt>
                  <c:pt idx="7">
                    <c:v>Actual</c:v>
                  </c:pt>
                  <c:pt idx="8">
                    <c:v>Actual</c:v>
                  </c:pt>
                  <c:pt idx="9">
                    <c:v>Actual</c:v>
                  </c:pt>
                  <c:pt idx="10">
                    <c:v>Actual</c:v>
                  </c:pt>
                  <c:pt idx="11">
                    <c:v>Plan</c:v>
                  </c:pt>
                  <c:pt idx="12">
                    <c:v>Actual</c:v>
                  </c:pt>
                  <c:pt idx="13">
                    <c:v>Plan</c:v>
                  </c:pt>
                  <c:pt idx="14">
                    <c:v>Actual</c:v>
                  </c:pt>
                  <c:pt idx="15">
                    <c:v>Plan</c:v>
                  </c:pt>
                  <c:pt idx="16">
                    <c:v>Actual</c:v>
                  </c:pt>
                  <c:pt idx="17">
                    <c:v>Plan</c:v>
                  </c:pt>
                  <c:pt idx="18">
                    <c:v>Actual</c:v>
                  </c:pt>
                  <c:pt idx="19">
                    <c:v>Plan</c:v>
                  </c:pt>
                  <c:pt idx="20">
                    <c:v>Actual</c:v>
                  </c:pt>
                  <c:pt idx="21">
                    <c:v>Plan</c:v>
                  </c:pt>
                  <c:pt idx="22">
                    <c:v>Actual</c:v>
                  </c:pt>
                  <c:pt idx="23">
                    <c:v>Plan</c:v>
                  </c:pt>
                  <c:pt idx="24">
                    <c:v>Actual</c:v>
                  </c:pt>
                  <c:pt idx="25">
                    <c:v>Plan</c:v>
                  </c:pt>
                  <c:pt idx="26">
                    <c:v>Actual</c:v>
                  </c:pt>
                  <c:pt idx="27">
                    <c:v>Plan</c:v>
                  </c:pt>
                  <c:pt idx="28">
                    <c:v>Actual</c:v>
                  </c:pt>
                  <c:pt idx="29">
                    <c:v>Plan</c:v>
                  </c:pt>
                  <c:pt idx="30">
                    <c:v>Actual</c:v>
                  </c:pt>
                  <c:pt idx="31">
                    <c:v>Plan</c:v>
                  </c:pt>
                  <c:pt idx="32">
                    <c:v>Actual</c:v>
                  </c:pt>
                  <c:pt idx="33">
                    <c:v>Plan</c:v>
                  </c:pt>
                  <c:pt idx="34">
                    <c:v>Actual</c:v>
                  </c:pt>
                </c:lvl>
                <c:lvl>
                  <c:pt idx="0">
                    <c:v>Apr-25</c:v>
                  </c:pt>
                  <c:pt idx="1">
                    <c:v>May-25</c:v>
                  </c:pt>
                  <c:pt idx="2">
                    <c:v>Jun-25</c:v>
                  </c:pt>
                  <c:pt idx="3">
                    <c:v>Jul-25</c:v>
                  </c:pt>
                  <c:pt idx="4">
                    <c:v>Aug-25</c:v>
                  </c:pt>
                  <c:pt idx="5">
                    <c:v>Sep-25</c:v>
                  </c:pt>
                  <c:pt idx="6">
                    <c:v>Oct-25</c:v>
                  </c:pt>
                  <c:pt idx="7">
                    <c:v>Nov-25</c:v>
                  </c:pt>
                  <c:pt idx="8">
                    <c:v>Dec-25</c:v>
                  </c:pt>
                  <c:pt idx="9">
                    <c:v>Jan-26</c:v>
                  </c:pt>
                  <c:pt idx="10">
                    <c:v>Feb-26</c:v>
                  </c:pt>
                  <c:pt idx="11">
                    <c:v>Mar-26</c:v>
                  </c:pt>
                  <c:pt idx="13">
                    <c:v>Apr-26</c:v>
                  </c:pt>
                  <c:pt idx="15">
                    <c:v>May-26</c:v>
                  </c:pt>
                  <c:pt idx="17">
                    <c:v>Jun-26</c:v>
                  </c:pt>
                  <c:pt idx="19">
                    <c:v>Jul-26</c:v>
                  </c:pt>
                  <c:pt idx="21">
                    <c:v>Aug-26</c:v>
                  </c:pt>
                  <c:pt idx="23">
                    <c:v>Sep-26</c:v>
                  </c:pt>
                  <c:pt idx="25">
                    <c:v>Oct-26</c:v>
                  </c:pt>
                  <c:pt idx="27">
                    <c:v>Nov-26</c:v>
                  </c:pt>
                  <c:pt idx="29">
                    <c:v>Dec-26</c:v>
                  </c:pt>
                  <c:pt idx="31">
                    <c:v>Jan-27</c:v>
                  </c:pt>
                  <c:pt idx="33">
                    <c:v>Feb-27</c:v>
                  </c:pt>
                </c:lvl>
              </c:multiLvlStrCache>
            </c:multiLvlStrRef>
          </c:cat>
          <c:val>
            <c:numRef>
              <c:f>'Bandha 500MW'!$C$4:$AK$4</c:f>
              <c:numCache>
                <c:formatCode>General</c:formatCode>
                <c:ptCount val="35"/>
                <c:pt idx="0">
                  <c:v>0</c:v>
                </c:pt>
                <c:pt idx="1">
                  <c:v>8</c:v>
                </c:pt>
                <c:pt idx="2" formatCode="0">
                  <c:v>125.1333333</c:v>
                </c:pt>
                <c:pt idx="3" formatCode="0">
                  <c:v>206.0967742</c:v>
                </c:pt>
                <c:pt idx="4" formatCode="0">
                  <c:v>55.833333330000002</c:v>
                </c:pt>
                <c:pt idx="5" formatCode="0">
                  <c:v>32.533333329999998</c:v>
                </c:pt>
                <c:pt idx="6" formatCode="0">
                  <c:v>21.185185189999999</c:v>
                </c:pt>
                <c:pt idx="7" formatCode="0">
                  <c:v>32.633333329999999</c:v>
                </c:pt>
                <c:pt idx="8" formatCode="0">
                  <c:v>8.7333333329999991</c:v>
                </c:pt>
                <c:pt idx="9" formatCode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BF-4DF2-B2D5-775951FE6A95}"/>
            </c:ext>
          </c:extLst>
        </c:ser>
        <c:ser>
          <c:idx val="1"/>
          <c:order val="1"/>
          <c:tx>
            <c:strRef>
              <c:f>'Bandha 500MW'!$B$5</c:f>
              <c:strCache>
                <c:ptCount val="1"/>
                <c:pt idx="0">
                  <c:v>MMS+Robot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'Bandha 500MW'!$C$2:$AK$3</c:f>
              <c:multiLvlStrCache>
                <c:ptCount val="35"/>
                <c:lvl>
                  <c:pt idx="0">
                    <c:v>Actual</c:v>
                  </c:pt>
                  <c:pt idx="1">
                    <c:v>Actual</c:v>
                  </c:pt>
                  <c:pt idx="2">
                    <c:v>Actual</c:v>
                  </c:pt>
                  <c:pt idx="3">
                    <c:v>Actual</c:v>
                  </c:pt>
                  <c:pt idx="4">
                    <c:v>Actual</c:v>
                  </c:pt>
                  <c:pt idx="5">
                    <c:v>Actual</c:v>
                  </c:pt>
                  <c:pt idx="6">
                    <c:v>Actual</c:v>
                  </c:pt>
                  <c:pt idx="7">
                    <c:v>Actual</c:v>
                  </c:pt>
                  <c:pt idx="8">
                    <c:v>Actual</c:v>
                  </c:pt>
                  <c:pt idx="9">
                    <c:v>Actual</c:v>
                  </c:pt>
                  <c:pt idx="10">
                    <c:v>Actual</c:v>
                  </c:pt>
                  <c:pt idx="11">
                    <c:v>Plan</c:v>
                  </c:pt>
                  <c:pt idx="12">
                    <c:v>Actual</c:v>
                  </c:pt>
                  <c:pt idx="13">
                    <c:v>Plan</c:v>
                  </c:pt>
                  <c:pt idx="14">
                    <c:v>Actual</c:v>
                  </c:pt>
                  <c:pt idx="15">
                    <c:v>Plan</c:v>
                  </c:pt>
                  <c:pt idx="16">
                    <c:v>Actual</c:v>
                  </c:pt>
                  <c:pt idx="17">
                    <c:v>Plan</c:v>
                  </c:pt>
                  <c:pt idx="18">
                    <c:v>Actual</c:v>
                  </c:pt>
                  <c:pt idx="19">
                    <c:v>Plan</c:v>
                  </c:pt>
                  <c:pt idx="20">
                    <c:v>Actual</c:v>
                  </c:pt>
                  <c:pt idx="21">
                    <c:v>Plan</c:v>
                  </c:pt>
                  <c:pt idx="22">
                    <c:v>Actual</c:v>
                  </c:pt>
                  <c:pt idx="23">
                    <c:v>Plan</c:v>
                  </c:pt>
                  <c:pt idx="24">
                    <c:v>Actual</c:v>
                  </c:pt>
                  <c:pt idx="25">
                    <c:v>Plan</c:v>
                  </c:pt>
                  <c:pt idx="26">
                    <c:v>Actual</c:v>
                  </c:pt>
                  <c:pt idx="27">
                    <c:v>Plan</c:v>
                  </c:pt>
                  <c:pt idx="28">
                    <c:v>Actual</c:v>
                  </c:pt>
                  <c:pt idx="29">
                    <c:v>Plan</c:v>
                  </c:pt>
                  <c:pt idx="30">
                    <c:v>Actual</c:v>
                  </c:pt>
                  <c:pt idx="31">
                    <c:v>Plan</c:v>
                  </c:pt>
                  <c:pt idx="32">
                    <c:v>Actual</c:v>
                  </c:pt>
                  <c:pt idx="33">
                    <c:v>Plan</c:v>
                  </c:pt>
                  <c:pt idx="34">
                    <c:v>Actual</c:v>
                  </c:pt>
                </c:lvl>
                <c:lvl>
                  <c:pt idx="0">
                    <c:v>Apr-25</c:v>
                  </c:pt>
                  <c:pt idx="1">
                    <c:v>May-25</c:v>
                  </c:pt>
                  <c:pt idx="2">
                    <c:v>Jun-25</c:v>
                  </c:pt>
                  <c:pt idx="3">
                    <c:v>Jul-25</c:v>
                  </c:pt>
                  <c:pt idx="4">
                    <c:v>Aug-25</c:v>
                  </c:pt>
                  <c:pt idx="5">
                    <c:v>Sep-25</c:v>
                  </c:pt>
                  <c:pt idx="6">
                    <c:v>Oct-25</c:v>
                  </c:pt>
                  <c:pt idx="7">
                    <c:v>Nov-25</c:v>
                  </c:pt>
                  <c:pt idx="8">
                    <c:v>Dec-25</c:v>
                  </c:pt>
                  <c:pt idx="9">
                    <c:v>Jan-26</c:v>
                  </c:pt>
                  <c:pt idx="10">
                    <c:v>Feb-26</c:v>
                  </c:pt>
                  <c:pt idx="11">
                    <c:v>Mar-26</c:v>
                  </c:pt>
                  <c:pt idx="13">
                    <c:v>Apr-26</c:v>
                  </c:pt>
                  <c:pt idx="15">
                    <c:v>May-26</c:v>
                  </c:pt>
                  <c:pt idx="17">
                    <c:v>Jun-26</c:v>
                  </c:pt>
                  <c:pt idx="19">
                    <c:v>Jul-26</c:v>
                  </c:pt>
                  <c:pt idx="21">
                    <c:v>Aug-26</c:v>
                  </c:pt>
                  <c:pt idx="23">
                    <c:v>Sep-26</c:v>
                  </c:pt>
                  <c:pt idx="25">
                    <c:v>Oct-26</c:v>
                  </c:pt>
                  <c:pt idx="27">
                    <c:v>Nov-26</c:v>
                  </c:pt>
                  <c:pt idx="29">
                    <c:v>Dec-26</c:v>
                  </c:pt>
                  <c:pt idx="31">
                    <c:v>Jan-27</c:v>
                  </c:pt>
                  <c:pt idx="33">
                    <c:v>Feb-27</c:v>
                  </c:pt>
                </c:lvl>
              </c:multiLvlStrCache>
            </c:multiLvlStrRef>
          </c:cat>
          <c:val>
            <c:numRef>
              <c:f>'Bandha 500MW'!$C$5:$AK$5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 formatCode="0">
                  <c:v>48.903225810000002</c:v>
                </c:pt>
                <c:pt idx="4" formatCode="0">
                  <c:v>150.33333329999999</c:v>
                </c:pt>
                <c:pt idx="5" formatCode="0">
                  <c:v>144.30000000000001</c:v>
                </c:pt>
                <c:pt idx="6" formatCode="0">
                  <c:v>93.068965520000006</c:v>
                </c:pt>
                <c:pt idx="7" formatCode="0">
                  <c:v>88.1</c:v>
                </c:pt>
                <c:pt idx="8" formatCode="0">
                  <c:v>132.54838710000001</c:v>
                </c:pt>
                <c:pt idx="9" formatCode="0">
                  <c:v>131</c:v>
                </c:pt>
                <c:pt idx="10" formatCode="0">
                  <c:v>120</c:v>
                </c:pt>
                <c:pt idx="11" formatCode="0">
                  <c:v>19</c:v>
                </c:pt>
                <c:pt idx="12" formatCode="0">
                  <c:v>19</c:v>
                </c:pt>
                <c:pt idx="13" formatCode="0">
                  <c:v>133.7037037037037</c:v>
                </c:pt>
                <c:pt idx="14" formatCode="0">
                  <c:v>44</c:v>
                </c:pt>
                <c:pt idx="15" formatCode="0">
                  <c:v>139.74910394265231</c:v>
                </c:pt>
                <c:pt idx="16" formatCode="0">
                  <c:v>15</c:v>
                </c:pt>
                <c:pt idx="17" formatCode="0">
                  <c:v>30</c:v>
                </c:pt>
                <c:pt idx="18" formatCode="0">
                  <c:v>23</c:v>
                </c:pt>
                <c:pt idx="19" formatCode="0">
                  <c:v>9</c:v>
                </c:pt>
                <c:pt idx="20" formatCode="0">
                  <c:v>9</c:v>
                </c:pt>
                <c:pt idx="21" formatCode="0">
                  <c:v>5</c:v>
                </c:pt>
                <c:pt idx="23" formatCode="0">
                  <c:v>5</c:v>
                </c:pt>
                <c:pt idx="25" formatCode="0">
                  <c:v>30</c:v>
                </c:pt>
                <c:pt idx="27" formatCode="0">
                  <c:v>30</c:v>
                </c:pt>
                <c:pt idx="29" formatCode="0">
                  <c:v>10</c:v>
                </c:pt>
                <c:pt idx="31" formatCode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BF-4DF2-B2D5-775951FE6A95}"/>
            </c:ext>
          </c:extLst>
        </c:ser>
        <c:ser>
          <c:idx val="2"/>
          <c:order val="2"/>
          <c:tx>
            <c:strRef>
              <c:f>'Bandha 500MW'!$B$6</c:f>
              <c:strCache>
                <c:ptCount val="1"/>
                <c:pt idx="0">
                  <c:v>Module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'Bandha 500MW'!$C$2:$AK$3</c:f>
              <c:multiLvlStrCache>
                <c:ptCount val="35"/>
                <c:lvl>
                  <c:pt idx="0">
                    <c:v>Actual</c:v>
                  </c:pt>
                  <c:pt idx="1">
                    <c:v>Actual</c:v>
                  </c:pt>
                  <c:pt idx="2">
                    <c:v>Actual</c:v>
                  </c:pt>
                  <c:pt idx="3">
                    <c:v>Actual</c:v>
                  </c:pt>
                  <c:pt idx="4">
                    <c:v>Actual</c:v>
                  </c:pt>
                  <c:pt idx="5">
                    <c:v>Actual</c:v>
                  </c:pt>
                  <c:pt idx="6">
                    <c:v>Actual</c:v>
                  </c:pt>
                  <c:pt idx="7">
                    <c:v>Actual</c:v>
                  </c:pt>
                  <c:pt idx="8">
                    <c:v>Actual</c:v>
                  </c:pt>
                  <c:pt idx="9">
                    <c:v>Actual</c:v>
                  </c:pt>
                  <c:pt idx="10">
                    <c:v>Actual</c:v>
                  </c:pt>
                  <c:pt idx="11">
                    <c:v>Plan</c:v>
                  </c:pt>
                  <c:pt idx="12">
                    <c:v>Actual</c:v>
                  </c:pt>
                  <c:pt idx="13">
                    <c:v>Plan</c:v>
                  </c:pt>
                  <c:pt idx="14">
                    <c:v>Actual</c:v>
                  </c:pt>
                  <c:pt idx="15">
                    <c:v>Plan</c:v>
                  </c:pt>
                  <c:pt idx="16">
                    <c:v>Actual</c:v>
                  </c:pt>
                  <c:pt idx="17">
                    <c:v>Plan</c:v>
                  </c:pt>
                  <c:pt idx="18">
                    <c:v>Actual</c:v>
                  </c:pt>
                  <c:pt idx="19">
                    <c:v>Plan</c:v>
                  </c:pt>
                  <c:pt idx="20">
                    <c:v>Actual</c:v>
                  </c:pt>
                  <c:pt idx="21">
                    <c:v>Plan</c:v>
                  </c:pt>
                  <c:pt idx="22">
                    <c:v>Actual</c:v>
                  </c:pt>
                  <c:pt idx="23">
                    <c:v>Plan</c:v>
                  </c:pt>
                  <c:pt idx="24">
                    <c:v>Actual</c:v>
                  </c:pt>
                  <c:pt idx="25">
                    <c:v>Plan</c:v>
                  </c:pt>
                  <c:pt idx="26">
                    <c:v>Actual</c:v>
                  </c:pt>
                  <c:pt idx="27">
                    <c:v>Plan</c:v>
                  </c:pt>
                  <c:pt idx="28">
                    <c:v>Actual</c:v>
                  </c:pt>
                  <c:pt idx="29">
                    <c:v>Plan</c:v>
                  </c:pt>
                  <c:pt idx="30">
                    <c:v>Actual</c:v>
                  </c:pt>
                  <c:pt idx="31">
                    <c:v>Plan</c:v>
                  </c:pt>
                  <c:pt idx="32">
                    <c:v>Actual</c:v>
                  </c:pt>
                  <c:pt idx="33">
                    <c:v>Plan</c:v>
                  </c:pt>
                  <c:pt idx="34">
                    <c:v>Actual</c:v>
                  </c:pt>
                </c:lvl>
                <c:lvl>
                  <c:pt idx="0">
                    <c:v>Apr-25</c:v>
                  </c:pt>
                  <c:pt idx="1">
                    <c:v>May-25</c:v>
                  </c:pt>
                  <c:pt idx="2">
                    <c:v>Jun-25</c:v>
                  </c:pt>
                  <c:pt idx="3">
                    <c:v>Jul-25</c:v>
                  </c:pt>
                  <c:pt idx="4">
                    <c:v>Aug-25</c:v>
                  </c:pt>
                  <c:pt idx="5">
                    <c:v>Sep-25</c:v>
                  </c:pt>
                  <c:pt idx="6">
                    <c:v>Oct-25</c:v>
                  </c:pt>
                  <c:pt idx="7">
                    <c:v>Nov-25</c:v>
                  </c:pt>
                  <c:pt idx="8">
                    <c:v>Dec-25</c:v>
                  </c:pt>
                  <c:pt idx="9">
                    <c:v>Jan-26</c:v>
                  </c:pt>
                  <c:pt idx="10">
                    <c:v>Feb-26</c:v>
                  </c:pt>
                  <c:pt idx="11">
                    <c:v>Mar-26</c:v>
                  </c:pt>
                  <c:pt idx="13">
                    <c:v>Apr-26</c:v>
                  </c:pt>
                  <c:pt idx="15">
                    <c:v>May-26</c:v>
                  </c:pt>
                  <c:pt idx="17">
                    <c:v>Jun-26</c:v>
                  </c:pt>
                  <c:pt idx="19">
                    <c:v>Jul-26</c:v>
                  </c:pt>
                  <c:pt idx="21">
                    <c:v>Aug-26</c:v>
                  </c:pt>
                  <c:pt idx="23">
                    <c:v>Sep-26</c:v>
                  </c:pt>
                  <c:pt idx="25">
                    <c:v>Oct-26</c:v>
                  </c:pt>
                  <c:pt idx="27">
                    <c:v>Nov-26</c:v>
                  </c:pt>
                  <c:pt idx="29">
                    <c:v>Dec-26</c:v>
                  </c:pt>
                  <c:pt idx="31">
                    <c:v>Jan-27</c:v>
                  </c:pt>
                  <c:pt idx="33">
                    <c:v>Feb-27</c:v>
                  </c:pt>
                </c:lvl>
              </c:multiLvlStrCache>
            </c:multiLvlStrRef>
          </c:cat>
          <c:val>
            <c:numRef>
              <c:f>'Bandha 500MW'!$C$6:$AK$6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 formatCode="0">
                  <c:v>0</c:v>
                </c:pt>
                <c:pt idx="4" formatCode="0">
                  <c:v>0</c:v>
                </c:pt>
                <c:pt idx="5" formatCode="0">
                  <c:v>0</c:v>
                </c:pt>
                <c:pt idx="6" formatCode="0">
                  <c:v>93.068965520000006</c:v>
                </c:pt>
                <c:pt idx="7">
                  <c:v>46</c:v>
                </c:pt>
                <c:pt idx="8" formatCode="0">
                  <c:v>91.032258060000004</c:v>
                </c:pt>
                <c:pt idx="9" formatCode="0">
                  <c:v>74</c:v>
                </c:pt>
                <c:pt idx="10" formatCode="0">
                  <c:v>92</c:v>
                </c:pt>
                <c:pt idx="11" formatCode="0">
                  <c:v>33</c:v>
                </c:pt>
                <c:pt idx="12" formatCode="0">
                  <c:v>33</c:v>
                </c:pt>
                <c:pt idx="13" formatCode="0">
                  <c:v>0</c:v>
                </c:pt>
                <c:pt idx="14" formatCode="0">
                  <c:v>29</c:v>
                </c:pt>
                <c:pt idx="15" formatCode="0">
                  <c:v>0</c:v>
                </c:pt>
                <c:pt idx="16" formatCode="0">
                  <c:v>14</c:v>
                </c:pt>
                <c:pt idx="17" formatCode="0">
                  <c:v>0</c:v>
                </c:pt>
                <c:pt idx="18" formatCode="0">
                  <c:v>11</c:v>
                </c:pt>
                <c:pt idx="19" formatCode="0">
                  <c:v>0</c:v>
                </c:pt>
                <c:pt idx="20" formatCode="0">
                  <c:v>5</c:v>
                </c:pt>
                <c:pt idx="21" formatCode="0">
                  <c:v>0</c:v>
                </c:pt>
                <c:pt idx="23" formatCode="0">
                  <c:v>0</c:v>
                </c:pt>
                <c:pt idx="25" formatCode="0">
                  <c:v>70</c:v>
                </c:pt>
                <c:pt idx="27" formatCode="0">
                  <c:v>270</c:v>
                </c:pt>
                <c:pt idx="29" formatCode="0">
                  <c:v>270</c:v>
                </c:pt>
                <c:pt idx="31" formatCode="0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BF-4DF2-B2D5-775951FE6A95}"/>
            </c:ext>
          </c:extLst>
        </c:ser>
        <c:ser>
          <c:idx val="3"/>
          <c:order val="3"/>
          <c:tx>
            <c:strRef>
              <c:f>'Bandha 500MW'!$B$7</c:f>
              <c:strCache>
                <c:ptCount val="1"/>
                <c:pt idx="0">
                  <c:v>IDT Area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'Bandha 500MW'!$C$2:$AK$3</c:f>
              <c:multiLvlStrCache>
                <c:ptCount val="35"/>
                <c:lvl>
                  <c:pt idx="0">
                    <c:v>Actual</c:v>
                  </c:pt>
                  <c:pt idx="1">
                    <c:v>Actual</c:v>
                  </c:pt>
                  <c:pt idx="2">
                    <c:v>Actual</c:v>
                  </c:pt>
                  <c:pt idx="3">
                    <c:v>Actual</c:v>
                  </c:pt>
                  <c:pt idx="4">
                    <c:v>Actual</c:v>
                  </c:pt>
                  <c:pt idx="5">
                    <c:v>Actual</c:v>
                  </c:pt>
                  <c:pt idx="6">
                    <c:v>Actual</c:v>
                  </c:pt>
                  <c:pt idx="7">
                    <c:v>Actual</c:v>
                  </c:pt>
                  <c:pt idx="8">
                    <c:v>Actual</c:v>
                  </c:pt>
                  <c:pt idx="9">
                    <c:v>Actual</c:v>
                  </c:pt>
                  <c:pt idx="10">
                    <c:v>Actual</c:v>
                  </c:pt>
                  <c:pt idx="11">
                    <c:v>Plan</c:v>
                  </c:pt>
                  <c:pt idx="12">
                    <c:v>Actual</c:v>
                  </c:pt>
                  <c:pt idx="13">
                    <c:v>Plan</c:v>
                  </c:pt>
                  <c:pt idx="14">
                    <c:v>Actual</c:v>
                  </c:pt>
                  <c:pt idx="15">
                    <c:v>Plan</c:v>
                  </c:pt>
                  <c:pt idx="16">
                    <c:v>Actual</c:v>
                  </c:pt>
                  <c:pt idx="17">
                    <c:v>Plan</c:v>
                  </c:pt>
                  <c:pt idx="18">
                    <c:v>Actual</c:v>
                  </c:pt>
                  <c:pt idx="19">
                    <c:v>Plan</c:v>
                  </c:pt>
                  <c:pt idx="20">
                    <c:v>Actual</c:v>
                  </c:pt>
                  <c:pt idx="21">
                    <c:v>Plan</c:v>
                  </c:pt>
                  <c:pt idx="22">
                    <c:v>Actual</c:v>
                  </c:pt>
                  <c:pt idx="23">
                    <c:v>Plan</c:v>
                  </c:pt>
                  <c:pt idx="24">
                    <c:v>Actual</c:v>
                  </c:pt>
                  <c:pt idx="25">
                    <c:v>Plan</c:v>
                  </c:pt>
                  <c:pt idx="26">
                    <c:v>Actual</c:v>
                  </c:pt>
                  <c:pt idx="27">
                    <c:v>Plan</c:v>
                  </c:pt>
                  <c:pt idx="28">
                    <c:v>Actual</c:v>
                  </c:pt>
                  <c:pt idx="29">
                    <c:v>Plan</c:v>
                  </c:pt>
                  <c:pt idx="30">
                    <c:v>Actual</c:v>
                  </c:pt>
                  <c:pt idx="31">
                    <c:v>Plan</c:v>
                  </c:pt>
                  <c:pt idx="32">
                    <c:v>Actual</c:v>
                  </c:pt>
                  <c:pt idx="33">
                    <c:v>Plan</c:v>
                  </c:pt>
                  <c:pt idx="34">
                    <c:v>Actual</c:v>
                  </c:pt>
                </c:lvl>
                <c:lvl>
                  <c:pt idx="0">
                    <c:v>Apr-25</c:v>
                  </c:pt>
                  <c:pt idx="1">
                    <c:v>May-25</c:v>
                  </c:pt>
                  <c:pt idx="2">
                    <c:v>Jun-25</c:v>
                  </c:pt>
                  <c:pt idx="3">
                    <c:v>Jul-25</c:v>
                  </c:pt>
                  <c:pt idx="4">
                    <c:v>Aug-25</c:v>
                  </c:pt>
                  <c:pt idx="5">
                    <c:v>Sep-25</c:v>
                  </c:pt>
                  <c:pt idx="6">
                    <c:v>Oct-25</c:v>
                  </c:pt>
                  <c:pt idx="7">
                    <c:v>Nov-25</c:v>
                  </c:pt>
                  <c:pt idx="8">
                    <c:v>Dec-25</c:v>
                  </c:pt>
                  <c:pt idx="9">
                    <c:v>Jan-26</c:v>
                  </c:pt>
                  <c:pt idx="10">
                    <c:v>Feb-26</c:v>
                  </c:pt>
                  <c:pt idx="11">
                    <c:v>Mar-26</c:v>
                  </c:pt>
                  <c:pt idx="13">
                    <c:v>Apr-26</c:v>
                  </c:pt>
                  <c:pt idx="15">
                    <c:v>May-26</c:v>
                  </c:pt>
                  <c:pt idx="17">
                    <c:v>Jun-26</c:v>
                  </c:pt>
                  <c:pt idx="19">
                    <c:v>Jul-26</c:v>
                  </c:pt>
                  <c:pt idx="21">
                    <c:v>Aug-26</c:v>
                  </c:pt>
                  <c:pt idx="23">
                    <c:v>Sep-26</c:v>
                  </c:pt>
                  <c:pt idx="25">
                    <c:v>Oct-26</c:v>
                  </c:pt>
                  <c:pt idx="27">
                    <c:v>Nov-26</c:v>
                  </c:pt>
                  <c:pt idx="29">
                    <c:v>Dec-26</c:v>
                  </c:pt>
                  <c:pt idx="31">
                    <c:v>Jan-27</c:v>
                  </c:pt>
                  <c:pt idx="33">
                    <c:v>Feb-27</c:v>
                  </c:pt>
                </c:lvl>
              </c:multiLvlStrCache>
            </c:multiLvlStrRef>
          </c:cat>
          <c:val>
            <c:numRef>
              <c:f>'Bandha 500MW'!$C$7:$AK$7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 formatCode="0">
                  <c:v>17.814814810000001</c:v>
                </c:pt>
                <c:pt idx="3" formatCode="0">
                  <c:v>53.419354839999997</c:v>
                </c:pt>
                <c:pt idx="4" formatCode="0">
                  <c:v>68.933333329999996</c:v>
                </c:pt>
                <c:pt idx="5" formatCode="0">
                  <c:v>63.3</c:v>
                </c:pt>
                <c:pt idx="6" formatCode="0">
                  <c:v>18.785714290000001</c:v>
                </c:pt>
                <c:pt idx="7" formatCode="0">
                  <c:v>12.34482759</c:v>
                </c:pt>
                <c:pt idx="8" formatCode="0">
                  <c:v>14.70967742</c:v>
                </c:pt>
                <c:pt idx="9" formatCode="0">
                  <c:v>16</c:v>
                </c:pt>
                <c:pt idx="10" formatCode="0">
                  <c:v>19</c:v>
                </c:pt>
                <c:pt idx="11" formatCode="0">
                  <c:v>4</c:v>
                </c:pt>
                <c:pt idx="12" formatCode="0">
                  <c:v>4</c:v>
                </c:pt>
                <c:pt idx="13" formatCode="0">
                  <c:v>10</c:v>
                </c:pt>
                <c:pt idx="14" formatCode="0">
                  <c:v>9</c:v>
                </c:pt>
                <c:pt idx="15" formatCode="0">
                  <c:v>10</c:v>
                </c:pt>
                <c:pt idx="16" formatCode="0">
                  <c:v>4</c:v>
                </c:pt>
                <c:pt idx="17" formatCode="0">
                  <c:v>10</c:v>
                </c:pt>
                <c:pt idx="18" formatCode="0">
                  <c:v>7</c:v>
                </c:pt>
                <c:pt idx="19" formatCode="0">
                  <c:v>10</c:v>
                </c:pt>
                <c:pt idx="20" formatCode="0">
                  <c:v>2</c:v>
                </c:pt>
                <c:pt idx="21" formatCode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7BF-4DF2-B2D5-775951FE6A95}"/>
            </c:ext>
          </c:extLst>
        </c:ser>
        <c:ser>
          <c:idx val="4"/>
          <c:order val="4"/>
          <c:tx>
            <c:strRef>
              <c:f>'Bandha 500MW'!$B$8</c:f>
              <c:strCache>
                <c:ptCount val="1"/>
                <c:pt idx="0">
                  <c:v>AC DC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'Bandha 500MW'!$C$2:$AK$3</c:f>
              <c:multiLvlStrCache>
                <c:ptCount val="35"/>
                <c:lvl>
                  <c:pt idx="0">
                    <c:v>Actual</c:v>
                  </c:pt>
                  <c:pt idx="1">
                    <c:v>Actual</c:v>
                  </c:pt>
                  <c:pt idx="2">
                    <c:v>Actual</c:v>
                  </c:pt>
                  <c:pt idx="3">
                    <c:v>Actual</c:v>
                  </c:pt>
                  <c:pt idx="4">
                    <c:v>Actual</c:v>
                  </c:pt>
                  <c:pt idx="5">
                    <c:v>Actual</c:v>
                  </c:pt>
                  <c:pt idx="6">
                    <c:v>Actual</c:v>
                  </c:pt>
                  <c:pt idx="7">
                    <c:v>Actual</c:v>
                  </c:pt>
                  <c:pt idx="8">
                    <c:v>Actual</c:v>
                  </c:pt>
                  <c:pt idx="9">
                    <c:v>Actual</c:v>
                  </c:pt>
                  <c:pt idx="10">
                    <c:v>Actual</c:v>
                  </c:pt>
                  <c:pt idx="11">
                    <c:v>Plan</c:v>
                  </c:pt>
                  <c:pt idx="12">
                    <c:v>Actual</c:v>
                  </c:pt>
                  <c:pt idx="13">
                    <c:v>Plan</c:v>
                  </c:pt>
                  <c:pt idx="14">
                    <c:v>Actual</c:v>
                  </c:pt>
                  <c:pt idx="15">
                    <c:v>Plan</c:v>
                  </c:pt>
                  <c:pt idx="16">
                    <c:v>Actual</c:v>
                  </c:pt>
                  <c:pt idx="17">
                    <c:v>Plan</c:v>
                  </c:pt>
                  <c:pt idx="18">
                    <c:v>Actual</c:v>
                  </c:pt>
                  <c:pt idx="19">
                    <c:v>Plan</c:v>
                  </c:pt>
                  <c:pt idx="20">
                    <c:v>Actual</c:v>
                  </c:pt>
                  <c:pt idx="21">
                    <c:v>Plan</c:v>
                  </c:pt>
                  <c:pt idx="22">
                    <c:v>Actual</c:v>
                  </c:pt>
                  <c:pt idx="23">
                    <c:v>Plan</c:v>
                  </c:pt>
                  <c:pt idx="24">
                    <c:v>Actual</c:v>
                  </c:pt>
                  <c:pt idx="25">
                    <c:v>Plan</c:v>
                  </c:pt>
                  <c:pt idx="26">
                    <c:v>Actual</c:v>
                  </c:pt>
                  <c:pt idx="27">
                    <c:v>Plan</c:v>
                  </c:pt>
                  <c:pt idx="28">
                    <c:v>Actual</c:v>
                  </c:pt>
                  <c:pt idx="29">
                    <c:v>Plan</c:v>
                  </c:pt>
                  <c:pt idx="30">
                    <c:v>Actual</c:v>
                  </c:pt>
                  <c:pt idx="31">
                    <c:v>Plan</c:v>
                  </c:pt>
                  <c:pt idx="32">
                    <c:v>Actual</c:v>
                  </c:pt>
                  <c:pt idx="33">
                    <c:v>Plan</c:v>
                  </c:pt>
                  <c:pt idx="34">
                    <c:v>Actual</c:v>
                  </c:pt>
                </c:lvl>
                <c:lvl>
                  <c:pt idx="0">
                    <c:v>Apr-25</c:v>
                  </c:pt>
                  <c:pt idx="1">
                    <c:v>May-25</c:v>
                  </c:pt>
                  <c:pt idx="2">
                    <c:v>Jun-25</c:v>
                  </c:pt>
                  <c:pt idx="3">
                    <c:v>Jul-25</c:v>
                  </c:pt>
                  <c:pt idx="4">
                    <c:v>Aug-25</c:v>
                  </c:pt>
                  <c:pt idx="5">
                    <c:v>Sep-25</c:v>
                  </c:pt>
                  <c:pt idx="6">
                    <c:v>Oct-25</c:v>
                  </c:pt>
                  <c:pt idx="7">
                    <c:v>Nov-25</c:v>
                  </c:pt>
                  <c:pt idx="8">
                    <c:v>Dec-25</c:v>
                  </c:pt>
                  <c:pt idx="9">
                    <c:v>Jan-26</c:v>
                  </c:pt>
                  <c:pt idx="10">
                    <c:v>Feb-26</c:v>
                  </c:pt>
                  <c:pt idx="11">
                    <c:v>Mar-26</c:v>
                  </c:pt>
                  <c:pt idx="13">
                    <c:v>Apr-26</c:v>
                  </c:pt>
                  <c:pt idx="15">
                    <c:v>May-26</c:v>
                  </c:pt>
                  <c:pt idx="17">
                    <c:v>Jun-26</c:v>
                  </c:pt>
                  <c:pt idx="19">
                    <c:v>Jul-26</c:v>
                  </c:pt>
                  <c:pt idx="21">
                    <c:v>Aug-26</c:v>
                  </c:pt>
                  <c:pt idx="23">
                    <c:v>Sep-26</c:v>
                  </c:pt>
                  <c:pt idx="25">
                    <c:v>Oct-26</c:v>
                  </c:pt>
                  <c:pt idx="27">
                    <c:v>Nov-26</c:v>
                  </c:pt>
                  <c:pt idx="29">
                    <c:v>Dec-26</c:v>
                  </c:pt>
                  <c:pt idx="31">
                    <c:v>Jan-27</c:v>
                  </c:pt>
                  <c:pt idx="33">
                    <c:v>Feb-27</c:v>
                  </c:pt>
                </c:lvl>
              </c:multiLvlStrCache>
            </c:multiLvlStrRef>
          </c:cat>
          <c:val>
            <c:numRef>
              <c:f>'Bandha 500MW'!$C$8:$AK$8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 formatCode="0">
                  <c:v>19.3</c:v>
                </c:pt>
                <c:pt idx="3" formatCode="0">
                  <c:v>62.064516130000001</c:v>
                </c:pt>
                <c:pt idx="4" formatCode="0">
                  <c:v>58.366666670000001</c:v>
                </c:pt>
                <c:pt idx="5" formatCode="0">
                  <c:v>102.7666667</c:v>
                </c:pt>
                <c:pt idx="6" formatCode="0">
                  <c:v>45.392857139999997</c:v>
                </c:pt>
                <c:pt idx="7" formatCode="0">
                  <c:v>46.866666670000001</c:v>
                </c:pt>
                <c:pt idx="8" formatCode="0">
                  <c:v>50.032258059999997</c:v>
                </c:pt>
                <c:pt idx="9" formatCode="0">
                  <c:v>67</c:v>
                </c:pt>
                <c:pt idx="10" formatCode="0">
                  <c:v>88</c:v>
                </c:pt>
                <c:pt idx="11" formatCode="0">
                  <c:v>34</c:v>
                </c:pt>
                <c:pt idx="12" formatCode="0">
                  <c:v>34</c:v>
                </c:pt>
                <c:pt idx="13" formatCode="0">
                  <c:v>20</c:v>
                </c:pt>
                <c:pt idx="14" formatCode="0">
                  <c:v>24</c:v>
                </c:pt>
                <c:pt idx="15" formatCode="0">
                  <c:v>20</c:v>
                </c:pt>
                <c:pt idx="16" formatCode="0">
                  <c:v>42</c:v>
                </c:pt>
                <c:pt idx="17" formatCode="0">
                  <c:v>80</c:v>
                </c:pt>
                <c:pt idx="18" formatCode="0">
                  <c:v>32</c:v>
                </c:pt>
                <c:pt idx="19" formatCode="0">
                  <c:v>25</c:v>
                </c:pt>
                <c:pt idx="20" formatCode="0">
                  <c:v>19</c:v>
                </c:pt>
                <c:pt idx="21" formatCode="0">
                  <c:v>20</c:v>
                </c:pt>
                <c:pt idx="23" formatCode="0">
                  <c:v>20</c:v>
                </c:pt>
                <c:pt idx="25" formatCode="0">
                  <c:v>80</c:v>
                </c:pt>
                <c:pt idx="27" formatCode="0">
                  <c:v>100</c:v>
                </c:pt>
                <c:pt idx="29" formatCode="0">
                  <c:v>100</c:v>
                </c:pt>
                <c:pt idx="31" formatCode="0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BF-4DF2-B2D5-775951FE6A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658267584"/>
        <c:axId val="658265184"/>
      </c:barChart>
      <c:lineChart>
        <c:grouping val="standard"/>
        <c:varyColors val="0"/>
        <c:ser>
          <c:idx val="5"/>
          <c:order val="5"/>
          <c:tx>
            <c:strRef>
              <c:f>'Bandha 500MW'!$B$9</c:f>
              <c:strCache>
                <c:ptCount val="1"/>
                <c:pt idx="0">
                  <c:v>Total Planned</c:v>
                </c:pt>
              </c:strCache>
            </c:strRef>
          </c:tx>
          <c:spPr>
            <a:ln w="381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rgbClr val="FFFF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'Bandha 500MW'!$C$2:$AI$3</c:f>
              <c:multiLvlStrCache>
                <c:ptCount val="33"/>
                <c:lvl>
                  <c:pt idx="0">
                    <c:v>Actual</c:v>
                  </c:pt>
                  <c:pt idx="1">
                    <c:v>Actual</c:v>
                  </c:pt>
                  <c:pt idx="2">
                    <c:v>Actual</c:v>
                  </c:pt>
                  <c:pt idx="3">
                    <c:v>Actual</c:v>
                  </c:pt>
                  <c:pt idx="4">
                    <c:v>Actual</c:v>
                  </c:pt>
                  <c:pt idx="5">
                    <c:v>Actual</c:v>
                  </c:pt>
                  <c:pt idx="6">
                    <c:v>Actual</c:v>
                  </c:pt>
                  <c:pt idx="7">
                    <c:v>Actual</c:v>
                  </c:pt>
                  <c:pt idx="8">
                    <c:v>Actual</c:v>
                  </c:pt>
                  <c:pt idx="9">
                    <c:v>Actual</c:v>
                  </c:pt>
                  <c:pt idx="10">
                    <c:v>Actual</c:v>
                  </c:pt>
                  <c:pt idx="11">
                    <c:v>Plan</c:v>
                  </c:pt>
                  <c:pt idx="12">
                    <c:v>Actual</c:v>
                  </c:pt>
                  <c:pt idx="13">
                    <c:v>Plan</c:v>
                  </c:pt>
                  <c:pt idx="14">
                    <c:v>Actual</c:v>
                  </c:pt>
                  <c:pt idx="15">
                    <c:v>Plan</c:v>
                  </c:pt>
                  <c:pt idx="16">
                    <c:v>Actual</c:v>
                  </c:pt>
                  <c:pt idx="17">
                    <c:v>Plan</c:v>
                  </c:pt>
                  <c:pt idx="18">
                    <c:v>Actual</c:v>
                  </c:pt>
                  <c:pt idx="19">
                    <c:v>Plan</c:v>
                  </c:pt>
                  <c:pt idx="20">
                    <c:v>Actual</c:v>
                  </c:pt>
                  <c:pt idx="21">
                    <c:v>Plan</c:v>
                  </c:pt>
                  <c:pt idx="22">
                    <c:v>Actual</c:v>
                  </c:pt>
                  <c:pt idx="23">
                    <c:v>Plan</c:v>
                  </c:pt>
                  <c:pt idx="24">
                    <c:v>Actual</c:v>
                  </c:pt>
                  <c:pt idx="25">
                    <c:v>Plan</c:v>
                  </c:pt>
                  <c:pt idx="26">
                    <c:v>Actual</c:v>
                  </c:pt>
                  <c:pt idx="27">
                    <c:v>Plan</c:v>
                  </c:pt>
                  <c:pt idx="28">
                    <c:v>Actual</c:v>
                  </c:pt>
                  <c:pt idx="29">
                    <c:v>Plan</c:v>
                  </c:pt>
                  <c:pt idx="30">
                    <c:v>Actual</c:v>
                  </c:pt>
                  <c:pt idx="31">
                    <c:v>Plan</c:v>
                  </c:pt>
                  <c:pt idx="32">
                    <c:v>Actual</c:v>
                  </c:pt>
                </c:lvl>
                <c:lvl>
                  <c:pt idx="0">
                    <c:v>Apr-25</c:v>
                  </c:pt>
                  <c:pt idx="1">
                    <c:v>May-25</c:v>
                  </c:pt>
                  <c:pt idx="2">
                    <c:v>Jun-25</c:v>
                  </c:pt>
                  <c:pt idx="3">
                    <c:v>Jul-25</c:v>
                  </c:pt>
                  <c:pt idx="4">
                    <c:v>Aug-25</c:v>
                  </c:pt>
                  <c:pt idx="5">
                    <c:v>Sep-25</c:v>
                  </c:pt>
                  <c:pt idx="6">
                    <c:v>Oct-25</c:v>
                  </c:pt>
                  <c:pt idx="7">
                    <c:v>Nov-25</c:v>
                  </c:pt>
                  <c:pt idx="8">
                    <c:v>Dec-25</c:v>
                  </c:pt>
                  <c:pt idx="9">
                    <c:v>Jan-26</c:v>
                  </c:pt>
                  <c:pt idx="10">
                    <c:v>Feb-26</c:v>
                  </c:pt>
                  <c:pt idx="11">
                    <c:v>Mar-26</c:v>
                  </c:pt>
                  <c:pt idx="13">
                    <c:v>Apr-26</c:v>
                  </c:pt>
                  <c:pt idx="15">
                    <c:v>May-26</c:v>
                  </c:pt>
                  <c:pt idx="17">
                    <c:v>Jun-26</c:v>
                  </c:pt>
                  <c:pt idx="19">
                    <c:v>Jul-26</c:v>
                  </c:pt>
                  <c:pt idx="21">
                    <c:v>Aug-26</c:v>
                  </c:pt>
                  <c:pt idx="23">
                    <c:v>Sep-26</c:v>
                  </c:pt>
                  <c:pt idx="25">
                    <c:v>Oct-26</c:v>
                  </c:pt>
                  <c:pt idx="27">
                    <c:v>Nov-26</c:v>
                  </c:pt>
                  <c:pt idx="29">
                    <c:v>Dec-26</c:v>
                  </c:pt>
                  <c:pt idx="31">
                    <c:v>Jan-27</c:v>
                  </c:pt>
                </c:lvl>
              </c:multiLvlStrCache>
            </c:multiLvlStrRef>
          </c:cat>
          <c:val>
            <c:numRef>
              <c:f>'Bandha 500MW'!$C$9:$AK$9</c:f>
              <c:numCache>
                <c:formatCode>General</c:formatCode>
                <c:ptCount val="35"/>
                <c:pt idx="11" formatCode="0">
                  <c:v>90</c:v>
                </c:pt>
                <c:pt idx="13" formatCode="0">
                  <c:v>163.7037037037037</c:v>
                </c:pt>
                <c:pt idx="15" formatCode="0">
                  <c:v>169.74910394265231</c:v>
                </c:pt>
                <c:pt idx="17" formatCode="0">
                  <c:v>120</c:v>
                </c:pt>
                <c:pt idx="19" formatCode="0">
                  <c:v>44</c:v>
                </c:pt>
                <c:pt idx="21" formatCode="0">
                  <c:v>35</c:v>
                </c:pt>
                <c:pt idx="23" formatCode="0">
                  <c:v>25</c:v>
                </c:pt>
                <c:pt idx="25" formatCode="0">
                  <c:v>180</c:v>
                </c:pt>
                <c:pt idx="27" formatCode="0">
                  <c:v>400</c:v>
                </c:pt>
                <c:pt idx="29" formatCode="0">
                  <c:v>380</c:v>
                </c:pt>
                <c:pt idx="31" formatCode="0">
                  <c:v>155</c:v>
                </c:pt>
                <c:pt idx="33" formatCode="0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47BF-4DF2-B2D5-775951FE6A95}"/>
            </c:ext>
          </c:extLst>
        </c:ser>
        <c:ser>
          <c:idx val="6"/>
          <c:order val="6"/>
          <c:tx>
            <c:strRef>
              <c:f>'Bandha 500MW'!$B$10</c:f>
              <c:strCache>
                <c:ptCount val="1"/>
                <c:pt idx="0">
                  <c:v>Total Actual</c:v>
                </c:pt>
              </c:strCache>
            </c:strRef>
          </c:tx>
          <c:spPr>
            <a:ln w="3810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rgbClr val="92D05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'Bandha 500MW'!$C$2:$AI$3</c:f>
              <c:multiLvlStrCache>
                <c:ptCount val="33"/>
                <c:lvl>
                  <c:pt idx="0">
                    <c:v>Actual</c:v>
                  </c:pt>
                  <c:pt idx="1">
                    <c:v>Actual</c:v>
                  </c:pt>
                  <c:pt idx="2">
                    <c:v>Actual</c:v>
                  </c:pt>
                  <c:pt idx="3">
                    <c:v>Actual</c:v>
                  </c:pt>
                  <c:pt idx="4">
                    <c:v>Actual</c:v>
                  </c:pt>
                  <c:pt idx="5">
                    <c:v>Actual</c:v>
                  </c:pt>
                  <c:pt idx="6">
                    <c:v>Actual</c:v>
                  </c:pt>
                  <c:pt idx="7">
                    <c:v>Actual</c:v>
                  </c:pt>
                  <c:pt idx="8">
                    <c:v>Actual</c:v>
                  </c:pt>
                  <c:pt idx="9">
                    <c:v>Actual</c:v>
                  </c:pt>
                  <c:pt idx="10">
                    <c:v>Actual</c:v>
                  </c:pt>
                  <c:pt idx="11">
                    <c:v>Plan</c:v>
                  </c:pt>
                  <c:pt idx="12">
                    <c:v>Actual</c:v>
                  </c:pt>
                  <c:pt idx="13">
                    <c:v>Plan</c:v>
                  </c:pt>
                  <c:pt idx="14">
                    <c:v>Actual</c:v>
                  </c:pt>
                  <c:pt idx="15">
                    <c:v>Plan</c:v>
                  </c:pt>
                  <c:pt idx="16">
                    <c:v>Actual</c:v>
                  </c:pt>
                  <c:pt idx="17">
                    <c:v>Plan</c:v>
                  </c:pt>
                  <c:pt idx="18">
                    <c:v>Actual</c:v>
                  </c:pt>
                  <c:pt idx="19">
                    <c:v>Plan</c:v>
                  </c:pt>
                  <c:pt idx="20">
                    <c:v>Actual</c:v>
                  </c:pt>
                  <c:pt idx="21">
                    <c:v>Plan</c:v>
                  </c:pt>
                  <c:pt idx="22">
                    <c:v>Actual</c:v>
                  </c:pt>
                  <c:pt idx="23">
                    <c:v>Plan</c:v>
                  </c:pt>
                  <c:pt idx="24">
                    <c:v>Actual</c:v>
                  </c:pt>
                  <c:pt idx="25">
                    <c:v>Plan</c:v>
                  </c:pt>
                  <c:pt idx="26">
                    <c:v>Actual</c:v>
                  </c:pt>
                  <c:pt idx="27">
                    <c:v>Plan</c:v>
                  </c:pt>
                  <c:pt idx="28">
                    <c:v>Actual</c:v>
                  </c:pt>
                  <c:pt idx="29">
                    <c:v>Plan</c:v>
                  </c:pt>
                  <c:pt idx="30">
                    <c:v>Actual</c:v>
                  </c:pt>
                  <c:pt idx="31">
                    <c:v>Plan</c:v>
                  </c:pt>
                  <c:pt idx="32">
                    <c:v>Actual</c:v>
                  </c:pt>
                </c:lvl>
                <c:lvl>
                  <c:pt idx="0">
                    <c:v>Apr-25</c:v>
                  </c:pt>
                  <c:pt idx="1">
                    <c:v>May-25</c:v>
                  </c:pt>
                  <c:pt idx="2">
                    <c:v>Jun-25</c:v>
                  </c:pt>
                  <c:pt idx="3">
                    <c:v>Jul-25</c:v>
                  </c:pt>
                  <c:pt idx="4">
                    <c:v>Aug-25</c:v>
                  </c:pt>
                  <c:pt idx="5">
                    <c:v>Sep-25</c:v>
                  </c:pt>
                  <c:pt idx="6">
                    <c:v>Oct-25</c:v>
                  </c:pt>
                  <c:pt idx="7">
                    <c:v>Nov-25</c:v>
                  </c:pt>
                  <c:pt idx="8">
                    <c:v>Dec-25</c:v>
                  </c:pt>
                  <c:pt idx="9">
                    <c:v>Jan-26</c:v>
                  </c:pt>
                  <c:pt idx="10">
                    <c:v>Feb-26</c:v>
                  </c:pt>
                  <c:pt idx="11">
                    <c:v>Mar-26</c:v>
                  </c:pt>
                  <c:pt idx="13">
                    <c:v>Apr-26</c:v>
                  </c:pt>
                  <c:pt idx="15">
                    <c:v>May-26</c:v>
                  </c:pt>
                  <c:pt idx="17">
                    <c:v>Jun-26</c:v>
                  </c:pt>
                  <c:pt idx="19">
                    <c:v>Jul-26</c:v>
                  </c:pt>
                  <c:pt idx="21">
                    <c:v>Aug-26</c:v>
                  </c:pt>
                  <c:pt idx="23">
                    <c:v>Sep-26</c:v>
                  </c:pt>
                  <c:pt idx="25">
                    <c:v>Oct-26</c:v>
                  </c:pt>
                  <c:pt idx="27">
                    <c:v>Nov-26</c:v>
                  </c:pt>
                  <c:pt idx="29">
                    <c:v>Dec-26</c:v>
                  </c:pt>
                  <c:pt idx="31">
                    <c:v>Jan-27</c:v>
                  </c:pt>
                </c:lvl>
              </c:multiLvlStrCache>
            </c:multiLvlStrRef>
          </c:cat>
          <c:val>
            <c:numRef>
              <c:f>'Bandha 500MW'!$C$10:$AK$10</c:f>
              <c:numCache>
                <c:formatCode>0</c:formatCode>
                <c:ptCount val="35"/>
                <c:pt idx="0" formatCode="General">
                  <c:v>0</c:v>
                </c:pt>
                <c:pt idx="1">
                  <c:v>8</c:v>
                </c:pt>
                <c:pt idx="2" formatCode="General">
                  <c:v>162</c:v>
                </c:pt>
                <c:pt idx="3" formatCode="General">
                  <c:v>370</c:v>
                </c:pt>
                <c:pt idx="4" formatCode="General">
                  <c:v>333</c:v>
                </c:pt>
                <c:pt idx="5" formatCode="General">
                  <c:v>343</c:v>
                </c:pt>
                <c:pt idx="6" formatCode="General">
                  <c:v>272</c:v>
                </c:pt>
                <c:pt idx="7" formatCode="General">
                  <c:v>226</c:v>
                </c:pt>
                <c:pt idx="8" formatCode="General">
                  <c:v>297</c:v>
                </c:pt>
                <c:pt idx="9" formatCode="General">
                  <c:v>293</c:v>
                </c:pt>
                <c:pt idx="10" formatCode="General">
                  <c:v>319</c:v>
                </c:pt>
                <c:pt idx="12" formatCode="General">
                  <c:v>90</c:v>
                </c:pt>
                <c:pt idx="14" formatCode="General">
                  <c:v>106</c:v>
                </c:pt>
                <c:pt idx="16" formatCode="General">
                  <c:v>75</c:v>
                </c:pt>
                <c:pt idx="18" formatCode="General">
                  <c:v>73</c:v>
                </c:pt>
                <c:pt idx="20" formatCode="General">
                  <c:v>35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6-47BF-4DF2-B2D5-775951FE6A95}"/>
            </c:ext>
          </c:extLst>
        </c:ser>
        <c:ser>
          <c:idx val="7"/>
          <c:order val="7"/>
          <c:tx>
            <c:strRef>
              <c:f>'Bandha 500MW'!$B$11</c:f>
              <c:strCache>
                <c:ptCount val="1"/>
                <c:pt idx="0">
                  <c:v>Total Forecast</c:v>
                </c:pt>
              </c:strCache>
            </c:strRef>
          </c:tx>
          <c:spPr>
            <a:ln w="38100" cap="rnd">
              <a:solidFill>
                <a:srgbClr val="0070C0"/>
              </a:solidFill>
              <a:prstDash val="dash"/>
              <a:round/>
            </a:ln>
            <a:effectLst/>
          </c:spPr>
          <c:marker>
            <c:symbol val="none"/>
          </c:marker>
          <c:dLbls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7BF-4DF2-B2D5-775951FE6A95}"/>
                </c:ext>
              </c:extLst>
            </c:dLbl>
            <c:spPr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'Bandha 500MW'!$C$2:$AI$3</c:f>
              <c:multiLvlStrCache>
                <c:ptCount val="33"/>
                <c:lvl>
                  <c:pt idx="0">
                    <c:v>Actual</c:v>
                  </c:pt>
                  <c:pt idx="1">
                    <c:v>Actual</c:v>
                  </c:pt>
                  <c:pt idx="2">
                    <c:v>Actual</c:v>
                  </c:pt>
                  <c:pt idx="3">
                    <c:v>Actual</c:v>
                  </c:pt>
                  <c:pt idx="4">
                    <c:v>Actual</c:v>
                  </c:pt>
                  <c:pt idx="5">
                    <c:v>Actual</c:v>
                  </c:pt>
                  <c:pt idx="6">
                    <c:v>Actual</c:v>
                  </c:pt>
                  <c:pt idx="7">
                    <c:v>Actual</c:v>
                  </c:pt>
                  <c:pt idx="8">
                    <c:v>Actual</c:v>
                  </c:pt>
                  <c:pt idx="9">
                    <c:v>Actual</c:v>
                  </c:pt>
                  <c:pt idx="10">
                    <c:v>Actual</c:v>
                  </c:pt>
                  <c:pt idx="11">
                    <c:v>Plan</c:v>
                  </c:pt>
                  <c:pt idx="12">
                    <c:v>Actual</c:v>
                  </c:pt>
                  <c:pt idx="13">
                    <c:v>Plan</c:v>
                  </c:pt>
                  <c:pt idx="14">
                    <c:v>Actual</c:v>
                  </c:pt>
                  <c:pt idx="15">
                    <c:v>Plan</c:v>
                  </c:pt>
                  <c:pt idx="16">
                    <c:v>Actual</c:v>
                  </c:pt>
                  <c:pt idx="17">
                    <c:v>Plan</c:v>
                  </c:pt>
                  <c:pt idx="18">
                    <c:v>Actual</c:v>
                  </c:pt>
                  <c:pt idx="19">
                    <c:v>Plan</c:v>
                  </c:pt>
                  <c:pt idx="20">
                    <c:v>Actual</c:v>
                  </c:pt>
                  <c:pt idx="21">
                    <c:v>Plan</c:v>
                  </c:pt>
                  <c:pt idx="22">
                    <c:v>Actual</c:v>
                  </c:pt>
                  <c:pt idx="23">
                    <c:v>Plan</c:v>
                  </c:pt>
                  <c:pt idx="24">
                    <c:v>Actual</c:v>
                  </c:pt>
                  <c:pt idx="25">
                    <c:v>Plan</c:v>
                  </c:pt>
                  <c:pt idx="26">
                    <c:v>Actual</c:v>
                  </c:pt>
                  <c:pt idx="27">
                    <c:v>Plan</c:v>
                  </c:pt>
                  <c:pt idx="28">
                    <c:v>Actual</c:v>
                  </c:pt>
                  <c:pt idx="29">
                    <c:v>Plan</c:v>
                  </c:pt>
                  <c:pt idx="30">
                    <c:v>Actual</c:v>
                  </c:pt>
                  <c:pt idx="31">
                    <c:v>Plan</c:v>
                  </c:pt>
                  <c:pt idx="32">
                    <c:v>Actual</c:v>
                  </c:pt>
                </c:lvl>
                <c:lvl>
                  <c:pt idx="0">
                    <c:v>Apr-25</c:v>
                  </c:pt>
                  <c:pt idx="1">
                    <c:v>May-25</c:v>
                  </c:pt>
                  <c:pt idx="2">
                    <c:v>Jun-25</c:v>
                  </c:pt>
                  <c:pt idx="3">
                    <c:v>Jul-25</c:v>
                  </c:pt>
                  <c:pt idx="4">
                    <c:v>Aug-25</c:v>
                  </c:pt>
                  <c:pt idx="5">
                    <c:v>Sep-25</c:v>
                  </c:pt>
                  <c:pt idx="6">
                    <c:v>Oct-25</c:v>
                  </c:pt>
                  <c:pt idx="7">
                    <c:v>Nov-25</c:v>
                  </c:pt>
                  <c:pt idx="8">
                    <c:v>Dec-25</c:v>
                  </c:pt>
                  <c:pt idx="9">
                    <c:v>Jan-26</c:v>
                  </c:pt>
                  <c:pt idx="10">
                    <c:v>Feb-26</c:v>
                  </c:pt>
                  <c:pt idx="11">
                    <c:v>Mar-26</c:v>
                  </c:pt>
                  <c:pt idx="13">
                    <c:v>Apr-26</c:v>
                  </c:pt>
                  <c:pt idx="15">
                    <c:v>May-26</c:v>
                  </c:pt>
                  <c:pt idx="17">
                    <c:v>Jun-26</c:v>
                  </c:pt>
                  <c:pt idx="19">
                    <c:v>Jul-26</c:v>
                  </c:pt>
                  <c:pt idx="21">
                    <c:v>Aug-26</c:v>
                  </c:pt>
                  <c:pt idx="23">
                    <c:v>Sep-26</c:v>
                  </c:pt>
                  <c:pt idx="25">
                    <c:v>Oct-26</c:v>
                  </c:pt>
                  <c:pt idx="27">
                    <c:v>Nov-26</c:v>
                  </c:pt>
                  <c:pt idx="29">
                    <c:v>Dec-26</c:v>
                  </c:pt>
                  <c:pt idx="31">
                    <c:v>Jan-27</c:v>
                  </c:pt>
                </c:lvl>
              </c:multiLvlStrCache>
            </c:multiLvlStrRef>
          </c:cat>
          <c:val>
            <c:numRef>
              <c:f>'Bandha 500MW'!$C$11:$AK$11</c:f>
              <c:numCache>
                <c:formatCode>General</c:formatCode>
                <c:ptCount val="35"/>
                <c:pt idx="22" formatCode="0">
                  <c:v>50</c:v>
                </c:pt>
                <c:pt idx="24" formatCode="0">
                  <c:v>30</c:v>
                </c:pt>
                <c:pt idx="26" formatCode="0">
                  <c:v>121.75627240143369</c:v>
                </c:pt>
                <c:pt idx="28" formatCode="0">
                  <c:v>405.91397849462362</c:v>
                </c:pt>
                <c:pt idx="30" formatCode="0">
                  <c:v>410.32258064516128</c:v>
                </c:pt>
                <c:pt idx="32" formatCode="0">
                  <c:v>340.5</c:v>
                </c:pt>
                <c:pt idx="34" formatCode="0">
                  <c:v>110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8-47BF-4DF2-B2D5-775951FE6A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58267584"/>
        <c:axId val="658265184"/>
      </c:lineChart>
      <c:catAx>
        <c:axId val="658267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658265184"/>
        <c:crosses val="autoZero"/>
        <c:auto val="1"/>
        <c:lblAlgn val="ctr"/>
        <c:lblOffset val="100"/>
        <c:noMultiLvlLbl val="0"/>
      </c:catAx>
      <c:valAx>
        <c:axId val="658265184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658267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dani Regular" panose="02000503000000020004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dani Regular" panose="02000503000000020004" pitchFamily="2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r>
              <a:rPr lang="en-IN"/>
              <a:t>Baiya_600 MW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dani Regular" panose="02000503000000020004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 Curve'!$A$38:$B$38</c:f>
              <c:strCache>
                <c:ptCount val="2"/>
                <c:pt idx="0">
                  <c:v>Overall</c:v>
                </c:pt>
                <c:pt idx="1">
                  <c:v>Plan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'S Curve'!$C$37:$AR$37</c:f>
              <c:strCache>
                <c:ptCount val="42"/>
                <c:pt idx="0">
                  <c:v>Aug-23</c:v>
                </c:pt>
                <c:pt idx="1">
                  <c:v>Sep-23</c:v>
                </c:pt>
                <c:pt idx="2">
                  <c:v>Oct-23</c:v>
                </c:pt>
                <c:pt idx="3">
                  <c:v>Nov-23</c:v>
                </c:pt>
                <c:pt idx="4">
                  <c:v>Dec-23</c:v>
                </c:pt>
                <c:pt idx="5">
                  <c:v>Jan-24</c:v>
                </c:pt>
                <c:pt idx="6">
                  <c:v>Feb-24</c:v>
                </c:pt>
                <c:pt idx="7">
                  <c:v>Mar-24</c:v>
                </c:pt>
                <c:pt idx="8">
                  <c:v>Apr-24</c:v>
                </c:pt>
                <c:pt idx="9">
                  <c:v>May-24</c:v>
                </c:pt>
                <c:pt idx="10">
                  <c:v>Jun-24</c:v>
                </c:pt>
                <c:pt idx="11">
                  <c:v>Jul-24</c:v>
                </c:pt>
                <c:pt idx="12">
                  <c:v>Aug-24</c:v>
                </c:pt>
                <c:pt idx="13">
                  <c:v>Sep-24</c:v>
                </c:pt>
                <c:pt idx="14">
                  <c:v>Oct-24</c:v>
                </c:pt>
                <c:pt idx="15">
                  <c:v>Nov-24</c:v>
                </c:pt>
                <c:pt idx="16">
                  <c:v>Dec-24</c:v>
                </c:pt>
                <c:pt idx="17">
                  <c:v>Jan-25</c:v>
                </c:pt>
                <c:pt idx="18">
                  <c:v>Feb-25</c:v>
                </c:pt>
                <c:pt idx="19">
                  <c:v>Mar-25</c:v>
                </c:pt>
                <c:pt idx="20">
                  <c:v>Apr-25</c:v>
                </c:pt>
                <c:pt idx="21">
                  <c:v>May-25</c:v>
                </c:pt>
                <c:pt idx="22">
                  <c:v>Jun-25</c:v>
                </c:pt>
                <c:pt idx="23">
                  <c:v>Jul-25</c:v>
                </c:pt>
                <c:pt idx="24">
                  <c:v>Aug-25</c:v>
                </c:pt>
                <c:pt idx="25">
                  <c:v>Sep-25</c:v>
                </c:pt>
                <c:pt idx="26">
                  <c:v>Oct-25</c:v>
                </c:pt>
                <c:pt idx="27">
                  <c:v>Nov-25</c:v>
                </c:pt>
                <c:pt idx="28">
                  <c:v>Dec-25</c:v>
                </c:pt>
                <c:pt idx="29">
                  <c:v>Jan-26</c:v>
                </c:pt>
                <c:pt idx="30">
                  <c:v>Feb-26</c:v>
                </c:pt>
                <c:pt idx="31">
                  <c:v>Mar-26</c:v>
                </c:pt>
                <c:pt idx="32">
                  <c:v>Apr-26</c:v>
                </c:pt>
                <c:pt idx="33">
                  <c:v>May-26</c:v>
                </c:pt>
                <c:pt idx="34">
                  <c:v>Jun-26</c:v>
                </c:pt>
                <c:pt idx="35">
                  <c:v>Jul-26</c:v>
                </c:pt>
                <c:pt idx="36">
                  <c:v>Aug-26</c:v>
                </c:pt>
                <c:pt idx="37">
                  <c:v>Sep-26</c:v>
                </c:pt>
                <c:pt idx="38">
                  <c:v>Oct-26</c:v>
                </c:pt>
                <c:pt idx="39">
                  <c:v>Nov-26</c:v>
                </c:pt>
                <c:pt idx="40">
                  <c:v>Dec-26</c:v>
                </c:pt>
                <c:pt idx="41">
                  <c:v>Jan-27</c:v>
                </c:pt>
              </c:strCache>
            </c:strRef>
          </c:cat>
          <c:val>
            <c:numRef>
              <c:f>'S Curve'!$C$38:$AR$38</c:f>
              <c:numCache>
                <c:formatCode>0.00%</c:formatCode>
                <c:ptCount val="42"/>
                <c:pt idx="0">
                  <c:v>3.6045990286839519E-3</c:v>
                </c:pt>
                <c:pt idx="1">
                  <c:v>5.5135702546965613E-3</c:v>
                </c:pt>
                <c:pt idx="2">
                  <c:v>1.0886134637917613E-2</c:v>
                </c:pt>
                <c:pt idx="3">
                  <c:v>1.2583630584924625E-2</c:v>
                </c:pt>
                <c:pt idx="4">
                  <c:v>2.5925826199823775E-2</c:v>
                </c:pt>
                <c:pt idx="5">
                  <c:v>1.2262022438270771E-2</c:v>
                </c:pt>
                <c:pt idx="6">
                  <c:v>4.3100221294048099E-3</c:v>
                </c:pt>
                <c:pt idx="7">
                  <c:v>4.9896330146159719E-3</c:v>
                </c:pt>
                <c:pt idx="8">
                  <c:v>7.288455784004417E-3</c:v>
                </c:pt>
                <c:pt idx="9">
                  <c:v>7.5581913921385687E-3</c:v>
                </c:pt>
                <c:pt idx="10">
                  <c:v>1.0659702742135357E-2</c:v>
                </c:pt>
                <c:pt idx="11">
                  <c:v>5.8006340370128188E-3</c:v>
                </c:pt>
                <c:pt idx="12">
                  <c:v>1.1342684422971172E-2</c:v>
                </c:pt>
                <c:pt idx="13">
                  <c:v>6.1428983562055138E-3</c:v>
                </c:pt>
                <c:pt idx="14">
                  <c:v>1.6521761176365175E-2</c:v>
                </c:pt>
                <c:pt idx="15">
                  <c:v>1.2705901564145999E-2</c:v>
                </c:pt>
                <c:pt idx="16">
                  <c:v>8.5437469829662428E-3</c:v>
                </c:pt>
                <c:pt idx="17">
                  <c:v>1.9674669654407041E-2</c:v>
                </c:pt>
                <c:pt idx="18">
                  <c:v>3.3890065064513919E-2</c:v>
                </c:pt>
                <c:pt idx="19">
                  <c:v>2.7779219493950756E-2</c:v>
                </c:pt>
                <c:pt idx="20">
                  <c:v>5.4876919298371241E-2</c:v>
                </c:pt>
                <c:pt idx="21">
                  <c:v>4.3663581488472471E-2</c:v>
                </c:pt>
                <c:pt idx="22">
                  <c:v>4.5575365666666069E-2</c:v>
                </c:pt>
                <c:pt idx="23">
                  <c:v>3.6578950346841867E-2</c:v>
                </c:pt>
                <c:pt idx="24">
                  <c:v>4.6563133485446218E-2</c:v>
                </c:pt>
                <c:pt idx="25">
                  <c:v>4.6849667861590755E-2</c:v>
                </c:pt>
                <c:pt idx="26">
                  <c:v>2.8530683726579048E-2</c:v>
                </c:pt>
                <c:pt idx="27">
                  <c:v>3.8123347547318956E-2</c:v>
                </c:pt>
                <c:pt idx="28">
                  <c:v>3.6765218027131299E-2</c:v>
                </c:pt>
                <c:pt idx="29">
                  <c:v>4.0115195007207588E-2</c:v>
                </c:pt>
                <c:pt idx="30">
                  <c:v>4.9693475017272934E-2</c:v>
                </c:pt>
                <c:pt idx="31">
                  <c:v>5.8269338296510695E-2</c:v>
                </c:pt>
                <c:pt idx="32">
                  <c:v>1.1631149903467525E-2</c:v>
                </c:pt>
                <c:pt idx="33">
                  <c:v>7.9485126905860116E-3</c:v>
                </c:pt>
                <c:pt idx="34">
                  <c:v>9.3300813087173057E-3</c:v>
                </c:pt>
                <c:pt idx="35">
                  <c:v>3.8719794144849501E-3</c:v>
                </c:pt>
                <c:pt idx="36">
                  <c:v>2.0706827857175911E-2</c:v>
                </c:pt>
                <c:pt idx="37">
                  <c:v>3.6178565495821123E-2</c:v>
                </c:pt>
                <c:pt idx="38">
                  <c:v>3.7210110672085683E-2</c:v>
                </c:pt>
                <c:pt idx="39">
                  <c:v>2.8932121312385369E-2</c:v>
                </c:pt>
                <c:pt idx="40">
                  <c:v>3.8694150816762592E-2</c:v>
                </c:pt>
                <c:pt idx="41">
                  <c:v>1.8449191162578916E-2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88A3-4162-8231-C3C97C8A36BF}"/>
            </c:ext>
          </c:extLst>
        </c:ser>
        <c:ser>
          <c:idx val="2"/>
          <c:order val="2"/>
          <c:tx>
            <c:strRef>
              <c:f>'S Curve'!$A$40:$B$40</c:f>
              <c:strCache>
                <c:ptCount val="2"/>
                <c:pt idx="0">
                  <c:v>Overall</c:v>
                </c:pt>
                <c:pt idx="1">
                  <c:v>Actual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'S Curve'!$C$37:$AR$37</c:f>
              <c:strCache>
                <c:ptCount val="42"/>
                <c:pt idx="0">
                  <c:v>Aug-23</c:v>
                </c:pt>
                <c:pt idx="1">
                  <c:v>Sep-23</c:v>
                </c:pt>
                <c:pt idx="2">
                  <c:v>Oct-23</c:v>
                </c:pt>
                <c:pt idx="3">
                  <c:v>Nov-23</c:v>
                </c:pt>
                <c:pt idx="4">
                  <c:v>Dec-23</c:v>
                </c:pt>
                <c:pt idx="5">
                  <c:v>Jan-24</c:v>
                </c:pt>
                <c:pt idx="6">
                  <c:v>Feb-24</c:v>
                </c:pt>
                <c:pt idx="7">
                  <c:v>Mar-24</c:v>
                </c:pt>
                <c:pt idx="8">
                  <c:v>Apr-24</c:v>
                </c:pt>
                <c:pt idx="9">
                  <c:v>May-24</c:v>
                </c:pt>
                <c:pt idx="10">
                  <c:v>Jun-24</c:v>
                </c:pt>
                <c:pt idx="11">
                  <c:v>Jul-24</c:v>
                </c:pt>
                <c:pt idx="12">
                  <c:v>Aug-24</c:v>
                </c:pt>
                <c:pt idx="13">
                  <c:v>Sep-24</c:v>
                </c:pt>
                <c:pt idx="14">
                  <c:v>Oct-24</c:v>
                </c:pt>
                <c:pt idx="15">
                  <c:v>Nov-24</c:v>
                </c:pt>
                <c:pt idx="16">
                  <c:v>Dec-24</c:v>
                </c:pt>
                <c:pt idx="17">
                  <c:v>Jan-25</c:v>
                </c:pt>
                <c:pt idx="18">
                  <c:v>Feb-25</c:v>
                </c:pt>
                <c:pt idx="19">
                  <c:v>Mar-25</c:v>
                </c:pt>
                <c:pt idx="20">
                  <c:v>Apr-25</c:v>
                </c:pt>
                <c:pt idx="21">
                  <c:v>May-25</c:v>
                </c:pt>
                <c:pt idx="22">
                  <c:v>Jun-25</c:v>
                </c:pt>
                <c:pt idx="23">
                  <c:v>Jul-25</c:v>
                </c:pt>
                <c:pt idx="24">
                  <c:v>Aug-25</c:v>
                </c:pt>
                <c:pt idx="25">
                  <c:v>Sep-25</c:v>
                </c:pt>
                <c:pt idx="26">
                  <c:v>Oct-25</c:v>
                </c:pt>
                <c:pt idx="27">
                  <c:v>Nov-25</c:v>
                </c:pt>
                <c:pt idx="28">
                  <c:v>Dec-25</c:v>
                </c:pt>
                <c:pt idx="29">
                  <c:v>Jan-26</c:v>
                </c:pt>
                <c:pt idx="30">
                  <c:v>Feb-26</c:v>
                </c:pt>
                <c:pt idx="31">
                  <c:v>Mar-26</c:v>
                </c:pt>
                <c:pt idx="32">
                  <c:v>Apr-26</c:v>
                </c:pt>
                <c:pt idx="33">
                  <c:v>May-26</c:v>
                </c:pt>
                <c:pt idx="34">
                  <c:v>Jun-26</c:v>
                </c:pt>
                <c:pt idx="35">
                  <c:v>Jul-26</c:v>
                </c:pt>
                <c:pt idx="36">
                  <c:v>Aug-26</c:v>
                </c:pt>
                <c:pt idx="37">
                  <c:v>Sep-26</c:v>
                </c:pt>
                <c:pt idx="38">
                  <c:v>Oct-26</c:v>
                </c:pt>
                <c:pt idx="39">
                  <c:v>Nov-26</c:v>
                </c:pt>
                <c:pt idx="40">
                  <c:v>Dec-26</c:v>
                </c:pt>
                <c:pt idx="41">
                  <c:v>Jan-27</c:v>
                </c:pt>
              </c:strCache>
            </c:strRef>
          </c:cat>
          <c:val>
            <c:numRef>
              <c:f>'S Curve'!$C$40:$AR$40</c:f>
              <c:numCache>
                <c:formatCode>0.00%</c:formatCode>
                <c:ptCount val="42"/>
                <c:pt idx="0">
                  <c:v>3.6045990286839519E-3</c:v>
                </c:pt>
                <c:pt idx="1">
                  <c:v>5.5135702546965613E-3</c:v>
                </c:pt>
                <c:pt idx="2">
                  <c:v>1.0886134637917613E-2</c:v>
                </c:pt>
                <c:pt idx="3">
                  <c:v>1.2583630584924625E-2</c:v>
                </c:pt>
                <c:pt idx="4">
                  <c:v>2.5925826199823775E-2</c:v>
                </c:pt>
                <c:pt idx="5">
                  <c:v>1.2262022438270771E-2</c:v>
                </c:pt>
                <c:pt idx="6">
                  <c:v>4.3100221294048099E-3</c:v>
                </c:pt>
                <c:pt idx="7">
                  <c:v>4.9896330146159719E-3</c:v>
                </c:pt>
                <c:pt idx="8">
                  <c:v>7.288455784004417E-3</c:v>
                </c:pt>
                <c:pt idx="9">
                  <c:v>7.5581913921385687E-3</c:v>
                </c:pt>
                <c:pt idx="10">
                  <c:v>1.0659702742135357E-2</c:v>
                </c:pt>
                <c:pt idx="11">
                  <c:v>5.8006340370128188E-3</c:v>
                </c:pt>
                <c:pt idx="12">
                  <c:v>1.1342684422971172E-2</c:v>
                </c:pt>
                <c:pt idx="13">
                  <c:v>6.1428983562055138E-3</c:v>
                </c:pt>
                <c:pt idx="14">
                  <c:v>1.6521761176365175E-2</c:v>
                </c:pt>
                <c:pt idx="15">
                  <c:v>1.2705901564145999E-2</c:v>
                </c:pt>
                <c:pt idx="16">
                  <c:v>8.5437469829662428E-3</c:v>
                </c:pt>
                <c:pt idx="17">
                  <c:v>1.9674669654407041E-2</c:v>
                </c:pt>
                <c:pt idx="18">
                  <c:v>3.3890065064513919E-2</c:v>
                </c:pt>
                <c:pt idx="19">
                  <c:v>2.7779219493950756E-2</c:v>
                </c:pt>
                <c:pt idx="20">
                  <c:v>5.4876919298371241E-2</c:v>
                </c:pt>
                <c:pt idx="21">
                  <c:v>4.3663581488472471E-2</c:v>
                </c:pt>
                <c:pt idx="22">
                  <c:v>4.5575365666666069E-2</c:v>
                </c:pt>
                <c:pt idx="23">
                  <c:v>3.6578950346841867E-2</c:v>
                </c:pt>
                <c:pt idx="24">
                  <c:v>4.6563133485446218E-2</c:v>
                </c:pt>
                <c:pt idx="25">
                  <c:v>4.6849667861590755E-2</c:v>
                </c:pt>
                <c:pt idx="26">
                  <c:v>2.8530683726579048E-2</c:v>
                </c:pt>
                <c:pt idx="27">
                  <c:v>3.8123347547318956E-2</c:v>
                </c:pt>
                <c:pt idx="28">
                  <c:v>3.6765218027131299E-2</c:v>
                </c:pt>
                <c:pt idx="29">
                  <c:v>4.0115195007207588E-2</c:v>
                </c:pt>
                <c:pt idx="30">
                  <c:v>4.9693475017272934E-2</c:v>
                </c:pt>
                <c:pt idx="31">
                  <c:v>5.8269338296510695E-2</c:v>
                </c:pt>
                <c:pt idx="32">
                  <c:v>1.1631149903467525E-2</c:v>
                </c:pt>
                <c:pt idx="33">
                  <c:v>5.0554430866659129E-3</c:v>
                </c:pt>
                <c:pt idx="34">
                  <c:v>5.4609031818685306E-5</c:v>
                </c:pt>
                <c:pt idx="35">
                  <c:v>4.0498620022112663E-3</c:v>
                </c:pt>
                <c:pt idx="36">
                  <c:v>0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88A3-4162-8231-C3C97C8A36BF}"/>
            </c:ext>
          </c:extLst>
        </c:ser>
        <c:ser>
          <c:idx val="4"/>
          <c:order val="4"/>
          <c:tx>
            <c:strRef>
              <c:f>'S Curve'!$A$46:$B$46</c:f>
              <c:strCache>
                <c:ptCount val="2"/>
                <c:pt idx="0">
                  <c:v>Engineering</c:v>
                </c:pt>
                <c:pt idx="1">
                  <c:v>Plan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'S Curve'!$C$37:$AR$37</c:f>
              <c:strCache>
                <c:ptCount val="42"/>
                <c:pt idx="0">
                  <c:v>Aug-23</c:v>
                </c:pt>
                <c:pt idx="1">
                  <c:v>Sep-23</c:v>
                </c:pt>
                <c:pt idx="2">
                  <c:v>Oct-23</c:v>
                </c:pt>
                <c:pt idx="3">
                  <c:v>Nov-23</c:v>
                </c:pt>
                <c:pt idx="4">
                  <c:v>Dec-23</c:v>
                </c:pt>
                <c:pt idx="5">
                  <c:v>Jan-24</c:v>
                </c:pt>
                <c:pt idx="6">
                  <c:v>Feb-24</c:v>
                </c:pt>
                <c:pt idx="7">
                  <c:v>Mar-24</c:v>
                </c:pt>
                <c:pt idx="8">
                  <c:v>Apr-24</c:v>
                </c:pt>
                <c:pt idx="9">
                  <c:v>May-24</c:v>
                </c:pt>
                <c:pt idx="10">
                  <c:v>Jun-24</c:v>
                </c:pt>
                <c:pt idx="11">
                  <c:v>Jul-24</c:v>
                </c:pt>
                <c:pt idx="12">
                  <c:v>Aug-24</c:v>
                </c:pt>
                <c:pt idx="13">
                  <c:v>Sep-24</c:v>
                </c:pt>
                <c:pt idx="14">
                  <c:v>Oct-24</c:v>
                </c:pt>
                <c:pt idx="15">
                  <c:v>Nov-24</c:v>
                </c:pt>
                <c:pt idx="16">
                  <c:v>Dec-24</c:v>
                </c:pt>
                <c:pt idx="17">
                  <c:v>Jan-25</c:v>
                </c:pt>
                <c:pt idx="18">
                  <c:v>Feb-25</c:v>
                </c:pt>
                <c:pt idx="19">
                  <c:v>Mar-25</c:v>
                </c:pt>
                <c:pt idx="20">
                  <c:v>Apr-25</c:v>
                </c:pt>
                <c:pt idx="21">
                  <c:v>May-25</c:v>
                </c:pt>
                <c:pt idx="22">
                  <c:v>Jun-25</c:v>
                </c:pt>
                <c:pt idx="23">
                  <c:v>Jul-25</c:v>
                </c:pt>
                <c:pt idx="24">
                  <c:v>Aug-25</c:v>
                </c:pt>
                <c:pt idx="25">
                  <c:v>Sep-25</c:v>
                </c:pt>
                <c:pt idx="26">
                  <c:v>Oct-25</c:v>
                </c:pt>
                <c:pt idx="27">
                  <c:v>Nov-25</c:v>
                </c:pt>
                <c:pt idx="28">
                  <c:v>Dec-25</c:v>
                </c:pt>
                <c:pt idx="29">
                  <c:v>Jan-26</c:v>
                </c:pt>
                <c:pt idx="30">
                  <c:v>Feb-26</c:v>
                </c:pt>
                <c:pt idx="31">
                  <c:v>Mar-26</c:v>
                </c:pt>
                <c:pt idx="32">
                  <c:v>Apr-26</c:v>
                </c:pt>
                <c:pt idx="33">
                  <c:v>May-26</c:v>
                </c:pt>
                <c:pt idx="34">
                  <c:v>Jun-26</c:v>
                </c:pt>
                <c:pt idx="35">
                  <c:v>Jul-26</c:v>
                </c:pt>
                <c:pt idx="36">
                  <c:v>Aug-26</c:v>
                </c:pt>
                <c:pt idx="37">
                  <c:v>Sep-26</c:v>
                </c:pt>
                <c:pt idx="38">
                  <c:v>Oct-26</c:v>
                </c:pt>
                <c:pt idx="39">
                  <c:v>Nov-26</c:v>
                </c:pt>
                <c:pt idx="40">
                  <c:v>Dec-26</c:v>
                </c:pt>
                <c:pt idx="41">
                  <c:v>Jan-27</c:v>
                </c:pt>
              </c:strCache>
            </c:strRef>
          </c:cat>
          <c:val>
            <c:numRef>
              <c:f>'S Curve'!$C$46:$AP$46</c:f>
            </c:numRef>
          </c:val>
          <c:extLst>
            <c:ext xmlns:c16="http://schemas.microsoft.com/office/drawing/2014/chart" uri="{C3380CC4-5D6E-409C-BE32-E72D297353CC}">
              <c16:uniqueId val="{00000002-88A3-4162-8231-C3C97C8A36BF}"/>
            </c:ext>
          </c:extLst>
        </c:ser>
        <c:ser>
          <c:idx val="6"/>
          <c:order val="6"/>
          <c:tx>
            <c:strRef>
              <c:f>'S Curve'!$A$48:$B$48</c:f>
              <c:strCache>
                <c:ptCount val="2"/>
                <c:pt idx="0">
                  <c:v>Engineering</c:v>
                </c:pt>
                <c:pt idx="1">
                  <c:v>Actual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'S Curve'!$C$37:$AR$37</c:f>
              <c:strCache>
                <c:ptCount val="42"/>
                <c:pt idx="0">
                  <c:v>Aug-23</c:v>
                </c:pt>
                <c:pt idx="1">
                  <c:v>Sep-23</c:v>
                </c:pt>
                <c:pt idx="2">
                  <c:v>Oct-23</c:v>
                </c:pt>
                <c:pt idx="3">
                  <c:v>Nov-23</c:v>
                </c:pt>
                <c:pt idx="4">
                  <c:v>Dec-23</c:v>
                </c:pt>
                <c:pt idx="5">
                  <c:v>Jan-24</c:v>
                </c:pt>
                <c:pt idx="6">
                  <c:v>Feb-24</c:v>
                </c:pt>
                <c:pt idx="7">
                  <c:v>Mar-24</c:v>
                </c:pt>
                <c:pt idx="8">
                  <c:v>Apr-24</c:v>
                </c:pt>
                <c:pt idx="9">
                  <c:v>May-24</c:v>
                </c:pt>
                <c:pt idx="10">
                  <c:v>Jun-24</c:v>
                </c:pt>
                <c:pt idx="11">
                  <c:v>Jul-24</c:v>
                </c:pt>
                <c:pt idx="12">
                  <c:v>Aug-24</c:v>
                </c:pt>
                <c:pt idx="13">
                  <c:v>Sep-24</c:v>
                </c:pt>
                <c:pt idx="14">
                  <c:v>Oct-24</c:v>
                </c:pt>
                <c:pt idx="15">
                  <c:v>Nov-24</c:v>
                </c:pt>
                <c:pt idx="16">
                  <c:v>Dec-24</c:v>
                </c:pt>
                <c:pt idx="17">
                  <c:v>Jan-25</c:v>
                </c:pt>
                <c:pt idx="18">
                  <c:v>Feb-25</c:v>
                </c:pt>
                <c:pt idx="19">
                  <c:v>Mar-25</c:v>
                </c:pt>
                <c:pt idx="20">
                  <c:v>Apr-25</c:v>
                </c:pt>
                <c:pt idx="21">
                  <c:v>May-25</c:v>
                </c:pt>
                <c:pt idx="22">
                  <c:v>Jun-25</c:v>
                </c:pt>
                <c:pt idx="23">
                  <c:v>Jul-25</c:v>
                </c:pt>
                <c:pt idx="24">
                  <c:v>Aug-25</c:v>
                </c:pt>
                <c:pt idx="25">
                  <c:v>Sep-25</c:v>
                </c:pt>
                <c:pt idx="26">
                  <c:v>Oct-25</c:v>
                </c:pt>
                <c:pt idx="27">
                  <c:v>Nov-25</c:v>
                </c:pt>
                <c:pt idx="28">
                  <c:v>Dec-25</c:v>
                </c:pt>
                <c:pt idx="29">
                  <c:v>Jan-26</c:v>
                </c:pt>
                <c:pt idx="30">
                  <c:v>Feb-26</c:v>
                </c:pt>
                <c:pt idx="31">
                  <c:v>Mar-26</c:v>
                </c:pt>
                <c:pt idx="32">
                  <c:v>Apr-26</c:v>
                </c:pt>
                <c:pt idx="33">
                  <c:v>May-26</c:v>
                </c:pt>
                <c:pt idx="34">
                  <c:v>Jun-26</c:v>
                </c:pt>
                <c:pt idx="35">
                  <c:v>Jul-26</c:v>
                </c:pt>
                <c:pt idx="36">
                  <c:v>Aug-26</c:v>
                </c:pt>
                <c:pt idx="37">
                  <c:v>Sep-26</c:v>
                </c:pt>
                <c:pt idx="38">
                  <c:v>Oct-26</c:v>
                </c:pt>
                <c:pt idx="39">
                  <c:v>Nov-26</c:v>
                </c:pt>
                <c:pt idx="40">
                  <c:v>Dec-26</c:v>
                </c:pt>
                <c:pt idx="41">
                  <c:v>Jan-27</c:v>
                </c:pt>
              </c:strCache>
            </c:strRef>
          </c:cat>
          <c:val>
            <c:numRef>
              <c:f>'S Curve'!$C$48:$AP$48</c:f>
            </c:numRef>
          </c:val>
          <c:extLst>
            <c:ext xmlns:c16="http://schemas.microsoft.com/office/drawing/2014/chart" uri="{C3380CC4-5D6E-409C-BE32-E72D297353CC}">
              <c16:uniqueId val="{00000003-88A3-4162-8231-C3C97C8A36BF}"/>
            </c:ext>
          </c:extLst>
        </c:ser>
        <c:ser>
          <c:idx val="8"/>
          <c:order val="8"/>
          <c:tx>
            <c:strRef>
              <c:f>'S Curve'!$A$50:$B$50</c:f>
              <c:strCache>
                <c:ptCount val="2"/>
                <c:pt idx="0">
                  <c:v>Procurement</c:v>
                </c:pt>
                <c:pt idx="1">
                  <c:v>Plan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'S Curve'!$C$37:$AR$37</c:f>
              <c:strCache>
                <c:ptCount val="42"/>
                <c:pt idx="0">
                  <c:v>Aug-23</c:v>
                </c:pt>
                <c:pt idx="1">
                  <c:v>Sep-23</c:v>
                </c:pt>
                <c:pt idx="2">
                  <c:v>Oct-23</c:v>
                </c:pt>
                <c:pt idx="3">
                  <c:v>Nov-23</c:v>
                </c:pt>
                <c:pt idx="4">
                  <c:v>Dec-23</c:v>
                </c:pt>
                <c:pt idx="5">
                  <c:v>Jan-24</c:v>
                </c:pt>
                <c:pt idx="6">
                  <c:v>Feb-24</c:v>
                </c:pt>
                <c:pt idx="7">
                  <c:v>Mar-24</c:v>
                </c:pt>
                <c:pt idx="8">
                  <c:v>Apr-24</c:v>
                </c:pt>
                <c:pt idx="9">
                  <c:v>May-24</c:v>
                </c:pt>
                <c:pt idx="10">
                  <c:v>Jun-24</c:v>
                </c:pt>
                <c:pt idx="11">
                  <c:v>Jul-24</c:v>
                </c:pt>
                <c:pt idx="12">
                  <c:v>Aug-24</c:v>
                </c:pt>
                <c:pt idx="13">
                  <c:v>Sep-24</c:v>
                </c:pt>
                <c:pt idx="14">
                  <c:v>Oct-24</c:v>
                </c:pt>
                <c:pt idx="15">
                  <c:v>Nov-24</c:v>
                </c:pt>
                <c:pt idx="16">
                  <c:v>Dec-24</c:v>
                </c:pt>
                <c:pt idx="17">
                  <c:v>Jan-25</c:v>
                </c:pt>
                <c:pt idx="18">
                  <c:v>Feb-25</c:v>
                </c:pt>
                <c:pt idx="19">
                  <c:v>Mar-25</c:v>
                </c:pt>
                <c:pt idx="20">
                  <c:v>Apr-25</c:v>
                </c:pt>
                <c:pt idx="21">
                  <c:v>May-25</c:v>
                </c:pt>
                <c:pt idx="22">
                  <c:v>Jun-25</c:v>
                </c:pt>
                <c:pt idx="23">
                  <c:v>Jul-25</c:v>
                </c:pt>
                <c:pt idx="24">
                  <c:v>Aug-25</c:v>
                </c:pt>
                <c:pt idx="25">
                  <c:v>Sep-25</c:v>
                </c:pt>
                <c:pt idx="26">
                  <c:v>Oct-25</c:v>
                </c:pt>
                <c:pt idx="27">
                  <c:v>Nov-25</c:v>
                </c:pt>
                <c:pt idx="28">
                  <c:v>Dec-25</c:v>
                </c:pt>
                <c:pt idx="29">
                  <c:v>Jan-26</c:v>
                </c:pt>
                <c:pt idx="30">
                  <c:v>Feb-26</c:v>
                </c:pt>
                <c:pt idx="31">
                  <c:v>Mar-26</c:v>
                </c:pt>
                <c:pt idx="32">
                  <c:v>Apr-26</c:v>
                </c:pt>
                <c:pt idx="33">
                  <c:v>May-26</c:v>
                </c:pt>
                <c:pt idx="34">
                  <c:v>Jun-26</c:v>
                </c:pt>
                <c:pt idx="35">
                  <c:v>Jul-26</c:v>
                </c:pt>
                <c:pt idx="36">
                  <c:v>Aug-26</c:v>
                </c:pt>
                <c:pt idx="37">
                  <c:v>Sep-26</c:v>
                </c:pt>
                <c:pt idx="38">
                  <c:v>Oct-26</c:v>
                </c:pt>
                <c:pt idx="39">
                  <c:v>Nov-26</c:v>
                </c:pt>
                <c:pt idx="40">
                  <c:v>Dec-26</c:v>
                </c:pt>
                <c:pt idx="41">
                  <c:v>Jan-27</c:v>
                </c:pt>
              </c:strCache>
            </c:strRef>
          </c:cat>
          <c:val>
            <c:numRef>
              <c:f>'S Curve'!$C$50:$AP$50</c:f>
            </c:numRef>
          </c:val>
          <c:extLst>
            <c:ext xmlns:c16="http://schemas.microsoft.com/office/drawing/2014/chart" uri="{C3380CC4-5D6E-409C-BE32-E72D297353CC}">
              <c16:uniqueId val="{00000004-88A3-4162-8231-C3C97C8A36BF}"/>
            </c:ext>
          </c:extLst>
        </c:ser>
        <c:ser>
          <c:idx val="10"/>
          <c:order val="10"/>
          <c:tx>
            <c:strRef>
              <c:f>'S Curve'!$A$52:$B$52</c:f>
              <c:strCache>
                <c:ptCount val="2"/>
                <c:pt idx="0">
                  <c:v>Procurement</c:v>
                </c:pt>
                <c:pt idx="1">
                  <c:v>Actual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'S Curve'!$C$37:$AR$37</c:f>
              <c:strCache>
                <c:ptCount val="42"/>
                <c:pt idx="0">
                  <c:v>Aug-23</c:v>
                </c:pt>
                <c:pt idx="1">
                  <c:v>Sep-23</c:v>
                </c:pt>
                <c:pt idx="2">
                  <c:v>Oct-23</c:v>
                </c:pt>
                <c:pt idx="3">
                  <c:v>Nov-23</c:v>
                </c:pt>
                <c:pt idx="4">
                  <c:v>Dec-23</c:v>
                </c:pt>
                <c:pt idx="5">
                  <c:v>Jan-24</c:v>
                </c:pt>
                <c:pt idx="6">
                  <c:v>Feb-24</c:v>
                </c:pt>
                <c:pt idx="7">
                  <c:v>Mar-24</c:v>
                </c:pt>
                <c:pt idx="8">
                  <c:v>Apr-24</c:v>
                </c:pt>
                <c:pt idx="9">
                  <c:v>May-24</c:v>
                </c:pt>
                <c:pt idx="10">
                  <c:v>Jun-24</c:v>
                </c:pt>
                <c:pt idx="11">
                  <c:v>Jul-24</c:v>
                </c:pt>
                <c:pt idx="12">
                  <c:v>Aug-24</c:v>
                </c:pt>
                <c:pt idx="13">
                  <c:v>Sep-24</c:v>
                </c:pt>
                <c:pt idx="14">
                  <c:v>Oct-24</c:v>
                </c:pt>
                <c:pt idx="15">
                  <c:v>Nov-24</c:v>
                </c:pt>
                <c:pt idx="16">
                  <c:v>Dec-24</c:v>
                </c:pt>
                <c:pt idx="17">
                  <c:v>Jan-25</c:v>
                </c:pt>
                <c:pt idx="18">
                  <c:v>Feb-25</c:v>
                </c:pt>
                <c:pt idx="19">
                  <c:v>Mar-25</c:v>
                </c:pt>
                <c:pt idx="20">
                  <c:v>Apr-25</c:v>
                </c:pt>
                <c:pt idx="21">
                  <c:v>May-25</c:v>
                </c:pt>
                <c:pt idx="22">
                  <c:v>Jun-25</c:v>
                </c:pt>
                <c:pt idx="23">
                  <c:v>Jul-25</c:v>
                </c:pt>
                <c:pt idx="24">
                  <c:v>Aug-25</c:v>
                </c:pt>
                <c:pt idx="25">
                  <c:v>Sep-25</c:v>
                </c:pt>
                <c:pt idx="26">
                  <c:v>Oct-25</c:v>
                </c:pt>
                <c:pt idx="27">
                  <c:v>Nov-25</c:v>
                </c:pt>
                <c:pt idx="28">
                  <c:v>Dec-25</c:v>
                </c:pt>
                <c:pt idx="29">
                  <c:v>Jan-26</c:v>
                </c:pt>
                <c:pt idx="30">
                  <c:v>Feb-26</c:v>
                </c:pt>
                <c:pt idx="31">
                  <c:v>Mar-26</c:v>
                </c:pt>
                <c:pt idx="32">
                  <c:v>Apr-26</c:v>
                </c:pt>
                <c:pt idx="33">
                  <c:v>May-26</c:v>
                </c:pt>
                <c:pt idx="34">
                  <c:v>Jun-26</c:v>
                </c:pt>
                <c:pt idx="35">
                  <c:v>Jul-26</c:v>
                </c:pt>
                <c:pt idx="36">
                  <c:v>Aug-26</c:v>
                </c:pt>
                <c:pt idx="37">
                  <c:v>Sep-26</c:v>
                </c:pt>
                <c:pt idx="38">
                  <c:v>Oct-26</c:v>
                </c:pt>
                <c:pt idx="39">
                  <c:v>Nov-26</c:v>
                </c:pt>
                <c:pt idx="40">
                  <c:v>Dec-26</c:v>
                </c:pt>
                <c:pt idx="41">
                  <c:v>Jan-27</c:v>
                </c:pt>
              </c:strCache>
            </c:strRef>
          </c:cat>
          <c:val>
            <c:numRef>
              <c:f>'S Curve'!$C$52:$AP$52</c:f>
            </c:numRef>
          </c:val>
          <c:extLst>
            <c:ext xmlns:c16="http://schemas.microsoft.com/office/drawing/2014/chart" uri="{C3380CC4-5D6E-409C-BE32-E72D297353CC}">
              <c16:uniqueId val="{00000005-88A3-4162-8231-C3C97C8A36BF}"/>
            </c:ext>
          </c:extLst>
        </c:ser>
        <c:ser>
          <c:idx val="12"/>
          <c:order val="12"/>
          <c:tx>
            <c:strRef>
              <c:f>'S Curve'!$A$54:$B$54</c:f>
              <c:strCache>
                <c:ptCount val="2"/>
                <c:pt idx="0">
                  <c:v>Construction</c:v>
                </c:pt>
                <c:pt idx="1">
                  <c:v>Plan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'S Curve'!$C$37:$AR$37</c:f>
              <c:strCache>
                <c:ptCount val="42"/>
                <c:pt idx="0">
                  <c:v>Aug-23</c:v>
                </c:pt>
                <c:pt idx="1">
                  <c:v>Sep-23</c:v>
                </c:pt>
                <c:pt idx="2">
                  <c:v>Oct-23</c:v>
                </c:pt>
                <c:pt idx="3">
                  <c:v>Nov-23</c:v>
                </c:pt>
                <c:pt idx="4">
                  <c:v>Dec-23</c:v>
                </c:pt>
                <c:pt idx="5">
                  <c:v>Jan-24</c:v>
                </c:pt>
                <c:pt idx="6">
                  <c:v>Feb-24</c:v>
                </c:pt>
                <c:pt idx="7">
                  <c:v>Mar-24</c:v>
                </c:pt>
                <c:pt idx="8">
                  <c:v>Apr-24</c:v>
                </c:pt>
                <c:pt idx="9">
                  <c:v>May-24</c:v>
                </c:pt>
                <c:pt idx="10">
                  <c:v>Jun-24</c:v>
                </c:pt>
                <c:pt idx="11">
                  <c:v>Jul-24</c:v>
                </c:pt>
                <c:pt idx="12">
                  <c:v>Aug-24</c:v>
                </c:pt>
                <c:pt idx="13">
                  <c:v>Sep-24</c:v>
                </c:pt>
                <c:pt idx="14">
                  <c:v>Oct-24</c:v>
                </c:pt>
                <c:pt idx="15">
                  <c:v>Nov-24</c:v>
                </c:pt>
                <c:pt idx="16">
                  <c:v>Dec-24</c:v>
                </c:pt>
                <c:pt idx="17">
                  <c:v>Jan-25</c:v>
                </c:pt>
                <c:pt idx="18">
                  <c:v>Feb-25</c:v>
                </c:pt>
                <c:pt idx="19">
                  <c:v>Mar-25</c:v>
                </c:pt>
                <c:pt idx="20">
                  <c:v>Apr-25</c:v>
                </c:pt>
                <c:pt idx="21">
                  <c:v>May-25</c:v>
                </c:pt>
                <c:pt idx="22">
                  <c:v>Jun-25</c:v>
                </c:pt>
                <c:pt idx="23">
                  <c:v>Jul-25</c:v>
                </c:pt>
                <c:pt idx="24">
                  <c:v>Aug-25</c:v>
                </c:pt>
                <c:pt idx="25">
                  <c:v>Sep-25</c:v>
                </c:pt>
                <c:pt idx="26">
                  <c:v>Oct-25</c:v>
                </c:pt>
                <c:pt idx="27">
                  <c:v>Nov-25</c:v>
                </c:pt>
                <c:pt idx="28">
                  <c:v>Dec-25</c:v>
                </c:pt>
                <c:pt idx="29">
                  <c:v>Jan-26</c:v>
                </c:pt>
                <c:pt idx="30">
                  <c:v>Feb-26</c:v>
                </c:pt>
                <c:pt idx="31">
                  <c:v>Mar-26</c:v>
                </c:pt>
                <c:pt idx="32">
                  <c:v>Apr-26</c:v>
                </c:pt>
                <c:pt idx="33">
                  <c:v>May-26</c:v>
                </c:pt>
                <c:pt idx="34">
                  <c:v>Jun-26</c:v>
                </c:pt>
                <c:pt idx="35">
                  <c:v>Jul-26</c:v>
                </c:pt>
                <c:pt idx="36">
                  <c:v>Aug-26</c:v>
                </c:pt>
                <c:pt idx="37">
                  <c:v>Sep-26</c:v>
                </c:pt>
                <c:pt idx="38">
                  <c:v>Oct-26</c:v>
                </c:pt>
                <c:pt idx="39">
                  <c:v>Nov-26</c:v>
                </c:pt>
                <c:pt idx="40">
                  <c:v>Dec-26</c:v>
                </c:pt>
                <c:pt idx="41">
                  <c:v>Jan-27</c:v>
                </c:pt>
              </c:strCache>
            </c:strRef>
          </c:cat>
          <c:val>
            <c:numRef>
              <c:f>'S Curve'!$C$54:$AP$54</c:f>
            </c:numRef>
          </c:val>
          <c:extLst>
            <c:ext xmlns:c16="http://schemas.microsoft.com/office/drawing/2014/chart" uri="{C3380CC4-5D6E-409C-BE32-E72D297353CC}">
              <c16:uniqueId val="{00000006-88A3-4162-8231-C3C97C8A36BF}"/>
            </c:ext>
          </c:extLst>
        </c:ser>
        <c:ser>
          <c:idx val="14"/>
          <c:order val="14"/>
          <c:tx>
            <c:strRef>
              <c:f>'S Curve'!$A$56:$B$56</c:f>
              <c:strCache>
                <c:ptCount val="2"/>
                <c:pt idx="0">
                  <c:v>Construction</c:v>
                </c:pt>
                <c:pt idx="1">
                  <c:v>Actual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'S Curve'!$C$37:$AR$37</c:f>
              <c:strCache>
                <c:ptCount val="42"/>
                <c:pt idx="0">
                  <c:v>Aug-23</c:v>
                </c:pt>
                <c:pt idx="1">
                  <c:v>Sep-23</c:v>
                </c:pt>
                <c:pt idx="2">
                  <c:v>Oct-23</c:v>
                </c:pt>
                <c:pt idx="3">
                  <c:v>Nov-23</c:v>
                </c:pt>
                <c:pt idx="4">
                  <c:v>Dec-23</c:v>
                </c:pt>
                <c:pt idx="5">
                  <c:v>Jan-24</c:v>
                </c:pt>
                <c:pt idx="6">
                  <c:v>Feb-24</c:v>
                </c:pt>
                <c:pt idx="7">
                  <c:v>Mar-24</c:v>
                </c:pt>
                <c:pt idx="8">
                  <c:v>Apr-24</c:v>
                </c:pt>
                <c:pt idx="9">
                  <c:v>May-24</c:v>
                </c:pt>
                <c:pt idx="10">
                  <c:v>Jun-24</c:v>
                </c:pt>
                <c:pt idx="11">
                  <c:v>Jul-24</c:v>
                </c:pt>
                <c:pt idx="12">
                  <c:v>Aug-24</c:v>
                </c:pt>
                <c:pt idx="13">
                  <c:v>Sep-24</c:v>
                </c:pt>
                <c:pt idx="14">
                  <c:v>Oct-24</c:v>
                </c:pt>
                <c:pt idx="15">
                  <c:v>Nov-24</c:v>
                </c:pt>
                <c:pt idx="16">
                  <c:v>Dec-24</c:v>
                </c:pt>
                <c:pt idx="17">
                  <c:v>Jan-25</c:v>
                </c:pt>
                <c:pt idx="18">
                  <c:v>Feb-25</c:v>
                </c:pt>
                <c:pt idx="19">
                  <c:v>Mar-25</c:v>
                </c:pt>
                <c:pt idx="20">
                  <c:v>Apr-25</c:v>
                </c:pt>
                <c:pt idx="21">
                  <c:v>May-25</c:v>
                </c:pt>
                <c:pt idx="22">
                  <c:v>Jun-25</c:v>
                </c:pt>
                <c:pt idx="23">
                  <c:v>Jul-25</c:v>
                </c:pt>
                <c:pt idx="24">
                  <c:v>Aug-25</c:v>
                </c:pt>
                <c:pt idx="25">
                  <c:v>Sep-25</c:v>
                </c:pt>
                <c:pt idx="26">
                  <c:v>Oct-25</c:v>
                </c:pt>
                <c:pt idx="27">
                  <c:v>Nov-25</c:v>
                </c:pt>
                <c:pt idx="28">
                  <c:v>Dec-25</c:v>
                </c:pt>
                <c:pt idx="29">
                  <c:v>Jan-26</c:v>
                </c:pt>
                <c:pt idx="30">
                  <c:v>Feb-26</c:v>
                </c:pt>
                <c:pt idx="31">
                  <c:v>Mar-26</c:v>
                </c:pt>
                <c:pt idx="32">
                  <c:v>Apr-26</c:v>
                </c:pt>
                <c:pt idx="33">
                  <c:v>May-26</c:v>
                </c:pt>
                <c:pt idx="34">
                  <c:v>Jun-26</c:v>
                </c:pt>
                <c:pt idx="35">
                  <c:v>Jul-26</c:v>
                </c:pt>
                <c:pt idx="36">
                  <c:v>Aug-26</c:v>
                </c:pt>
                <c:pt idx="37">
                  <c:v>Sep-26</c:v>
                </c:pt>
                <c:pt idx="38">
                  <c:v>Oct-26</c:v>
                </c:pt>
                <c:pt idx="39">
                  <c:v>Nov-26</c:v>
                </c:pt>
                <c:pt idx="40">
                  <c:v>Dec-26</c:v>
                </c:pt>
                <c:pt idx="41">
                  <c:v>Jan-27</c:v>
                </c:pt>
              </c:strCache>
            </c:strRef>
          </c:cat>
          <c:val>
            <c:numRef>
              <c:f>'S Curve'!$C$56:$AP$56</c:f>
            </c:numRef>
          </c:val>
          <c:extLst>
            <c:ext xmlns:c16="http://schemas.microsoft.com/office/drawing/2014/chart" uri="{C3380CC4-5D6E-409C-BE32-E72D297353CC}">
              <c16:uniqueId val="{00000007-88A3-4162-8231-C3C97C8A36BF}"/>
            </c:ext>
          </c:extLst>
        </c:ser>
        <c:ser>
          <c:idx val="16"/>
          <c:order val="16"/>
          <c:tx>
            <c:strRef>
              <c:f>'S Curve'!$A$42:$B$42</c:f>
              <c:strCache>
                <c:ptCount val="2"/>
                <c:pt idx="0">
                  <c:v>Land</c:v>
                </c:pt>
                <c:pt idx="1">
                  <c:v>Plan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'S Curve'!$C$37:$AR$37</c:f>
              <c:strCache>
                <c:ptCount val="42"/>
                <c:pt idx="0">
                  <c:v>Aug-23</c:v>
                </c:pt>
                <c:pt idx="1">
                  <c:v>Sep-23</c:v>
                </c:pt>
                <c:pt idx="2">
                  <c:v>Oct-23</c:v>
                </c:pt>
                <c:pt idx="3">
                  <c:v>Nov-23</c:v>
                </c:pt>
                <c:pt idx="4">
                  <c:v>Dec-23</c:v>
                </c:pt>
                <c:pt idx="5">
                  <c:v>Jan-24</c:v>
                </c:pt>
                <c:pt idx="6">
                  <c:v>Feb-24</c:v>
                </c:pt>
                <c:pt idx="7">
                  <c:v>Mar-24</c:v>
                </c:pt>
                <c:pt idx="8">
                  <c:v>Apr-24</c:v>
                </c:pt>
                <c:pt idx="9">
                  <c:v>May-24</c:v>
                </c:pt>
                <c:pt idx="10">
                  <c:v>Jun-24</c:v>
                </c:pt>
                <c:pt idx="11">
                  <c:v>Jul-24</c:v>
                </c:pt>
                <c:pt idx="12">
                  <c:v>Aug-24</c:v>
                </c:pt>
                <c:pt idx="13">
                  <c:v>Sep-24</c:v>
                </c:pt>
                <c:pt idx="14">
                  <c:v>Oct-24</c:v>
                </c:pt>
                <c:pt idx="15">
                  <c:v>Nov-24</c:v>
                </c:pt>
                <c:pt idx="16">
                  <c:v>Dec-24</c:v>
                </c:pt>
                <c:pt idx="17">
                  <c:v>Jan-25</c:v>
                </c:pt>
                <c:pt idx="18">
                  <c:v>Feb-25</c:v>
                </c:pt>
                <c:pt idx="19">
                  <c:v>Mar-25</c:v>
                </c:pt>
                <c:pt idx="20">
                  <c:v>Apr-25</c:v>
                </c:pt>
                <c:pt idx="21">
                  <c:v>May-25</c:v>
                </c:pt>
                <c:pt idx="22">
                  <c:v>Jun-25</c:v>
                </c:pt>
                <c:pt idx="23">
                  <c:v>Jul-25</c:v>
                </c:pt>
                <c:pt idx="24">
                  <c:v>Aug-25</c:v>
                </c:pt>
                <c:pt idx="25">
                  <c:v>Sep-25</c:v>
                </c:pt>
                <c:pt idx="26">
                  <c:v>Oct-25</c:v>
                </c:pt>
                <c:pt idx="27">
                  <c:v>Nov-25</c:v>
                </c:pt>
                <c:pt idx="28">
                  <c:v>Dec-25</c:v>
                </c:pt>
                <c:pt idx="29">
                  <c:v>Jan-26</c:v>
                </c:pt>
                <c:pt idx="30">
                  <c:v>Feb-26</c:v>
                </c:pt>
                <c:pt idx="31">
                  <c:v>Mar-26</c:v>
                </c:pt>
                <c:pt idx="32">
                  <c:v>Apr-26</c:v>
                </c:pt>
                <c:pt idx="33">
                  <c:v>May-26</c:v>
                </c:pt>
                <c:pt idx="34">
                  <c:v>Jun-26</c:v>
                </c:pt>
                <c:pt idx="35">
                  <c:v>Jul-26</c:v>
                </c:pt>
                <c:pt idx="36">
                  <c:v>Aug-26</c:v>
                </c:pt>
                <c:pt idx="37">
                  <c:v>Sep-26</c:v>
                </c:pt>
                <c:pt idx="38">
                  <c:v>Oct-26</c:v>
                </c:pt>
                <c:pt idx="39">
                  <c:v>Nov-26</c:v>
                </c:pt>
                <c:pt idx="40">
                  <c:v>Dec-26</c:v>
                </c:pt>
                <c:pt idx="41">
                  <c:v>Jan-27</c:v>
                </c:pt>
              </c:strCache>
            </c:strRef>
          </c:cat>
          <c:val>
            <c:numRef>
              <c:f>'S Curve'!$C$42:$AP$42</c:f>
            </c:numRef>
          </c:val>
          <c:extLst>
            <c:ext xmlns:c16="http://schemas.microsoft.com/office/drawing/2014/chart" uri="{C3380CC4-5D6E-409C-BE32-E72D297353CC}">
              <c16:uniqueId val="{00000008-88A3-4162-8231-C3C97C8A36BF}"/>
            </c:ext>
          </c:extLst>
        </c:ser>
        <c:ser>
          <c:idx val="18"/>
          <c:order val="18"/>
          <c:tx>
            <c:strRef>
              <c:f>'S Curve'!$A$44:$B$44</c:f>
              <c:strCache>
                <c:ptCount val="2"/>
                <c:pt idx="0">
                  <c:v>Land</c:v>
                </c:pt>
                <c:pt idx="1">
                  <c:v>Actual</c:v>
                </c:pt>
              </c:strCache>
            </c:strRef>
          </c:tx>
          <c:spPr>
            <a:solidFill>
              <a:schemeClr val="accent1">
                <a:lumMod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'S Curve'!$C$37:$AR$37</c:f>
              <c:strCache>
                <c:ptCount val="42"/>
                <c:pt idx="0">
                  <c:v>Aug-23</c:v>
                </c:pt>
                <c:pt idx="1">
                  <c:v>Sep-23</c:v>
                </c:pt>
                <c:pt idx="2">
                  <c:v>Oct-23</c:v>
                </c:pt>
                <c:pt idx="3">
                  <c:v>Nov-23</c:v>
                </c:pt>
                <c:pt idx="4">
                  <c:v>Dec-23</c:v>
                </c:pt>
                <c:pt idx="5">
                  <c:v>Jan-24</c:v>
                </c:pt>
                <c:pt idx="6">
                  <c:v>Feb-24</c:v>
                </c:pt>
                <c:pt idx="7">
                  <c:v>Mar-24</c:v>
                </c:pt>
                <c:pt idx="8">
                  <c:v>Apr-24</c:v>
                </c:pt>
                <c:pt idx="9">
                  <c:v>May-24</c:v>
                </c:pt>
                <c:pt idx="10">
                  <c:v>Jun-24</c:v>
                </c:pt>
                <c:pt idx="11">
                  <c:v>Jul-24</c:v>
                </c:pt>
                <c:pt idx="12">
                  <c:v>Aug-24</c:v>
                </c:pt>
                <c:pt idx="13">
                  <c:v>Sep-24</c:v>
                </c:pt>
                <c:pt idx="14">
                  <c:v>Oct-24</c:v>
                </c:pt>
                <c:pt idx="15">
                  <c:v>Nov-24</c:v>
                </c:pt>
                <c:pt idx="16">
                  <c:v>Dec-24</c:v>
                </c:pt>
                <c:pt idx="17">
                  <c:v>Jan-25</c:v>
                </c:pt>
                <c:pt idx="18">
                  <c:v>Feb-25</c:v>
                </c:pt>
                <c:pt idx="19">
                  <c:v>Mar-25</c:v>
                </c:pt>
                <c:pt idx="20">
                  <c:v>Apr-25</c:v>
                </c:pt>
                <c:pt idx="21">
                  <c:v>May-25</c:v>
                </c:pt>
                <c:pt idx="22">
                  <c:v>Jun-25</c:v>
                </c:pt>
                <c:pt idx="23">
                  <c:v>Jul-25</c:v>
                </c:pt>
                <c:pt idx="24">
                  <c:v>Aug-25</c:v>
                </c:pt>
                <c:pt idx="25">
                  <c:v>Sep-25</c:v>
                </c:pt>
                <c:pt idx="26">
                  <c:v>Oct-25</c:v>
                </c:pt>
                <c:pt idx="27">
                  <c:v>Nov-25</c:v>
                </c:pt>
                <c:pt idx="28">
                  <c:v>Dec-25</c:v>
                </c:pt>
                <c:pt idx="29">
                  <c:v>Jan-26</c:v>
                </c:pt>
                <c:pt idx="30">
                  <c:v>Feb-26</c:v>
                </c:pt>
                <c:pt idx="31">
                  <c:v>Mar-26</c:v>
                </c:pt>
                <c:pt idx="32">
                  <c:v>Apr-26</c:v>
                </c:pt>
                <c:pt idx="33">
                  <c:v>May-26</c:v>
                </c:pt>
                <c:pt idx="34">
                  <c:v>Jun-26</c:v>
                </c:pt>
                <c:pt idx="35">
                  <c:v>Jul-26</c:v>
                </c:pt>
                <c:pt idx="36">
                  <c:v>Aug-26</c:v>
                </c:pt>
                <c:pt idx="37">
                  <c:v>Sep-26</c:v>
                </c:pt>
                <c:pt idx="38">
                  <c:v>Oct-26</c:v>
                </c:pt>
                <c:pt idx="39">
                  <c:v>Nov-26</c:v>
                </c:pt>
                <c:pt idx="40">
                  <c:v>Dec-26</c:v>
                </c:pt>
                <c:pt idx="41">
                  <c:v>Jan-27</c:v>
                </c:pt>
              </c:strCache>
            </c:strRef>
          </c:cat>
          <c:val>
            <c:numRef>
              <c:f>'S Curve'!$C$44:$AP$44</c:f>
            </c:numRef>
          </c:val>
          <c:extLst>
            <c:ext xmlns:c16="http://schemas.microsoft.com/office/drawing/2014/chart" uri="{C3380CC4-5D6E-409C-BE32-E72D297353CC}">
              <c16:uniqueId val="{00000009-88A3-4162-8231-C3C97C8A36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37075615"/>
        <c:axId val="937076095"/>
      </c:barChart>
      <c:lineChart>
        <c:grouping val="standard"/>
        <c:varyColors val="0"/>
        <c:ser>
          <c:idx val="1"/>
          <c:order val="1"/>
          <c:tx>
            <c:strRef>
              <c:f>'S Curve'!$A$39:$B$39</c:f>
              <c:strCache>
                <c:ptCount val="2"/>
                <c:pt idx="0">
                  <c:v>Overall</c:v>
                </c:pt>
                <c:pt idx="1">
                  <c:v>Cummulative Plan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dLbls>
            <c:dLbl>
              <c:idx val="36"/>
              <c:layout>
                <c:manualLayout>
                  <c:x val="-0.113655610418707"/>
                  <c:y val="-7.2153601437597456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8A3-4162-8231-C3C97C8A36BF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'S Curve'!$C$37:$AR$37</c:f>
              <c:strCache>
                <c:ptCount val="42"/>
                <c:pt idx="0">
                  <c:v>Aug-23</c:v>
                </c:pt>
                <c:pt idx="1">
                  <c:v>Sep-23</c:v>
                </c:pt>
                <c:pt idx="2">
                  <c:v>Oct-23</c:v>
                </c:pt>
                <c:pt idx="3">
                  <c:v>Nov-23</c:v>
                </c:pt>
                <c:pt idx="4">
                  <c:v>Dec-23</c:v>
                </c:pt>
                <c:pt idx="5">
                  <c:v>Jan-24</c:v>
                </c:pt>
                <c:pt idx="6">
                  <c:v>Feb-24</c:v>
                </c:pt>
                <c:pt idx="7">
                  <c:v>Mar-24</c:v>
                </c:pt>
                <c:pt idx="8">
                  <c:v>Apr-24</c:v>
                </c:pt>
                <c:pt idx="9">
                  <c:v>May-24</c:v>
                </c:pt>
                <c:pt idx="10">
                  <c:v>Jun-24</c:v>
                </c:pt>
                <c:pt idx="11">
                  <c:v>Jul-24</c:v>
                </c:pt>
                <c:pt idx="12">
                  <c:v>Aug-24</c:v>
                </c:pt>
                <c:pt idx="13">
                  <c:v>Sep-24</c:v>
                </c:pt>
                <c:pt idx="14">
                  <c:v>Oct-24</c:v>
                </c:pt>
                <c:pt idx="15">
                  <c:v>Nov-24</c:v>
                </c:pt>
                <c:pt idx="16">
                  <c:v>Dec-24</c:v>
                </c:pt>
                <c:pt idx="17">
                  <c:v>Jan-25</c:v>
                </c:pt>
                <c:pt idx="18">
                  <c:v>Feb-25</c:v>
                </c:pt>
                <c:pt idx="19">
                  <c:v>Mar-25</c:v>
                </c:pt>
                <c:pt idx="20">
                  <c:v>Apr-25</c:v>
                </c:pt>
                <c:pt idx="21">
                  <c:v>May-25</c:v>
                </c:pt>
                <c:pt idx="22">
                  <c:v>Jun-25</c:v>
                </c:pt>
                <c:pt idx="23">
                  <c:v>Jul-25</c:v>
                </c:pt>
                <c:pt idx="24">
                  <c:v>Aug-25</c:v>
                </c:pt>
                <c:pt idx="25">
                  <c:v>Sep-25</c:v>
                </c:pt>
                <c:pt idx="26">
                  <c:v>Oct-25</c:v>
                </c:pt>
                <c:pt idx="27">
                  <c:v>Nov-25</c:v>
                </c:pt>
                <c:pt idx="28">
                  <c:v>Dec-25</c:v>
                </c:pt>
                <c:pt idx="29">
                  <c:v>Jan-26</c:v>
                </c:pt>
                <c:pt idx="30">
                  <c:v>Feb-26</c:v>
                </c:pt>
                <c:pt idx="31">
                  <c:v>Mar-26</c:v>
                </c:pt>
                <c:pt idx="32">
                  <c:v>Apr-26</c:v>
                </c:pt>
                <c:pt idx="33">
                  <c:v>May-26</c:v>
                </c:pt>
                <c:pt idx="34">
                  <c:v>Jun-26</c:v>
                </c:pt>
                <c:pt idx="35">
                  <c:v>Jul-26</c:v>
                </c:pt>
                <c:pt idx="36">
                  <c:v>Aug-26</c:v>
                </c:pt>
                <c:pt idx="37">
                  <c:v>Sep-26</c:v>
                </c:pt>
                <c:pt idx="38">
                  <c:v>Oct-26</c:v>
                </c:pt>
                <c:pt idx="39">
                  <c:v>Nov-26</c:v>
                </c:pt>
                <c:pt idx="40">
                  <c:v>Dec-26</c:v>
                </c:pt>
                <c:pt idx="41">
                  <c:v>Jan-27</c:v>
                </c:pt>
              </c:strCache>
            </c:strRef>
          </c:cat>
          <c:val>
            <c:numRef>
              <c:f>'S Curve'!$C$39:$AR$39</c:f>
              <c:numCache>
                <c:formatCode>0.00%</c:formatCode>
                <c:ptCount val="42"/>
                <c:pt idx="0">
                  <c:v>3.6045990286839519E-3</c:v>
                </c:pt>
                <c:pt idx="1">
                  <c:v>9.1181692833805124E-3</c:v>
                </c:pt>
                <c:pt idx="2">
                  <c:v>2.0004303921298126E-2</c:v>
                </c:pt>
                <c:pt idx="3">
                  <c:v>3.258793450622275E-2</c:v>
                </c:pt>
                <c:pt idx="4">
                  <c:v>5.8513760706046525E-2</c:v>
                </c:pt>
                <c:pt idx="5">
                  <c:v>7.0775783144317289E-2</c:v>
                </c:pt>
                <c:pt idx="6">
                  <c:v>7.5085805273722106E-2</c:v>
                </c:pt>
                <c:pt idx="7">
                  <c:v>8.0075438288338074E-2</c:v>
                </c:pt>
                <c:pt idx="8">
                  <c:v>8.7363894072342491E-2</c:v>
                </c:pt>
                <c:pt idx="9">
                  <c:v>9.4922085464481054E-2</c:v>
                </c:pt>
                <c:pt idx="10">
                  <c:v>0.10558178820661641</c:v>
                </c:pt>
                <c:pt idx="11">
                  <c:v>0.11138242224362924</c:v>
                </c:pt>
                <c:pt idx="12">
                  <c:v>0.12272510666660041</c:v>
                </c:pt>
                <c:pt idx="13">
                  <c:v>0.12886800502280593</c:v>
                </c:pt>
                <c:pt idx="14">
                  <c:v>0.1453897661991711</c:v>
                </c:pt>
                <c:pt idx="15">
                  <c:v>0.1580956677633171</c:v>
                </c:pt>
                <c:pt idx="16">
                  <c:v>0.16663941474628335</c:v>
                </c:pt>
                <c:pt idx="17">
                  <c:v>0.18631408440069039</c:v>
                </c:pt>
                <c:pt idx="18">
                  <c:v>0.22020414946520431</c:v>
                </c:pt>
                <c:pt idx="19">
                  <c:v>0.24798336895915507</c:v>
                </c:pt>
                <c:pt idx="20">
                  <c:v>0.30286028825752631</c:v>
                </c:pt>
                <c:pt idx="21">
                  <c:v>0.3465238697459988</c:v>
                </c:pt>
                <c:pt idx="22">
                  <c:v>0.39209923541266489</c:v>
                </c:pt>
                <c:pt idx="23">
                  <c:v>0.42867818575950678</c:v>
                </c:pt>
                <c:pt idx="24">
                  <c:v>0.475241319244953</c:v>
                </c:pt>
                <c:pt idx="25">
                  <c:v>0.52209098710654378</c:v>
                </c:pt>
                <c:pt idx="26">
                  <c:v>0.55062167083312286</c:v>
                </c:pt>
                <c:pt idx="27">
                  <c:v>0.5887450183804418</c:v>
                </c:pt>
                <c:pt idx="28">
                  <c:v>0.62551023640757308</c:v>
                </c:pt>
                <c:pt idx="29">
                  <c:v>0.6656254314147807</c:v>
                </c:pt>
                <c:pt idx="30">
                  <c:v>0.71531890643205365</c:v>
                </c:pt>
                <c:pt idx="31">
                  <c:v>0.77358824472856436</c:v>
                </c:pt>
                <c:pt idx="32">
                  <c:v>0.78521939463203183</c:v>
                </c:pt>
                <c:pt idx="33">
                  <c:v>0.79316790732261788</c:v>
                </c:pt>
                <c:pt idx="34">
                  <c:v>0.80249798863133515</c:v>
                </c:pt>
                <c:pt idx="35">
                  <c:v>0.80636996804582006</c:v>
                </c:pt>
                <c:pt idx="36">
                  <c:v>0.82707679590299599</c:v>
                </c:pt>
                <c:pt idx="37">
                  <c:v>0.86325536139881709</c:v>
                </c:pt>
                <c:pt idx="38">
                  <c:v>0.90046547207090277</c:v>
                </c:pt>
                <c:pt idx="39">
                  <c:v>0.92939759338328809</c:v>
                </c:pt>
                <c:pt idx="40">
                  <c:v>0.96809174420005073</c:v>
                </c:pt>
                <c:pt idx="4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88A3-4162-8231-C3C97C8A36BF}"/>
            </c:ext>
          </c:extLst>
        </c:ser>
        <c:ser>
          <c:idx val="3"/>
          <c:order val="3"/>
          <c:tx>
            <c:strRef>
              <c:f>'S Curve'!$A$41:$B$41</c:f>
              <c:strCache>
                <c:ptCount val="2"/>
                <c:pt idx="0">
                  <c:v>Overall</c:v>
                </c:pt>
                <c:pt idx="1">
                  <c:v>Cummulative Actual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dLbls>
            <c:dLbl>
              <c:idx val="36"/>
              <c:layout>
                <c:manualLayout>
                  <c:x val="-6.8502163381360226E-2"/>
                  <c:y val="7.4639525021204342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8A3-4162-8231-C3C97C8A36BF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'S Curve'!$C$37:$AR$37</c:f>
              <c:strCache>
                <c:ptCount val="42"/>
                <c:pt idx="0">
                  <c:v>Aug-23</c:v>
                </c:pt>
                <c:pt idx="1">
                  <c:v>Sep-23</c:v>
                </c:pt>
                <c:pt idx="2">
                  <c:v>Oct-23</c:v>
                </c:pt>
                <c:pt idx="3">
                  <c:v>Nov-23</c:v>
                </c:pt>
                <c:pt idx="4">
                  <c:v>Dec-23</c:v>
                </c:pt>
                <c:pt idx="5">
                  <c:v>Jan-24</c:v>
                </c:pt>
                <c:pt idx="6">
                  <c:v>Feb-24</c:v>
                </c:pt>
                <c:pt idx="7">
                  <c:v>Mar-24</c:v>
                </c:pt>
                <c:pt idx="8">
                  <c:v>Apr-24</c:v>
                </c:pt>
                <c:pt idx="9">
                  <c:v>May-24</c:v>
                </c:pt>
                <c:pt idx="10">
                  <c:v>Jun-24</c:v>
                </c:pt>
                <c:pt idx="11">
                  <c:v>Jul-24</c:v>
                </c:pt>
                <c:pt idx="12">
                  <c:v>Aug-24</c:v>
                </c:pt>
                <c:pt idx="13">
                  <c:v>Sep-24</c:v>
                </c:pt>
                <c:pt idx="14">
                  <c:v>Oct-24</c:v>
                </c:pt>
                <c:pt idx="15">
                  <c:v>Nov-24</c:v>
                </c:pt>
                <c:pt idx="16">
                  <c:v>Dec-24</c:v>
                </c:pt>
                <c:pt idx="17">
                  <c:v>Jan-25</c:v>
                </c:pt>
                <c:pt idx="18">
                  <c:v>Feb-25</c:v>
                </c:pt>
                <c:pt idx="19">
                  <c:v>Mar-25</c:v>
                </c:pt>
                <c:pt idx="20">
                  <c:v>Apr-25</c:v>
                </c:pt>
                <c:pt idx="21">
                  <c:v>May-25</c:v>
                </c:pt>
                <c:pt idx="22">
                  <c:v>Jun-25</c:v>
                </c:pt>
                <c:pt idx="23">
                  <c:v>Jul-25</c:v>
                </c:pt>
                <c:pt idx="24">
                  <c:v>Aug-25</c:v>
                </c:pt>
                <c:pt idx="25">
                  <c:v>Sep-25</c:v>
                </c:pt>
                <c:pt idx="26">
                  <c:v>Oct-25</c:v>
                </c:pt>
                <c:pt idx="27">
                  <c:v>Nov-25</c:v>
                </c:pt>
                <c:pt idx="28">
                  <c:v>Dec-25</c:v>
                </c:pt>
                <c:pt idx="29">
                  <c:v>Jan-26</c:v>
                </c:pt>
                <c:pt idx="30">
                  <c:v>Feb-26</c:v>
                </c:pt>
                <c:pt idx="31">
                  <c:v>Mar-26</c:v>
                </c:pt>
                <c:pt idx="32">
                  <c:v>Apr-26</c:v>
                </c:pt>
                <c:pt idx="33">
                  <c:v>May-26</c:v>
                </c:pt>
                <c:pt idx="34">
                  <c:v>Jun-26</c:v>
                </c:pt>
                <c:pt idx="35">
                  <c:v>Jul-26</c:v>
                </c:pt>
                <c:pt idx="36">
                  <c:v>Aug-26</c:v>
                </c:pt>
                <c:pt idx="37">
                  <c:v>Sep-26</c:v>
                </c:pt>
                <c:pt idx="38">
                  <c:v>Oct-26</c:v>
                </c:pt>
                <c:pt idx="39">
                  <c:v>Nov-26</c:v>
                </c:pt>
                <c:pt idx="40">
                  <c:v>Dec-26</c:v>
                </c:pt>
                <c:pt idx="41">
                  <c:v>Jan-27</c:v>
                </c:pt>
              </c:strCache>
            </c:strRef>
          </c:cat>
          <c:val>
            <c:numRef>
              <c:f>'S Curve'!$C$41:$AR$41</c:f>
              <c:numCache>
                <c:formatCode>0.00%</c:formatCode>
                <c:ptCount val="42"/>
                <c:pt idx="0">
                  <c:v>3.6045990286839519E-3</c:v>
                </c:pt>
                <c:pt idx="1">
                  <c:v>9.1181692833805124E-3</c:v>
                </c:pt>
                <c:pt idx="2">
                  <c:v>2.0004303921298126E-2</c:v>
                </c:pt>
                <c:pt idx="3">
                  <c:v>3.258793450622275E-2</c:v>
                </c:pt>
                <c:pt idx="4">
                  <c:v>5.8513760706046525E-2</c:v>
                </c:pt>
                <c:pt idx="5">
                  <c:v>7.0775783144317289E-2</c:v>
                </c:pt>
                <c:pt idx="6">
                  <c:v>7.5085805273722106E-2</c:v>
                </c:pt>
                <c:pt idx="7">
                  <c:v>8.0075438288338074E-2</c:v>
                </c:pt>
                <c:pt idx="8">
                  <c:v>8.7363894072342491E-2</c:v>
                </c:pt>
                <c:pt idx="9">
                  <c:v>9.4922085464481054E-2</c:v>
                </c:pt>
                <c:pt idx="10">
                  <c:v>0.10558178820661641</c:v>
                </c:pt>
                <c:pt idx="11">
                  <c:v>0.11138242224362924</c:v>
                </c:pt>
                <c:pt idx="12">
                  <c:v>0.12272510666660041</c:v>
                </c:pt>
                <c:pt idx="13">
                  <c:v>0.12886800502280593</c:v>
                </c:pt>
                <c:pt idx="14">
                  <c:v>0.1453897661991711</c:v>
                </c:pt>
                <c:pt idx="15">
                  <c:v>0.1580956677633171</c:v>
                </c:pt>
                <c:pt idx="16">
                  <c:v>0.16663941474628335</c:v>
                </c:pt>
                <c:pt idx="17">
                  <c:v>0.18631408440069039</c:v>
                </c:pt>
                <c:pt idx="18">
                  <c:v>0.22020414946520431</c:v>
                </c:pt>
                <c:pt idx="19">
                  <c:v>0.24798336895915507</c:v>
                </c:pt>
                <c:pt idx="20">
                  <c:v>0.30286028825752631</c:v>
                </c:pt>
                <c:pt idx="21">
                  <c:v>0.3465238697459988</c:v>
                </c:pt>
                <c:pt idx="22">
                  <c:v>0.39209923541266489</c:v>
                </c:pt>
                <c:pt idx="23">
                  <c:v>0.42867818575950678</c:v>
                </c:pt>
                <c:pt idx="24">
                  <c:v>0.475241319244953</c:v>
                </c:pt>
                <c:pt idx="25">
                  <c:v>0.52209098710654378</c:v>
                </c:pt>
                <c:pt idx="26">
                  <c:v>0.55062167083312286</c:v>
                </c:pt>
                <c:pt idx="27">
                  <c:v>0.5887450183804418</c:v>
                </c:pt>
                <c:pt idx="28">
                  <c:v>0.62551023640757308</c:v>
                </c:pt>
                <c:pt idx="29">
                  <c:v>0.6656254314147807</c:v>
                </c:pt>
                <c:pt idx="30">
                  <c:v>0.71531890643205365</c:v>
                </c:pt>
                <c:pt idx="31">
                  <c:v>0.77358824472856436</c:v>
                </c:pt>
                <c:pt idx="32">
                  <c:v>0.78521939463203183</c:v>
                </c:pt>
                <c:pt idx="33">
                  <c:v>0.79027483771869778</c:v>
                </c:pt>
                <c:pt idx="34">
                  <c:v>0.7905294467505164</c:v>
                </c:pt>
                <c:pt idx="35">
                  <c:v>0.79417930875272769</c:v>
                </c:pt>
                <c:pt idx="36">
                  <c:v>0.79417930875272769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88A3-4162-8231-C3C97C8A36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09810943"/>
        <c:axId val="1409809023"/>
      </c:lineChart>
      <c:lineChart>
        <c:grouping val="standard"/>
        <c:varyColors val="0"/>
        <c:ser>
          <c:idx val="5"/>
          <c:order val="5"/>
          <c:tx>
            <c:strRef>
              <c:f>'S Curve'!$A$47:$B$47</c:f>
              <c:strCache>
                <c:ptCount val="2"/>
                <c:pt idx="0">
                  <c:v>Engineering</c:v>
                </c:pt>
                <c:pt idx="1">
                  <c:v>Cummulative Plan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'S Curve'!$C$37:$AP$37</c:f>
              <c:strCache>
                <c:ptCount val="40"/>
                <c:pt idx="0">
                  <c:v>Aug-23</c:v>
                </c:pt>
                <c:pt idx="1">
                  <c:v>Sep-23</c:v>
                </c:pt>
                <c:pt idx="2">
                  <c:v>Oct-23</c:v>
                </c:pt>
                <c:pt idx="3">
                  <c:v>Nov-23</c:v>
                </c:pt>
                <c:pt idx="4">
                  <c:v>Dec-23</c:v>
                </c:pt>
                <c:pt idx="5">
                  <c:v>Jan-24</c:v>
                </c:pt>
                <c:pt idx="6">
                  <c:v>Feb-24</c:v>
                </c:pt>
                <c:pt idx="7">
                  <c:v>Mar-24</c:v>
                </c:pt>
                <c:pt idx="8">
                  <c:v>Apr-24</c:v>
                </c:pt>
                <c:pt idx="9">
                  <c:v>May-24</c:v>
                </c:pt>
                <c:pt idx="10">
                  <c:v>Jun-24</c:v>
                </c:pt>
                <c:pt idx="11">
                  <c:v>Jul-24</c:v>
                </c:pt>
                <c:pt idx="12">
                  <c:v>Aug-24</c:v>
                </c:pt>
                <c:pt idx="13">
                  <c:v>Sep-24</c:v>
                </c:pt>
                <c:pt idx="14">
                  <c:v>Oct-24</c:v>
                </c:pt>
                <c:pt idx="15">
                  <c:v>Nov-24</c:v>
                </c:pt>
                <c:pt idx="16">
                  <c:v>Dec-24</c:v>
                </c:pt>
                <c:pt idx="17">
                  <c:v>Jan-25</c:v>
                </c:pt>
                <c:pt idx="18">
                  <c:v>Feb-25</c:v>
                </c:pt>
                <c:pt idx="19">
                  <c:v>Mar-25</c:v>
                </c:pt>
                <c:pt idx="20">
                  <c:v>Apr-25</c:v>
                </c:pt>
                <c:pt idx="21">
                  <c:v>May-25</c:v>
                </c:pt>
                <c:pt idx="22">
                  <c:v>Jun-25</c:v>
                </c:pt>
                <c:pt idx="23">
                  <c:v>Jul-25</c:v>
                </c:pt>
                <c:pt idx="24">
                  <c:v>Aug-25</c:v>
                </c:pt>
                <c:pt idx="25">
                  <c:v>Sep-25</c:v>
                </c:pt>
                <c:pt idx="26">
                  <c:v>Oct-25</c:v>
                </c:pt>
                <c:pt idx="27">
                  <c:v>Nov-25</c:v>
                </c:pt>
                <c:pt idx="28">
                  <c:v>Dec-25</c:v>
                </c:pt>
                <c:pt idx="29">
                  <c:v>Jan-26</c:v>
                </c:pt>
                <c:pt idx="30">
                  <c:v>Feb-26</c:v>
                </c:pt>
                <c:pt idx="31">
                  <c:v>Mar-26</c:v>
                </c:pt>
                <c:pt idx="32">
                  <c:v>Apr-26</c:v>
                </c:pt>
                <c:pt idx="33">
                  <c:v>May-26</c:v>
                </c:pt>
                <c:pt idx="34">
                  <c:v>Jun-26</c:v>
                </c:pt>
                <c:pt idx="35">
                  <c:v>Jul-26</c:v>
                </c:pt>
                <c:pt idx="36">
                  <c:v>Aug-26</c:v>
                </c:pt>
                <c:pt idx="37">
                  <c:v>Sep-26</c:v>
                </c:pt>
                <c:pt idx="38">
                  <c:v>Oct-26</c:v>
                </c:pt>
                <c:pt idx="39">
                  <c:v>Nov-26</c:v>
                </c:pt>
              </c:strCache>
            </c:strRef>
          </c:cat>
          <c:val>
            <c:numRef>
              <c:f>'S Curve'!$C$47:$AP$47</c:f>
            </c:numRef>
          </c:val>
          <c:smooth val="0"/>
          <c:extLst>
            <c:ext xmlns:c16="http://schemas.microsoft.com/office/drawing/2014/chart" uri="{C3380CC4-5D6E-409C-BE32-E72D297353CC}">
              <c16:uniqueId val="{0000000E-88A3-4162-8231-C3C97C8A36BF}"/>
            </c:ext>
          </c:extLst>
        </c:ser>
        <c:ser>
          <c:idx val="7"/>
          <c:order val="7"/>
          <c:tx>
            <c:strRef>
              <c:f>'S Curve'!$A$49:$B$49</c:f>
              <c:strCache>
                <c:ptCount val="2"/>
                <c:pt idx="0">
                  <c:v>Engineering</c:v>
                </c:pt>
                <c:pt idx="1">
                  <c:v>Cummulative Actual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'S Curve'!$C$37:$AP$37</c:f>
              <c:strCache>
                <c:ptCount val="40"/>
                <c:pt idx="0">
                  <c:v>Aug-23</c:v>
                </c:pt>
                <c:pt idx="1">
                  <c:v>Sep-23</c:v>
                </c:pt>
                <c:pt idx="2">
                  <c:v>Oct-23</c:v>
                </c:pt>
                <c:pt idx="3">
                  <c:v>Nov-23</c:v>
                </c:pt>
                <c:pt idx="4">
                  <c:v>Dec-23</c:v>
                </c:pt>
                <c:pt idx="5">
                  <c:v>Jan-24</c:v>
                </c:pt>
                <c:pt idx="6">
                  <c:v>Feb-24</c:v>
                </c:pt>
                <c:pt idx="7">
                  <c:v>Mar-24</c:v>
                </c:pt>
                <c:pt idx="8">
                  <c:v>Apr-24</c:v>
                </c:pt>
                <c:pt idx="9">
                  <c:v>May-24</c:v>
                </c:pt>
                <c:pt idx="10">
                  <c:v>Jun-24</c:v>
                </c:pt>
                <c:pt idx="11">
                  <c:v>Jul-24</c:v>
                </c:pt>
                <c:pt idx="12">
                  <c:v>Aug-24</c:v>
                </c:pt>
                <c:pt idx="13">
                  <c:v>Sep-24</c:v>
                </c:pt>
                <c:pt idx="14">
                  <c:v>Oct-24</c:v>
                </c:pt>
                <c:pt idx="15">
                  <c:v>Nov-24</c:v>
                </c:pt>
                <c:pt idx="16">
                  <c:v>Dec-24</c:v>
                </c:pt>
                <c:pt idx="17">
                  <c:v>Jan-25</c:v>
                </c:pt>
                <c:pt idx="18">
                  <c:v>Feb-25</c:v>
                </c:pt>
                <c:pt idx="19">
                  <c:v>Mar-25</c:v>
                </c:pt>
                <c:pt idx="20">
                  <c:v>Apr-25</c:v>
                </c:pt>
                <c:pt idx="21">
                  <c:v>May-25</c:v>
                </c:pt>
                <c:pt idx="22">
                  <c:v>Jun-25</c:v>
                </c:pt>
                <c:pt idx="23">
                  <c:v>Jul-25</c:v>
                </c:pt>
                <c:pt idx="24">
                  <c:v>Aug-25</c:v>
                </c:pt>
                <c:pt idx="25">
                  <c:v>Sep-25</c:v>
                </c:pt>
                <c:pt idx="26">
                  <c:v>Oct-25</c:v>
                </c:pt>
                <c:pt idx="27">
                  <c:v>Nov-25</c:v>
                </c:pt>
                <c:pt idx="28">
                  <c:v>Dec-25</c:v>
                </c:pt>
                <c:pt idx="29">
                  <c:v>Jan-26</c:v>
                </c:pt>
                <c:pt idx="30">
                  <c:v>Feb-26</c:v>
                </c:pt>
                <c:pt idx="31">
                  <c:v>Mar-26</c:v>
                </c:pt>
                <c:pt idx="32">
                  <c:v>Apr-26</c:v>
                </c:pt>
                <c:pt idx="33">
                  <c:v>May-26</c:v>
                </c:pt>
                <c:pt idx="34">
                  <c:v>Jun-26</c:v>
                </c:pt>
                <c:pt idx="35">
                  <c:v>Jul-26</c:v>
                </c:pt>
                <c:pt idx="36">
                  <c:v>Aug-26</c:v>
                </c:pt>
                <c:pt idx="37">
                  <c:v>Sep-26</c:v>
                </c:pt>
                <c:pt idx="38">
                  <c:v>Oct-26</c:v>
                </c:pt>
                <c:pt idx="39">
                  <c:v>Nov-26</c:v>
                </c:pt>
              </c:strCache>
            </c:strRef>
          </c:cat>
          <c:val>
            <c:numRef>
              <c:f>'S Curve'!$C$49:$AP$49</c:f>
            </c:numRef>
          </c:val>
          <c:smooth val="0"/>
          <c:extLst>
            <c:ext xmlns:c16="http://schemas.microsoft.com/office/drawing/2014/chart" uri="{C3380CC4-5D6E-409C-BE32-E72D297353CC}">
              <c16:uniqueId val="{0000000F-88A3-4162-8231-C3C97C8A36BF}"/>
            </c:ext>
          </c:extLst>
        </c:ser>
        <c:ser>
          <c:idx val="9"/>
          <c:order val="9"/>
          <c:tx>
            <c:strRef>
              <c:f>'S Curve'!$A$51:$B$51</c:f>
              <c:strCache>
                <c:ptCount val="2"/>
                <c:pt idx="0">
                  <c:v>Procurement</c:v>
                </c:pt>
                <c:pt idx="1">
                  <c:v>Cummulative Plan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'S Curve'!$C$37:$AP$37</c:f>
              <c:strCache>
                <c:ptCount val="40"/>
                <c:pt idx="0">
                  <c:v>Aug-23</c:v>
                </c:pt>
                <c:pt idx="1">
                  <c:v>Sep-23</c:v>
                </c:pt>
                <c:pt idx="2">
                  <c:v>Oct-23</c:v>
                </c:pt>
                <c:pt idx="3">
                  <c:v>Nov-23</c:v>
                </c:pt>
                <c:pt idx="4">
                  <c:v>Dec-23</c:v>
                </c:pt>
                <c:pt idx="5">
                  <c:v>Jan-24</c:v>
                </c:pt>
                <c:pt idx="6">
                  <c:v>Feb-24</c:v>
                </c:pt>
                <c:pt idx="7">
                  <c:v>Mar-24</c:v>
                </c:pt>
                <c:pt idx="8">
                  <c:v>Apr-24</c:v>
                </c:pt>
                <c:pt idx="9">
                  <c:v>May-24</c:v>
                </c:pt>
                <c:pt idx="10">
                  <c:v>Jun-24</c:v>
                </c:pt>
                <c:pt idx="11">
                  <c:v>Jul-24</c:v>
                </c:pt>
                <c:pt idx="12">
                  <c:v>Aug-24</c:v>
                </c:pt>
                <c:pt idx="13">
                  <c:v>Sep-24</c:v>
                </c:pt>
                <c:pt idx="14">
                  <c:v>Oct-24</c:v>
                </c:pt>
                <c:pt idx="15">
                  <c:v>Nov-24</c:v>
                </c:pt>
                <c:pt idx="16">
                  <c:v>Dec-24</c:v>
                </c:pt>
                <c:pt idx="17">
                  <c:v>Jan-25</c:v>
                </c:pt>
                <c:pt idx="18">
                  <c:v>Feb-25</c:v>
                </c:pt>
                <c:pt idx="19">
                  <c:v>Mar-25</c:v>
                </c:pt>
                <c:pt idx="20">
                  <c:v>Apr-25</c:v>
                </c:pt>
                <c:pt idx="21">
                  <c:v>May-25</c:v>
                </c:pt>
                <c:pt idx="22">
                  <c:v>Jun-25</c:v>
                </c:pt>
                <c:pt idx="23">
                  <c:v>Jul-25</c:v>
                </c:pt>
                <c:pt idx="24">
                  <c:v>Aug-25</c:v>
                </c:pt>
                <c:pt idx="25">
                  <c:v>Sep-25</c:v>
                </c:pt>
                <c:pt idx="26">
                  <c:v>Oct-25</c:v>
                </c:pt>
                <c:pt idx="27">
                  <c:v>Nov-25</c:v>
                </c:pt>
                <c:pt idx="28">
                  <c:v>Dec-25</c:v>
                </c:pt>
                <c:pt idx="29">
                  <c:v>Jan-26</c:v>
                </c:pt>
                <c:pt idx="30">
                  <c:v>Feb-26</c:v>
                </c:pt>
                <c:pt idx="31">
                  <c:v>Mar-26</c:v>
                </c:pt>
                <c:pt idx="32">
                  <c:v>Apr-26</c:v>
                </c:pt>
                <c:pt idx="33">
                  <c:v>May-26</c:v>
                </c:pt>
                <c:pt idx="34">
                  <c:v>Jun-26</c:v>
                </c:pt>
                <c:pt idx="35">
                  <c:v>Jul-26</c:v>
                </c:pt>
                <c:pt idx="36">
                  <c:v>Aug-26</c:v>
                </c:pt>
                <c:pt idx="37">
                  <c:v>Sep-26</c:v>
                </c:pt>
                <c:pt idx="38">
                  <c:v>Oct-26</c:v>
                </c:pt>
                <c:pt idx="39">
                  <c:v>Nov-26</c:v>
                </c:pt>
              </c:strCache>
            </c:strRef>
          </c:cat>
          <c:val>
            <c:numRef>
              <c:f>'S Curve'!$C$51:$AP$51</c:f>
            </c:numRef>
          </c:val>
          <c:smooth val="0"/>
          <c:extLst>
            <c:ext xmlns:c16="http://schemas.microsoft.com/office/drawing/2014/chart" uri="{C3380CC4-5D6E-409C-BE32-E72D297353CC}">
              <c16:uniqueId val="{00000010-88A3-4162-8231-C3C97C8A36BF}"/>
            </c:ext>
          </c:extLst>
        </c:ser>
        <c:ser>
          <c:idx val="11"/>
          <c:order val="11"/>
          <c:tx>
            <c:strRef>
              <c:f>'S Curve'!$A$53:$B$53</c:f>
              <c:strCache>
                <c:ptCount val="2"/>
                <c:pt idx="0">
                  <c:v>Procurement</c:v>
                </c:pt>
                <c:pt idx="1">
                  <c:v>Cummulative Actual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'S Curve'!$C$37:$AP$37</c:f>
              <c:strCache>
                <c:ptCount val="40"/>
                <c:pt idx="0">
                  <c:v>Aug-23</c:v>
                </c:pt>
                <c:pt idx="1">
                  <c:v>Sep-23</c:v>
                </c:pt>
                <c:pt idx="2">
                  <c:v>Oct-23</c:v>
                </c:pt>
                <c:pt idx="3">
                  <c:v>Nov-23</c:v>
                </c:pt>
                <c:pt idx="4">
                  <c:v>Dec-23</c:v>
                </c:pt>
                <c:pt idx="5">
                  <c:v>Jan-24</c:v>
                </c:pt>
                <c:pt idx="6">
                  <c:v>Feb-24</c:v>
                </c:pt>
                <c:pt idx="7">
                  <c:v>Mar-24</c:v>
                </c:pt>
                <c:pt idx="8">
                  <c:v>Apr-24</c:v>
                </c:pt>
                <c:pt idx="9">
                  <c:v>May-24</c:v>
                </c:pt>
                <c:pt idx="10">
                  <c:v>Jun-24</c:v>
                </c:pt>
                <c:pt idx="11">
                  <c:v>Jul-24</c:v>
                </c:pt>
                <c:pt idx="12">
                  <c:v>Aug-24</c:v>
                </c:pt>
                <c:pt idx="13">
                  <c:v>Sep-24</c:v>
                </c:pt>
                <c:pt idx="14">
                  <c:v>Oct-24</c:v>
                </c:pt>
                <c:pt idx="15">
                  <c:v>Nov-24</c:v>
                </c:pt>
                <c:pt idx="16">
                  <c:v>Dec-24</c:v>
                </c:pt>
                <c:pt idx="17">
                  <c:v>Jan-25</c:v>
                </c:pt>
                <c:pt idx="18">
                  <c:v>Feb-25</c:v>
                </c:pt>
                <c:pt idx="19">
                  <c:v>Mar-25</c:v>
                </c:pt>
                <c:pt idx="20">
                  <c:v>Apr-25</c:v>
                </c:pt>
                <c:pt idx="21">
                  <c:v>May-25</c:v>
                </c:pt>
                <c:pt idx="22">
                  <c:v>Jun-25</c:v>
                </c:pt>
                <c:pt idx="23">
                  <c:v>Jul-25</c:v>
                </c:pt>
                <c:pt idx="24">
                  <c:v>Aug-25</c:v>
                </c:pt>
                <c:pt idx="25">
                  <c:v>Sep-25</c:v>
                </c:pt>
                <c:pt idx="26">
                  <c:v>Oct-25</c:v>
                </c:pt>
                <c:pt idx="27">
                  <c:v>Nov-25</c:v>
                </c:pt>
                <c:pt idx="28">
                  <c:v>Dec-25</c:v>
                </c:pt>
                <c:pt idx="29">
                  <c:v>Jan-26</c:v>
                </c:pt>
                <c:pt idx="30">
                  <c:v>Feb-26</c:v>
                </c:pt>
                <c:pt idx="31">
                  <c:v>Mar-26</c:v>
                </c:pt>
                <c:pt idx="32">
                  <c:v>Apr-26</c:v>
                </c:pt>
                <c:pt idx="33">
                  <c:v>May-26</c:v>
                </c:pt>
                <c:pt idx="34">
                  <c:v>Jun-26</c:v>
                </c:pt>
                <c:pt idx="35">
                  <c:v>Jul-26</c:v>
                </c:pt>
                <c:pt idx="36">
                  <c:v>Aug-26</c:v>
                </c:pt>
                <c:pt idx="37">
                  <c:v>Sep-26</c:v>
                </c:pt>
                <c:pt idx="38">
                  <c:v>Oct-26</c:v>
                </c:pt>
                <c:pt idx="39">
                  <c:v>Nov-26</c:v>
                </c:pt>
              </c:strCache>
            </c:strRef>
          </c:cat>
          <c:val>
            <c:numRef>
              <c:f>'S Curve'!$C$53:$AP$53</c:f>
            </c:numRef>
          </c:val>
          <c:smooth val="0"/>
          <c:extLst>
            <c:ext xmlns:c16="http://schemas.microsoft.com/office/drawing/2014/chart" uri="{C3380CC4-5D6E-409C-BE32-E72D297353CC}">
              <c16:uniqueId val="{00000011-88A3-4162-8231-C3C97C8A36BF}"/>
            </c:ext>
          </c:extLst>
        </c:ser>
        <c:ser>
          <c:idx val="13"/>
          <c:order val="13"/>
          <c:tx>
            <c:strRef>
              <c:f>'S Curve'!$A$55:$B$55</c:f>
              <c:strCache>
                <c:ptCount val="2"/>
                <c:pt idx="0">
                  <c:v>Construction</c:v>
                </c:pt>
                <c:pt idx="1">
                  <c:v>Cummulative Plan</c:v>
                </c:pt>
              </c:strCache>
            </c:strRef>
          </c:tx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'S Curve'!$C$37:$AP$37</c:f>
              <c:strCache>
                <c:ptCount val="40"/>
                <c:pt idx="0">
                  <c:v>Aug-23</c:v>
                </c:pt>
                <c:pt idx="1">
                  <c:v>Sep-23</c:v>
                </c:pt>
                <c:pt idx="2">
                  <c:v>Oct-23</c:v>
                </c:pt>
                <c:pt idx="3">
                  <c:v>Nov-23</c:v>
                </c:pt>
                <c:pt idx="4">
                  <c:v>Dec-23</c:v>
                </c:pt>
                <c:pt idx="5">
                  <c:v>Jan-24</c:v>
                </c:pt>
                <c:pt idx="6">
                  <c:v>Feb-24</c:v>
                </c:pt>
                <c:pt idx="7">
                  <c:v>Mar-24</c:v>
                </c:pt>
                <c:pt idx="8">
                  <c:v>Apr-24</c:v>
                </c:pt>
                <c:pt idx="9">
                  <c:v>May-24</c:v>
                </c:pt>
                <c:pt idx="10">
                  <c:v>Jun-24</c:v>
                </c:pt>
                <c:pt idx="11">
                  <c:v>Jul-24</c:v>
                </c:pt>
                <c:pt idx="12">
                  <c:v>Aug-24</c:v>
                </c:pt>
                <c:pt idx="13">
                  <c:v>Sep-24</c:v>
                </c:pt>
                <c:pt idx="14">
                  <c:v>Oct-24</c:v>
                </c:pt>
                <c:pt idx="15">
                  <c:v>Nov-24</c:v>
                </c:pt>
                <c:pt idx="16">
                  <c:v>Dec-24</c:v>
                </c:pt>
                <c:pt idx="17">
                  <c:v>Jan-25</c:v>
                </c:pt>
                <c:pt idx="18">
                  <c:v>Feb-25</c:v>
                </c:pt>
                <c:pt idx="19">
                  <c:v>Mar-25</c:v>
                </c:pt>
                <c:pt idx="20">
                  <c:v>Apr-25</c:v>
                </c:pt>
                <c:pt idx="21">
                  <c:v>May-25</c:v>
                </c:pt>
                <c:pt idx="22">
                  <c:v>Jun-25</c:v>
                </c:pt>
                <c:pt idx="23">
                  <c:v>Jul-25</c:v>
                </c:pt>
                <c:pt idx="24">
                  <c:v>Aug-25</c:v>
                </c:pt>
                <c:pt idx="25">
                  <c:v>Sep-25</c:v>
                </c:pt>
                <c:pt idx="26">
                  <c:v>Oct-25</c:v>
                </c:pt>
                <c:pt idx="27">
                  <c:v>Nov-25</c:v>
                </c:pt>
                <c:pt idx="28">
                  <c:v>Dec-25</c:v>
                </c:pt>
                <c:pt idx="29">
                  <c:v>Jan-26</c:v>
                </c:pt>
                <c:pt idx="30">
                  <c:v>Feb-26</c:v>
                </c:pt>
                <c:pt idx="31">
                  <c:v>Mar-26</c:v>
                </c:pt>
                <c:pt idx="32">
                  <c:v>Apr-26</c:v>
                </c:pt>
                <c:pt idx="33">
                  <c:v>May-26</c:v>
                </c:pt>
                <c:pt idx="34">
                  <c:v>Jun-26</c:v>
                </c:pt>
                <c:pt idx="35">
                  <c:v>Jul-26</c:v>
                </c:pt>
                <c:pt idx="36">
                  <c:v>Aug-26</c:v>
                </c:pt>
                <c:pt idx="37">
                  <c:v>Sep-26</c:v>
                </c:pt>
                <c:pt idx="38">
                  <c:v>Oct-26</c:v>
                </c:pt>
                <c:pt idx="39">
                  <c:v>Nov-26</c:v>
                </c:pt>
              </c:strCache>
            </c:strRef>
          </c:cat>
          <c:val>
            <c:numRef>
              <c:f>'S Curve'!$C$55:$AP$55</c:f>
            </c:numRef>
          </c:val>
          <c:smooth val="0"/>
          <c:extLst>
            <c:ext xmlns:c16="http://schemas.microsoft.com/office/drawing/2014/chart" uri="{C3380CC4-5D6E-409C-BE32-E72D297353CC}">
              <c16:uniqueId val="{00000012-88A3-4162-8231-C3C97C8A36BF}"/>
            </c:ext>
          </c:extLst>
        </c:ser>
        <c:ser>
          <c:idx val="15"/>
          <c:order val="15"/>
          <c:tx>
            <c:strRef>
              <c:f>'S Curve'!$A$57:$B$57</c:f>
              <c:strCache>
                <c:ptCount val="2"/>
                <c:pt idx="0">
                  <c:v>Construction</c:v>
                </c:pt>
                <c:pt idx="1">
                  <c:v>Cummulative Actual</c:v>
                </c:pt>
              </c:strCache>
            </c:strRef>
          </c:tx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'S Curve'!$C$37:$AP$37</c:f>
              <c:strCache>
                <c:ptCount val="40"/>
                <c:pt idx="0">
                  <c:v>Aug-23</c:v>
                </c:pt>
                <c:pt idx="1">
                  <c:v>Sep-23</c:v>
                </c:pt>
                <c:pt idx="2">
                  <c:v>Oct-23</c:v>
                </c:pt>
                <c:pt idx="3">
                  <c:v>Nov-23</c:v>
                </c:pt>
                <c:pt idx="4">
                  <c:v>Dec-23</c:v>
                </c:pt>
                <c:pt idx="5">
                  <c:v>Jan-24</c:v>
                </c:pt>
                <c:pt idx="6">
                  <c:v>Feb-24</c:v>
                </c:pt>
                <c:pt idx="7">
                  <c:v>Mar-24</c:v>
                </c:pt>
                <c:pt idx="8">
                  <c:v>Apr-24</c:v>
                </c:pt>
                <c:pt idx="9">
                  <c:v>May-24</c:v>
                </c:pt>
                <c:pt idx="10">
                  <c:v>Jun-24</c:v>
                </c:pt>
                <c:pt idx="11">
                  <c:v>Jul-24</c:v>
                </c:pt>
                <c:pt idx="12">
                  <c:v>Aug-24</c:v>
                </c:pt>
                <c:pt idx="13">
                  <c:v>Sep-24</c:v>
                </c:pt>
                <c:pt idx="14">
                  <c:v>Oct-24</c:v>
                </c:pt>
                <c:pt idx="15">
                  <c:v>Nov-24</c:v>
                </c:pt>
                <c:pt idx="16">
                  <c:v>Dec-24</c:v>
                </c:pt>
                <c:pt idx="17">
                  <c:v>Jan-25</c:v>
                </c:pt>
                <c:pt idx="18">
                  <c:v>Feb-25</c:v>
                </c:pt>
                <c:pt idx="19">
                  <c:v>Mar-25</c:v>
                </c:pt>
                <c:pt idx="20">
                  <c:v>Apr-25</c:v>
                </c:pt>
                <c:pt idx="21">
                  <c:v>May-25</c:v>
                </c:pt>
                <c:pt idx="22">
                  <c:v>Jun-25</c:v>
                </c:pt>
                <c:pt idx="23">
                  <c:v>Jul-25</c:v>
                </c:pt>
                <c:pt idx="24">
                  <c:v>Aug-25</c:v>
                </c:pt>
                <c:pt idx="25">
                  <c:v>Sep-25</c:v>
                </c:pt>
                <c:pt idx="26">
                  <c:v>Oct-25</c:v>
                </c:pt>
                <c:pt idx="27">
                  <c:v>Nov-25</c:v>
                </c:pt>
                <c:pt idx="28">
                  <c:v>Dec-25</c:v>
                </c:pt>
                <c:pt idx="29">
                  <c:v>Jan-26</c:v>
                </c:pt>
                <c:pt idx="30">
                  <c:v>Feb-26</c:v>
                </c:pt>
                <c:pt idx="31">
                  <c:v>Mar-26</c:v>
                </c:pt>
                <c:pt idx="32">
                  <c:v>Apr-26</c:v>
                </c:pt>
                <c:pt idx="33">
                  <c:v>May-26</c:v>
                </c:pt>
                <c:pt idx="34">
                  <c:v>Jun-26</c:v>
                </c:pt>
                <c:pt idx="35">
                  <c:v>Jul-26</c:v>
                </c:pt>
                <c:pt idx="36">
                  <c:v>Aug-26</c:v>
                </c:pt>
                <c:pt idx="37">
                  <c:v>Sep-26</c:v>
                </c:pt>
                <c:pt idx="38">
                  <c:v>Oct-26</c:v>
                </c:pt>
                <c:pt idx="39">
                  <c:v>Nov-26</c:v>
                </c:pt>
              </c:strCache>
            </c:strRef>
          </c:cat>
          <c:val>
            <c:numRef>
              <c:f>'S Curve'!$C$57:$AP$57</c:f>
            </c:numRef>
          </c:val>
          <c:smooth val="0"/>
          <c:extLst>
            <c:ext xmlns:c16="http://schemas.microsoft.com/office/drawing/2014/chart" uri="{C3380CC4-5D6E-409C-BE32-E72D297353CC}">
              <c16:uniqueId val="{00000013-88A3-4162-8231-C3C97C8A36BF}"/>
            </c:ext>
          </c:extLst>
        </c:ser>
        <c:ser>
          <c:idx val="17"/>
          <c:order val="17"/>
          <c:tx>
            <c:strRef>
              <c:f>'S Curve'!$A$43:$B$43</c:f>
              <c:strCache>
                <c:ptCount val="2"/>
                <c:pt idx="0">
                  <c:v>Land</c:v>
                </c:pt>
                <c:pt idx="1">
                  <c:v>Cummulative Plan</c:v>
                </c:pt>
              </c:strCache>
            </c:strRef>
          </c:tx>
          <c:spPr>
            <a:ln w="28575" cap="rnd">
              <a:solidFill>
                <a:schemeClr val="accent6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'S Curve'!$C$37:$AP$37</c:f>
              <c:strCache>
                <c:ptCount val="40"/>
                <c:pt idx="0">
                  <c:v>Aug-23</c:v>
                </c:pt>
                <c:pt idx="1">
                  <c:v>Sep-23</c:v>
                </c:pt>
                <c:pt idx="2">
                  <c:v>Oct-23</c:v>
                </c:pt>
                <c:pt idx="3">
                  <c:v>Nov-23</c:v>
                </c:pt>
                <c:pt idx="4">
                  <c:v>Dec-23</c:v>
                </c:pt>
                <c:pt idx="5">
                  <c:v>Jan-24</c:v>
                </c:pt>
                <c:pt idx="6">
                  <c:v>Feb-24</c:v>
                </c:pt>
                <c:pt idx="7">
                  <c:v>Mar-24</c:v>
                </c:pt>
                <c:pt idx="8">
                  <c:v>Apr-24</c:v>
                </c:pt>
                <c:pt idx="9">
                  <c:v>May-24</c:v>
                </c:pt>
                <c:pt idx="10">
                  <c:v>Jun-24</c:v>
                </c:pt>
                <c:pt idx="11">
                  <c:v>Jul-24</c:v>
                </c:pt>
                <c:pt idx="12">
                  <c:v>Aug-24</c:v>
                </c:pt>
                <c:pt idx="13">
                  <c:v>Sep-24</c:v>
                </c:pt>
                <c:pt idx="14">
                  <c:v>Oct-24</c:v>
                </c:pt>
                <c:pt idx="15">
                  <c:v>Nov-24</c:v>
                </c:pt>
                <c:pt idx="16">
                  <c:v>Dec-24</c:v>
                </c:pt>
                <c:pt idx="17">
                  <c:v>Jan-25</c:v>
                </c:pt>
                <c:pt idx="18">
                  <c:v>Feb-25</c:v>
                </c:pt>
                <c:pt idx="19">
                  <c:v>Mar-25</c:v>
                </c:pt>
                <c:pt idx="20">
                  <c:v>Apr-25</c:v>
                </c:pt>
                <c:pt idx="21">
                  <c:v>May-25</c:v>
                </c:pt>
                <c:pt idx="22">
                  <c:v>Jun-25</c:v>
                </c:pt>
                <c:pt idx="23">
                  <c:v>Jul-25</c:v>
                </c:pt>
                <c:pt idx="24">
                  <c:v>Aug-25</c:v>
                </c:pt>
                <c:pt idx="25">
                  <c:v>Sep-25</c:v>
                </c:pt>
                <c:pt idx="26">
                  <c:v>Oct-25</c:v>
                </c:pt>
                <c:pt idx="27">
                  <c:v>Nov-25</c:v>
                </c:pt>
                <c:pt idx="28">
                  <c:v>Dec-25</c:v>
                </c:pt>
                <c:pt idx="29">
                  <c:v>Jan-26</c:v>
                </c:pt>
                <c:pt idx="30">
                  <c:v>Feb-26</c:v>
                </c:pt>
                <c:pt idx="31">
                  <c:v>Mar-26</c:v>
                </c:pt>
                <c:pt idx="32">
                  <c:v>Apr-26</c:v>
                </c:pt>
                <c:pt idx="33">
                  <c:v>May-26</c:v>
                </c:pt>
                <c:pt idx="34">
                  <c:v>Jun-26</c:v>
                </c:pt>
                <c:pt idx="35">
                  <c:v>Jul-26</c:v>
                </c:pt>
                <c:pt idx="36">
                  <c:v>Aug-26</c:v>
                </c:pt>
                <c:pt idx="37">
                  <c:v>Sep-26</c:v>
                </c:pt>
                <c:pt idx="38">
                  <c:v>Oct-26</c:v>
                </c:pt>
                <c:pt idx="39">
                  <c:v>Nov-26</c:v>
                </c:pt>
              </c:strCache>
            </c:strRef>
          </c:cat>
          <c:val>
            <c:numRef>
              <c:f>'S Curve'!$C$43:$AP$43</c:f>
            </c:numRef>
          </c:val>
          <c:smooth val="0"/>
          <c:extLst>
            <c:ext xmlns:c16="http://schemas.microsoft.com/office/drawing/2014/chart" uri="{C3380CC4-5D6E-409C-BE32-E72D297353CC}">
              <c16:uniqueId val="{00000014-88A3-4162-8231-C3C97C8A36BF}"/>
            </c:ext>
          </c:extLst>
        </c:ser>
        <c:ser>
          <c:idx val="19"/>
          <c:order val="19"/>
          <c:tx>
            <c:strRef>
              <c:f>'S Curve'!$A$45:$B$45</c:f>
              <c:strCache>
                <c:ptCount val="2"/>
                <c:pt idx="0">
                  <c:v>Land</c:v>
                </c:pt>
                <c:pt idx="1">
                  <c:v>Cummulative Actual</c:v>
                </c:pt>
              </c:strCache>
            </c:strRef>
          </c:tx>
          <c:spPr>
            <a:ln w="28575" cap="rnd">
              <a:solidFill>
                <a:schemeClr val="accent2">
                  <a:lumMod val="8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'S Curve'!$C$37:$AP$37</c:f>
              <c:strCache>
                <c:ptCount val="40"/>
                <c:pt idx="0">
                  <c:v>Aug-23</c:v>
                </c:pt>
                <c:pt idx="1">
                  <c:v>Sep-23</c:v>
                </c:pt>
                <c:pt idx="2">
                  <c:v>Oct-23</c:v>
                </c:pt>
                <c:pt idx="3">
                  <c:v>Nov-23</c:v>
                </c:pt>
                <c:pt idx="4">
                  <c:v>Dec-23</c:v>
                </c:pt>
                <c:pt idx="5">
                  <c:v>Jan-24</c:v>
                </c:pt>
                <c:pt idx="6">
                  <c:v>Feb-24</c:v>
                </c:pt>
                <c:pt idx="7">
                  <c:v>Mar-24</c:v>
                </c:pt>
                <c:pt idx="8">
                  <c:v>Apr-24</c:v>
                </c:pt>
                <c:pt idx="9">
                  <c:v>May-24</c:v>
                </c:pt>
                <c:pt idx="10">
                  <c:v>Jun-24</c:v>
                </c:pt>
                <c:pt idx="11">
                  <c:v>Jul-24</c:v>
                </c:pt>
                <c:pt idx="12">
                  <c:v>Aug-24</c:v>
                </c:pt>
                <c:pt idx="13">
                  <c:v>Sep-24</c:v>
                </c:pt>
                <c:pt idx="14">
                  <c:v>Oct-24</c:v>
                </c:pt>
                <c:pt idx="15">
                  <c:v>Nov-24</c:v>
                </c:pt>
                <c:pt idx="16">
                  <c:v>Dec-24</c:v>
                </c:pt>
                <c:pt idx="17">
                  <c:v>Jan-25</c:v>
                </c:pt>
                <c:pt idx="18">
                  <c:v>Feb-25</c:v>
                </c:pt>
                <c:pt idx="19">
                  <c:v>Mar-25</c:v>
                </c:pt>
                <c:pt idx="20">
                  <c:v>Apr-25</c:v>
                </c:pt>
                <c:pt idx="21">
                  <c:v>May-25</c:v>
                </c:pt>
                <c:pt idx="22">
                  <c:v>Jun-25</c:v>
                </c:pt>
                <c:pt idx="23">
                  <c:v>Jul-25</c:v>
                </c:pt>
                <c:pt idx="24">
                  <c:v>Aug-25</c:v>
                </c:pt>
                <c:pt idx="25">
                  <c:v>Sep-25</c:v>
                </c:pt>
                <c:pt idx="26">
                  <c:v>Oct-25</c:v>
                </c:pt>
                <c:pt idx="27">
                  <c:v>Nov-25</c:v>
                </c:pt>
                <c:pt idx="28">
                  <c:v>Dec-25</c:v>
                </c:pt>
                <c:pt idx="29">
                  <c:v>Jan-26</c:v>
                </c:pt>
                <c:pt idx="30">
                  <c:v>Feb-26</c:v>
                </c:pt>
                <c:pt idx="31">
                  <c:v>Mar-26</c:v>
                </c:pt>
                <c:pt idx="32">
                  <c:v>Apr-26</c:v>
                </c:pt>
                <c:pt idx="33">
                  <c:v>May-26</c:v>
                </c:pt>
                <c:pt idx="34">
                  <c:v>Jun-26</c:v>
                </c:pt>
                <c:pt idx="35">
                  <c:v>Jul-26</c:v>
                </c:pt>
                <c:pt idx="36">
                  <c:v>Aug-26</c:v>
                </c:pt>
                <c:pt idx="37">
                  <c:v>Sep-26</c:v>
                </c:pt>
                <c:pt idx="38">
                  <c:v>Oct-26</c:v>
                </c:pt>
                <c:pt idx="39">
                  <c:v>Nov-26</c:v>
                </c:pt>
              </c:strCache>
            </c:strRef>
          </c:cat>
          <c:val>
            <c:numRef>
              <c:f>'S Curve'!$C$45:$AP$45</c:f>
            </c:numRef>
          </c:val>
          <c:smooth val="0"/>
          <c:extLst>
            <c:ext xmlns:c16="http://schemas.microsoft.com/office/drawing/2014/chart" uri="{C3380CC4-5D6E-409C-BE32-E72D297353CC}">
              <c16:uniqueId val="{00000015-88A3-4162-8231-C3C97C8A36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09810943"/>
        <c:axId val="1409809023"/>
      </c:lineChart>
      <c:dateAx>
        <c:axId val="937075615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192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937076095"/>
        <c:crosses val="autoZero"/>
        <c:auto val="0"/>
        <c:lblOffset val="100"/>
        <c:baseTimeUnit val="days"/>
      </c:dateAx>
      <c:valAx>
        <c:axId val="9370760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r>
                  <a:rPr lang="en-IN"/>
                  <a:t>% Progress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dani Regular" panose="02000503000000020004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937075615"/>
        <c:crosses val="autoZero"/>
        <c:crossBetween val="between"/>
      </c:valAx>
      <c:valAx>
        <c:axId val="1409809023"/>
        <c:scaling>
          <c:orientation val="minMax"/>
          <c:max val="1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1409810943"/>
        <c:crosses val="max"/>
        <c:crossBetween val="between"/>
      </c:valAx>
      <c:catAx>
        <c:axId val="140981094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40980902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dani Regular" panose="02000503000000020004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dani Regular" panose="02000503000000020004" pitchFamily="2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'Baiya 600MW'!$B$4</c:f>
              <c:strCache>
                <c:ptCount val="1"/>
                <c:pt idx="0">
                  <c:v>Piling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'Baiya 600MW'!$C$2:$AL$3</c:f>
              <c:multiLvlStrCache>
                <c:ptCount val="36"/>
                <c:lvl>
                  <c:pt idx="0">
                    <c:v>Actual</c:v>
                  </c:pt>
                  <c:pt idx="1">
                    <c:v>Actual</c:v>
                  </c:pt>
                  <c:pt idx="2">
                    <c:v>Actual</c:v>
                  </c:pt>
                  <c:pt idx="3">
                    <c:v>Actual</c:v>
                  </c:pt>
                  <c:pt idx="4">
                    <c:v>Actual</c:v>
                  </c:pt>
                  <c:pt idx="5">
                    <c:v>Actual</c:v>
                  </c:pt>
                  <c:pt idx="6">
                    <c:v>Actual</c:v>
                  </c:pt>
                  <c:pt idx="7">
                    <c:v>Actual</c:v>
                  </c:pt>
                  <c:pt idx="8">
                    <c:v>Actual</c:v>
                  </c:pt>
                  <c:pt idx="9">
                    <c:v>Actual</c:v>
                  </c:pt>
                  <c:pt idx="10">
                    <c:v>Plan</c:v>
                  </c:pt>
                  <c:pt idx="11">
                    <c:v>Actual</c:v>
                  </c:pt>
                  <c:pt idx="12">
                    <c:v>Plan</c:v>
                  </c:pt>
                  <c:pt idx="13">
                    <c:v>Actual</c:v>
                  </c:pt>
                  <c:pt idx="14">
                    <c:v>Plan</c:v>
                  </c:pt>
                  <c:pt idx="15">
                    <c:v>Actual</c:v>
                  </c:pt>
                  <c:pt idx="16">
                    <c:v>Plan</c:v>
                  </c:pt>
                  <c:pt idx="17">
                    <c:v>Actual</c:v>
                  </c:pt>
                  <c:pt idx="18">
                    <c:v>Plan</c:v>
                  </c:pt>
                  <c:pt idx="19">
                    <c:v>Actual</c:v>
                  </c:pt>
                  <c:pt idx="20">
                    <c:v>Plan</c:v>
                  </c:pt>
                  <c:pt idx="21">
                    <c:v>Actual</c:v>
                  </c:pt>
                  <c:pt idx="22">
                    <c:v>Plan</c:v>
                  </c:pt>
                  <c:pt idx="23">
                    <c:v>Actual</c:v>
                  </c:pt>
                  <c:pt idx="24">
                    <c:v>Plan</c:v>
                  </c:pt>
                  <c:pt idx="25">
                    <c:v>Actual</c:v>
                  </c:pt>
                  <c:pt idx="26">
                    <c:v>Plan</c:v>
                  </c:pt>
                  <c:pt idx="27">
                    <c:v>Actual</c:v>
                  </c:pt>
                  <c:pt idx="28">
                    <c:v>Plan</c:v>
                  </c:pt>
                  <c:pt idx="29">
                    <c:v>Actual</c:v>
                  </c:pt>
                  <c:pt idx="30">
                    <c:v>Plan</c:v>
                  </c:pt>
                  <c:pt idx="31">
                    <c:v>Actual</c:v>
                  </c:pt>
                  <c:pt idx="32">
                    <c:v>Plan</c:v>
                  </c:pt>
                  <c:pt idx="33">
                    <c:v>Actual</c:v>
                  </c:pt>
                  <c:pt idx="34">
                    <c:v>Plan</c:v>
                  </c:pt>
                  <c:pt idx="35">
                    <c:v>Actual</c:v>
                  </c:pt>
                </c:lvl>
                <c:lvl>
                  <c:pt idx="0">
                    <c:v>May-25</c:v>
                  </c:pt>
                  <c:pt idx="1">
                    <c:v>Jun-25</c:v>
                  </c:pt>
                  <c:pt idx="2">
                    <c:v>Jul-25</c:v>
                  </c:pt>
                  <c:pt idx="3">
                    <c:v>Aug-25</c:v>
                  </c:pt>
                  <c:pt idx="4">
                    <c:v>Sep-25</c:v>
                  </c:pt>
                  <c:pt idx="5">
                    <c:v>Oct-25</c:v>
                  </c:pt>
                  <c:pt idx="6">
                    <c:v>Nov-25</c:v>
                  </c:pt>
                  <c:pt idx="7">
                    <c:v>Dec-25</c:v>
                  </c:pt>
                  <c:pt idx="8">
                    <c:v>Jan-26</c:v>
                  </c:pt>
                  <c:pt idx="9">
                    <c:v>Feb-26</c:v>
                  </c:pt>
                  <c:pt idx="10">
                    <c:v>Mar-26</c:v>
                  </c:pt>
                  <c:pt idx="12">
                    <c:v>Apr-26</c:v>
                  </c:pt>
                  <c:pt idx="14">
                    <c:v>May-26</c:v>
                  </c:pt>
                  <c:pt idx="16">
                    <c:v>Jun-26</c:v>
                  </c:pt>
                  <c:pt idx="18">
                    <c:v>Jul-26</c:v>
                  </c:pt>
                  <c:pt idx="20">
                    <c:v>Aug-26</c:v>
                  </c:pt>
                  <c:pt idx="22">
                    <c:v>Sep-26</c:v>
                  </c:pt>
                  <c:pt idx="24">
                    <c:v>Oct-26</c:v>
                  </c:pt>
                  <c:pt idx="26">
                    <c:v>Nov-26</c:v>
                  </c:pt>
                  <c:pt idx="28">
                    <c:v>Dec-26</c:v>
                  </c:pt>
                  <c:pt idx="30">
                    <c:v>Jan-27</c:v>
                  </c:pt>
                  <c:pt idx="32">
                    <c:v>Feb-27</c:v>
                  </c:pt>
                  <c:pt idx="34">
                    <c:v>Mar-27</c:v>
                  </c:pt>
                </c:lvl>
              </c:multiLvlStrCache>
            </c:multiLvlStrRef>
          </c:cat>
          <c:val>
            <c:numRef>
              <c:f>'Baiya 600MW'!$C$4:$AL$4</c:f>
              <c:numCache>
                <c:formatCode>0</c:formatCode>
                <c:ptCount val="36"/>
                <c:pt idx="0" formatCode="General">
                  <c:v>0</c:v>
                </c:pt>
                <c:pt idx="1">
                  <c:v>24</c:v>
                </c:pt>
                <c:pt idx="2">
                  <c:v>201</c:v>
                </c:pt>
                <c:pt idx="3">
                  <c:v>126.48387099999999</c:v>
                </c:pt>
                <c:pt idx="4">
                  <c:v>7.9</c:v>
                </c:pt>
                <c:pt idx="5">
                  <c:v>2.5</c:v>
                </c:pt>
                <c:pt idx="6">
                  <c:v>6.9090909089999997</c:v>
                </c:pt>
                <c:pt idx="7">
                  <c:v>7.4666666670000001</c:v>
                </c:pt>
                <c:pt idx="8">
                  <c:v>6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 formatCode="General">
                  <c:v>0</c:v>
                </c:pt>
                <c:pt idx="14">
                  <c:v>57</c:v>
                </c:pt>
                <c:pt idx="15">
                  <c:v>1</c:v>
                </c:pt>
                <c:pt idx="16">
                  <c:v>57</c:v>
                </c:pt>
                <c:pt idx="17">
                  <c:v>3</c:v>
                </c:pt>
                <c:pt idx="18">
                  <c:v>57</c:v>
                </c:pt>
                <c:pt idx="19">
                  <c:v>1</c:v>
                </c:pt>
                <c:pt idx="20">
                  <c:v>57</c:v>
                </c:pt>
                <c:pt idx="21">
                  <c:v>0</c:v>
                </c:pt>
                <c:pt idx="22">
                  <c:v>57</c:v>
                </c:pt>
                <c:pt idx="23" formatCode="General">
                  <c:v>0</c:v>
                </c:pt>
                <c:pt idx="24">
                  <c:v>57</c:v>
                </c:pt>
                <c:pt idx="25" formatCode="General">
                  <c:v>0</c:v>
                </c:pt>
                <c:pt idx="26">
                  <c:v>55</c:v>
                </c:pt>
                <c:pt idx="27" formatCode="General">
                  <c:v>0</c:v>
                </c:pt>
                <c:pt idx="28">
                  <c:v>55</c:v>
                </c:pt>
                <c:pt idx="29" formatCode="General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95-44CA-B1C8-73D005243046}"/>
            </c:ext>
          </c:extLst>
        </c:ser>
        <c:ser>
          <c:idx val="1"/>
          <c:order val="1"/>
          <c:tx>
            <c:strRef>
              <c:f>'Baiya 600MW'!$B$5</c:f>
              <c:strCache>
                <c:ptCount val="1"/>
                <c:pt idx="0">
                  <c:v>MMS+Robot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'Baiya 600MW'!$C$2:$AL$3</c:f>
              <c:multiLvlStrCache>
                <c:ptCount val="36"/>
                <c:lvl>
                  <c:pt idx="0">
                    <c:v>Actual</c:v>
                  </c:pt>
                  <c:pt idx="1">
                    <c:v>Actual</c:v>
                  </c:pt>
                  <c:pt idx="2">
                    <c:v>Actual</c:v>
                  </c:pt>
                  <c:pt idx="3">
                    <c:v>Actual</c:v>
                  </c:pt>
                  <c:pt idx="4">
                    <c:v>Actual</c:v>
                  </c:pt>
                  <c:pt idx="5">
                    <c:v>Actual</c:v>
                  </c:pt>
                  <c:pt idx="6">
                    <c:v>Actual</c:v>
                  </c:pt>
                  <c:pt idx="7">
                    <c:v>Actual</c:v>
                  </c:pt>
                  <c:pt idx="8">
                    <c:v>Actual</c:v>
                  </c:pt>
                  <c:pt idx="9">
                    <c:v>Actual</c:v>
                  </c:pt>
                  <c:pt idx="10">
                    <c:v>Plan</c:v>
                  </c:pt>
                  <c:pt idx="11">
                    <c:v>Actual</c:v>
                  </c:pt>
                  <c:pt idx="12">
                    <c:v>Plan</c:v>
                  </c:pt>
                  <c:pt idx="13">
                    <c:v>Actual</c:v>
                  </c:pt>
                  <c:pt idx="14">
                    <c:v>Plan</c:v>
                  </c:pt>
                  <c:pt idx="15">
                    <c:v>Actual</c:v>
                  </c:pt>
                  <c:pt idx="16">
                    <c:v>Plan</c:v>
                  </c:pt>
                  <c:pt idx="17">
                    <c:v>Actual</c:v>
                  </c:pt>
                  <c:pt idx="18">
                    <c:v>Plan</c:v>
                  </c:pt>
                  <c:pt idx="19">
                    <c:v>Actual</c:v>
                  </c:pt>
                  <c:pt idx="20">
                    <c:v>Plan</c:v>
                  </c:pt>
                  <c:pt idx="21">
                    <c:v>Actual</c:v>
                  </c:pt>
                  <c:pt idx="22">
                    <c:v>Plan</c:v>
                  </c:pt>
                  <c:pt idx="23">
                    <c:v>Actual</c:v>
                  </c:pt>
                  <c:pt idx="24">
                    <c:v>Plan</c:v>
                  </c:pt>
                  <c:pt idx="25">
                    <c:v>Actual</c:v>
                  </c:pt>
                  <c:pt idx="26">
                    <c:v>Plan</c:v>
                  </c:pt>
                  <c:pt idx="27">
                    <c:v>Actual</c:v>
                  </c:pt>
                  <c:pt idx="28">
                    <c:v>Plan</c:v>
                  </c:pt>
                  <c:pt idx="29">
                    <c:v>Actual</c:v>
                  </c:pt>
                  <c:pt idx="30">
                    <c:v>Plan</c:v>
                  </c:pt>
                  <c:pt idx="31">
                    <c:v>Actual</c:v>
                  </c:pt>
                  <c:pt idx="32">
                    <c:v>Plan</c:v>
                  </c:pt>
                  <c:pt idx="33">
                    <c:v>Actual</c:v>
                  </c:pt>
                  <c:pt idx="34">
                    <c:v>Plan</c:v>
                  </c:pt>
                  <c:pt idx="35">
                    <c:v>Actual</c:v>
                  </c:pt>
                </c:lvl>
                <c:lvl>
                  <c:pt idx="0">
                    <c:v>May-25</c:v>
                  </c:pt>
                  <c:pt idx="1">
                    <c:v>Jun-25</c:v>
                  </c:pt>
                  <c:pt idx="2">
                    <c:v>Jul-25</c:v>
                  </c:pt>
                  <c:pt idx="3">
                    <c:v>Aug-25</c:v>
                  </c:pt>
                  <c:pt idx="4">
                    <c:v>Sep-25</c:v>
                  </c:pt>
                  <c:pt idx="5">
                    <c:v>Oct-25</c:v>
                  </c:pt>
                  <c:pt idx="6">
                    <c:v>Nov-25</c:v>
                  </c:pt>
                  <c:pt idx="7">
                    <c:v>Dec-25</c:v>
                  </c:pt>
                  <c:pt idx="8">
                    <c:v>Jan-26</c:v>
                  </c:pt>
                  <c:pt idx="9">
                    <c:v>Feb-26</c:v>
                  </c:pt>
                  <c:pt idx="10">
                    <c:v>Mar-26</c:v>
                  </c:pt>
                  <c:pt idx="12">
                    <c:v>Apr-26</c:v>
                  </c:pt>
                  <c:pt idx="14">
                    <c:v>May-26</c:v>
                  </c:pt>
                  <c:pt idx="16">
                    <c:v>Jun-26</c:v>
                  </c:pt>
                  <c:pt idx="18">
                    <c:v>Jul-26</c:v>
                  </c:pt>
                  <c:pt idx="20">
                    <c:v>Aug-26</c:v>
                  </c:pt>
                  <c:pt idx="22">
                    <c:v>Sep-26</c:v>
                  </c:pt>
                  <c:pt idx="24">
                    <c:v>Oct-26</c:v>
                  </c:pt>
                  <c:pt idx="26">
                    <c:v>Nov-26</c:v>
                  </c:pt>
                  <c:pt idx="28">
                    <c:v>Dec-26</c:v>
                  </c:pt>
                  <c:pt idx="30">
                    <c:v>Jan-27</c:v>
                  </c:pt>
                  <c:pt idx="32">
                    <c:v>Feb-27</c:v>
                  </c:pt>
                  <c:pt idx="34">
                    <c:v>Mar-27</c:v>
                  </c:pt>
                </c:lvl>
              </c:multiLvlStrCache>
            </c:multiLvlStrRef>
          </c:cat>
          <c:val>
            <c:numRef>
              <c:f>'Baiya 600MW'!$C$5:$AL$5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 formatCode="0">
                  <c:v>45</c:v>
                </c:pt>
                <c:pt idx="3" formatCode="0">
                  <c:v>154.67741939999999</c:v>
                </c:pt>
                <c:pt idx="4" formatCode="0">
                  <c:v>237.6</c:v>
                </c:pt>
                <c:pt idx="5" formatCode="0">
                  <c:v>136.4</c:v>
                </c:pt>
                <c:pt idx="6" formatCode="0">
                  <c:v>142.66666670000001</c:v>
                </c:pt>
                <c:pt idx="7" formatCode="0">
                  <c:v>82.741935479999995</c:v>
                </c:pt>
                <c:pt idx="8" formatCode="0">
                  <c:v>36</c:v>
                </c:pt>
                <c:pt idx="9" formatCode="0">
                  <c:v>41</c:v>
                </c:pt>
                <c:pt idx="10" formatCode="0">
                  <c:v>18</c:v>
                </c:pt>
                <c:pt idx="11" formatCode="0">
                  <c:v>18</c:v>
                </c:pt>
                <c:pt idx="12" formatCode="0">
                  <c:v>30</c:v>
                </c:pt>
                <c:pt idx="13" formatCode="0">
                  <c:v>1</c:v>
                </c:pt>
                <c:pt idx="14" formatCode="0">
                  <c:v>125</c:v>
                </c:pt>
                <c:pt idx="15" formatCode="0">
                  <c:v>6</c:v>
                </c:pt>
                <c:pt idx="16" formatCode="0">
                  <c:v>139</c:v>
                </c:pt>
                <c:pt idx="17">
                  <c:v>0</c:v>
                </c:pt>
                <c:pt idx="18" formatCode="0">
                  <c:v>139</c:v>
                </c:pt>
                <c:pt idx="19" formatCode="0">
                  <c:v>1</c:v>
                </c:pt>
                <c:pt idx="20" formatCode="0">
                  <c:v>139</c:v>
                </c:pt>
                <c:pt idx="21" formatCode="0">
                  <c:v>0</c:v>
                </c:pt>
                <c:pt idx="22" formatCode="0">
                  <c:v>139</c:v>
                </c:pt>
                <c:pt idx="23">
                  <c:v>0</c:v>
                </c:pt>
                <c:pt idx="24" formatCode="0">
                  <c:v>139</c:v>
                </c:pt>
                <c:pt idx="25">
                  <c:v>0</c:v>
                </c:pt>
                <c:pt idx="26" formatCode="0">
                  <c:v>139</c:v>
                </c:pt>
                <c:pt idx="27">
                  <c:v>0</c:v>
                </c:pt>
                <c:pt idx="28" formatCode="0">
                  <c:v>139</c:v>
                </c:pt>
                <c:pt idx="29">
                  <c:v>0</c:v>
                </c:pt>
                <c:pt idx="30" formatCode="0">
                  <c:v>69</c:v>
                </c:pt>
                <c:pt idx="31" formatCode="0">
                  <c:v>0</c:v>
                </c:pt>
                <c:pt idx="32" formatCode="0">
                  <c:v>0</c:v>
                </c:pt>
                <c:pt idx="33" formatCode="0">
                  <c:v>0</c:v>
                </c:pt>
                <c:pt idx="34" formatCode="0">
                  <c:v>0</c:v>
                </c:pt>
                <c:pt idx="35" formatCode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95-44CA-B1C8-73D005243046}"/>
            </c:ext>
          </c:extLst>
        </c:ser>
        <c:ser>
          <c:idx val="2"/>
          <c:order val="2"/>
          <c:tx>
            <c:strRef>
              <c:f>'Baiya 600MW'!$B$6</c:f>
              <c:strCache>
                <c:ptCount val="1"/>
                <c:pt idx="0">
                  <c:v>Module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'Baiya 600MW'!$C$2:$AL$3</c:f>
              <c:multiLvlStrCache>
                <c:ptCount val="36"/>
                <c:lvl>
                  <c:pt idx="0">
                    <c:v>Actual</c:v>
                  </c:pt>
                  <c:pt idx="1">
                    <c:v>Actual</c:v>
                  </c:pt>
                  <c:pt idx="2">
                    <c:v>Actual</c:v>
                  </c:pt>
                  <c:pt idx="3">
                    <c:v>Actual</c:v>
                  </c:pt>
                  <c:pt idx="4">
                    <c:v>Actual</c:v>
                  </c:pt>
                  <c:pt idx="5">
                    <c:v>Actual</c:v>
                  </c:pt>
                  <c:pt idx="6">
                    <c:v>Actual</c:v>
                  </c:pt>
                  <c:pt idx="7">
                    <c:v>Actual</c:v>
                  </c:pt>
                  <c:pt idx="8">
                    <c:v>Actual</c:v>
                  </c:pt>
                  <c:pt idx="9">
                    <c:v>Actual</c:v>
                  </c:pt>
                  <c:pt idx="10">
                    <c:v>Plan</c:v>
                  </c:pt>
                  <c:pt idx="11">
                    <c:v>Actual</c:v>
                  </c:pt>
                  <c:pt idx="12">
                    <c:v>Plan</c:v>
                  </c:pt>
                  <c:pt idx="13">
                    <c:v>Actual</c:v>
                  </c:pt>
                  <c:pt idx="14">
                    <c:v>Plan</c:v>
                  </c:pt>
                  <c:pt idx="15">
                    <c:v>Actual</c:v>
                  </c:pt>
                  <c:pt idx="16">
                    <c:v>Plan</c:v>
                  </c:pt>
                  <c:pt idx="17">
                    <c:v>Actual</c:v>
                  </c:pt>
                  <c:pt idx="18">
                    <c:v>Plan</c:v>
                  </c:pt>
                  <c:pt idx="19">
                    <c:v>Actual</c:v>
                  </c:pt>
                  <c:pt idx="20">
                    <c:v>Plan</c:v>
                  </c:pt>
                  <c:pt idx="21">
                    <c:v>Actual</c:v>
                  </c:pt>
                  <c:pt idx="22">
                    <c:v>Plan</c:v>
                  </c:pt>
                  <c:pt idx="23">
                    <c:v>Actual</c:v>
                  </c:pt>
                  <c:pt idx="24">
                    <c:v>Plan</c:v>
                  </c:pt>
                  <c:pt idx="25">
                    <c:v>Actual</c:v>
                  </c:pt>
                  <c:pt idx="26">
                    <c:v>Plan</c:v>
                  </c:pt>
                  <c:pt idx="27">
                    <c:v>Actual</c:v>
                  </c:pt>
                  <c:pt idx="28">
                    <c:v>Plan</c:v>
                  </c:pt>
                  <c:pt idx="29">
                    <c:v>Actual</c:v>
                  </c:pt>
                  <c:pt idx="30">
                    <c:v>Plan</c:v>
                  </c:pt>
                  <c:pt idx="31">
                    <c:v>Actual</c:v>
                  </c:pt>
                  <c:pt idx="32">
                    <c:v>Plan</c:v>
                  </c:pt>
                  <c:pt idx="33">
                    <c:v>Actual</c:v>
                  </c:pt>
                  <c:pt idx="34">
                    <c:v>Plan</c:v>
                  </c:pt>
                  <c:pt idx="35">
                    <c:v>Actual</c:v>
                  </c:pt>
                </c:lvl>
                <c:lvl>
                  <c:pt idx="0">
                    <c:v>May-25</c:v>
                  </c:pt>
                  <c:pt idx="1">
                    <c:v>Jun-25</c:v>
                  </c:pt>
                  <c:pt idx="2">
                    <c:v>Jul-25</c:v>
                  </c:pt>
                  <c:pt idx="3">
                    <c:v>Aug-25</c:v>
                  </c:pt>
                  <c:pt idx="4">
                    <c:v>Sep-25</c:v>
                  </c:pt>
                  <c:pt idx="5">
                    <c:v>Oct-25</c:v>
                  </c:pt>
                  <c:pt idx="6">
                    <c:v>Nov-25</c:v>
                  </c:pt>
                  <c:pt idx="7">
                    <c:v>Dec-25</c:v>
                  </c:pt>
                  <c:pt idx="8">
                    <c:v>Jan-26</c:v>
                  </c:pt>
                  <c:pt idx="9">
                    <c:v>Feb-26</c:v>
                  </c:pt>
                  <c:pt idx="10">
                    <c:v>Mar-26</c:v>
                  </c:pt>
                  <c:pt idx="12">
                    <c:v>Apr-26</c:v>
                  </c:pt>
                  <c:pt idx="14">
                    <c:v>May-26</c:v>
                  </c:pt>
                  <c:pt idx="16">
                    <c:v>Jun-26</c:v>
                  </c:pt>
                  <c:pt idx="18">
                    <c:v>Jul-26</c:v>
                  </c:pt>
                  <c:pt idx="20">
                    <c:v>Aug-26</c:v>
                  </c:pt>
                  <c:pt idx="22">
                    <c:v>Sep-26</c:v>
                  </c:pt>
                  <c:pt idx="24">
                    <c:v>Oct-26</c:v>
                  </c:pt>
                  <c:pt idx="26">
                    <c:v>Nov-26</c:v>
                  </c:pt>
                  <c:pt idx="28">
                    <c:v>Dec-26</c:v>
                  </c:pt>
                  <c:pt idx="30">
                    <c:v>Jan-27</c:v>
                  </c:pt>
                  <c:pt idx="32">
                    <c:v>Feb-27</c:v>
                  </c:pt>
                  <c:pt idx="34">
                    <c:v>Mar-27</c:v>
                  </c:pt>
                </c:lvl>
              </c:multiLvlStrCache>
            </c:multiLvlStrRef>
          </c:cat>
          <c:val>
            <c:numRef>
              <c:f>'Baiya 600MW'!$C$6:$AL$6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 formatCode="0">
                  <c:v>0</c:v>
                </c:pt>
                <c:pt idx="3" formatCode="0">
                  <c:v>0</c:v>
                </c:pt>
                <c:pt idx="4" formatCode="0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 formatCode="0">
                  <c:v>42</c:v>
                </c:pt>
                <c:pt idx="9" formatCode="0">
                  <c:v>399</c:v>
                </c:pt>
                <c:pt idx="10" formatCode="0">
                  <c:v>89</c:v>
                </c:pt>
                <c:pt idx="11" formatCode="0">
                  <c:v>89</c:v>
                </c:pt>
                <c:pt idx="12" formatCode="0">
                  <c:v>0</c:v>
                </c:pt>
                <c:pt idx="13" formatCode="0">
                  <c:v>82</c:v>
                </c:pt>
                <c:pt idx="14" formatCode="0">
                  <c:v>0</c:v>
                </c:pt>
                <c:pt idx="15" formatCode="0">
                  <c:v>28</c:v>
                </c:pt>
                <c:pt idx="16" formatCode="0">
                  <c:v>0</c:v>
                </c:pt>
                <c:pt idx="17" formatCode="0">
                  <c:v>1</c:v>
                </c:pt>
                <c:pt idx="18" formatCode="0">
                  <c:v>97</c:v>
                </c:pt>
                <c:pt idx="19" formatCode="0">
                  <c:v>1</c:v>
                </c:pt>
                <c:pt idx="20" formatCode="0">
                  <c:v>97</c:v>
                </c:pt>
                <c:pt idx="21" formatCode="0">
                  <c:v>0</c:v>
                </c:pt>
                <c:pt idx="22" formatCode="0">
                  <c:v>97</c:v>
                </c:pt>
                <c:pt idx="23">
                  <c:v>0</c:v>
                </c:pt>
                <c:pt idx="24" formatCode="0">
                  <c:v>97</c:v>
                </c:pt>
                <c:pt idx="25">
                  <c:v>0</c:v>
                </c:pt>
                <c:pt idx="26" formatCode="0">
                  <c:v>97</c:v>
                </c:pt>
                <c:pt idx="27">
                  <c:v>0</c:v>
                </c:pt>
                <c:pt idx="28" formatCode="0">
                  <c:v>97</c:v>
                </c:pt>
                <c:pt idx="29">
                  <c:v>0</c:v>
                </c:pt>
                <c:pt idx="30" formatCode="0">
                  <c:v>97</c:v>
                </c:pt>
                <c:pt idx="31" formatCode="0">
                  <c:v>0</c:v>
                </c:pt>
                <c:pt idx="32" formatCode="0">
                  <c:v>0</c:v>
                </c:pt>
                <c:pt idx="33" formatCode="0">
                  <c:v>0</c:v>
                </c:pt>
                <c:pt idx="34" formatCode="0">
                  <c:v>0</c:v>
                </c:pt>
                <c:pt idx="35" formatCode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595-44CA-B1C8-73D005243046}"/>
            </c:ext>
          </c:extLst>
        </c:ser>
        <c:ser>
          <c:idx val="3"/>
          <c:order val="3"/>
          <c:tx>
            <c:strRef>
              <c:f>'Baiya 600MW'!$B$7</c:f>
              <c:strCache>
                <c:ptCount val="1"/>
                <c:pt idx="0">
                  <c:v>IDT Area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'Baiya 600MW'!$C$2:$AL$3</c:f>
              <c:multiLvlStrCache>
                <c:ptCount val="36"/>
                <c:lvl>
                  <c:pt idx="0">
                    <c:v>Actual</c:v>
                  </c:pt>
                  <c:pt idx="1">
                    <c:v>Actual</c:v>
                  </c:pt>
                  <c:pt idx="2">
                    <c:v>Actual</c:v>
                  </c:pt>
                  <c:pt idx="3">
                    <c:v>Actual</c:v>
                  </c:pt>
                  <c:pt idx="4">
                    <c:v>Actual</c:v>
                  </c:pt>
                  <c:pt idx="5">
                    <c:v>Actual</c:v>
                  </c:pt>
                  <c:pt idx="6">
                    <c:v>Actual</c:v>
                  </c:pt>
                  <c:pt idx="7">
                    <c:v>Actual</c:v>
                  </c:pt>
                  <c:pt idx="8">
                    <c:v>Actual</c:v>
                  </c:pt>
                  <c:pt idx="9">
                    <c:v>Actual</c:v>
                  </c:pt>
                  <c:pt idx="10">
                    <c:v>Plan</c:v>
                  </c:pt>
                  <c:pt idx="11">
                    <c:v>Actual</c:v>
                  </c:pt>
                  <c:pt idx="12">
                    <c:v>Plan</c:v>
                  </c:pt>
                  <c:pt idx="13">
                    <c:v>Actual</c:v>
                  </c:pt>
                  <c:pt idx="14">
                    <c:v>Plan</c:v>
                  </c:pt>
                  <c:pt idx="15">
                    <c:v>Actual</c:v>
                  </c:pt>
                  <c:pt idx="16">
                    <c:v>Plan</c:v>
                  </c:pt>
                  <c:pt idx="17">
                    <c:v>Actual</c:v>
                  </c:pt>
                  <c:pt idx="18">
                    <c:v>Plan</c:v>
                  </c:pt>
                  <c:pt idx="19">
                    <c:v>Actual</c:v>
                  </c:pt>
                  <c:pt idx="20">
                    <c:v>Plan</c:v>
                  </c:pt>
                  <c:pt idx="21">
                    <c:v>Actual</c:v>
                  </c:pt>
                  <c:pt idx="22">
                    <c:v>Plan</c:v>
                  </c:pt>
                  <c:pt idx="23">
                    <c:v>Actual</c:v>
                  </c:pt>
                  <c:pt idx="24">
                    <c:v>Plan</c:v>
                  </c:pt>
                  <c:pt idx="25">
                    <c:v>Actual</c:v>
                  </c:pt>
                  <c:pt idx="26">
                    <c:v>Plan</c:v>
                  </c:pt>
                  <c:pt idx="27">
                    <c:v>Actual</c:v>
                  </c:pt>
                  <c:pt idx="28">
                    <c:v>Plan</c:v>
                  </c:pt>
                  <c:pt idx="29">
                    <c:v>Actual</c:v>
                  </c:pt>
                  <c:pt idx="30">
                    <c:v>Plan</c:v>
                  </c:pt>
                  <c:pt idx="31">
                    <c:v>Actual</c:v>
                  </c:pt>
                  <c:pt idx="32">
                    <c:v>Plan</c:v>
                  </c:pt>
                  <c:pt idx="33">
                    <c:v>Actual</c:v>
                  </c:pt>
                  <c:pt idx="34">
                    <c:v>Plan</c:v>
                  </c:pt>
                  <c:pt idx="35">
                    <c:v>Actual</c:v>
                  </c:pt>
                </c:lvl>
                <c:lvl>
                  <c:pt idx="0">
                    <c:v>May-25</c:v>
                  </c:pt>
                  <c:pt idx="1">
                    <c:v>Jun-25</c:v>
                  </c:pt>
                  <c:pt idx="2">
                    <c:v>Jul-25</c:v>
                  </c:pt>
                  <c:pt idx="3">
                    <c:v>Aug-25</c:v>
                  </c:pt>
                  <c:pt idx="4">
                    <c:v>Sep-25</c:v>
                  </c:pt>
                  <c:pt idx="5">
                    <c:v>Oct-25</c:v>
                  </c:pt>
                  <c:pt idx="6">
                    <c:v>Nov-25</c:v>
                  </c:pt>
                  <c:pt idx="7">
                    <c:v>Dec-25</c:v>
                  </c:pt>
                  <c:pt idx="8">
                    <c:v>Jan-26</c:v>
                  </c:pt>
                  <c:pt idx="9">
                    <c:v>Feb-26</c:v>
                  </c:pt>
                  <c:pt idx="10">
                    <c:v>Mar-26</c:v>
                  </c:pt>
                  <c:pt idx="12">
                    <c:v>Apr-26</c:v>
                  </c:pt>
                  <c:pt idx="14">
                    <c:v>May-26</c:v>
                  </c:pt>
                  <c:pt idx="16">
                    <c:v>Jun-26</c:v>
                  </c:pt>
                  <c:pt idx="18">
                    <c:v>Jul-26</c:v>
                  </c:pt>
                  <c:pt idx="20">
                    <c:v>Aug-26</c:v>
                  </c:pt>
                  <c:pt idx="22">
                    <c:v>Sep-26</c:v>
                  </c:pt>
                  <c:pt idx="24">
                    <c:v>Oct-26</c:v>
                  </c:pt>
                  <c:pt idx="26">
                    <c:v>Nov-26</c:v>
                  </c:pt>
                  <c:pt idx="28">
                    <c:v>Dec-26</c:v>
                  </c:pt>
                  <c:pt idx="30">
                    <c:v>Jan-27</c:v>
                  </c:pt>
                  <c:pt idx="32">
                    <c:v>Feb-27</c:v>
                  </c:pt>
                  <c:pt idx="34">
                    <c:v>Mar-27</c:v>
                  </c:pt>
                </c:lvl>
              </c:multiLvlStrCache>
            </c:multiLvlStrRef>
          </c:cat>
          <c:val>
            <c:numRef>
              <c:f>'Baiya 600MW'!$C$7:$AL$7</c:f>
              <c:numCache>
                <c:formatCode>0</c:formatCode>
                <c:ptCount val="36"/>
                <c:pt idx="0" formatCode="General">
                  <c:v>0</c:v>
                </c:pt>
                <c:pt idx="1">
                  <c:v>6</c:v>
                </c:pt>
                <c:pt idx="2">
                  <c:v>53.125</c:v>
                </c:pt>
                <c:pt idx="3">
                  <c:v>87.833333330000002</c:v>
                </c:pt>
                <c:pt idx="4">
                  <c:v>62.366666670000001</c:v>
                </c:pt>
                <c:pt idx="5">
                  <c:v>33.25</c:v>
                </c:pt>
                <c:pt idx="6">
                  <c:v>34.344827590000001</c:v>
                </c:pt>
                <c:pt idx="7">
                  <c:v>23.76</c:v>
                </c:pt>
                <c:pt idx="8">
                  <c:v>11</c:v>
                </c:pt>
                <c:pt idx="9">
                  <c:v>16</c:v>
                </c:pt>
                <c:pt idx="10">
                  <c:v>1</c:v>
                </c:pt>
                <c:pt idx="11">
                  <c:v>1</c:v>
                </c:pt>
                <c:pt idx="12">
                  <c:v>35</c:v>
                </c:pt>
                <c:pt idx="13">
                  <c:v>1</c:v>
                </c:pt>
                <c:pt idx="14">
                  <c:v>7</c:v>
                </c:pt>
                <c:pt idx="15">
                  <c:v>1</c:v>
                </c:pt>
                <c:pt idx="16">
                  <c:v>43</c:v>
                </c:pt>
                <c:pt idx="17">
                  <c:v>6</c:v>
                </c:pt>
                <c:pt idx="18">
                  <c:v>43</c:v>
                </c:pt>
                <c:pt idx="19">
                  <c:v>3</c:v>
                </c:pt>
                <c:pt idx="20">
                  <c:v>45</c:v>
                </c:pt>
                <c:pt idx="21">
                  <c:v>0</c:v>
                </c:pt>
                <c:pt idx="22">
                  <c:v>45</c:v>
                </c:pt>
                <c:pt idx="23" formatCode="General">
                  <c:v>0</c:v>
                </c:pt>
                <c:pt idx="24">
                  <c:v>23</c:v>
                </c:pt>
                <c:pt idx="25" formatCode="General">
                  <c:v>0</c:v>
                </c:pt>
                <c:pt idx="26">
                  <c:v>14</c:v>
                </c:pt>
                <c:pt idx="27" formatCode="General">
                  <c:v>0</c:v>
                </c:pt>
                <c:pt idx="28">
                  <c:v>2</c:v>
                </c:pt>
                <c:pt idx="29" formatCode="General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18</c:v>
                </c:pt>
                <c:pt idx="33">
                  <c:v>0</c:v>
                </c:pt>
                <c:pt idx="34">
                  <c:v>10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95-44CA-B1C8-73D005243046}"/>
            </c:ext>
          </c:extLst>
        </c:ser>
        <c:ser>
          <c:idx val="4"/>
          <c:order val="4"/>
          <c:tx>
            <c:strRef>
              <c:f>'Baiya 600MW'!$B$8</c:f>
              <c:strCache>
                <c:ptCount val="1"/>
                <c:pt idx="0">
                  <c:v>AC DC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'Baiya 600MW'!$C$2:$AL$3</c:f>
              <c:multiLvlStrCache>
                <c:ptCount val="36"/>
                <c:lvl>
                  <c:pt idx="0">
                    <c:v>Actual</c:v>
                  </c:pt>
                  <c:pt idx="1">
                    <c:v>Actual</c:v>
                  </c:pt>
                  <c:pt idx="2">
                    <c:v>Actual</c:v>
                  </c:pt>
                  <c:pt idx="3">
                    <c:v>Actual</c:v>
                  </c:pt>
                  <c:pt idx="4">
                    <c:v>Actual</c:v>
                  </c:pt>
                  <c:pt idx="5">
                    <c:v>Actual</c:v>
                  </c:pt>
                  <c:pt idx="6">
                    <c:v>Actual</c:v>
                  </c:pt>
                  <c:pt idx="7">
                    <c:v>Actual</c:v>
                  </c:pt>
                  <c:pt idx="8">
                    <c:v>Actual</c:v>
                  </c:pt>
                  <c:pt idx="9">
                    <c:v>Actual</c:v>
                  </c:pt>
                  <c:pt idx="10">
                    <c:v>Plan</c:v>
                  </c:pt>
                  <c:pt idx="11">
                    <c:v>Actual</c:v>
                  </c:pt>
                  <c:pt idx="12">
                    <c:v>Plan</c:v>
                  </c:pt>
                  <c:pt idx="13">
                    <c:v>Actual</c:v>
                  </c:pt>
                  <c:pt idx="14">
                    <c:v>Plan</c:v>
                  </c:pt>
                  <c:pt idx="15">
                    <c:v>Actual</c:v>
                  </c:pt>
                  <c:pt idx="16">
                    <c:v>Plan</c:v>
                  </c:pt>
                  <c:pt idx="17">
                    <c:v>Actual</c:v>
                  </c:pt>
                  <c:pt idx="18">
                    <c:v>Plan</c:v>
                  </c:pt>
                  <c:pt idx="19">
                    <c:v>Actual</c:v>
                  </c:pt>
                  <c:pt idx="20">
                    <c:v>Plan</c:v>
                  </c:pt>
                  <c:pt idx="21">
                    <c:v>Actual</c:v>
                  </c:pt>
                  <c:pt idx="22">
                    <c:v>Plan</c:v>
                  </c:pt>
                  <c:pt idx="23">
                    <c:v>Actual</c:v>
                  </c:pt>
                  <c:pt idx="24">
                    <c:v>Plan</c:v>
                  </c:pt>
                  <c:pt idx="25">
                    <c:v>Actual</c:v>
                  </c:pt>
                  <c:pt idx="26">
                    <c:v>Plan</c:v>
                  </c:pt>
                  <c:pt idx="27">
                    <c:v>Actual</c:v>
                  </c:pt>
                  <c:pt idx="28">
                    <c:v>Plan</c:v>
                  </c:pt>
                  <c:pt idx="29">
                    <c:v>Actual</c:v>
                  </c:pt>
                  <c:pt idx="30">
                    <c:v>Plan</c:v>
                  </c:pt>
                  <c:pt idx="31">
                    <c:v>Actual</c:v>
                  </c:pt>
                  <c:pt idx="32">
                    <c:v>Plan</c:v>
                  </c:pt>
                  <c:pt idx="33">
                    <c:v>Actual</c:v>
                  </c:pt>
                  <c:pt idx="34">
                    <c:v>Plan</c:v>
                  </c:pt>
                  <c:pt idx="35">
                    <c:v>Actual</c:v>
                  </c:pt>
                </c:lvl>
                <c:lvl>
                  <c:pt idx="0">
                    <c:v>May-25</c:v>
                  </c:pt>
                  <c:pt idx="1">
                    <c:v>Jun-25</c:v>
                  </c:pt>
                  <c:pt idx="2">
                    <c:v>Jul-25</c:v>
                  </c:pt>
                  <c:pt idx="3">
                    <c:v>Aug-25</c:v>
                  </c:pt>
                  <c:pt idx="4">
                    <c:v>Sep-25</c:v>
                  </c:pt>
                  <c:pt idx="5">
                    <c:v>Oct-25</c:v>
                  </c:pt>
                  <c:pt idx="6">
                    <c:v>Nov-25</c:v>
                  </c:pt>
                  <c:pt idx="7">
                    <c:v>Dec-25</c:v>
                  </c:pt>
                  <c:pt idx="8">
                    <c:v>Jan-26</c:v>
                  </c:pt>
                  <c:pt idx="9">
                    <c:v>Feb-26</c:v>
                  </c:pt>
                  <c:pt idx="10">
                    <c:v>Mar-26</c:v>
                  </c:pt>
                  <c:pt idx="12">
                    <c:v>Apr-26</c:v>
                  </c:pt>
                  <c:pt idx="14">
                    <c:v>May-26</c:v>
                  </c:pt>
                  <c:pt idx="16">
                    <c:v>Jun-26</c:v>
                  </c:pt>
                  <c:pt idx="18">
                    <c:v>Jul-26</c:v>
                  </c:pt>
                  <c:pt idx="20">
                    <c:v>Aug-26</c:v>
                  </c:pt>
                  <c:pt idx="22">
                    <c:v>Sep-26</c:v>
                  </c:pt>
                  <c:pt idx="24">
                    <c:v>Oct-26</c:v>
                  </c:pt>
                  <c:pt idx="26">
                    <c:v>Nov-26</c:v>
                  </c:pt>
                  <c:pt idx="28">
                    <c:v>Dec-26</c:v>
                  </c:pt>
                  <c:pt idx="30">
                    <c:v>Jan-27</c:v>
                  </c:pt>
                  <c:pt idx="32">
                    <c:v>Feb-27</c:v>
                  </c:pt>
                  <c:pt idx="34">
                    <c:v>Mar-27</c:v>
                  </c:pt>
                </c:lvl>
              </c:multiLvlStrCache>
            </c:multiLvlStrRef>
          </c:cat>
          <c:val>
            <c:numRef>
              <c:f>'Baiya 600MW'!$C$8:$AL$8</c:f>
              <c:numCache>
                <c:formatCode>0</c:formatCode>
                <c:ptCount val="36"/>
                <c:pt idx="0" formatCode="General">
                  <c:v>0</c:v>
                </c:pt>
                <c:pt idx="1">
                  <c:v>0</c:v>
                </c:pt>
                <c:pt idx="2">
                  <c:v>14.25</c:v>
                </c:pt>
                <c:pt idx="3">
                  <c:v>43.709677419999998</c:v>
                </c:pt>
                <c:pt idx="4">
                  <c:v>95.633333329999999</c:v>
                </c:pt>
                <c:pt idx="5">
                  <c:v>85.206896549999996</c:v>
                </c:pt>
                <c:pt idx="6">
                  <c:v>71.466666669999995</c:v>
                </c:pt>
                <c:pt idx="7">
                  <c:v>55.806451610000003</c:v>
                </c:pt>
                <c:pt idx="8">
                  <c:v>54</c:v>
                </c:pt>
                <c:pt idx="9">
                  <c:v>99</c:v>
                </c:pt>
                <c:pt idx="10">
                  <c:v>25</c:v>
                </c:pt>
                <c:pt idx="11">
                  <c:v>25</c:v>
                </c:pt>
                <c:pt idx="12">
                  <c:v>60</c:v>
                </c:pt>
                <c:pt idx="13">
                  <c:v>7</c:v>
                </c:pt>
                <c:pt idx="14">
                  <c:v>12</c:v>
                </c:pt>
                <c:pt idx="15">
                  <c:v>17</c:v>
                </c:pt>
                <c:pt idx="16">
                  <c:v>54</c:v>
                </c:pt>
                <c:pt idx="17">
                  <c:v>5</c:v>
                </c:pt>
                <c:pt idx="18">
                  <c:v>69</c:v>
                </c:pt>
                <c:pt idx="19">
                  <c:v>5</c:v>
                </c:pt>
                <c:pt idx="20">
                  <c:v>128</c:v>
                </c:pt>
                <c:pt idx="21">
                  <c:v>2</c:v>
                </c:pt>
                <c:pt idx="22">
                  <c:v>128</c:v>
                </c:pt>
                <c:pt idx="23" formatCode="General">
                  <c:v>0</c:v>
                </c:pt>
                <c:pt idx="24">
                  <c:v>101</c:v>
                </c:pt>
                <c:pt idx="25" formatCode="General">
                  <c:v>0</c:v>
                </c:pt>
                <c:pt idx="26">
                  <c:v>94</c:v>
                </c:pt>
                <c:pt idx="27" formatCode="General">
                  <c:v>0</c:v>
                </c:pt>
                <c:pt idx="28">
                  <c:v>64</c:v>
                </c:pt>
                <c:pt idx="29" formatCode="General">
                  <c:v>0</c:v>
                </c:pt>
                <c:pt idx="30">
                  <c:v>56</c:v>
                </c:pt>
                <c:pt idx="31">
                  <c:v>0</c:v>
                </c:pt>
                <c:pt idx="32">
                  <c:v>35</c:v>
                </c:pt>
                <c:pt idx="33">
                  <c:v>0</c:v>
                </c:pt>
                <c:pt idx="34">
                  <c:v>25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595-44CA-B1C8-73D0052430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658267584"/>
        <c:axId val="658265184"/>
      </c:barChart>
      <c:lineChart>
        <c:grouping val="standard"/>
        <c:varyColors val="0"/>
        <c:ser>
          <c:idx val="5"/>
          <c:order val="5"/>
          <c:tx>
            <c:strRef>
              <c:f>'Baiya 600MW'!$B$9</c:f>
              <c:strCache>
                <c:ptCount val="1"/>
                <c:pt idx="0">
                  <c:v>Total Planned</c:v>
                </c:pt>
              </c:strCache>
            </c:strRef>
          </c:tx>
          <c:spPr>
            <a:ln w="381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rgbClr val="FFFF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'Baiya 600MW'!$C$2:$AL$3</c:f>
              <c:multiLvlStrCache>
                <c:ptCount val="36"/>
                <c:lvl>
                  <c:pt idx="0">
                    <c:v>Actual</c:v>
                  </c:pt>
                  <c:pt idx="1">
                    <c:v>Actual</c:v>
                  </c:pt>
                  <c:pt idx="2">
                    <c:v>Actual</c:v>
                  </c:pt>
                  <c:pt idx="3">
                    <c:v>Actual</c:v>
                  </c:pt>
                  <c:pt idx="4">
                    <c:v>Actual</c:v>
                  </c:pt>
                  <c:pt idx="5">
                    <c:v>Actual</c:v>
                  </c:pt>
                  <c:pt idx="6">
                    <c:v>Actual</c:v>
                  </c:pt>
                  <c:pt idx="7">
                    <c:v>Actual</c:v>
                  </c:pt>
                  <c:pt idx="8">
                    <c:v>Actual</c:v>
                  </c:pt>
                  <c:pt idx="9">
                    <c:v>Actual</c:v>
                  </c:pt>
                  <c:pt idx="10">
                    <c:v>Plan</c:v>
                  </c:pt>
                  <c:pt idx="11">
                    <c:v>Actual</c:v>
                  </c:pt>
                  <c:pt idx="12">
                    <c:v>Plan</c:v>
                  </c:pt>
                  <c:pt idx="13">
                    <c:v>Actual</c:v>
                  </c:pt>
                  <c:pt idx="14">
                    <c:v>Plan</c:v>
                  </c:pt>
                  <c:pt idx="15">
                    <c:v>Actual</c:v>
                  </c:pt>
                  <c:pt idx="16">
                    <c:v>Plan</c:v>
                  </c:pt>
                  <c:pt idx="17">
                    <c:v>Actual</c:v>
                  </c:pt>
                  <c:pt idx="18">
                    <c:v>Plan</c:v>
                  </c:pt>
                  <c:pt idx="19">
                    <c:v>Actual</c:v>
                  </c:pt>
                  <c:pt idx="20">
                    <c:v>Plan</c:v>
                  </c:pt>
                  <c:pt idx="21">
                    <c:v>Actual</c:v>
                  </c:pt>
                  <c:pt idx="22">
                    <c:v>Plan</c:v>
                  </c:pt>
                  <c:pt idx="23">
                    <c:v>Actual</c:v>
                  </c:pt>
                  <c:pt idx="24">
                    <c:v>Plan</c:v>
                  </c:pt>
                  <c:pt idx="25">
                    <c:v>Actual</c:v>
                  </c:pt>
                  <c:pt idx="26">
                    <c:v>Plan</c:v>
                  </c:pt>
                  <c:pt idx="27">
                    <c:v>Actual</c:v>
                  </c:pt>
                  <c:pt idx="28">
                    <c:v>Plan</c:v>
                  </c:pt>
                  <c:pt idx="29">
                    <c:v>Actual</c:v>
                  </c:pt>
                  <c:pt idx="30">
                    <c:v>Plan</c:v>
                  </c:pt>
                  <c:pt idx="31">
                    <c:v>Actual</c:v>
                  </c:pt>
                  <c:pt idx="32">
                    <c:v>Plan</c:v>
                  </c:pt>
                  <c:pt idx="33">
                    <c:v>Actual</c:v>
                  </c:pt>
                  <c:pt idx="34">
                    <c:v>Plan</c:v>
                  </c:pt>
                  <c:pt idx="35">
                    <c:v>Actual</c:v>
                  </c:pt>
                </c:lvl>
                <c:lvl>
                  <c:pt idx="0">
                    <c:v>May-25</c:v>
                  </c:pt>
                  <c:pt idx="1">
                    <c:v>Jun-25</c:v>
                  </c:pt>
                  <c:pt idx="2">
                    <c:v>Jul-25</c:v>
                  </c:pt>
                  <c:pt idx="3">
                    <c:v>Aug-25</c:v>
                  </c:pt>
                  <c:pt idx="4">
                    <c:v>Sep-25</c:v>
                  </c:pt>
                  <c:pt idx="5">
                    <c:v>Oct-25</c:v>
                  </c:pt>
                  <c:pt idx="6">
                    <c:v>Nov-25</c:v>
                  </c:pt>
                  <c:pt idx="7">
                    <c:v>Dec-25</c:v>
                  </c:pt>
                  <c:pt idx="8">
                    <c:v>Jan-26</c:v>
                  </c:pt>
                  <c:pt idx="9">
                    <c:v>Feb-26</c:v>
                  </c:pt>
                  <c:pt idx="10">
                    <c:v>Mar-26</c:v>
                  </c:pt>
                  <c:pt idx="12">
                    <c:v>Apr-26</c:v>
                  </c:pt>
                  <c:pt idx="14">
                    <c:v>May-26</c:v>
                  </c:pt>
                  <c:pt idx="16">
                    <c:v>Jun-26</c:v>
                  </c:pt>
                  <c:pt idx="18">
                    <c:v>Jul-26</c:v>
                  </c:pt>
                  <c:pt idx="20">
                    <c:v>Aug-26</c:v>
                  </c:pt>
                  <c:pt idx="22">
                    <c:v>Sep-26</c:v>
                  </c:pt>
                  <c:pt idx="24">
                    <c:v>Oct-26</c:v>
                  </c:pt>
                  <c:pt idx="26">
                    <c:v>Nov-26</c:v>
                  </c:pt>
                  <c:pt idx="28">
                    <c:v>Dec-26</c:v>
                  </c:pt>
                  <c:pt idx="30">
                    <c:v>Jan-27</c:v>
                  </c:pt>
                  <c:pt idx="32">
                    <c:v>Feb-27</c:v>
                  </c:pt>
                  <c:pt idx="34">
                    <c:v>Mar-27</c:v>
                  </c:pt>
                </c:lvl>
              </c:multiLvlStrCache>
            </c:multiLvlStrRef>
          </c:cat>
          <c:val>
            <c:numRef>
              <c:f>'Baiya 600MW'!$C$9:$AL$9</c:f>
              <c:numCache>
                <c:formatCode>General</c:formatCode>
                <c:ptCount val="36"/>
                <c:pt idx="10" formatCode="0">
                  <c:v>134</c:v>
                </c:pt>
                <c:pt idx="12">
                  <c:v>125</c:v>
                </c:pt>
                <c:pt idx="14">
                  <c:v>201</c:v>
                </c:pt>
                <c:pt idx="16">
                  <c:v>293</c:v>
                </c:pt>
                <c:pt idx="18">
                  <c:v>405</c:v>
                </c:pt>
                <c:pt idx="20">
                  <c:v>466</c:v>
                </c:pt>
                <c:pt idx="22" formatCode="0">
                  <c:v>466</c:v>
                </c:pt>
                <c:pt idx="24" formatCode="0">
                  <c:v>417</c:v>
                </c:pt>
                <c:pt idx="26" formatCode="0">
                  <c:v>399</c:v>
                </c:pt>
                <c:pt idx="28" formatCode="0">
                  <c:v>357</c:v>
                </c:pt>
                <c:pt idx="30" formatCode="0">
                  <c:v>222</c:v>
                </c:pt>
                <c:pt idx="32" formatCode="0">
                  <c:v>53</c:v>
                </c:pt>
                <c:pt idx="34" formatCode="0">
                  <c:v>35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0595-44CA-B1C8-73D005243046}"/>
            </c:ext>
          </c:extLst>
        </c:ser>
        <c:ser>
          <c:idx val="6"/>
          <c:order val="6"/>
          <c:tx>
            <c:strRef>
              <c:f>'Baiya 600MW'!$B$10</c:f>
              <c:strCache>
                <c:ptCount val="1"/>
                <c:pt idx="0">
                  <c:v>Total Actual</c:v>
                </c:pt>
              </c:strCache>
            </c:strRef>
          </c:tx>
          <c:spPr>
            <a:ln w="3810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rgbClr val="92D05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'Baiya 600MW'!$C$2:$AL$3</c:f>
              <c:multiLvlStrCache>
                <c:ptCount val="36"/>
                <c:lvl>
                  <c:pt idx="0">
                    <c:v>Actual</c:v>
                  </c:pt>
                  <c:pt idx="1">
                    <c:v>Actual</c:v>
                  </c:pt>
                  <c:pt idx="2">
                    <c:v>Actual</c:v>
                  </c:pt>
                  <c:pt idx="3">
                    <c:v>Actual</c:v>
                  </c:pt>
                  <c:pt idx="4">
                    <c:v>Actual</c:v>
                  </c:pt>
                  <c:pt idx="5">
                    <c:v>Actual</c:v>
                  </c:pt>
                  <c:pt idx="6">
                    <c:v>Actual</c:v>
                  </c:pt>
                  <c:pt idx="7">
                    <c:v>Actual</c:v>
                  </c:pt>
                  <c:pt idx="8">
                    <c:v>Actual</c:v>
                  </c:pt>
                  <c:pt idx="9">
                    <c:v>Actual</c:v>
                  </c:pt>
                  <c:pt idx="10">
                    <c:v>Plan</c:v>
                  </c:pt>
                  <c:pt idx="11">
                    <c:v>Actual</c:v>
                  </c:pt>
                  <c:pt idx="12">
                    <c:v>Plan</c:v>
                  </c:pt>
                  <c:pt idx="13">
                    <c:v>Actual</c:v>
                  </c:pt>
                  <c:pt idx="14">
                    <c:v>Plan</c:v>
                  </c:pt>
                  <c:pt idx="15">
                    <c:v>Actual</c:v>
                  </c:pt>
                  <c:pt idx="16">
                    <c:v>Plan</c:v>
                  </c:pt>
                  <c:pt idx="17">
                    <c:v>Actual</c:v>
                  </c:pt>
                  <c:pt idx="18">
                    <c:v>Plan</c:v>
                  </c:pt>
                  <c:pt idx="19">
                    <c:v>Actual</c:v>
                  </c:pt>
                  <c:pt idx="20">
                    <c:v>Plan</c:v>
                  </c:pt>
                  <c:pt idx="21">
                    <c:v>Actual</c:v>
                  </c:pt>
                  <c:pt idx="22">
                    <c:v>Plan</c:v>
                  </c:pt>
                  <c:pt idx="23">
                    <c:v>Actual</c:v>
                  </c:pt>
                  <c:pt idx="24">
                    <c:v>Plan</c:v>
                  </c:pt>
                  <c:pt idx="25">
                    <c:v>Actual</c:v>
                  </c:pt>
                  <c:pt idx="26">
                    <c:v>Plan</c:v>
                  </c:pt>
                  <c:pt idx="27">
                    <c:v>Actual</c:v>
                  </c:pt>
                  <c:pt idx="28">
                    <c:v>Plan</c:v>
                  </c:pt>
                  <c:pt idx="29">
                    <c:v>Actual</c:v>
                  </c:pt>
                  <c:pt idx="30">
                    <c:v>Plan</c:v>
                  </c:pt>
                  <c:pt idx="31">
                    <c:v>Actual</c:v>
                  </c:pt>
                  <c:pt idx="32">
                    <c:v>Plan</c:v>
                  </c:pt>
                  <c:pt idx="33">
                    <c:v>Actual</c:v>
                  </c:pt>
                  <c:pt idx="34">
                    <c:v>Plan</c:v>
                  </c:pt>
                  <c:pt idx="35">
                    <c:v>Actual</c:v>
                  </c:pt>
                </c:lvl>
                <c:lvl>
                  <c:pt idx="0">
                    <c:v>May-25</c:v>
                  </c:pt>
                  <c:pt idx="1">
                    <c:v>Jun-25</c:v>
                  </c:pt>
                  <c:pt idx="2">
                    <c:v>Jul-25</c:v>
                  </c:pt>
                  <c:pt idx="3">
                    <c:v>Aug-25</c:v>
                  </c:pt>
                  <c:pt idx="4">
                    <c:v>Sep-25</c:v>
                  </c:pt>
                  <c:pt idx="5">
                    <c:v>Oct-25</c:v>
                  </c:pt>
                  <c:pt idx="6">
                    <c:v>Nov-25</c:v>
                  </c:pt>
                  <c:pt idx="7">
                    <c:v>Dec-25</c:v>
                  </c:pt>
                  <c:pt idx="8">
                    <c:v>Jan-26</c:v>
                  </c:pt>
                  <c:pt idx="9">
                    <c:v>Feb-26</c:v>
                  </c:pt>
                  <c:pt idx="10">
                    <c:v>Mar-26</c:v>
                  </c:pt>
                  <c:pt idx="12">
                    <c:v>Apr-26</c:v>
                  </c:pt>
                  <c:pt idx="14">
                    <c:v>May-26</c:v>
                  </c:pt>
                  <c:pt idx="16">
                    <c:v>Jun-26</c:v>
                  </c:pt>
                  <c:pt idx="18">
                    <c:v>Jul-26</c:v>
                  </c:pt>
                  <c:pt idx="20">
                    <c:v>Aug-26</c:v>
                  </c:pt>
                  <c:pt idx="22">
                    <c:v>Sep-26</c:v>
                  </c:pt>
                  <c:pt idx="24">
                    <c:v>Oct-26</c:v>
                  </c:pt>
                  <c:pt idx="26">
                    <c:v>Nov-26</c:v>
                  </c:pt>
                  <c:pt idx="28">
                    <c:v>Dec-26</c:v>
                  </c:pt>
                  <c:pt idx="30">
                    <c:v>Jan-27</c:v>
                  </c:pt>
                  <c:pt idx="32">
                    <c:v>Feb-27</c:v>
                  </c:pt>
                  <c:pt idx="34">
                    <c:v>Mar-27</c:v>
                  </c:pt>
                </c:lvl>
              </c:multiLvlStrCache>
            </c:multiLvlStrRef>
          </c:cat>
          <c:val>
            <c:numRef>
              <c:f>'Baiya 600MW'!$C$10:$AL$10</c:f>
              <c:numCache>
                <c:formatCode>General</c:formatCode>
                <c:ptCount val="36"/>
                <c:pt idx="0" formatCode="0">
                  <c:v>0</c:v>
                </c:pt>
                <c:pt idx="1">
                  <c:v>30</c:v>
                </c:pt>
                <c:pt idx="2">
                  <c:v>313</c:v>
                </c:pt>
                <c:pt idx="3">
                  <c:v>413</c:v>
                </c:pt>
                <c:pt idx="4">
                  <c:v>404</c:v>
                </c:pt>
                <c:pt idx="5">
                  <c:v>257</c:v>
                </c:pt>
                <c:pt idx="6">
                  <c:v>255</c:v>
                </c:pt>
                <c:pt idx="7">
                  <c:v>170</c:v>
                </c:pt>
                <c:pt idx="8">
                  <c:v>149</c:v>
                </c:pt>
                <c:pt idx="9">
                  <c:v>556</c:v>
                </c:pt>
                <c:pt idx="11">
                  <c:v>134</c:v>
                </c:pt>
                <c:pt idx="13">
                  <c:v>91</c:v>
                </c:pt>
                <c:pt idx="15" formatCode="0">
                  <c:v>53</c:v>
                </c:pt>
                <c:pt idx="17" formatCode="0">
                  <c:v>15</c:v>
                </c:pt>
                <c:pt idx="19" formatCode="0">
                  <c:v>11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6-0595-44CA-B1C8-73D005243046}"/>
            </c:ext>
          </c:extLst>
        </c:ser>
        <c:ser>
          <c:idx val="7"/>
          <c:order val="7"/>
          <c:tx>
            <c:strRef>
              <c:f>'Baiya 600MW'!$B$11</c:f>
              <c:strCache>
                <c:ptCount val="1"/>
                <c:pt idx="0">
                  <c:v>Total Forecast</c:v>
                </c:pt>
              </c:strCache>
            </c:strRef>
          </c:tx>
          <c:spPr>
            <a:ln w="38100" cap="rnd">
              <a:solidFill>
                <a:srgbClr val="0070C0"/>
              </a:solidFill>
              <a:prstDash val="dash"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'Baiya 600MW'!$C$2:$AL$3</c:f>
              <c:multiLvlStrCache>
                <c:ptCount val="36"/>
                <c:lvl>
                  <c:pt idx="0">
                    <c:v>Actual</c:v>
                  </c:pt>
                  <c:pt idx="1">
                    <c:v>Actual</c:v>
                  </c:pt>
                  <c:pt idx="2">
                    <c:v>Actual</c:v>
                  </c:pt>
                  <c:pt idx="3">
                    <c:v>Actual</c:v>
                  </c:pt>
                  <c:pt idx="4">
                    <c:v>Actual</c:v>
                  </c:pt>
                  <c:pt idx="5">
                    <c:v>Actual</c:v>
                  </c:pt>
                  <c:pt idx="6">
                    <c:v>Actual</c:v>
                  </c:pt>
                  <c:pt idx="7">
                    <c:v>Actual</c:v>
                  </c:pt>
                  <c:pt idx="8">
                    <c:v>Actual</c:v>
                  </c:pt>
                  <c:pt idx="9">
                    <c:v>Actual</c:v>
                  </c:pt>
                  <c:pt idx="10">
                    <c:v>Plan</c:v>
                  </c:pt>
                  <c:pt idx="11">
                    <c:v>Actual</c:v>
                  </c:pt>
                  <c:pt idx="12">
                    <c:v>Plan</c:v>
                  </c:pt>
                  <c:pt idx="13">
                    <c:v>Actual</c:v>
                  </c:pt>
                  <c:pt idx="14">
                    <c:v>Plan</c:v>
                  </c:pt>
                  <c:pt idx="15">
                    <c:v>Actual</c:v>
                  </c:pt>
                  <c:pt idx="16">
                    <c:v>Plan</c:v>
                  </c:pt>
                  <c:pt idx="17">
                    <c:v>Actual</c:v>
                  </c:pt>
                  <c:pt idx="18">
                    <c:v>Plan</c:v>
                  </c:pt>
                  <c:pt idx="19">
                    <c:v>Actual</c:v>
                  </c:pt>
                  <c:pt idx="20">
                    <c:v>Plan</c:v>
                  </c:pt>
                  <c:pt idx="21">
                    <c:v>Actual</c:v>
                  </c:pt>
                  <c:pt idx="22">
                    <c:v>Plan</c:v>
                  </c:pt>
                  <c:pt idx="23">
                    <c:v>Actual</c:v>
                  </c:pt>
                  <c:pt idx="24">
                    <c:v>Plan</c:v>
                  </c:pt>
                  <c:pt idx="25">
                    <c:v>Actual</c:v>
                  </c:pt>
                  <c:pt idx="26">
                    <c:v>Plan</c:v>
                  </c:pt>
                  <c:pt idx="27">
                    <c:v>Actual</c:v>
                  </c:pt>
                  <c:pt idx="28">
                    <c:v>Plan</c:v>
                  </c:pt>
                  <c:pt idx="29">
                    <c:v>Actual</c:v>
                  </c:pt>
                  <c:pt idx="30">
                    <c:v>Plan</c:v>
                  </c:pt>
                  <c:pt idx="31">
                    <c:v>Actual</c:v>
                  </c:pt>
                  <c:pt idx="32">
                    <c:v>Plan</c:v>
                  </c:pt>
                  <c:pt idx="33">
                    <c:v>Actual</c:v>
                  </c:pt>
                  <c:pt idx="34">
                    <c:v>Plan</c:v>
                  </c:pt>
                  <c:pt idx="35">
                    <c:v>Actual</c:v>
                  </c:pt>
                </c:lvl>
                <c:lvl>
                  <c:pt idx="0">
                    <c:v>May-25</c:v>
                  </c:pt>
                  <c:pt idx="1">
                    <c:v>Jun-25</c:v>
                  </c:pt>
                  <c:pt idx="2">
                    <c:v>Jul-25</c:v>
                  </c:pt>
                  <c:pt idx="3">
                    <c:v>Aug-25</c:v>
                  </c:pt>
                  <c:pt idx="4">
                    <c:v>Sep-25</c:v>
                  </c:pt>
                  <c:pt idx="5">
                    <c:v>Oct-25</c:v>
                  </c:pt>
                  <c:pt idx="6">
                    <c:v>Nov-25</c:v>
                  </c:pt>
                  <c:pt idx="7">
                    <c:v>Dec-25</c:v>
                  </c:pt>
                  <c:pt idx="8">
                    <c:v>Jan-26</c:v>
                  </c:pt>
                  <c:pt idx="9">
                    <c:v>Feb-26</c:v>
                  </c:pt>
                  <c:pt idx="10">
                    <c:v>Mar-26</c:v>
                  </c:pt>
                  <c:pt idx="12">
                    <c:v>Apr-26</c:v>
                  </c:pt>
                  <c:pt idx="14">
                    <c:v>May-26</c:v>
                  </c:pt>
                  <c:pt idx="16">
                    <c:v>Jun-26</c:v>
                  </c:pt>
                  <c:pt idx="18">
                    <c:v>Jul-26</c:v>
                  </c:pt>
                  <c:pt idx="20">
                    <c:v>Aug-26</c:v>
                  </c:pt>
                  <c:pt idx="22">
                    <c:v>Sep-26</c:v>
                  </c:pt>
                  <c:pt idx="24">
                    <c:v>Oct-26</c:v>
                  </c:pt>
                  <c:pt idx="26">
                    <c:v>Nov-26</c:v>
                  </c:pt>
                  <c:pt idx="28">
                    <c:v>Dec-26</c:v>
                  </c:pt>
                  <c:pt idx="30">
                    <c:v>Jan-27</c:v>
                  </c:pt>
                  <c:pt idx="32">
                    <c:v>Feb-27</c:v>
                  </c:pt>
                  <c:pt idx="34">
                    <c:v>Mar-27</c:v>
                  </c:pt>
                </c:lvl>
              </c:multiLvlStrCache>
            </c:multiLvlStrRef>
          </c:cat>
          <c:val>
            <c:numRef>
              <c:f>'Baiya 600MW'!$C$11:$AL$11</c:f>
              <c:numCache>
                <c:formatCode>General</c:formatCode>
                <c:ptCount val="36"/>
                <c:pt idx="21" formatCode="0">
                  <c:v>192.57142857142858</c:v>
                </c:pt>
                <c:pt idx="23" formatCode="0">
                  <c:v>402.11111111111114</c:v>
                </c:pt>
                <c:pt idx="25" formatCode="0">
                  <c:v>453.32258064516134</c:v>
                </c:pt>
                <c:pt idx="27" formatCode="0">
                  <c:v>513</c:v>
                </c:pt>
                <c:pt idx="29" formatCode="0">
                  <c:v>433.06451612903226</c:v>
                </c:pt>
                <c:pt idx="31" formatCode="0">
                  <c:v>235.02580645161291</c:v>
                </c:pt>
                <c:pt idx="33" formatCode="0">
                  <c:v>153</c:v>
                </c:pt>
                <c:pt idx="35" formatCode="0">
                  <c:v>35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0595-44CA-B1C8-73D0052430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58267584"/>
        <c:axId val="658265184"/>
      </c:lineChart>
      <c:catAx>
        <c:axId val="658267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658265184"/>
        <c:crosses val="autoZero"/>
        <c:auto val="1"/>
        <c:lblAlgn val="ctr"/>
        <c:lblOffset val="100"/>
        <c:noMultiLvlLbl val="0"/>
      </c:catAx>
      <c:valAx>
        <c:axId val="658265184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658267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dani Regular" panose="02000503000000020004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dani Regular" panose="02000503000000020004" pitchFamily="2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FC32EF-7F26-FBF5-A4DB-863788E1EB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C12DA0-A275-7762-DFB4-275780D204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13A120-FA9F-4253-8750-ADEFC14124A8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AD6E7-5E67-2263-9B48-8C92DBC772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26CE1-A1EF-C59D-1EAF-966039A4B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A9303-E99E-4461-883B-BF5028EA1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830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09B9A-C4C1-4AD2-8C55-4EDBAF27EF7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D3562-5CE4-49E3-A698-59ED55762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57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9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4AC32-39ED-4E69-5010-D1F12F8AD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BDFF50-ECD8-0ACB-9353-C3A27A99A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337A11-ACCC-4912-F47F-18D6E2B13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E6265-80EA-305D-E6BB-48C16D6E15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38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30134-60A9-2588-EB39-323134762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15EE3-36CB-7284-424C-05A6D6CC1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D52B8-4DCB-F777-455C-B1ABD5D16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92028-8477-13C4-00E2-4C7D42DA82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D3562-5CE4-49E3-A698-59ED557625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243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461CC-41E7-F5B4-83AC-8350A07CE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17251-197A-1FA8-5BE8-24AD27AB58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73C6D-5A5A-2ECA-1C63-AD3E38B07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76FE0-2D75-CA44-97BC-85B4C0A51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1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00748-B7B0-6EC9-89A8-A6CA413F3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70454-42F0-0D54-14AA-1D8A426585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FEF48A-801F-2903-9F4D-68FC2AF3D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AD3FC-D45E-E47D-0B00-45475A943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23065-5446-70FA-061F-D9E335FB1A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55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D3562-5CE4-49E3-A698-59ED557625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4238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C17A8-9E1D-BFD1-79C0-15FA498D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B37F1-CECE-669C-1FAD-C795A9FBD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3D27D1-F0C4-EF67-EC8E-3EE750F59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A8330-D7A5-E075-3D9C-5146D76D30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86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6A333-D969-11DC-94A1-AA33FC3A8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75990-0113-20CA-A6C5-74F787B1B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92378-4A11-0167-3CE6-13BC8E0B9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9CD2D-2D20-CD8A-428A-73D5D0A32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0FCD0-4A1E-4F03-8F18-59FBC7C66F2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117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8DA7C-9683-47CB-3293-B84B0DBDC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4D2B77-A4B7-4638-8DCA-A29FEDC98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14E785-9870-E0CC-7095-EC4C62B38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A01BD-A463-EC64-81B0-E2ACE0B46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82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41FD1-F92E-1F8E-BD93-CB0112A0D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DEEAF-03C3-BC6B-56A6-1F9845A25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81145-48A9-15F6-10AE-CF8E0D020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AB758-BD19-09F4-68DC-587ECB8FB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D3562-5CE4-49E3-A698-59ED557625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23074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A0729-6623-FBE6-6082-667798818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2BF263-8557-A6EE-D49B-571CE6219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D8A14-4368-4278-3CCF-BDF693533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64101-029F-697F-C8D1-2C9379767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5448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4D2EF-E552-D457-ADA7-791A6E005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9BBDD-854D-57A6-22CC-6C5D89175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8047F4-81E2-221B-521C-D747CB75D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7159F-370D-4B0D-1297-564AA3ABB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A5037-3983-FA93-F1F1-8817C49C48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8217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D3562-5CE4-49E3-A698-59ED557625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8000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F8766-5D3A-8DB0-48BB-6978B47D4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BF7B4-4BF5-8526-3355-044B68D61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1ABC1D-E43F-1EFD-6002-E3FFEF1B5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AFE15-B589-7055-0627-1984CA01B6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0914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E9C64-8819-5661-5AB8-A8EE96AC4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2A58D-A963-F48D-8B28-796D0976E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06B88E-8F02-F07A-AA40-701B3E035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A38FA-FC71-2057-AB5F-C2CB379EDC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0FCD0-4A1E-4F03-8F18-59FBC7C66F2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429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BAD34-B45B-407E-A1B8-52C038A48D05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373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3673-ED7E-D140-BEB7-45A5D7280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968" y="79469"/>
            <a:ext cx="11498943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>
            <a:lvl1pPr>
              <a:def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defRPr>
            </a:lvl1pPr>
          </a:lstStyle>
          <a:p>
            <a:pPr marL="109192" lvl="0" defTabSz="911377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17888-9A6C-A7C3-9F88-C87B575D7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970" y="655637"/>
            <a:ext cx="11498943" cy="365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rgbClr val="7030A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FFA4D-ECB9-7886-D1C8-A17CB3E9C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B1E0-A6C5-4A01-86A0-BE5B8CAA4EE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11FDC09-5BC8-B895-A291-B9A8024BBAD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8969" y="1144132"/>
            <a:ext cx="11498943" cy="506186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8239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12E75-2C4D-7223-28D9-149598A36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93" y="150920"/>
            <a:ext cx="8172635" cy="460498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C7EBF4-A5FC-5E6C-4D86-C7B87D7604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8B1E0-A6C5-4A01-86A0-BE5B8CAA4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576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3673-ED7E-D140-BEB7-45A5D7280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17888-9A6C-A7C3-9F88-C87B575D7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EBB1B-DB5E-5CFF-0CE7-F7B6B27B07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012BB1-BECC-409A-BDDE-84220DEF3E7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4F2EB-547B-4317-6AF1-43721F665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FFA4D-ECB9-7886-D1C8-A17CB3E9C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B1E0-A6C5-4A01-86A0-BE5B8CAA4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87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623394" y="599258"/>
            <a:ext cx="1040423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97635" y="6352804"/>
            <a:ext cx="194366" cy="386917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11892644" y="6532198"/>
            <a:ext cx="78544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61246" y="304774"/>
            <a:ext cx="669296" cy="449547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0D86267A-8FA6-4035-931E-6C1AAE836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771424"/>
            <a:ext cx="104040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algn="l" defTabSz="457206" rtl="0" eaLnBrk="1" latinLnBrk="0" hangingPunct="1">
              <a:defRPr lang="en-US" sz="2000" kern="1200" dirty="0">
                <a:solidFill>
                  <a:srgbClr val="912A82"/>
                </a:solidFill>
                <a:latin typeface="Adani Light" panose="02000503000000020004" pitchFamily="2" charset="0"/>
                <a:ea typeface="Adani" charset="0"/>
                <a:cs typeface="Adani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B1FEE5-F907-4692-A090-F903596527C5}"/>
              </a:ext>
            </a:extLst>
          </p:cNvPr>
          <p:cNvSpPr txBox="1"/>
          <p:nvPr userDrawn="1"/>
        </p:nvSpPr>
        <p:spPr>
          <a:xfrm>
            <a:off x="11565313" y="6428075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7F89D720-7EAF-A942-9DA7-171430440A11}" type="slidenum">
              <a:rPr lang="en-US" sz="800" b="0" i="0" smtClean="0">
                <a:solidFill>
                  <a:srgbClr val="2A69AF"/>
                </a:solidFill>
                <a:latin typeface="Adani Medium" charset="0"/>
                <a:ea typeface="Adani Medium" charset="0"/>
                <a:cs typeface="Adani Medium" charset="0"/>
              </a:rPr>
              <a:pPr algn="r"/>
              <a:t>‹#›</a:t>
            </a:fld>
            <a:endParaRPr lang="en-US" sz="800" b="0" i="0">
              <a:solidFill>
                <a:srgbClr val="2A69AF"/>
              </a:solidFill>
              <a:latin typeface="Adani Medium" charset="0"/>
              <a:ea typeface="Adani Medium" charset="0"/>
              <a:cs typeface="Adani Medium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DCD51E0-8331-4503-B577-41B5C26DFEB3}"/>
              </a:ext>
            </a:extLst>
          </p:cNvPr>
          <p:cNvCxnSpPr>
            <a:cxnSpLocks/>
          </p:cNvCxnSpPr>
          <p:nvPr userDrawn="1"/>
        </p:nvCxnSpPr>
        <p:spPr>
          <a:xfrm>
            <a:off x="595818" y="6275093"/>
            <a:ext cx="1096949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960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000" y="518159"/>
            <a:ext cx="7076119" cy="5029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16000" y="561097"/>
            <a:ext cx="11160000" cy="0"/>
          </a:xfrm>
          <a:custGeom>
            <a:avLst/>
            <a:gdLst/>
            <a:ahLst/>
            <a:cxnLst/>
            <a:rect l="l" t="t" r="r" b="b"/>
            <a:pathLst>
              <a:path w="11376025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5D21C-D128-05A0-E723-2419FCDCC9D0}"/>
              </a:ext>
            </a:extLst>
          </p:cNvPr>
          <p:cNvCxnSpPr>
            <a:cxnSpLocks/>
          </p:cNvCxnSpPr>
          <p:nvPr userDrawn="1"/>
        </p:nvCxnSpPr>
        <p:spPr>
          <a:xfrm>
            <a:off x="516000" y="6342507"/>
            <a:ext cx="11412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8">
            <a:extLst>
              <a:ext uri="{FF2B5EF4-FFF2-40B4-BE49-F238E27FC236}">
                <a16:creationId xmlns:a16="http://schemas.microsoft.com/office/drawing/2014/main" id="{66FE04D8-B648-461C-B841-6C3CE38C22B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28291" y="163047"/>
            <a:ext cx="1051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lvl="0" indent="0" algn="l" defTabSz="911377" rtl="0" latinLnBrk="0"/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8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D0C01-8B71-4A5C-51A6-50473F09D5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16343" y="6357711"/>
            <a:ext cx="9615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8B1E0-A6C5-4A01-86A0-BE5B8CAA4EE9}" type="slidenum">
              <a:rPr lang="en-US" smtClean="0"/>
              <a:t>‹#›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2E60C1D-8229-FA0C-36AC-ECA4D03F91A5}"/>
              </a:ext>
            </a:extLst>
          </p:cNvPr>
          <p:cNvGrpSpPr/>
          <p:nvPr userDrawn="1"/>
        </p:nvGrpSpPr>
        <p:grpSpPr>
          <a:xfrm>
            <a:off x="590439" y="517436"/>
            <a:ext cx="11376000" cy="51953"/>
            <a:chOff x="521460" y="771510"/>
            <a:chExt cx="7921056" cy="47148"/>
          </a:xfrm>
        </p:grpSpPr>
        <p:pic>
          <p:nvPicPr>
            <p:cNvPr id="17" name="Picture 2" descr="D:\Corp Comm Department Work 2015\Brand Adani 2012\adani_gradient_master.jpg">
              <a:extLst>
                <a:ext uri="{FF2B5EF4-FFF2-40B4-BE49-F238E27FC236}">
                  <a16:creationId xmlns:a16="http://schemas.microsoft.com/office/drawing/2014/main" id="{6A70796F-80D4-567A-E9DA-429F9BF73A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460" y="771510"/>
              <a:ext cx="5022060" cy="45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87F551D-327A-450F-2D48-6D3CB54AF51F}"/>
                </a:ext>
              </a:extLst>
            </p:cNvPr>
            <p:cNvCxnSpPr/>
            <p:nvPr/>
          </p:nvCxnSpPr>
          <p:spPr>
            <a:xfrm>
              <a:off x="521460" y="818658"/>
              <a:ext cx="7921056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5690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3" r:id="rId2"/>
    <p:sldLayoutId id="2147483662" r:id="rId3"/>
    <p:sldLayoutId id="2147483675" r:id="rId4"/>
    <p:sldLayoutId id="214748367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dani Regular" panose="0200050300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people sitting at a table&#10;&#10;Description generated with high confidence">
            <a:extLst>
              <a:ext uri="{FF2B5EF4-FFF2-40B4-BE49-F238E27FC236}">
                <a16:creationId xmlns:a16="http://schemas.microsoft.com/office/drawing/2014/main" id="{CD68E4D1-9FF4-C415-9C36-ACED6C1C98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718" cy="6857598"/>
          </a:xfrm>
          <a:prstGeom prst="rect">
            <a:avLst/>
          </a:prstGeom>
        </p:spPr>
      </p:pic>
      <p:pic>
        <p:nvPicPr>
          <p:cNvPr id="5" name="Picture 3" descr="D:\Logos 2018\Adani logo\PNG\Adani logo _Original.png">
            <a:extLst>
              <a:ext uri="{FF2B5EF4-FFF2-40B4-BE49-F238E27FC236}">
                <a16:creationId xmlns:a16="http://schemas.microsoft.com/office/drawing/2014/main" id="{0B52E213-219B-BE62-210F-7D3C953EC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88" y="48778"/>
            <a:ext cx="2496474" cy="1440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D:\Corp Comm Department Work 2015\Brand Adani 2012\adani_gradient_master.jpg">
            <a:extLst>
              <a:ext uri="{FF2B5EF4-FFF2-40B4-BE49-F238E27FC236}">
                <a16:creationId xmlns:a16="http://schemas.microsoft.com/office/drawing/2014/main" id="{13ACB4F0-A80D-A028-2E06-928C7BD25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897" y="1311582"/>
            <a:ext cx="502206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0E2271-56F6-9272-7B94-4FDE5F4C6155}"/>
              </a:ext>
            </a:extLst>
          </p:cNvPr>
          <p:cNvSpPr txBox="1"/>
          <p:nvPr/>
        </p:nvSpPr>
        <p:spPr>
          <a:xfrm>
            <a:off x="6875897" y="788362"/>
            <a:ext cx="5509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Adani Regular" panose="02000503000000020004" pitchFamily="2" charset="0"/>
              </a:rPr>
              <a:t>CPAG – Energy Cluster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3207DB-FA76-0445-AA0A-09646ED27A82}"/>
              </a:ext>
            </a:extLst>
          </p:cNvPr>
          <p:cNvSpPr txBox="1"/>
          <p:nvPr/>
        </p:nvSpPr>
        <p:spPr>
          <a:xfrm>
            <a:off x="7024663" y="1382500"/>
            <a:ext cx="4873293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2000" b="1">
                <a:latin typeface="Adani Regular" panose="02000503000000020004" pitchFamily="2" charset="0"/>
              </a:rPr>
              <a:t>Rajasthan RE Projects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510602-FB1E-4F2C-1A67-FA8AA9741A4B}"/>
              </a:ext>
            </a:extLst>
          </p:cNvPr>
          <p:cNvSpPr txBox="1"/>
          <p:nvPr/>
        </p:nvSpPr>
        <p:spPr>
          <a:xfrm>
            <a:off x="7024664" y="1782610"/>
            <a:ext cx="3681268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dirty="0">
                <a:latin typeface="Adani Regular" panose="02000503000000020004" pitchFamily="2" charset="0"/>
              </a:rPr>
              <a:t>Monthly</a:t>
            </a:r>
            <a:r>
              <a:rPr lang="en-US" sz="1800" dirty="0">
                <a:latin typeface="Adani Regular" panose="02000503000000020004" pitchFamily="2" charset="0"/>
              </a:rPr>
              <a:t> Report for </a:t>
            </a:r>
            <a:r>
              <a:rPr lang="en-US" dirty="0">
                <a:latin typeface="Adani Regular" panose="02000503000000020004" pitchFamily="2" charset="0"/>
              </a:rPr>
              <a:t>Aug</a:t>
            </a:r>
            <a:r>
              <a:rPr lang="en-US" sz="1800" dirty="0">
                <a:latin typeface="Adani Regular" panose="02000503000000020004" pitchFamily="2" charset="0"/>
              </a:rPr>
              <a:t>-26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06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2F2549D-E6B1-2A5E-CF9D-9E55B7135E74}"/>
              </a:ext>
            </a:extLst>
          </p:cNvPr>
          <p:cNvSpPr txBox="1">
            <a:spLocks/>
          </p:cNvSpPr>
          <p:nvPr/>
        </p:nvSpPr>
        <p:spPr>
          <a:xfrm>
            <a:off x="430526" y="127759"/>
            <a:ext cx="11600267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dani Regular" panose="02000503000000020004" pitchFamily="2" charset="0"/>
                <a:ea typeface="+mj-ea"/>
                <a:cs typeface="+mj-cs"/>
              </a:defRPr>
            </a:lvl1pPr>
          </a:lstStyle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Agenda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79B8A0-93B0-4F3C-1836-361A58C2AE3C}"/>
              </a:ext>
            </a:extLst>
          </p:cNvPr>
          <p:cNvSpPr txBox="1"/>
          <p:nvPr/>
        </p:nvSpPr>
        <p:spPr>
          <a:xfrm flipH="1">
            <a:off x="517376" y="629365"/>
            <a:ext cx="11157248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7030A0"/>
                </a:solidFill>
                <a:latin typeface="Adani Regular" panose="02000503000000020004" pitchFamily="2" charset="0"/>
              </a:rPr>
              <a:t>Executive Summary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7030A0"/>
                </a:solidFill>
                <a:latin typeface="Adani Regular" panose="02000503000000020004" pitchFamily="2" charset="0"/>
              </a:rPr>
              <a:t>Project Wise Update (Bandha-II 500 MW, Baiya 600 MW)</a:t>
            </a:r>
          </a:p>
          <a:p>
            <a:pPr marL="1200150" lvl="6" indent="-2857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latin typeface="Adani Regular" panose="02000503000000020004" pitchFamily="2" charset="0"/>
              </a:rPr>
              <a:t>Project Information &amp; Salient Features</a:t>
            </a:r>
          </a:p>
          <a:p>
            <a:pPr marL="1200150" lvl="6" indent="-2857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latin typeface="Adani Regular" panose="02000503000000020004" pitchFamily="2" charset="0"/>
              </a:rPr>
              <a:t>Project Plot Plant</a:t>
            </a:r>
          </a:p>
          <a:p>
            <a:pPr marL="1200150" lvl="6" indent="-2857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latin typeface="Adani Regular" panose="02000503000000020004" pitchFamily="2" charset="0"/>
              </a:rPr>
              <a:t>Overall S Curve</a:t>
            </a:r>
          </a:p>
          <a:p>
            <a:pPr marL="1200150" lvl="6" indent="-2857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latin typeface="Adani Regular" panose="02000503000000020004" pitchFamily="2" charset="0"/>
              </a:rPr>
              <a:t>Engineering Progress</a:t>
            </a:r>
          </a:p>
          <a:p>
            <a:pPr marL="1200150" lvl="6" indent="-2857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latin typeface="Adani Regular" panose="02000503000000020004" pitchFamily="2" charset="0"/>
              </a:rPr>
              <a:t>Three Month Rolling Plan for Material Supply</a:t>
            </a:r>
          </a:p>
          <a:p>
            <a:pPr marL="1200150" lvl="6" indent="-2857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latin typeface="Adani Regular" panose="02000503000000020004" pitchFamily="2" charset="0"/>
              </a:rPr>
              <a:t>Detailed Progress Update (Activity Wise)</a:t>
            </a:r>
          </a:p>
          <a:p>
            <a:pPr marL="1200150" lvl="6" indent="-2857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latin typeface="Adani Regular" panose="02000503000000020004" pitchFamily="2" charset="0"/>
              </a:rPr>
              <a:t>Major Milestone- Next 3 Months</a:t>
            </a:r>
          </a:p>
          <a:p>
            <a:pPr marL="1200150" lvl="6" indent="-2857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latin typeface="Adani Regular" panose="02000503000000020004" pitchFamily="2" charset="0"/>
              </a:rPr>
              <a:t>Manpower Deployment Plan vs Actual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16B9257D-D580-271B-4B95-22AD42BE77FB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4F8B1E0-A6C5-4A01-86A0-BE5B8CAA4EE9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 algn="r"/>
              <a:t>2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86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2F2549D-E6B1-2A5E-CF9D-9E55B7135E74}"/>
              </a:ext>
            </a:extLst>
          </p:cNvPr>
          <p:cNvSpPr txBox="1">
            <a:spLocks/>
          </p:cNvSpPr>
          <p:nvPr/>
        </p:nvSpPr>
        <p:spPr>
          <a:xfrm>
            <a:off x="394755" y="150408"/>
            <a:ext cx="11600267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dani Regular" panose="02000503000000020004" pitchFamily="2" charset="0"/>
                <a:ea typeface="+mj-ea"/>
                <a:cs typeface="+mj-cs"/>
              </a:defRPr>
            </a:lvl1pPr>
          </a:lstStyle>
          <a:p>
            <a:pPr marL="109192" marR="0" lvl="0" indent="0" algn="l" defTabSz="911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Rajasthan Projects Executive Summary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gradFill>
                <a:gsLst>
                  <a:gs pos="9735">
                    <a:srgbClr val="44546A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ffectLst/>
              <a:uLnTx/>
              <a:uFillTx/>
              <a:latin typeface="Adani Regular" panose="02000503000000020004" pitchFamily="2" charset="0"/>
              <a:ea typeface="+mj-ea"/>
              <a:cs typeface="+mj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520D2E-B6E3-2B26-9F3D-D8BE2B477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0428" y="6506482"/>
            <a:ext cx="961572" cy="365125"/>
          </a:xfrm>
        </p:spPr>
        <p:txBody>
          <a:bodyPr/>
          <a:lstStyle/>
          <a:p>
            <a:fld id="{34F8B1E0-A6C5-4A01-86A0-BE5B8CAA4EE9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9435ED-A231-E13F-1D74-A6966BAE1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098533"/>
              </p:ext>
            </p:extLst>
          </p:nvPr>
        </p:nvGraphicFramePr>
        <p:xfrm>
          <a:off x="295867" y="657908"/>
          <a:ext cx="11600266" cy="2745421"/>
        </p:xfrm>
        <a:graphic>
          <a:graphicData uri="http://schemas.openxmlformats.org/drawingml/2006/table">
            <a:tbl>
              <a:tblPr firstRow="1" bandRow="1"/>
              <a:tblGrid>
                <a:gridCol w="401487">
                  <a:extLst>
                    <a:ext uri="{9D8B030D-6E8A-4147-A177-3AD203B41FA5}">
                      <a16:colId xmlns:a16="http://schemas.microsoft.com/office/drawing/2014/main" val="2924237442"/>
                    </a:ext>
                  </a:extLst>
                </a:gridCol>
                <a:gridCol w="580450">
                  <a:extLst>
                    <a:ext uri="{9D8B030D-6E8A-4147-A177-3AD203B41FA5}">
                      <a16:colId xmlns:a16="http://schemas.microsoft.com/office/drawing/2014/main" val="520924265"/>
                    </a:ext>
                  </a:extLst>
                </a:gridCol>
                <a:gridCol w="2136398">
                  <a:extLst>
                    <a:ext uri="{9D8B030D-6E8A-4147-A177-3AD203B41FA5}">
                      <a16:colId xmlns:a16="http://schemas.microsoft.com/office/drawing/2014/main" val="2826271822"/>
                    </a:ext>
                  </a:extLst>
                </a:gridCol>
                <a:gridCol w="667172">
                  <a:extLst>
                    <a:ext uri="{9D8B030D-6E8A-4147-A177-3AD203B41FA5}">
                      <a16:colId xmlns:a16="http://schemas.microsoft.com/office/drawing/2014/main" val="3139587477"/>
                    </a:ext>
                  </a:extLst>
                </a:gridCol>
                <a:gridCol w="950362">
                  <a:extLst>
                    <a:ext uri="{9D8B030D-6E8A-4147-A177-3AD203B41FA5}">
                      <a16:colId xmlns:a16="http://schemas.microsoft.com/office/drawing/2014/main" val="1979045931"/>
                    </a:ext>
                  </a:extLst>
                </a:gridCol>
                <a:gridCol w="807809">
                  <a:extLst>
                    <a:ext uri="{9D8B030D-6E8A-4147-A177-3AD203B41FA5}">
                      <a16:colId xmlns:a16="http://schemas.microsoft.com/office/drawing/2014/main" val="2589940344"/>
                    </a:ext>
                  </a:extLst>
                </a:gridCol>
                <a:gridCol w="1013720">
                  <a:extLst>
                    <a:ext uri="{9D8B030D-6E8A-4147-A177-3AD203B41FA5}">
                      <a16:colId xmlns:a16="http://schemas.microsoft.com/office/drawing/2014/main" val="3034237294"/>
                    </a:ext>
                  </a:extLst>
                </a:gridCol>
                <a:gridCol w="997880">
                  <a:extLst>
                    <a:ext uri="{9D8B030D-6E8A-4147-A177-3AD203B41FA5}">
                      <a16:colId xmlns:a16="http://schemas.microsoft.com/office/drawing/2014/main" val="2376360582"/>
                    </a:ext>
                  </a:extLst>
                </a:gridCol>
                <a:gridCol w="744451">
                  <a:extLst>
                    <a:ext uri="{9D8B030D-6E8A-4147-A177-3AD203B41FA5}">
                      <a16:colId xmlns:a16="http://schemas.microsoft.com/office/drawing/2014/main" val="2879489690"/>
                    </a:ext>
                  </a:extLst>
                </a:gridCol>
                <a:gridCol w="807808">
                  <a:extLst>
                    <a:ext uri="{9D8B030D-6E8A-4147-A177-3AD203B41FA5}">
                      <a16:colId xmlns:a16="http://schemas.microsoft.com/office/drawing/2014/main" val="1141108596"/>
                    </a:ext>
                  </a:extLst>
                </a:gridCol>
                <a:gridCol w="2492729">
                  <a:extLst>
                    <a:ext uri="{9D8B030D-6E8A-4147-A177-3AD203B41FA5}">
                      <a16:colId xmlns:a16="http://schemas.microsoft.com/office/drawing/2014/main" val="599360055"/>
                    </a:ext>
                  </a:extLst>
                </a:gridCol>
              </a:tblGrid>
              <a:tr h="276671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000" b="1">
                          <a:latin typeface="Adani Regular" panose="02000503000000020004" pitchFamily="2" charset="0"/>
                        </a:rPr>
                        <a:t>SN</a:t>
                      </a:r>
                      <a:endParaRPr lang="en-US" sz="1000" b="1"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000" b="1">
                          <a:latin typeface="Adani Regular" panose="02000503000000020004" pitchFamily="2" charset="0"/>
                        </a:rPr>
                        <a:t>Location </a:t>
                      </a:r>
                      <a:endParaRPr lang="en-US" sz="1000" b="1"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000" b="1">
                          <a:latin typeface="Adani Regular" panose="02000503000000020004" pitchFamily="2" charset="0"/>
                        </a:rPr>
                        <a:t>Project Name</a:t>
                      </a:r>
                      <a:endParaRPr lang="en-US" sz="1000" b="1"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Project Capacity</a:t>
                      </a:r>
                    </a:p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(MW)</a:t>
                      </a: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FY 27 </a:t>
                      </a:r>
                    </a:p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Initial Plan (MW)</a:t>
                      </a: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FY 27 Current Forecast</a:t>
                      </a:r>
                    </a:p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(MW)</a:t>
                      </a: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000" b="1">
                          <a:latin typeface="Adani Regular" panose="02000503000000020004" pitchFamily="2" charset="0"/>
                        </a:rPr>
                        <a:t>COD</a:t>
                      </a:r>
                      <a:endParaRPr lang="en-US" sz="1000" b="1"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Overall Progress %</a:t>
                      </a:r>
                      <a:endParaRPr lang="en-US" sz="10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Remarks </a:t>
                      </a: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136535"/>
                  </a:ext>
                </a:extLst>
              </a:tr>
              <a:tr h="3880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0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Baseline Plan</a:t>
                      </a:r>
                      <a:endParaRPr lang="en-US" sz="10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0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Achieved/ Expected</a:t>
                      </a:r>
                      <a:endParaRPr lang="en-US" sz="10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Plan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Actual</a:t>
                      </a:r>
                      <a:endParaRPr lang="en-US" sz="10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444751"/>
                  </a:ext>
                </a:extLst>
              </a:tr>
              <a:tr h="63700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RJ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MLP T1 TN – 500 MW Bandha II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500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362.5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362.5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31-Jan-27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22-May-27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82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76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137.5 MW – Commissioned in Mar’26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Times New Roman" panose="02020603050405020304" pitchFamily="18" charset="0"/>
                        </a:rPr>
                        <a:t>Commissioning of balance 362.5 MW by May-27 based on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Times New Roman" panose="02020603050405020304" pitchFamily="18" charset="0"/>
                        </a:rPr>
                        <a:t> LTA elements readiness. </a:t>
                      </a:r>
                      <a:endParaRPr lang="en-US" sz="1000" dirty="0"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662513"/>
                  </a:ext>
                </a:extLst>
              </a:tr>
              <a:tr h="913145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RJ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NHPC BOO 600 MW, Baiya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600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349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349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31-Jan-27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23-Mar-27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83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79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251 MW – Commissioned in Mar’26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kern="1200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Times New Roman" panose="02020603050405020304" pitchFamily="18" charset="0"/>
                        </a:rPr>
                        <a:t>Commissioning of balance 349 MW is planned by Mar-27 considering court ruling in favour of AGEL by 17-Sep-26 and Piling work start by 4</a:t>
                      </a:r>
                      <a:r>
                        <a:rPr lang="en-IN" sz="1000" kern="1200" baseline="30000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IN" sz="1000" kern="1200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Times New Roman" panose="02020603050405020304" pitchFamily="18" charset="0"/>
                        </a:rPr>
                        <a:t> week of Sep-26.</a:t>
                      </a:r>
                      <a:endParaRPr lang="en-US" sz="1000" dirty="0"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844664"/>
                  </a:ext>
                </a:extLst>
              </a:tr>
              <a:tr h="30702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Total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1,100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711.5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711.5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100" b="1">
                        <a:latin typeface="Adani Regular" panose="02000503000000020004" pitchFamily="2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100" b="1">
                        <a:latin typeface="Adani Regular" panose="02000503000000020004" pitchFamily="2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100" b="1">
                        <a:latin typeface="Adani Regular" panose="02000503000000020004" pitchFamily="2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599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754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31809-7D51-3DC6-FB7F-58BDA1DA2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20D73-93A3-5154-79A3-9FE13C8C49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1521" y="3216775"/>
            <a:ext cx="6968958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MLP T1 TN 500 MW Bandha Solar Project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846A9E14-680E-7B3D-1850-D76748FC52E6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4F8B1E0-A6C5-4A01-86A0-BE5B8CAA4EE9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 algn="r"/>
              <a:t>4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226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C4621-97FA-40D5-ED09-076F86D62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20FA3-7623-9EE1-E3D0-B4D0094EE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47" y="161054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500 MW Bandha: Salient Project Features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9FB6E8B-3B3C-DAB8-5CC4-CBF74DAF39FC}"/>
              </a:ext>
            </a:extLst>
          </p:cNvPr>
          <p:cNvSpPr txBox="1">
            <a:spLocks/>
          </p:cNvSpPr>
          <p:nvPr/>
        </p:nvSpPr>
        <p:spPr>
          <a:xfrm>
            <a:off x="11760200" y="6560509"/>
            <a:ext cx="244986" cy="23399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>
              <a:latin typeface="Adani Regular" panose="02000503000000020004" pitchFamily="2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A37547-B2CE-81D4-511C-40DE62B75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305972"/>
              </p:ext>
            </p:extLst>
          </p:nvPr>
        </p:nvGraphicFramePr>
        <p:xfrm>
          <a:off x="358254" y="634663"/>
          <a:ext cx="11600267" cy="5925850"/>
        </p:xfrm>
        <a:graphic>
          <a:graphicData uri="http://schemas.openxmlformats.org/drawingml/2006/table">
            <a:tbl>
              <a:tblPr firstRow="1" bandRow="1"/>
              <a:tblGrid>
                <a:gridCol w="2146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5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8DD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lvl="0" indent="0" algn="just" fontAlgn="ctr"/>
                      <a:r>
                        <a:rPr lang="en-US" sz="1400" b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500 MW Bandha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8DD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 rtl="0" fontAlgn="ctr">
                        <a:buFontTx/>
                        <a:buNone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Project Scope/ Capacity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lvl="0" indent="0" algn="just" fontAlgn="ctr"/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500 MW (695 MWdc)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Owner/ Developer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lvl="0" indent="0" algn="just" fontAlgn="ctr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/>
                        </a:rPr>
                        <a:t>Adani Green Energy Twenty-Five B Limited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Location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/>
                        </a:rPr>
                        <a:t>Village – Bandha, Tehsil – Jaisalmer, Dist. Jaisalmer, Rajasthan 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dani Regular"/>
                      </a:endParaRP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3943223"/>
                  </a:ext>
                </a:extLst>
              </a:tr>
              <a:tr h="4908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Concessionaire, If applicable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15888" lvl="0" indent="0" algn="just" defTabSz="914400" rtl="0" eaLnBrk="1" fontAlgn="ctr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sz="1400" b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819909"/>
                  </a:ext>
                </a:extLst>
              </a:tr>
              <a:tr h="4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EPC, If applicable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lvl="0" indent="0" algn="just" defTabSz="914400" rtl="0" eaLnBrk="1" fontAlgn="ctr" latinLnBrk="0" hangingPunct="1"/>
                      <a:r>
                        <a:rPr lang="en-US" sz="1400" b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Land Area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lvl="0" indent="0" algn="just" defTabSz="914400" rtl="0" eaLnBrk="1" fontAlgn="ctr" latinLnBrk="0" hangingPunct="1"/>
                      <a:r>
                        <a:rPr lang="en-US" sz="1400" b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1853.25 Acre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320645"/>
                  </a:ext>
                </a:extLst>
              </a:tr>
              <a:tr h="4908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indent="0" algn="l" rtl="0" fontAlgn="ctr">
                        <a:buFontTx/>
                        <a:buNone/>
                      </a:pPr>
                      <a:r>
                        <a:rPr lang="en-US" sz="1400" b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Approved Budget 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(INR Cr.) (date: 01-Apr-25)</a:t>
                      </a:r>
                      <a:endParaRPr lang="en-US" sz="1400" b="0" u="none" strike="noStrike" kern="1200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15888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INR 2019.3 Cr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8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Revised Budget (INR Cr.)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8064A2"/>
                      </a:solidFill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 marL="72000" marR="36000" marT="9525" marB="0" anchor="ctr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123378"/>
                  </a:ext>
                </a:extLst>
              </a:tr>
              <a:tr h="404837">
                <a:tc>
                  <a:txBody>
                    <a:bodyPr/>
                    <a:lstStyle/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Project Start Date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Aug-24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Schedule COD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8064A2"/>
                      </a:solidFill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3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89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b="0" i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LTA operationalization + 60 days (Forecast LTA operationalization – Dec’26)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821387"/>
                  </a:ext>
                </a:extLst>
              </a:tr>
              <a:tr h="404837">
                <a:tc>
                  <a:txBody>
                    <a:bodyPr/>
                    <a:lstStyle/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Revised COD, if any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5888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Expected COD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indent="0" algn="just" fontAlgn="ctr">
                        <a:buFont typeface="Arial" panose="020B0604020202020204" pitchFamily="34" charset="0"/>
                        <a:buNone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19-Feb-27 (</a:t>
                      </a:r>
                      <a:r>
                        <a:rPr lang="en-US" sz="14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137.5 MW Commissioned in Mar’26</a:t>
                      </a: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, 212.5</a:t>
                      </a:r>
                      <a:r>
                        <a:rPr lang="en-US" sz="1400">
                          <a:effectLst/>
                          <a:latin typeface="Adani Regular" panose="02000503000000020004" pitchFamily="2" charset="0"/>
                        </a:rPr>
                        <a:t> MW by Jan’27, 150 MW by Feb’27</a:t>
                      </a: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)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4837">
                <a:tc>
                  <a:txBody>
                    <a:bodyPr/>
                    <a:lstStyle/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Other Comments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l" rtl="0" eaLnBrk="1" latinLnBrk="0" hangingPunct="1">
                        <a:buFont typeface="Wingdings" panose="05000000000000000000" pitchFamily="2" charset="2"/>
                        <a:buChar char="§"/>
                      </a:pPr>
                      <a:endParaRPr lang="en-IN" sz="14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Calibri"/>
                      </a:endParaRPr>
                    </a:p>
                  </a:txBody>
                  <a:tcPr marL="72000" marR="36000" marT="9525" marB="0" anchor="ctr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8064A2"/>
                      </a:solidFill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6812137"/>
                  </a:ext>
                </a:extLst>
              </a:tr>
            </a:tbl>
          </a:graphicData>
        </a:graphic>
      </p:graphicFrame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C1CA576E-4FDE-9FC6-695B-F0BF2010332B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4F8B1E0-A6C5-4A01-86A0-BE5B8CAA4EE9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 algn="r"/>
              <a:t>5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572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CD374-AE8A-E915-193E-99E8E2B6B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7FA28-46B4-14B6-D93A-4F23D2CD0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703" y="137311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500 MW Bandha: Project Plot Plan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A99904ED-6126-0DEA-4D9E-7DB4F9AAB084}"/>
              </a:ext>
            </a:extLst>
          </p:cNvPr>
          <p:cNvSpPr txBox="1">
            <a:spLocks/>
          </p:cNvSpPr>
          <p:nvPr/>
        </p:nvSpPr>
        <p:spPr>
          <a:xfrm>
            <a:off x="11760200" y="6560509"/>
            <a:ext cx="244986" cy="23399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>
              <a:latin typeface="Adani Regular" panose="02000503000000020004" pitchFamily="2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ACD63CE-BB32-0814-B7AB-E4ED7FA518F6}"/>
              </a:ext>
            </a:extLst>
          </p:cNvPr>
          <p:cNvGraphicFramePr>
            <a:graphicFrameLocks noGrp="1"/>
          </p:cNvGraphicFramePr>
          <p:nvPr/>
        </p:nvGraphicFramePr>
        <p:xfrm>
          <a:off x="8179618" y="990511"/>
          <a:ext cx="3459931" cy="1305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872">
                  <a:extLst>
                    <a:ext uri="{9D8B030D-6E8A-4147-A177-3AD203B41FA5}">
                      <a16:colId xmlns:a16="http://schemas.microsoft.com/office/drawing/2014/main" val="1408601050"/>
                    </a:ext>
                  </a:extLst>
                </a:gridCol>
                <a:gridCol w="1025248">
                  <a:extLst>
                    <a:ext uri="{9D8B030D-6E8A-4147-A177-3AD203B41FA5}">
                      <a16:colId xmlns:a16="http://schemas.microsoft.com/office/drawing/2014/main" val="1029726434"/>
                    </a:ext>
                  </a:extLst>
                </a:gridCol>
                <a:gridCol w="896811">
                  <a:extLst>
                    <a:ext uri="{9D8B030D-6E8A-4147-A177-3AD203B41FA5}">
                      <a16:colId xmlns:a16="http://schemas.microsoft.com/office/drawing/2014/main" val="1447384287"/>
                    </a:ext>
                  </a:extLst>
                </a:gridCol>
              </a:tblGrid>
              <a:tr h="315264">
                <a:tc>
                  <a:txBody>
                    <a:bodyPr/>
                    <a:lstStyle/>
                    <a:p>
                      <a:pPr algn="ctr"/>
                      <a:r>
                        <a:rPr lang="en-IN" sz="1000">
                          <a:latin typeface="Adani Regular"/>
                        </a:rPr>
                        <a:t>Description</a:t>
                      </a:r>
                      <a:endParaRPr lang="en-US" sz="1000">
                        <a:latin typeface="Adani Regular"/>
                      </a:endParaRPr>
                    </a:p>
                  </a:txBody>
                  <a:tcPr marT="41564" marB="41564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000">
                          <a:latin typeface="Adani Regular"/>
                        </a:rPr>
                        <a:t>Bandha II</a:t>
                      </a:r>
                    </a:p>
                  </a:txBody>
                  <a:tcPr marT="41564" marB="41564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100">
                        <a:latin typeface="Adani Regular"/>
                      </a:endParaRPr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2905284833"/>
                  </a:ext>
                </a:extLst>
              </a:tr>
              <a:tr h="392096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Adani Regular"/>
                        </a:rPr>
                        <a:t>Type of MMS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>
                          <a:latin typeface="Adani Regular"/>
                        </a:rPr>
                        <a:t>No. of Blocks</a:t>
                      </a:r>
                      <a:endParaRPr lang="en-US" sz="1000">
                        <a:latin typeface="Adani Regular"/>
                      </a:endParaRP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Adani Regular"/>
                        </a:rPr>
                        <a:t>MW</a:t>
                      </a:r>
                    </a:p>
                  </a:txBody>
                  <a:tcPr marT="41564" marB="41564" anchor="ctr"/>
                </a:tc>
                <a:extLst>
                  <a:ext uri="{0D108BD9-81ED-4DB2-BD59-A6C34878D82A}">
                    <a16:rowId xmlns:a16="http://schemas.microsoft.com/office/drawing/2014/main" val="3130644201"/>
                  </a:ext>
                </a:extLst>
              </a:tr>
              <a:tr h="298827">
                <a:tc>
                  <a:txBody>
                    <a:bodyPr/>
                    <a:lstStyle/>
                    <a:p>
                      <a:pPr algn="ctr"/>
                      <a:r>
                        <a:rPr lang="en-IN" sz="1000">
                          <a:latin typeface="Adani Regular"/>
                        </a:rPr>
                        <a:t>Fixed Tilt</a:t>
                      </a:r>
                      <a:endParaRPr lang="en-US" sz="1000">
                        <a:latin typeface="Adani Regular"/>
                      </a:endParaRP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>
                          <a:latin typeface="Adani Regular"/>
                        </a:rPr>
                        <a:t>40</a:t>
                      </a:r>
                      <a:endParaRPr lang="en-US" sz="1000">
                        <a:latin typeface="Adani Regular"/>
                      </a:endParaRP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Adani Regular"/>
                        </a:rPr>
                        <a:t>500</a:t>
                      </a:r>
                    </a:p>
                  </a:txBody>
                  <a:tcPr marT="41564" marB="41564" anchor="ctr"/>
                </a:tc>
                <a:extLst>
                  <a:ext uri="{0D108BD9-81ED-4DB2-BD59-A6C34878D82A}">
                    <a16:rowId xmlns:a16="http://schemas.microsoft.com/office/drawing/2014/main" val="4108843056"/>
                  </a:ext>
                </a:extLst>
              </a:tr>
              <a:tr h="298827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Adani Regular" panose="02000503000000020004" pitchFamily="2" charset="0"/>
                        </a:rPr>
                        <a:t>Total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Adani Regular"/>
                        </a:rPr>
                        <a:t>40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Adani Regular"/>
                        </a:rPr>
                        <a:t>500</a:t>
                      </a:r>
                    </a:p>
                  </a:txBody>
                  <a:tcPr marT="41564" marB="41564" anchor="ctr"/>
                </a:tc>
                <a:extLst>
                  <a:ext uri="{0D108BD9-81ED-4DB2-BD59-A6C34878D82A}">
                    <a16:rowId xmlns:a16="http://schemas.microsoft.com/office/drawing/2014/main" val="55658479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B45B207-8F20-8994-FF99-575ACCB2D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026318"/>
              </p:ext>
            </p:extLst>
          </p:nvPr>
        </p:nvGraphicFramePr>
        <p:xfrm>
          <a:off x="9131251" y="2724276"/>
          <a:ext cx="2508298" cy="1095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829">
                  <a:extLst>
                    <a:ext uri="{9D8B030D-6E8A-4147-A177-3AD203B41FA5}">
                      <a16:colId xmlns:a16="http://schemas.microsoft.com/office/drawing/2014/main" val="3026525629"/>
                    </a:ext>
                  </a:extLst>
                </a:gridCol>
                <a:gridCol w="713469">
                  <a:extLst>
                    <a:ext uri="{9D8B030D-6E8A-4147-A177-3AD203B41FA5}">
                      <a16:colId xmlns:a16="http://schemas.microsoft.com/office/drawing/2014/main" val="1186473059"/>
                    </a:ext>
                  </a:extLst>
                </a:gridCol>
              </a:tblGrid>
              <a:tr h="273907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Adani Regular"/>
                        </a:rPr>
                        <a:t>Type of Land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Adani Regular"/>
                        </a:rPr>
                        <a:t>Acres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561279"/>
                  </a:ext>
                </a:extLst>
              </a:tr>
              <a:tr h="273907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Adani Regular"/>
                        </a:rPr>
                        <a:t>Govt.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Adani Regular"/>
                        </a:rPr>
                        <a:t>1853.25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4547698"/>
                  </a:ext>
                </a:extLst>
              </a:tr>
              <a:tr h="273907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Adani Regular"/>
                        </a:rPr>
                        <a:t>Pvt.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Adani Regular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3788623"/>
                  </a:ext>
                </a:extLst>
              </a:tr>
              <a:tr h="273907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latin typeface="Adani Regular"/>
                        </a:rPr>
                        <a:t>Total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Adani Regular"/>
                        </a:rPr>
                        <a:t>1853.25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6124275"/>
                  </a:ext>
                </a:extLst>
              </a:tr>
            </a:tbl>
          </a:graphicData>
        </a:graphic>
      </p:graphicFrame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00AFE6FA-9CB3-2CB2-EFBA-A2E322A1CB1B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4F8B1E0-A6C5-4A01-86A0-BE5B8CAA4EE9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 algn="r"/>
              <a:t>6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C54E50-D266-E284-0DC8-6D8FA833E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919" y="818291"/>
            <a:ext cx="4552896" cy="548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25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07A5B-6280-BFD4-F97E-8879A1BEA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B450F-4DCF-F37D-1C66-34308A967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47" y="165332"/>
            <a:ext cx="11577483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500 MW Bandha: Overall S Curve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8DB646-A328-7E35-951E-A09568200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EA8A35D-9534-D56E-91A9-96B95CD0E15C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F8B1E0-A6C5-4A01-86A0-BE5B8CAA4EE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dani Regular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dani Regular"/>
              <a:ea typeface="+mn-ea"/>
              <a:cs typeface="+mn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7750B67-7920-2EB1-55AE-B7C93083D0ED}"/>
              </a:ext>
            </a:extLst>
          </p:cNvPr>
          <p:cNvGraphicFramePr>
            <a:graphicFrameLocks noGrp="1"/>
          </p:cNvGraphicFramePr>
          <p:nvPr/>
        </p:nvGraphicFramePr>
        <p:xfrm>
          <a:off x="509336" y="4591819"/>
          <a:ext cx="11173327" cy="1741197"/>
        </p:xfrm>
        <a:graphic>
          <a:graphicData uri="http://schemas.openxmlformats.org/drawingml/2006/table">
            <a:tbl>
              <a:tblPr/>
              <a:tblGrid>
                <a:gridCol w="2279014">
                  <a:extLst>
                    <a:ext uri="{9D8B030D-6E8A-4147-A177-3AD203B41FA5}">
                      <a16:colId xmlns:a16="http://schemas.microsoft.com/office/drawing/2014/main" val="2072380346"/>
                    </a:ext>
                  </a:extLst>
                </a:gridCol>
                <a:gridCol w="936244">
                  <a:extLst>
                    <a:ext uri="{9D8B030D-6E8A-4147-A177-3AD203B41FA5}">
                      <a16:colId xmlns:a16="http://schemas.microsoft.com/office/drawing/2014/main" val="465668203"/>
                    </a:ext>
                  </a:extLst>
                </a:gridCol>
                <a:gridCol w="1022476">
                  <a:extLst>
                    <a:ext uri="{9D8B030D-6E8A-4147-A177-3AD203B41FA5}">
                      <a16:colId xmlns:a16="http://schemas.microsoft.com/office/drawing/2014/main" val="646625040"/>
                    </a:ext>
                  </a:extLst>
                </a:gridCol>
                <a:gridCol w="1194941">
                  <a:extLst>
                    <a:ext uri="{9D8B030D-6E8A-4147-A177-3AD203B41FA5}">
                      <a16:colId xmlns:a16="http://schemas.microsoft.com/office/drawing/2014/main" val="2211361949"/>
                    </a:ext>
                  </a:extLst>
                </a:gridCol>
                <a:gridCol w="776096">
                  <a:extLst>
                    <a:ext uri="{9D8B030D-6E8A-4147-A177-3AD203B41FA5}">
                      <a16:colId xmlns:a16="http://schemas.microsoft.com/office/drawing/2014/main" val="753578414"/>
                    </a:ext>
                  </a:extLst>
                </a:gridCol>
                <a:gridCol w="4964556">
                  <a:extLst>
                    <a:ext uri="{9D8B030D-6E8A-4147-A177-3AD203B41FA5}">
                      <a16:colId xmlns:a16="http://schemas.microsoft.com/office/drawing/2014/main" val="1648602522"/>
                    </a:ext>
                  </a:extLst>
                </a:gridCol>
              </a:tblGrid>
              <a:tr h="187970">
                <a:tc gridSpan="6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Gap Analysis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375972"/>
                  </a:ext>
                </a:extLst>
              </a:tr>
              <a:tr h="1978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Progress Parameter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Weightage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Cumm. Plan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Cumm. Actual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Variance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Remarks for Variance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687362"/>
                  </a:ext>
                </a:extLst>
              </a:tr>
              <a:tr h="26513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Land &amp; Statutory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Land Sub Lease Pending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399045"/>
                  </a:ext>
                </a:extLst>
              </a:tr>
              <a:tr h="26513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Engineering+ System Study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698061"/>
                  </a:ext>
                </a:extLst>
              </a:tr>
              <a:tr h="26513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Procurement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403672"/>
                  </a:ext>
                </a:extLst>
              </a:tr>
              <a:tr h="26513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Construction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860380"/>
                  </a:ext>
                </a:extLst>
              </a:tr>
              <a:tr h="29481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Overall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745249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9AEC20E-1065-4532-BB00-BA944D9D99A8}"/>
              </a:ext>
            </a:extLst>
          </p:cNvPr>
          <p:cNvGraphicFramePr>
            <a:graphicFrameLocks/>
          </p:cNvGraphicFramePr>
          <p:nvPr/>
        </p:nvGraphicFramePr>
        <p:xfrm>
          <a:off x="509336" y="589781"/>
          <a:ext cx="11173327" cy="4002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9444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FB946-3C09-B14F-412D-88070EC94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532495E-6E02-1671-0347-9F6E56114843}"/>
              </a:ext>
            </a:extLst>
          </p:cNvPr>
          <p:cNvSpPr txBox="1"/>
          <p:nvPr/>
        </p:nvSpPr>
        <p:spPr>
          <a:xfrm>
            <a:off x="402564" y="140955"/>
            <a:ext cx="782460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192" algn="l" defTabSz="911377" rtl="0">
              <a:lnSpc>
                <a:spcPct val="90000"/>
              </a:lnSpc>
              <a:spcBef>
                <a:spcPct val="0"/>
              </a:spcBef>
            </a:pPr>
            <a:r>
              <a:rPr lang="en-US" sz="2400" b="1" kern="1200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500 MW Bandha: Engineering Progress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2D4899-635E-46C2-AE41-4728EE765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21139"/>
              </p:ext>
            </p:extLst>
          </p:nvPr>
        </p:nvGraphicFramePr>
        <p:xfrm>
          <a:off x="564762" y="737380"/>
          <a:ext cx="10886210" cy="3716568"/>
        </p:xfrm>
        <a:graphic>
          <a:graphicData uri="http://schemas.openxmlformats.org/drawingml/2006/table">
            <a:tbl>
              <a:tblPr/>
              <a:tblGrid>
                <a:gridCol w="2302967">
                  <a:extLst>
                    <a:ext uri="{9D8B030D-6E8A-4147-A177-3AD203B41FA5}">
                      <a16:colId xmlns:a16="http://schemas.microsoft.com/office/drawing/2014/main" val="1769627287"/>
                    </a:ext>
                  </a:extLst>
                </a:gridCol>
                <a:gridCol w="3613512">
                  <a:extLst>
                    <a:ext uri="{9D8B030D-6E8A-4147-A177-3AD203B41FA5}">
                      <a16:colId xmlns:a16="http://schemas.microsoft.com/office/drawing/2014/main" val="1181378614"/>
                    </a:ext>
                  </a:extLst>
                </a:gridCol>
                <a:gridCol w="2763267">
                  <a:extLst>
                    <a:ext uri="{9D8B030D-6E8A-4147-A177-3AD203B41FA5}">
                      <a16:colId xmlns:a16="http://schemas.microsoft.com/office/drawing/2014/main" val="3177672365"/>
                    </a:ext>
                  </a:extLst>
                </a:gridCol>
                <a:gridCol w="2206464">
                  <a:extLst>
                    <a:ext uri="{9D8B030D-6E8A-4147-A177-3AD203B41FA5}">
                      <a16:colId xmlns:a16="http://schemas.microsoft.com/office/drawing/2014/main" val="3374669340"/>
                    </a:ext>
                  </a:extLst>
                </a:gridCol>
              </a:tblGrid>
              <a:tr h="46457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Sr. 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Description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No. of Drawings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%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351528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</a:t>
                      </a: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(B+C)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039783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 </a:t>
                      </a: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(RFC+b1+b2+b3)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Approved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62945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RFC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RFC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483956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A1-Category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004815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A2-Category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768523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I-Category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731671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Pending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33873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D0A128E-36F5-418E-3F4C-DB576F1A4CF3}"/>
              </a:ext>
            </a:extLst>
          </p:cNvPr>
          <p:cNvSpPr txBox="1"/>
          <p:nvPr/>
        </p:nvSpPr>
        <p:spPr>
          <a:xfrm>
            <a:off x="564762" y="4513277"/>
            <a:ext cx="40015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+mj-lt"/>
              </a:rPr>
              <a:t>A1-Category: Approved</a:t>
            </a:r>
          </a:p>
          <a:p>
            <a:r>
              <a:rPr lang="en-US" sz="1400">
                <a:latin typeface="+mj-lt"/>
              </a:rPr>
              <a:t>A2-Category: Approved with Comments</a:t>
            </a:r>
          </a:p>
          <a:p>
            <a:r>
              <a:rPr lang="en-US" sz="1400" b="0" i="0" u="none" strike="noStrike">
                <a:solidFill>
                  <a:srgbClr val="000000"/>
                </a:solidFill>
                <a:effectLst/>
                <a:latin typeface="+mj-lt"/>
              </a:rPr>
              <a:t>I-Category: Information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509747A-B4AF-3784-4F32-92F7F351E497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4F8B1E0-A6C5-4A01-86A0-BE5B8CAA4EE9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 algn="r"/>
              <a:t>8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271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FE888-77D4-C52A-50AF-408758BBF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E81B8-A3C0-A9BD-F7E4-337919E57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47" y="121087"/>
            <a:ext cx="11577483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500 MW Bandha: Procurement &amp; 3 month rolling plan for Supply Status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3B3EC7-00AB-CF23-5E53-B95A7DED2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18D4D6B-D594-6CFB-67CE-A9D80343D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409607"/>
              </p:ext>
            </p:extLst>
          </p:nvPr>
        </p:nvGraphicFramePr>
        <p:xfrm>
          <a:off x="369646" y="791758"/>
          <a:ext cx="11389539" cy="5419860"/>
        </p:xfrm>
        <a:graphic>
          <a:graphicData uri="http://schemas.openxmlformats.org/drawingml/2006/table">
            <a:tbl>
              <a:tblPr/>
              <a:tblGrid>
                <a:gridCol w="652956">
                  <a:extLst>
                    <a:ext uri="{9D8B030D-6E8A-4147-A177-3AD203B41FA5}">
                      <a16:colId xmlns:a16="http://schemas.microsoft.com/office/drawing/2014/main" val="3527570137"/>
                    </a:ext>
                  </a:extLst>
                </a:gridCol>
                <a:gridCol w="2750559">
                  <a:extLst>
                    <a:ext uri="{9D8B030D-6E8A-4147-A177-3AD203B41FA5}">
                      <a16:colId xmlns:a16="http://schemas.microsoft.com/office/drawing/2014/main" val="594724079"/>
                    </a:ext>
                  </a:extLst>
                </a:gridCol>
                <a:gridCol w="627282">
                  <a:extLst>
                    <a:ext uri="{9D8B030D-6E8A-4147-A177-3AD203B41FA5}">
                      <a16:colId xmlns:a16="http://schemas.microsoft.com/office/drawing/2014/main" val="249969732"/>
                    </a:ext>
                  </a:extLst>
                </a:gridCol>
                <a:gridCol w="777583">
                  <a:extLst>
                    <a:ext uri="{9D8B030D-6E8A-4147-A177-3AD203B41FA5}">
                      <a16:colId xmlns:a16="http://schemas.microsoft.com/office/drawing/2014/main" val="1410995038"/>
                    </a:ext>
                  </a:extLst>
                </a:gridCol>
                <a:gridCol w="1445651">
                  <a:extLst>
                    <a:ext uri="{9D8B030D-6E8A-4147-A177-3AD203B41FA5}">
                      <a16:colId xmlns:a16="http://schemas.microsoft.com/office/drawing/2014/main" val="3951303004"/>
                    </a:ext>
                  </a:extLst>
                </a:gridCol>
                <a:gridCol w="1445651">
                  <a:extLst>
                    <a:ext uri="{9D8B030D-6E8A-4147-A177-3AD203B41FA5}">
                      <a16:colId xmlns:a16="http://schemas.microsoft.com/office/drawing/2014/main" val="4221223311"/>
                    </a:ext>
                  </a:extLst>
                </a:gridCol>
                <a:gridCol w="1445651">
                  <a:extLst>
                    <a:ext uri="{9D8B030D-6E8A-4147-A177-3AD203B41FA5}">
                      <a16:colId xmlns:a16="http://schemas.microsoft.com/office/drawing/2014/main" val="2402104859"/>
                    </a:ext>
                  </a:extLst>
                </a:gridCol>
                <a:gridCol w="737606">
                  <a:extLst>
                    <a:ext uri="{9D8B030D-6E8A-4147-A177-3AD203B41FA5}">
                      <a16:colId xmlns:a16="http://schemas.microsoft.com/office/drawing/2014/main" val="957957447"/>
                    </a:ext>
                  </a:extLst>
                </a:gridCol>
                <a:gridCol w="753300">
                  <a:extLst>
                    <a:ext uri="{9D8B030D-6E8A-4147-A177-3AD203B41FA5}">
                      <a16:colId xmlns:a16="http://schemas.microsoft.com/office/drawing/2014/main" val="2421050457"/>
                    </a:ext>
                  </a:extLst>
                </a:gridCol>
                <a:gridCol w="753300">
                  <a:extLst>
                    <a:ext uri="{9D8B030D-6E8A-4147-A177-3AD203B41FA5}">
                      <a16:colId xmlns:a16="http://schemas.microsoft.com/office/drawing/2014/main" val="4034566862"/>
                    </a:ext>
                  </a:extLst>
                </a:gridCol>
              </a:tblGrid>
              <a:tr h="58069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err="1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S.No</a:t>
                      </a: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Packages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UOM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Ordering Completed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Balance</a:t>
                      </a:r>
                    </a:p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Ordering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Delivered at Site up to Aug’26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Forecast delivery schedule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586985"/>
                  </a:ext>
                </a:extLst>
              </a:tr>
              <a:tr h="33898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Sep-26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Oct-26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Nov-26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655213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Module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695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198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497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198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2925294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MMS - FT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500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054677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IDT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41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685649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Inverter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Nos.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1937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1937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1937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203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203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203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536533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Panel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Nos.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322109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LT Panel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Nos.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654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654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654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406345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Cable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km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298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298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298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412649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LT Cable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km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457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457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457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950569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Control Cable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km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106721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DC Cable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km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3742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3742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3742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35205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Robotic Module Cleaning System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Nos.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1034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1034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1034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316596"/>
                  </a:ext>
                </a:extLst>
              </a:tr>
            </a:tbl>
          </a:graphicData>
        </a:graphic>
      </p:graphicFrame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0972F31-BCD3-ED75-7137-E877FFC548AB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4F8B1E0-A6C5-4A01-86A0-BE5B8CAA4EE9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 algn="r"/>
              <a:t>9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283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37688-FC03-A1E4-2B9F-6EFC819C6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958" y="155988"/>
            <a:ext cx="11577483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500 MW Bandha: Construction Progress Update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35D8F2-3E7C-C68F-BEF5-3DC22A31F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D9E9DE8-E55A-EAA9-C6ED-E958DD9AC175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F8B1E0-A6C5-4A01-86A0-BE5B8CAA4EE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dani Regular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dani Regular"/>
              <a:ea typeface="+mn-ea"/>
              <a:cs typeface="+mn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4E52B34-1F9F-2E22-B882-C20B93C88AE0}"/>
              </a:ext>
            </a:extLst>
          </p:cNvPr>
          <p:cNvGraphicFramePr>
            <a:graphicFrameLocks noGrp="1"/>
          </p:cNvGraphicFramePr>
          <p:nvPr/>
        </p:nvGraphicFramePr>
        <p:xfrm>
          <a:off x="557022" y="698214"/>
          <a:ext cx="11110723" cy="5483136"/>
        </p:xfrm>
        <a:graphic>
          <a:graphicData uri="http://schemas.openxmlformats.org/drawingml/2006/table">
            <a:tbl>
              <a:tblPr/>
              <a:tblGrid>
                <a:gridCol w="2121942">
                  <a:extLst>
                    <a:ext uri="{9D8B030D-6E8A-4147-A177-3AD203B41FA5}">
                      <a16:colId xmlns:a16="http://schemas.microsoft.com/office/drawing/2014/main" val="4089213695"/>
                    </a:ext>
                  </a:extLst>
                </a:gridCol>
                <a:gridCol w="766257">
                  <a:extLst>
                    <a:ext uri="{9D8B030D-6E8A-4147-A177-3AD203B41FA5}">
                      <a16:colId xmlns:a16="http://schemas.microsoft.com/office/drawing/2014/main" val="3689641993"/>
                    </a:ext>
                  </a:extLst>
                </a:gridCol>
                <a:gridCol w="1046235">
                  <a:extLst>
                    <a:ext uri="{9D8B030D-6E8A-4147-A177-3AD203B41FA5}">
                      <a16:colId xmlns:a16="http://schemas.microsoft.com/office/drawing/2014/main" val="748987993"/>
                    </a:ext>
                  </a:extLst>
                </a:gridCol>
                <a:gridCol w="1031500">
                  <a:extLst>
                    <a:ext uri="{9D8B030D-6E8A-4147-A177-3AD203B41FA5}">
                      <a16:colId xmlns:a16="http://schemas.microsoft.com/office/drawing/2014/main" val="461279457"/>
                    </a:ext>
                  </a:extLst>
                </a:gridCol>
                <a:gridCol w="839935">
                  <a:extLst>
                    <a:ext uri="{9D8B030D-6E8A-4147-A177-3AD203B41FA5}">
                      <a16:colId xmlns:a16="http://schemas.microsoft.com/office/drawing/2014/main" val="1171463542"/>
                    </a:ext>
                  </a:extLst>
                </a:gridCol>
                <a:gridCol w="825199">
                  <a:extLst>
                    <a:ext uri="{9D8B030D-6E8A-4147-A177-3AD203B41FA5}">
                      <a16:colId xmlns:a16="http://schemas.microsoft.com/office/drawing/2014/main" val="711261648"/>
                    </a:ext>
                  </a:extLst>
                </a:gridCol>
                <a:gridCol w="869407">
                  <a:extLst>
                    <a:ext uri="{9D8B030D-6E8A-4147-A177-3AD203B41FA5}">
                      <a16:colId xmlns:a16="http://schemas.microsoft.com/office/drawing/2014/main" val="2365054397"/>
                    </a:ext>
                  </a:extLst>
                </a:gridCol>
                <a:gridCol w="869407">
                  <a:extLst>
                    <a:ext uri="{9D8B030D-6E8A-4147-A177-3AD203B41FA5}">
                      <a16:colId xmlns:a16="http://schemas.microsoft.com/office/drawing/2014/main" val="4131605039"/>
                    </a:ext>
                  </a:extLst>
                </a:gridCol>
                <a:gridCol w="839935">
                  <a:extLst>
                    <a:ext uri="{9D8B030D-6E8A-4147-A177-3AD203B41FA5}">
                      <a16:colId xmlns:a16="http://schemas.microsoft.com/office/drawing/2014/main" val="2418132473"/>
                    </a:ext>
                  </a:extLst>
                </a:gridCol>
                <a:gridCol w="839935">
                  <a:extLst>
                    <a:ext uri="{9D8B030D-6E8A-4147-A177-3AD203B41FA5}">
                      <a16:colId xmlns:a16="http://schemas.microsoft.com/office/drawing/2014/main" val="624993126"/>
                    </a:ext>
                  </a:extLst>
                </a:gridCol>
                <a:gridCol w="1060971">
                  <a:extLst>
                    <a:ext uri="{9D8B030D-6E8A-4147-A177-3AD203B41FA5}">
                      <a16:colId xmlns:a16="http://schemas.microsoft.com/office/drawing/2014/main" val="3010578865"/>
                    </a:ext>
                  </a:extLst>
                </a:gridCol>
              </a:tblGrid>
              <a:tr h="783304"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UOM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Scope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Completed upto Aug’26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Balance as on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Aug’26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For the Month Aug'26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Next 3 Month Rolling Plan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Completion 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08955"/>
                  </a:ext>
                </a:extLst>
              </a:tr>
              <a:tr h="31036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Plan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Nov-26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740647"/>
                  </a:ext>
                </a:extLst>
              </a:tr>
              <a:tr h="2955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Piling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2,47,030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2,47,030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29-Dec-25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069955"/>
                  </a:ext>
                </a:extLst>
              </a:tr>
              <a:tr h="2955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MMS - FT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Tables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20,180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18,678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1,502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587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915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27-Oct-26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214047"/>
                  </a:ext>
                </a:extLst>
              </a:tr>
              <a:tr h="2955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IDT Foundation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Blocks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40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40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02-Oct-25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404072"/>
                  </a:ext>
                </a:extLst>
              </a:tr>
              <a:tr h="2955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&amp; LT Slab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Blocks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40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40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13-Oct-25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171166"/>
                  </a:ext>
                </a:extLst>
              </a:tr>
              <a:tr h="2955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&amp; LT Canopy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Blocks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40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40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12-Feb-26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829872"/>
                  </a:ext>
                </a:extLst>
              </a:tr>
              <a:tr h="2955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IDT Erection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Blocks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40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40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31-Jan-26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171140"/>
                  </a:ext>
                </a:extLst>
              </a:tr>
              <a:tr h="2955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Panel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Blocks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40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40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25-Dec-25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293246"/>
                  </a:ext>
                </a:extLst>
              </a:tr>
              <a:tr h="2955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LT Panel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640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640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24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24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31-Aug-26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461796"/>
                  </a:ext>
                </a:extLst>
              </a:tr>
              <a:tr h="2955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Inverter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1,918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1,918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25-Jul-26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987473"/>
                  </a:ext>
                </a:extLst>
              </a:tr>
              <a:tr h="2955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LT Cabling Works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Kms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430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430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30-Jul-26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946200"/>
                  </a:ext>
                </a:extLst>
              </a:tr>
              <a:tr h="2955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Cabling Works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Kms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298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298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22-Jun-26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583307"/>
                  </a:ext>
                </a:extLst>
              </a:tr>
              <a:tr h="2955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Module [Erection]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MWdc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695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191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504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03-May-27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752066"/>
                  </a:ext>
                </a:extLst>
              </a:tr>
              <a:tr h="2955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MC4 &amp; VOC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MWdc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695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191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504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08-May-27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553555"/>
                  </a:ext>
                </a:extLst>
              </a:tr>
              <a:tr h="26602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CEA Inspection &amp; Approval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500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137.5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363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10-May-27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383486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Commissioning &amp; Trial Run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500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137.5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363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22-May-27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667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182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0C90A-73FE-F9E8-3D45-374946F9F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591A2-0841-A23E-0A94-779B9A434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47" y="165332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500 MW Bandha: Major Milestone – Next 3 months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F6579B-872E-E5C2-872F-B06C62A2C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2A9344-F87B-AC02-A558-D4F9738EB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431402"/>
              </p:ext>
            </p:extLst>
          </p:nvPr>
        </p:nvGraphicFramePr>
        <p:xfrm>
          <a:off x="580572" y="745229"/>
          <a:ext cx="6780809" cy="1988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0809">
                  <a:extLst>
                    <a:ext uri="{9D8B030D-6E8A-4147-A177-3AD203B41FA5}">
                      <a16:colId xmlns:a16="http://schemas.microsoft.com/office/drawing/2014/main" val="864173240"/>
                    </a:ext>
                  </a:extLst>
                </a:gridCol>
              </a:tblGrid>
              <a:tr h="5761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Oct’26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064186"/>
                  </a:ext>
                </a:extLst>
              </a:tr>
              <a:tr h="14125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Milestone: 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100% MMS Erection to be done.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Status</a:t>
                      </a: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: ~93% MMS Erection already completed, balance is in progress.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566165"/>
                  </a:ext>
                </a:extLst>
              </a:tr>
            </a:tbl>
          </a:graphicData>
        </a:graphic>
      </p:graphicFrame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6628840F-7553-2EB7-9D7B-78229B88076E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4F8B1E0-A6C5-4A01-86A0-BE5B8CAA4EE9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 algn="r"/>
              <a:t>11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4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ACD17-9717-241D-A226-1D92C710A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F43882-605B-6AC5-4FFA-AB55FD45736B}"/>
              </a:ext>
            </a:extLst>
          </p:cNvPr>
          <p:cNvSpPr txBox="1">
            <a:spLocks/>
          </p:cNvSpPr>
          <p:nvPr/>
        </p:nvSpPr>
        <p:spPr>
          <a:xfrm>
            <a:off x="552450" y="144872"/>
            <a:ext cx="10512915" cy="424449"/>
          </a:xfrm>
          <a:prstGeom prst="rect">
            <a:avLst/>
          </a:prstGeom>
          <a:noFill/>
        </p:spPr>
        <p:txBody>
          <a:bodyPr vert="horz" wrap="square" lIns="0" tIns="45580" rIns="91157" bIns="45580" rtlCol="0" anchor="b">
            <a:spAutoFit/>
          </a:bodyPr>
          <a:lstStyle>
            <a:lvl1pPr marL="109192" defTabSz="911377">
              <a:lnSpc>
                <a:spcPct val="90000"/>
              </a:lnSpc>
              <a:spcBef>
                <a:spcPct val="0"/>
              </a:spcBef>
              <a:buNone/>
              <a:defRPr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</a:defRPr>
            </a:lvl1pPr>
          </a:lstStyle>
          <a:p>
            <a:pPr marL="0"/>
            <a:r>
              <a:rPr lang="en-US"/>
              <a:t>500 MW Bandha: Manpower Deployment Plan vs Actual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B5CECE-2B5A-7941-4C55-D39B74C486E5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4F8B1E0-A6C5-4A01-86A0-BE5B8CAA4EE9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 algn="r"/>
              <a:t>12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788B133-94D1-4DB5-B5C8-5E0E69E005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4792353"/>
              </p:ext>
            </p:extLst>
          </p:nvPr>
        </p:nvGraphicFramePr>
        <p:xfrm>
          <a:off x="552450" y="691763"/>
          <a:ext cx="11485825" cy="57567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34019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D564D-EB38-FF25-F865-A49A94D47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7330C-C998-AFA3-2D5F-C10BBC5DE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1521" y="3216775"/>
            <a:ext cx="6968958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NHPC BOO 600 MW Baiya Solar Project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826B26D2-57FE-099D-A4D9-FAE593676443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4F8B1E0-A6C5-4A01-86A0-BE5B8CAA4EE9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 algn="r"/>
              <a:t>13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366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19E76-D3E1-9BE2-374A-757314332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DBCFB-B94E-8C4D-2095-CE7E9539F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47" y="161054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600 MW Baiya: Salient Project Features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6790490-3B38-F450-8E37-0E1D3FF6B510}"/>
              </a:ext>
            </a:extLst>
          </p:cNvPr>
          <p:cNvSpPr txBox="1">
            <a:spLocks/>
          </p:cNvSpPr>
          <p:nvPr/>
        </p:nvSpPr>
        <p:spPr>
          <a:xfrm>
            <a:off x="11760200" y="6560509"/>
            <a:ext cx="244986" cy="23399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>
              <a:latin typeface="Adani Regular" panose="02000503000000020004" pitchFamily="2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EE0001-09DB-7092-FF95-911FD9E7D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101247"/>
              </p:ext>
            </p:extLst>
          </p:nvPr>
        </p:nvGraphicFramePr>
        <p:xfrm>
          <a:off x="358254" y="634663"/>
          <a:ext cx="11600267" cy="6170929"/>
        </p:xfrm>
        <a:graphic>
          <a:graphicData uri="http://schemas.openxmlformats.org/drawingml/2006/table">
            <a:tbl>
              <a:tblPr firstRow="1" bandRow="1"/>
              <a:tblGrid>
                <a:gridCol w="2210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87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8DD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lvl="0" indent="0" algn="just" fontAlgn="ctr"/>
                      <a:r>
                        <a:rPr lang="en-US" sz="1400" b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NHPC BOO – Baiya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8DD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7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 rtl="0" fontAlgn="ctr">
                        <a:buFontTx/>
                        <a:buNone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Project Scope/ Capacity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lvl="0" indent="0" algn="just" fontAlgn="ctr"/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600 MW (816 MWdc)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7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Owner/ Developer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lvl="0" indent="0" algn="just" fontAlgn="ctr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/>
                        </a:rPr>
                        <a:t>Adani Solar Energy Barmer One Private Limited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7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Location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/>
                        </a:rPr>
                        <a:t>Village – Baiya, Tehsil – Fatehgarh, Dist. Jaisalmer, Rajasthan 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dani Regular"/>
                      </a:endParaRP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3943223"/>
                  </a:ext>
                </a:extLst>
              </a:tr>
              <a:tr h="4835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Concessionaire, If applicable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15888" lvl="0" indent="0" algn="just" defTabSz="914400" rtl="0" eaLnBrk="1" fontAlgn="ctr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sz="1400" b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819909"/>
                  </a:ext>
                </a:extLst>
              </a:tr>
              <a:tr h="3987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EPC, If applicable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lvl="0" indent="0" algn="just" defTabSz="914400" rtl="0" eaLnBrk="1" fontAlgn="ctr" latinLnBrk="0" hangingPunct="1"/>
                      <a:r>
                        <a:rPr lang="en-US" sz="1400" b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6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Land Area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lvl="0" indent="0" algn="just" defTabSz="914400" rtl="0" eaLnBrk="1" fontAlgn="ctr" latinLnBrk="0" hangingPunct="1"/>
                      <a:r>
                        <a:rPr lang="en-US" sz="1400" b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2290 Acre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320645"/>
                  </a:ext>
                </a:extLst>
              </a:tr>
              <a:tr h="4835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indent="0" algn="l" rtl="0" fontAlgn="ctr">
                        <a:buFontTx/>
                        <a:buNone/>
                      </a:pPr>
                      <a:r>
                        <a:rPr lang="en-US" sz="1400" b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Approved Budget 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(INR Cr.) (date: 23-Jul-24)</a:t>
                      </a:r>
                      <a:endParaRPr lang="en-US" sz="1400" b="0" u="none" strike="noStrike" kern="1200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15888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INR 2773 Cr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0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Revised Budget (INR Cr.)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8064A2"/>
                      </a:solidFill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 marL="72000" marR="36000" marT="9525" marB="0" anchor="ctr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123378"/>
                  </a:ext>
                </a:extLst>
              </a:tr>
              <a:tr h="391620">
                <a:tc>
                  <a:txBody>
                    <a:bodyPr/>
                    <a:lstStyle/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Project Start Date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11-Aug-23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4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Schedule COD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8064A2"/>
                      </a:solidFill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3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09-Mar-22. Extension received up to 31-Mar-26 for 320 MW (MP) &amp; 30-Jun-26 for 280 MW (J&amp;K)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821387"/>
                  </a:ext>
                </a:extLst>
              </a:tr>
              <a:tr h="730590">
                <a:tc>
                  <a:txBody>
                    <a:bodyPr/>
                    <a:lstStyle/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Revised COD, if any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5888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320 MW PPA (M&amp;P): 31-Mar-26 (LD as per PPA shall be apply to any capacity commissioned between 31-Mar-26 to 30-Sep-26)</a:t>
                      </a:r>
                    </a:p>
                    <a:p>
                      <a:pPr marL="115888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280 MW PPA (J&amp;K): SCD 30-Jun-26.</a:t>
                      </a:r>
                    </a:p>
                  </a:txBody>
                  <a:tcPr marL="50800" marR="50800" marT="50800" marB="50800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7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Expected COD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mpd="sng">
                      <a:solidFill>
                        <a:srgbClr val="8064A2"/>
                      </a:solidFill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indent="0" algn="just" fontAlgn="ctr">
                        <a:buFont typeface="Arial" panose="020B0604020202020204" pitchFamily="34" charset="0"/>
                        <a:buNone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16-Mar-27 (</a:t>
                      </a:r>
                      <a:r>
                        <a:rPr lang="en-US" sz="14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251</a:t>
                      </a:r>
                      <a:r>
                        <a:rPr lang="en-US" sz="1400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 MW </a:t>
                      </a:r>
                      <a:r>
                        <a:rPr lang="en-US" sz="14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Commissioned in </a:t>
                      </a:r>
                      <a:r>
                        <a:rPr lang="en-US" sz="1400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Mar’26</a:t>
                      </a:r>
                      <a:r>
                        <a:rPr lang="en-US" sz="1400">
                          <a:effectLst/>
                          <a:latin typeface="Adani Regular" panose="02000503000000020004" pitchFamily="2" charset="0"/>
                        </a:rPr>
                        <a:t>, 139 MW by Dec’26, 90 MW by Jan’27</a:t>
                      </a: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 &amp; 120</a:t>
                      </a:r>
                      <a:r>
                        <a:rPr lang="en-US" sz="1400">
                          <a:effectLst/>
                          <a:latin typeface="Adani Regular" panose="02000503000000020004" pitchFamily="2" charset="0"/>
                        </a:rPr>
                        <a:t> MW by Mar’27</a:t>
                      </a: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)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mpd="sng">
                      <a:solidFill>
                        <a:srgbClr val="8064A2"/>
                      </a:solidFill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8784">
                <a:tc>
                  <a:txBody>
                    <a:bodyPr/>
                    <a:lstStyle/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Other Comments</a:t>
                      </a:r>
                    </a:p>
                  </a:txBody>
                  <a:tcPr marL="72000" marR="36000" marT="9525" marB="0" anchor="ctr">
                    <a:lnL w="12700" cmpd="sng">
                      <a:solidFill>
                        <a:srgbClr val="8064A2"/>
                      </a:solidFill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buFont typeface="Wingdings" panose="05000000000000000000" pitchFamily="2" charset="2"/>
                        <a:buNone/>
                      </a:pPr>
                      <a:endParaRPr lang="en-IN" sz="14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Calibri"/>
                      </a:endParaRPr>
                    </a:p>
                  </a:txBody>
                  <a:tcPr marL="72000" marR="36000" marT="9525" marB="0" anchor="ctr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8064A2"/>
                      </a:solidFill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8064A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6812137"/>
                  </a:ext>
                </a:extLst>
              </a:tr>
            </a:tbl>
          </a:graphicData>
        </a:graphic>
      </p:graphicFrame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CB7A0CB8-6AEA-857F-1304-EEBDF6AB06B8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4F8B1E0-A6C5-4A01-86A0-BE5B8CAA4EE9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 algn="r"/>
              <a:t>14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791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A40EB-31EE-08F3-675F-EBB3DAA33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671EA-0F0D-5B15-8187-19AD51630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703" y="137311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600 MW Baiya: Project Plot Plan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B13EBD6-F7BA-8CD4-913F-38F3DA1BDA61}"/>
              </a:ext>
            </a:extLst>
          </p:cNvPr>
          <p:cNvSpPr txBox="1">
            <a:spLocks/>
          </p:cNvSpPr>
          <p:nvPr/>
        </p:nvSpPr>
        <p:spPr>
          <a:xfrm>
            <a:off x="11760200" y="6560509"/>
            <a:ext cx="244986" cy="23399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>
              <a:latin typeface="Adani Regular" panose="02000503000000020004" pitchFamily="2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73D0E63-9007-686E-71ED-347A9EBEA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835436"/>
              </p:ext>
            </p:extLst>
          </p:nvPr>
        </p:nvGraphicFramePr>
        <p:xfrm>
          <a:off x="8179618" y="990511"/>
          <a:ext cx="3459931" cy="1305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872">
                  <a:extLst>
                    <a:ext uri="{9D8B030D-6E8A-4147-A177-3AD203B41FA5}">
                      <a16:colId xmlns:a16="http://schemas.microsoft.com/office/drawing/2014/main" val="1408601050"/>
                    </a:ext>
                  </a:extLst>
                </a:gridCol>
                <a:gridCol w="1025248">
                  <a:extLst>
                    <a:ext uri="{9D8B030D-6E8A-4147-A177-3AD203B41FA5}">
                      <a16:colId xmlns:a16="http://schemas.microsoft.com/office/drawing/2014/main" val="1029726434"/>
                    </a:ext>
                  </a:extLst>
                </a:gridCol>
                <a:gridCol w="896811">
                  <a:extLst>
                    <a:ext uri="{9D8B030D-6E8A-4147-A177-3AD203B41FA5}">
                      <a16:colId xmlns:a16="http://schemas.microsoft.com/office/drawing/2014/main" val="1447384287"/>
                    </a:ext>
                  </a:extLst>
                </a:gridCol>
              </a:tblGrid>
              <a:tr h="315264">
                <a:tc>
                  <a:txBody>
                    <a:bodyPr/>
                    <a:lstStyle/>
                    <a:p>
                      <a:pPr algn="ctr"/>
                      <a:r>
                        <a:rPr lang="en-IN" sz="1000">
                          <a:latin typeface="Adani Regular"/>
                        </a:rPr>
                        <a:t>Description</a:t>
                      </a:r>
                      <a:endParaRPr lang="en-US" sz="1000">
                        <a:latin typeface="Adani Regular"/>
                      </a:endParaRPr>
                    </a:p>
                  </a:txBody>
                  <a:tcPr marT="41564" marB="41564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000">
                          <a:latin typeface="Adani Regular"/>
                        </a:rPr>
                        <a:t>Baiya</a:t>
                      </a:r>
                    </a:p>
                  </a:txBody>
                  <a:tcPr marT="41564" marB="41564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100">
                        <a:latin typeface="Adani Regular"/>
                      </a:endParaRPr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2905284833"/>
                  </a:ext>
                </a:extLst>
              </a:tr>
              <a:tr h="392096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Adani Regular"/>
                        </a:rPr>
                        <a:t>Type of MMS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>
                          <a:latin typeface="Adani Regular"/>
                        </a:rPr>
                        <a:t>No. of Blocks</a:t>
                      </a:r>
                      <a:endParaRPr lang="en-US" sz="1000">
                        <a:latin typeface="Adani Regular"/>
                      </a:endParaRP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Adani Regular"/>
                        </a:rPr>
                        <a:t>MW</a:t>
                      </a:r>
                    </a:p>
                  </a:txBody>
                  <a:tcPr marT="41564" marB="41564" anchor="ctr"/>
                </a:tc>
                <a:extLst>
                  <a:ext uri="{0D108BD9-81ED-4DB2-BD59-A6C34878D82A}">
                    <a16:rowId xmlns:a16="http://schemas.microsoft.com/office/drawing/2014/main" val="3130644201"/>
                  </a:ext>
                </a:extLst>
              </a:tr>
              <a:tr h="298827">
                <a:tc>
                  <a:txBody>
                    <a:bodyPr/>
                    <a:lstStyle/>
                    <a:p>
                      <a:pPr algn="ctr"/>
                      <a:r>
                        <a:rPr lang="en-IN" sz="1000">
                          <a:latin typeface="Adani Regular"/>
                        </a:rPr>
                        <a:t>Fixed Tilt</a:t>
                      </a:r>
                      <a:endParaRPr lang="en-US" sz="1000">
                        <a:latin typeface="Adani Regular"/>
                      </a:endParaRP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>
                          <a:latin typeface="Adani Regular"/>
                        </a:rPr>
                        <a:t>51</a:t>
                      </a:r>
                      <a:endParaRPr lang="en-US" sz="1000">
                        <a:latin typeface="Adani Regular"/>
                      </a:endParaRP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Adani Regular"/>
                        </a:rPr>
                        <a:t>600</a:t>
                      </a:r>
                    </a:p>
                  </a:txBody>
                  <a:tcPr marT="41564" marB="41564" anchor="ctr"/>
                </a:tc>
                <a:extLst>
                  <a:ext uri="{0D108BD9-81ED-4DB2-BD59-A6C34878D82A}">
                    <a16:rowId xmlns:a16="http://schemas.microsoft.com/office/drawing/2014/main" val="4108843056"/>
                  </a:ext>
                </a:extLst>
              </a:tr>
              <a:tr h="298827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Adani Regular" panose="02000503000000020004" pitchFamily="2" charset="0"/>
                        </a:rPr>
                        <a:t>Total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Adani Regular"/>
                        </a:rPr>
                        <a:t>51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Adani Regular"/>
                        </a:rPr>
                        <a:t>600</a:t>
                      </a:r>
                    </a:p>
                  </a:txBody>
                  <a:tcPr marT="41564" marB="41564" anchor="ctr"/>
                </a:tc>
                <a:extLst>
                  <a:ext uri="{0D108BD9-81ED-4DB2-BD59-A6C34878D82A}">
                    <a16:rowId xmlns:a16="http://schemas.microsoft.com/office/drawing/2014/main" val="55658479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6035466-E6E6-1B69-B990-6E12810E2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293021"/>
              </p:ext>
            </p:extLst>
          </p:nvPr>
        </p:nvGraphicFramePr>
        <p:xfrm>
          <a:off x="9131251" y="2724276"/>
          <a:ext cx="2508298" cy="1095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829">
                  <a:extLst>
                    <a:ext uri="{9D8B030D-6E8A-4147-A177-3AD203B41FA5}">
                      <a16:colId xmlns:a16="http://schemas.microsoft.com/office/drawing/2014/main" val="3026525629"/>
                    </a:ext>
                  </a:extLst>
                </a:gridCol>
                <a:gridCol w="713469">
                  <a:extLst>
                    <a:ext uri="{9D8B030D-6E8A-4147-A177-3AD203B41FA5}">
                      <a16:colId xmlns:a16="http://schemas.microsoft.com/office/drawing/2014/main" val="1186473059"/>
                    </a:ext>
                  </a:extLst>
                </a:gridCol>
              </a:tblGrid>
              <a:tr h="273907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Adani Regular"/>
                        </a:rPr>
                        <a:t>Type of Land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Adani Regular"/>
                        </a:rPr>
                        <a:t>Acres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561279"/>
                  </a:ext>
                </a:extLst>
              </a:tr>
              <a:tr h="273907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Adani Regular"/>
                        </a:rPr>
                        <a:t>Govt.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Adani Regular" panose="02000503000000020004" pitchFamily="2" charset="0"/>
                        </a:rPr>
                        <a:t>2133.43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4547698"/>
                  </a:ext>
                </a:extLst>
              </a:tr>
              <a:tr h="273907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Adani Regular"/>
                        </a:rPr>
                        <a:t>Pvt.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Adani Regular" panose="02000503000000020004" pitchFamily="2" charset="0"/>
                        </a:rPr>
                        <a:t>156.9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3788623"/>
                  </a:ext>
                </a:extLst>
              </a:tr>
              <a:tr h="273907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latin typeface="Adani Regular"/>
                        </a:rPr>
                        <a:t>Total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Adani Regular" panose="02000503000000020004" pitchFamily="2" charset="0"/>
                        </a:rPr>
                        <a:t>2290.33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6124275"/>
                  </a:ext>
                </a:extLst>
              </a:tr>
            </a:tbl>
          </a:graphicData>
        </a:graphic>
      </p:graphicFrame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9BCF1093-C5EB-7341-4161-4C2ABFDB4280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4F8B1E0-A6C5-4A01-86A0-BE5B8CAA4EE9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 algn="r"/>
              <a:t>15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E3DBCB-01BF-D778-E067-4A33E401BA6E}"/>
              </a:ext>
            </a:extLst>
          </p:cNvPr>
          <p:cNvSpPr/>
          <p:nvPr/>
        </p:nvSpPr>
        <p:spPr>
          <a:xfrm>
            <a:off x="5083277" y="4680155"/>
            <a:ext cx="1238865" cy="14158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9FE7E1-7563-D731-F989-61B3BED8F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828" y="577308"/>
            <a:ext cx="3237936" cy="615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923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DE6C5-231D-F84A-C3E7-56B16A9BD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DCE4D-ABC5-92C7-8D7F-64AC842E2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47" y="165332"/>
            <a:ext cx="11577483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600 MW Baiya: Overall S Curve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5591AF-8A57-AC3F-B0B8-785E71155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71D23E-FC8E-C67D-EDF8-E29B3E325104}"/>
              </a:ext>
            </a:extLst>
          </p:cNvPr>
          <p:cNvGraphicFramePr>
            <a:graphicFrameLocks noGrp="1"/>
          </p:cNvGraphicFramePr>
          <p:nvPr/>
        </p:nvGraphicFramePr>
        <p:xfrm>
          <a:off x="367027" y="4418390"/>
          <a:ext cx="11438895" cy="18498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5587">
                  <a:extLst>
                    <a:ext uri="{9D8B030D-6E8A-4147-A177-3AD203B41FA5}">
                      <a16:colId xmlns:a16="http://schemas.microsoft.com/office/drawing/2014/main" val="787533436"/>
                    </a:ext>
                  </a:extLst>
                </a:gridCol>
                <a:gridCol w="888908">
                  <a:extLst>
                    <a:ext uri="{9D8B030D-6E8A-4147-A177-3AD203B41FA5}">
                      <a16:colId xmlns:a16="http://schemas.microsoft.com/office/drawing/2014/main" val="1261480838"/>
                    </a:ext>
                  </a:extLst>
                </a:gridCol>
                <a:gridCol w="983226">
                  <a:extLst>
                    <a:ext uri="{9D8B030D-6E8A-4147-A177-3AD203B41FA5}">
                      <a16:colId xmlns:a16="http://schemas.microsoft.com/office/drawing/2014/main" val="3960744436"/>
                    </a:ext>
                  </a:extLst>
                </a:gridCol>
                <a:gridCol w="1101213">
                  <a:extLst>
                    <a:ext uri="{9D8B030D-6E8A-4147-A177-3AD203B41FA5}">
                      <a16:colId xmlns:a16="http://schemas.microsoft.com/office/drawing/2014/main" val="2148855123"/>
                    </a:ext>
                  </a:extLst>
                </a:gridCol>
                <a:gridCol w="953729">
                  <a:extLst>
                    <a:ext uri="{9D8B030D-6E8A-4147-A177-3AD203B41FA5}">
                      <a16:colId xmlns:a16="http://schemas.microsoft.com/office/drawing/2014/main" val="3159957225"/>
                    </a:ext>
                  </a:extLst>
                </a:gridCol>
                <a:gridCol w="5496232">
                  <a:extLst>
                    <a:ext uri="{9D8B030D-6E8A-4147-A177-3AD203B41FA5}">
                      <a16:colId xmlns:a16="http://schemas.microsoft.com/office/drawing/2014/main" val="1291830811"/>
                    </a:ext>
                  </a:extLst>
                </a:gridCol>
              </a:tblGrid>
              <a:tr h="282465">
                <a:tc gridSpan="6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Gap Analysis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6187332"/>
                  </a:ext>
                </a:extLst>
              </a:tr>
              <a:tr h="2824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Progress Parameter</a:t>
                      </a:r>
                      <a:endParaRPr lang="en-US" sz="1000">
                        <a:solidFill>
                          <a:schemeClr val="bg1"/>
                        </a:solidFill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Weightage</a:t>
                      </a:r>
                      <a:endParaRPr lang="en-US" sz="10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Cumm. Plan</a:t>
                      </a:r>
                      <a:endParaRPr lang="en-US" sz="10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Cumm. Actual</a:t>
                      </a:r>
                      <a:endParaRPr lang="en-US" sz="10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Variance</a:t>
                      </a:r>
                      <a:endParaRPr lang="en-US" sz="10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Remarks for Variance</a:t>
                      </a:r>
                      <a:endParaRPr lang="en-US" sz="10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45341096"/>
                  </a:ext>
                </a:extLst>
              </a:tr>
              <a:tr h="2569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Land &amp; Statutory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99%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000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4912669"/>
                  </a:ext>
                </a:extLst>
              </a:tr>
              <a:tr h="2569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Engineering+ System Study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13%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000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04251940"/>
                  </a:ext>
                </a:extLst>
              </a:tr>
              <a:tr h="2569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Procurement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30%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000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45128091"/>
                  </a:ext>
                </a:extLst>
              </a:tr>
              <a:tr h="2569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Construction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50%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65%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59%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Delayed on account of unavailability of bush cutting permission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55326759"/>
                  </a:ext>
                </a:extLst>
              </a:tr>
              <a:tr h="2569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Overall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100%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83%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79%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0644193"/>
                  </a:ext>
                </a:extLst>
              </a:tr>
            </a:tbl>
          </a:graphicData>
        </a:graphic>
      </p:graphicFrame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3C9A255-DB22-73BC-37D1-1F7468B54013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F8B1E0-A6C5-4A01-86A0-BE5B8CAA4EE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dani Regular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dani Regular"/>
              <a:ea typeface="+mn-ea"/>
              <a:cs typeface="+mn-cs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9AEC20E-1065-4532-BB00-BA944D9D99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7302906"/>
              </p:ext>
            </p:extLst>
          </p:nvPr>
        </p:nvGraphicFramePr>
        <p:xfrm>
          <a:off x="625968" y="589780"/>
          <a:ext cx="10901468" cy="3828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12140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17403-547D-63CC-9F94-4E0FFBD01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5ACE357-4B0A-E695-664C-3289E1886403}"/>
              </a:ext>
            </a:extLst>
          </p:cNvPr>
          <p:cNvSpPr txBox="1"/>
          <p:nvPr/>
        </p:nvSpPr>
        <p:spPr>
          <a:xfrm>
            <a:off x="402564" y="140955"/>
            <a:ext cx="782460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192" algn="l" defTabSz="911377" rtl="0">
              <a:lnSpc>
                <a:spcPct val="90000"/>
              </a:lnSpc>
              <a:spcBef>
                <a:spcPct val="0"/>
              </a:spcBef>
            </a:pPr>
            <a:r>
              <a:rPr lang="en-US" sz="2400" b="1" kern="1200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600 MW Baiya: Engineering Progress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C007E2B-078E-A93D-6E09-5DB832C0EE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071065"/>
              </p:ext>
            </p:extLst>
          </p:nvPr>
        </p:nvGraphicFramePr>
        <p:xfrm>
          <a:off x="564762" y="737380"/>
          <a:ext cx="10886210" cy="3716568"/>
        </p:xfrm>
        <a:graphic>
          <a:graphicData uri="http://schemas.openxmlformats.org/drawingml/2006/table">
            <a:tbl>
              <a:tblPr/>
              <a:tblGrid>
                <a:gridCol w="2302967">
                  <a:extLst>
                    <a:ext uri="{9D8B030D-6E8A-4147-A177-3AD203B41FA5}">
                      <a16:colId xmlns:a16="http://schemas.microsoft.com/office/drawing/2014/main" val="1769627287"/>
                    </a:ext>
                  </a:extLst>
                </a:gridCol>
                <a:gridCol w="3613512">
                  <a:extLst>
                    <a:ext uri="{9D8B030D-6E8A-4147-A177-3AD203B41FA5}">
                      <a16:colId xmlns:a16="http://schemas.microsoft.com/office/drawing/2014/main" val="1181378614"/>
                    </a:ext>
                  </a:extLst>
                </a:gridCol>
                <a:gridCol w="2763267">
                  <a:extLst>
                    <a:ext uri="{9D8B030D-6E8A-4147-A177-3AD203B41FA5}">
                      <a16:colId xmlns:a16="http://schemas.microsoft.com/office/drawing/2014/main" val="3177672365"/>
                    </a:ext>
                  </a:extLst>
                </a:gridCol>
                <a:gridCol w="2206464">
                  <a:extLst>
                    <a:ext uri="{9D8B030D-6E8A-4147-A177-3AD203B41FA5}">
                      <a16:colId xmlns:a16="http://schemas.microsoft.com/office/drawing/2014/main" val="3374669340"/>
                    </a:ext>
                  </a:extLst>
                </a:gridCol>
              </a:tblGrid>
              <a:tr h="46457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Sr. 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Description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No. of Drawings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%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351528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(B+C)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468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039783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 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(RFC+b1+b2+b3)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Approved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468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62945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RFC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RFC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483956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A1-Category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004815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A2-Category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768523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I-Category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731671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Pending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33873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1441BE7-FEBF-6E44-5065-36686F7F2A1D}"/>
              </a:ext>
            </a:extLst>
          </p:cNvPr>
          <p:cNvSpPr txBox="1"/>
          <p:nvPr/>
        </p:nvSpPr>
        <p:spPr>
          <a:xfrm>
            <a:off x="564762" y="4513277"/>
            <a:ext cx="40015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+mj-lt"/>
              </a:rPr>
              <a:t>A1-Category: Approved</a:t>
            </a:r>
          </a:p>
          <a:p>
            <a:r>
              <a:rPr lang="en-US" sz="1400">
                <a:latin typeface="+mj-lt"/>
              </a:rPr>
              <a:t>A2-Category: Approved with Comments</a:t>
            </a:r>
          </a:p>
          <a:p>
            <a:r>
              <a:rPr lang="en-US" sz="1400" b="0" i="0" u="none" strike="noStrike">
                <a:solidFill>
                  <a:srgbClr val="000000"/>
                </a:solidFill>
                <a:effectLst/>
                <a:latin typeface="+mj-lt"/>
              </a:rPr>
              <a:t>I-Category: Information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3DB6A0C-C1F5-C37F-9A14-A4C70A9103BB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4F8B1E0-A6C5-4A01-86A0-BE5B8CAA4EE9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 algn="r"/>
              <a:t>17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774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3E9ED-687A-CA36-52B7-302C70A20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4BD3D-3770-3FD5-5B8F-C5803FB20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47" y="121087"/>
            <a:ext cx="11577483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600 MW Baiya: Procurement &amp; 3 month rolling plan for Supply Status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CDD851-E8E4-6561-3D9F-5F21117B3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564F93-C034-D9FA-BB09-58DFEF829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442369"/>
              </p:ext>
            </p:extLst>
          </p:nvPr>
        </p:nvGraphicFramePr>
        <p:xfrm>
          <a:off x="369646" y="791758"/>
          <a:ext cx="11389539" cy="5419860"/>
        </p:xfrm>
        <a:graphic>
          <a:graphicData uri="http://schemas.openxmlformats.org/drawingml/2006/table">
            <a:tbl>
              <a:tblPr/>
              <a:tblGrid>
                <a:gridCol w="652956">
                  <a:extLst>
                    <a:ext uri="{9D8B030D-6E8A-4147-A177-3AD203B41FA5}">
                      <a16:colId xmlns:a16="http://schemas.microsoft.com/office/drawing/2014/main" val="3527570137"/>
                    </a:ext>
                  </a:extLst>
                </a:gridCol>
                <a:gridCol w="2750559">
                  <a:extLst>
                    <a:ext uri="{9D8B030D-6E8A-4147-A177-3AD203B41FA5}">
                      <a16:colId xmlns:a16="http://schemas.microsoft.com/office/drawing/2014/main" val="594724079"/>
                    </a:ext>
                  </a:extLst>
                </a:gridCol>
                <a:gridCol w="627282">
                  <a:extLst>
                    <a:ext uri="{9D8B030D-6E8A-4147-A177-3AD203B41FA5}">
                      <a16:colId xmlns:a16="http://schemas.microsoft.com/office/drawing/2014/main" val="249969732"/>
                    </a:ext>
                  </a:extLst>
                </a:gridCol>
                <a:gridCol w="777583">
                  <a:extLst>
                    <a:ext uri="{9D8B030D-6E8A-4147-A177-3AD203B41FA5}">
                      <a16:colId xmlns:a16="http://schemas.microsoft.com/office/drawing/2014/main" val="1410995038"/>
                    </a:ext>
                  </a:extLst>
                </a:gridCol>
                <a:gridCol w="1445651">
                  <a:extLst>
                    <a:ext uri="{9D8B030D-6E8A-4147-A177-3AD203B41FA5}">
                      <a16:colId xmlns:a16="http://schemas.microsoft.com/office/drawing/2014/main" val="3951303004"/>
                    </a:ext>
                  </a:extLst>
                </a:gridCol>
                <a:gridCol w="1445651">
                  <a:extLst>
                    <a:ext uri="{9D8B030D-6E8A-4147-A177-3AD203B41FA5}">
                      <a16:colId xmlns:a16="http://schemas.microsoft.com/office/drawing/2014/main" val="4221223311"/>
                    </a:ext>
                  </a:extLst>
                </a:gridCol>
                <a:gridCol w="1445651">
                  <a:extLst>
                    <a:ext uri="{9D8B030D-6E8A-4147-A177-3AD203B41FA5}">
                      <a16:colId xmlns:a16="http://schemas.microsoft.com/office/drawing/2014/main" val="2402104859"/>
                    </a:ext>
                  </a:extLst>
                </a:gridCol>
                <a:gridCol w="737606">
                  <a:extLst>
                    <a:ext uri="{9D8B030D-6E8A-4147-A177-3AD203B41FA5}">
                      <a16:colId xmlns:a16="http://schemas.microsoft.com/office/drawing/2014/main" val="957957447"/>
                    </a:ext>
                  </a:extLst>
                </a:gridCol>
                <a:gridCol w="753300">
                  <a:extLst>
                    <a:ext uri="{9D8B030D-6E8A-4147-A177-3AD203B41FA5}">
                      <a16:colId xmlns:a16="http://schemas.microsoft.com/office/drawing/2014/main" val="2421050457"/>
                    </a:ext>
                  </a:extLst>
                </a:gridCol>
                <a:gridCol w="753300">
                  <a:extLst>
                    <a:ext uri="{9D8B030D-6E8A-4147-A177-3AD203B41FA5}">
                      <a16:colId xmlns:a16="http://schemas.microsoft.com/office/drawing/2014/main" val="4034566862"/>
                    </a:ext>
                  </a:extLst>
                </a:gridCol>
              </a:tblGrid>
              <a:tr h="58069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err="1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S.No</a:t>
                      </a: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Packages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UOM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Ordering Completed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Balance</a:t>
                      </a:r>
                    </a:p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Ordering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Delivered at Site up to Aug’26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Forecast delivery schedule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586985"/>
                  </a:ext>
                </a:extLst>
              </a:tr>
              <a:tr h="33898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Sep-26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Oct-26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Nov-26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655213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Module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816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816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816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2925294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MMS - FT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600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054677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IDT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52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685649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Inverter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Nos.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2142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2142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2142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203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203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203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536533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Panel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Nos.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51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322109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LT Panel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Nos.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816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816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816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406345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Cable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km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255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255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255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412649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LT Cable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km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729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729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729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950569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Control Cable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km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106721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DC Cable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km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4808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4808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4808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35205"/>
                  </a:ext>
                </a:extLst>
              </a:tr>
              <a:tr h="409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Robotic Module Cleaning System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Nos.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2268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2268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2268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196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316596"/>
                  </a:ext>
                </a:extLst>
              </a:tr>
            </a:tbl>
          </a:graphicData>
        </a:graphic>
      </p:graphicFrame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75491C74-3F32-3FE1-AD2A-D3469B8EBAE5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4F8B1E0-A6C5-4A01-86A0-BE5B8CAA4EE9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 algn="r"/>
              <a:t>18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599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BD25F-A505-444E-D357-718834EA0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A6BD1-1823-56A2-DD9D-29CD6644D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958" y="136938"/>
            <a:ext cx="11577483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600 MW Baiya: Construction Progress Update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9054B9-90BE-7364-2C29-CBBC82757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B9FF8C08-7587-D074-D7A8-B511709B3B2E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F8B1E0-A6C5-4A01-86A0-BE5B8CAA4EE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dani Regular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dani Regular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BA72AC-BCAA-A72C-AD5C-C7F37B6F68D4}"/>
              </a:ext>
            </a:extLst>
          </p:cNvPr>
          <p:cNvGraphicFramePr>
            <a:graphicFrameLocks noGrp="1"/>
          </p:cNvGraphicFramePr>
          <p:nvPr/>
        </p:nvGraphicFramePr>
        <p:xfrm>
          <a:off x="541274" y="698214"/>
          <a:ext cx="11135614" cy="5455701"/>
        </p:xfrm>
        <a:graphic>
          <a:graphicData uri="http://schemas.openxmlformats.org/drawingml/2006/table">
            <a:tbl>
              <a:tblPr/>
              <a:tblGrid>
                <a:gridCol w="2092696">
                  <a:extLst>
                    <a:ext uri="{9D8B030D-6E8A-4147-A177-3AD203B41FA5}">
                      <a16:colId xmlns:a16="http://schemas.microsoft.com/office/drawing/2014/main" val="3157159830"/>
                    </a:ext>
                  </a:extLst>
                </a:gridCol>
                <a:gridCol w="755696">
                  <a:extLst>
                    <a:ext uri="{9D8B030D-6E8A-4147-A177-3AD203B41FA5}">
                      <a16:colId xmlns:a16="http://schemas.microsoft.com/office/drawing/2014/main" val="3023153875"/>
                    </a:ext>
                  </a:extLst>
                </a:gridCol>
                <a:gridCol w="1035448">
                  <a:extLst>
                    <a:ext uri="{9D8B030D-6E8A-4147-A177-3AD203B41FA5}">
                      <a16:colId xmlns:a16="http://schemas.microsoft.com/office/drawing/2014/main" val="3848692980"/>
                    </a:ext>
                  </a:extLst>
                </a:gridCol>
                <a:gridCol w="1017283">
                  <a:extLst>
                    <a:ext uri="{9D8B030D-6E8A-4147-A177-3AD203B41FA5}">
                      <a16:colId xmlns:a16="http://schemas.microsoft.com/office/drawing/2014/main" val="2244535169"/>
                    </a:ext>
                  </a:extLst>
                </a:gridCol>
                <a:gridCol w="988218">
                  <a:extLst>
                    <a:ext uri="{9D8B030D-6E8A-4147-A177-3AD203B41FA5}">
                      <a16:colId xmlns:a16="http://schemas.microsoft.com/office/drawing/2014/main" val="2342712344"/>
                    </a:ext>
                  </a:extLst>
                </a:gridCol>
                <a:gridCol w="828359">
                  <a:extLst>
                    <a:ext uri="{9D8B030D-6E8A-4147-A177-3AD203B41FA5}">
                      <a16:colId xmlns:a16="http://schemas.microsoft.com/office/drawing/2014/main" val="2929588198"/>
                    </a:ext>
                  </a:extLst>
                </a:gridCol>
                <a:gridCol w="857424">
                  <a:extLst>
                    <a:ext uri="{9D8B030D-6E8A-4147-A177-3AD203B41FA5}">
                      <a16:colId xmlns:a16="http://schemas.microsoft.com/office/drawing/2014/main" val="3956469048"/>
                    </a:ext>
                  </a:extLst>
                </a:gridCol>
                <a:gridCol w="857424">
                  <a:extLst>
                    <a:ext uri="{9D8B030D-6E8A-4147-A177-3AD203B41FA5}">
                      <a16:colId xmlns:a16="http://schemas.microsoft.com/office/drawing/2014/main" val="287718377"/>
                    </a:ext>
                  </a:extLst>
                </a:gridCol>
                <a:gridCol w="828359">
                  <a:extLst>
                    <a:ext uri="{9D8B030D-6E8A-4147-A177-3AD203B41FA5}">
                      <a16:colId xmlns:a16="http://schemas.microsoft.com/office/drawing/2014/main" val="3778989479"/>
                    </a:ext>
                  </a:extLst>
                </a:gridCol>
                <a:gridCol w="828359">
                  <a:extLst>
                    <a:ext uri="{9D8B030D-6E8A-4147-A177-3AD203B41FA5}">
                      <a16:colId xmlns:a16="http://schemas.microsoft.com/office/drawing/2014/main" val="3711178527"/>
                    </a:ext>
                  </a:extLst>
                </a:gridCol>
                <a:gridCol w="1046348">
                  <a:extLst>
                    <a:ext uri="{9D8B030D-6E8A-4147-A177-3AD203B41FA5}">
                      <a16:colId xmlns:a16="http://schemas.microsoft.com/office/drawing/2014/main" val="1974849027"/>
                    </a:ext>
                  </a:extLst>
                </a:gridCol>
              </a:tblGrid>
              <a:tr h="779385"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UOM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Scope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Completed upto Aug’26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Balance as on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Aug’26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For the Month Aug'26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Next 3 Month Rolling Plan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Completion 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198709"/>
                  </a:ext>
                </a:extLst>
              </a:tr>
              <a:tr h="30881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Plan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Nov-26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988735"/>
                  </a:ext>
                </a:extLst>
              </a:tr>
              <a:tr h="2941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Piling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3,01,798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1,79,613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1,22,185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5,507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38,564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27,545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10-Feb-27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421292"/>
                  </a:ext>
                </a:extLst>
              </a:tr>
              <a:tr h="2941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MMS - FT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Tables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24,582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13,232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11,350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170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2,485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2,174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20-Feb-27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943782"/>
                  </a:ext>
                </a:extLst>
              </a:tr>
              <a:tr h="2941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IDT Foundation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Blocks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 52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45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  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24-Oct-26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798303"/>
                  </a:ext>
                </a:extLst>
              </a:tr>
              <a:tr h="2941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&amp; LT Slab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Blocks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 52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44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 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24-Oct-26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94327"/>
                  </a:ext>
                </a:extLst>
              </a:tr>
              <a:tr h="2941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&amp; LT Canopy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Blocks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 52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38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14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             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24-Nov-26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771411"/>
                  </a:ext>
                </a:extLst>
              </a:tr>
              <a:tr h="2941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IDT Erection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Blocks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 52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37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15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18-Nov-26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692668"/>
                  </a:ext>
                </a:extLst>
              </a:tr>
              <a:tr h="2941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Panel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Blocks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 52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33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 19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10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25-Nov-26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934542"/>
                  </a:ext>
                </a:extLst>
              </a:tr>
              <a:tr h="2941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LT Panel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832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500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332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148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188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120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30-Nov-26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425557"/>
                  </a:ext>
                </a:extLst>
              </a:tr>
              <a:tr h="2941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Inverter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2,130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1,262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868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220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100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28-Jan-27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705460"/>
                  </a:ext>
                </a:extLst>
              </a:tr>
              <a:tr h="2941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LT Cabling Works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Kms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521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303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218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80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36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28-Jan-27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869518"/>
                  </a:ext>
                </a:extLst>
              </a:tr>
              <a:tr h="2941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Cabling Works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Kms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231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207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24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26-Oct-26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1699"/>
                  </a:ext>
                </a:extLst>
              </a:tr>
              <a:tr h="2941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Module [Erection]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MWdc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834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409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425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66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76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03-Mar-27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759046"/>
                  </a:ext>
                </a:extLst>
              </a:tr>
              <a:tr h="2941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MC4 &amp; VOC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MWdc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834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372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462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04-Mar-27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11909"/>
                  </a:ext>
                </a:extLst>
              </a:tr>
              <a:tr h="26469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CEA Inspection &amp; Approval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600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251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349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05-Mar-27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873707"/>
                  </a:ext>
                </a:extLst>
              </a:tr>
              <a:tr h="27940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Commissioning &amp; Trial Run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600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  251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349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            -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23-Mar-27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688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092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09835-1410-2373-330F-EE1EB3E12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6BD52-BD0E-B371-9EF8-526FFD5D0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47" y="165332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600 MW Baiya: Major Milestone – Next 3 months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462C97-1F8F-FCFF-BDDE-8D87F565E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57EDD939-ACCC-82E9-6549-5FFDDD7FA5AD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4F8B1E0-A6C5-4A01-86A0-BE5B8CAA4EE9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 algn="r"/>
              <a:t>20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2226DF-97B6-D90A-3DE5-783E00931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473628"/>
              </p:ext>
            </p:extLst>
          </p:nvPr>
        </p:nvGraphicFramePr>
        <p:xfrm>
          <a:off x="580573" y="745228"/>
          <a:ext cx="6606611" cy="21229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6611">
                  <a:extLst>
                    <a:ext uri="{9D8B030D-6E8A-4147-A177-3AD203B41FA5}">
                      <a16:colId xmlns:a16="http://schemas.microsoft.com/office/drawing/2014/main" val="864173240"/>
                    </a:ext>
                  </a:extLst>
                </a:gridCol>
              </a:tblGrid>
              <a:tr h="5846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Oct’26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064186"/>
                  </a:ext>
                </a:extLst>
              </a:tr>
              <a:tr h="15382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Milestone: 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Start of Piling work for Phase-III (90 MW) &amp; Phase-IV (120 MW).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Status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: Bush cutting permission required to progress further work.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Hearing on 20-Aug-26 conducted, next hearing is scheduled on 18-Sep-26.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566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4265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4BD4F-2CF9-C786-AE83-8BFCC00B2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EE81DFF-C46F-83F0-A5CE-E77063A661E4}"/>
              </a:ext>
            </a:extLst>
          </p:cNvPr>
          <p:cNvSpPr txBox="1">
            <a:spLocks/>
          </p:cNvSpPr>
          <p:nvPr/>
        </p:nvSpPr>
        <p:spPr>
          <a:xfrm>
            <a:off x="561975" y="144872"/>
            <a:ext cx="10512915" cy="424449"/>
          </a:xfrm>
          <a:prstGeom prst="rect">
            <a:avLst/>
          </a:prstGeom>
          <a:noFill/>
        </p:spPr>
        <p:txBody>
          <a:bodyPr vert="horz" wrap="square" lIns="0" tIns="45580" rIns="91157" bIns="45580" rtlCol="0" anchor="b">
            <a:spAutoFit/>
          </a:bodyPr>
          <a:lstStyle>
            <a:lvl1pPr marL="109192" defTabSz="911377">
              <a:lnSpc>
                <a:spcPct val="90000"/>
              </a:lnSpc>
              <a:spcBef>
                <a:spcPct val="0"/>
              </a:spcBef>
              <a:buNone/>
              <a:defRPr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</a:defRPr>
            </a:lvl1pPr>
          </a:lstStyle>
          <a:p>
            <a:pPr marL="0"/>
            <a:r>
              <a:rPr lang="en-US"/>
              <a:t>600 MW Baiya: Manpower Deployment Plan vs Actual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725308-7210-14B6-B388-E80FBB53ABF6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4F8B1E0-A6C5-4A01-86A0-BE5B8CAA4EE9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 algn="r"/>
              <a:t>21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C26CF29-5AAF-4103-9580-26ABC59F0B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2828592"/>
              </p:ext>
            </p:extLst>
          </p:nvPr>
        </p:nvGraphicFramePr>
        <p:xfrm>
          <a:off x="561975" y="740229"/>
          <a:ext cx="11246847" cy="5766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37925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571376A-649B-EF15-52C4-CD2D8EA9D2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3290887"/>
            <a:ext cx="10404475" cy="2762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>
                <a:latin typeface="Adani Regular" panose="02000503000000020004" pitchFamily="2" charset="0"/>
              </a:rPr>
              <a:t>Thank You</a:t>
            </a: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43EC949C-14E3-86D0-298B-D249DEF74BE0}"/>
              </a:ext>
            </a:extLst>
          </p:cNvPr>
          <p:cNvGrpSpPr/>
          <p:nvPr/>
        </p:nvGrpSpPr>
        <p:grpSpPr>
          <a:xfrm>
            <a:off x="521208" y="543305"/>
            <a:ext cx="7921625" cy="52705"/>
            <a:chOff x="521208" y="543305"/>
            <a:chExt cx="7921625" cy="52705"/>
          </a:xfrm>
        </p:grpSpPr>
        <p:pic>
          <p:nvPicPr>
            <p:cNvPr id="3" name="object 5">
              <a:extLst>
                <a:ext uri="{FF2B5EF4-FFF2-40B4-BE49-F238E27FC236}">
                  <a16:creationId xmlns:a16="http://schemas.microsoft.com/office/drawing/2014/main" id="{591908A6-ACD6-2086-C295-4DA207BDC8D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1208" y="543305"/>
              <a:ext cx="5022342" cy="45720"/>
            </a:xfrm>
            <a:prstGeom prst="rect">
              <a:avLst/>
            </a:prstGeom>
          </p:spPr>
        </p:pic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EC56DCF2-5BDA-B1A0-8207-9A8493E929A9}"/>
                </a:ext>
              </a:extLst>
            </p:cNvPr>
            <p:cNvSpPr/>
            <p:nvPr/>
          </p:nvSpPr>
          <p:spPr>
            <a:xfrm>
              <a:off x="521589" y="590930"/>
              <a:ext cx="7921625" cy="0"/>
            </a:xfrm>
            <a:custGeom>
              <a:avLst/>
              <a:gdLst/>
              <a:ahLst/>
              <a:cxnLst/>
              <a:rect l="l" t="t" r="r" b="b"/>
              <a:pathLst>
                <a:path w="7921625">
                  <a:moveTo>
                    <a:pt x="0" y="0"/>
                  </a:moveTo>
                  <a:lnTo>
                    <a:pt x="7921116" y="0"/>
                  </a:lnTo>
                </a:path>
              </a:pathLst>
            </a:custGeom>
            <a:ln w="952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9638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T">
      <a:majorFont>
        <a:latin typeface="Adani Regular"/>
        <a:ea typeface=""/>
        <a:cs typeface=""/>
      </a:majorFont>
      <a:minorFont>
        <a:latin typeface="Adani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Time xmlns="4b0af4b3-07bf-413a-aea0-81de99942a5f" xsi:nil="true"/>
    <lcf76f155ced4ddcb4097134ff3c332f xmlns="4b0af4b3-07bf-413a-aea0-81de99942a5f">
      <Terms xmlns="http://schemas.microsoft.com/office/infopath/2007/PartnerControls"/>
    </lcf76f155ced4ddcb4097134ff3c332f>
    <History xmlns="4b0af4b3-07bf-413a-aea0-81de99942a5f" xsi:nil="true"/>
    <TaxCatchAll xmlns="ffe3c74f-61e8-4c5b-bf2f-f596927c8ff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92E9080220D84BBED9FCDBEF1B5C47" ma:contentTypeVersion="16" ma:contentTypeDescription="Create a new document." ma:contentTypeScope="" ma:versionID="9cae68be07acca408ecef65a74970196">
  <xsd:schema xmlns:xsd="http://www.w3.org/2001/XMLSchema" xmlns:xs="http://www.w3.org/2001/XMLSchema" xmlns:p="http://schemas.microsoft.com/office/2006/metadata/properties" xmlns:ns2="4b0af4b3-07bf-413a-aea0-81de99942a5f" xmlns:ns3="ffe3c74f-61e8-4c5b-bf2f-f596927c8ffb" targetNamespace="http://schemas.microsoft.com/office/2006/metadata/properties" ma:root="true" ma:fieldsID="2122b5f6738d9bc9e4a485c0d0ca3f61" ns2:_="" ns3:_="">
    <xsd:import namespace="4b0af4b3-07bf-413a-aea0-81de99942a5f"/>
    <xsd:import namespace="ffe3c74f-61e8-4c5b-bf2f-f596927c8f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DateTime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Hist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0af4b3-07bf-413a-aea0-81de99942a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eTime" ma:index="12" nillable="true" ma:displayName="Date &amp; Time" ma:format="DateTime" ma:internalName="DateTime">
      <xsd:simpleType>
        <xsd:restriction base="dms:DateTime"/>
      </xsd:simpleType>
    </xsd:element>
    <xsd:element name="MediaServiceBillingMetadata" ma:index="1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fb514443-b7a3-4086-9c59-89a49c0c91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8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History" ma:index="23" nillable="true" ma:displayName="History " ma:format="Dropdown" ma:internalName="History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e3c74f-61e8-4c5b-bf2f-f596927c8ff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8f27ac6-ee86-42f7-a42c-69380e9f4440}" ma:internalName="TaxCatchAll" ma:showField="CatchAllData" ma:web="ffe3c74f-61e8-4c5b-bf2f-f596927c8f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1B6001-0436-4A0E-B8A7-4DD8A3E12C48}">
  <ds:schemaRefs>
    <ds:schemaRef ds:uri="4b0af4b3-07bf-413a-aea0-81de99942a5f"/>
    <ds:schemaRef ds:uri="ffe3c74f-61e8-4c5b-bf2f-f596927c8ff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4D6E12E-AEDC-4FAD-9B3F-C4D3179DAFA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FA6F43-37A5-43E9-937C-88610E122C26}">
  <ds:schemaRefs>
    <ds:schemaRef ds:uri="4b0af4b3-07bf-413a-aea0-81de99942a5f"/>
    <ds:schemaRef ds:uri="ffe3c74f-61e8-4c5b-bf2f-f596927c8ff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2061</Words>
  <Application>Microsoft Office PowerPoint</Application>
  <PresentationFormat>Widescreen</PresentationFormat>
  <Paragraphs>956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Adani Light</vt:lpstr>
      <vt:lpstr>Adani Medium</vt:lpstr>
      <vt:lpstr>Adani Regular</vt:lpstr>
      <vt:lpstr>Aptos</vt:lpstr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MLP T1 TN 500 MW Bandha Solar Project</vt:lpstr>
      <vt:lpstr>500 MW Bandha: Salient Project Features</vt:lpstr>
      <vt:lpstr>500 MW Bandha: Project Plot Plan</vt:lpstr>
      <vt:lpstr>500 MW Bandha: Overall S Curve</vt:lpstr>
      <vt:lpstr>PowerPoint Presentation</vt:lpstr>
      <vt:lpstr>500 MW Bandha: Procurement &amp; 3 month rolling plan for Supply Status</vt:lpstr>
      <vt:lpstr>500 MW Bandha: Construction Progress Update </vt:lpstr>
      <vt:lpstr>500 MW Bandha: Major Milestone – Next 3 months</vt:lpstr>
      <vt:lpstr>PowerPoint Presentation</vt:lpstr>
      <vt:lpstr>NHPC BOO 600 MW Baiya Solar Project</vt:lpstr>
      <vt:lpstr>600 MW Baiya: Salient Project Features</vt:lpstr>
      <vt:lpstr>600 MW Baiya: Project Plot Plan</vt:lpstr>
      <vt:lpstr>600 MW Baiya: Overall S Curve</vt:lpstr>
      <vt:lpstr>PowerPoint Presentation</vt:lpstr>
      <vt:lpstr>600 MW Baiya: Procurement &amp; 3 month rolling plan for Supply Status</vt:lpstr>
      <vt:lpstr>600 MW Baiya: Construction Progress Update </vt:lpstr>
      <vt:lpstr>600 MW Baiya: Major Milestone – Next 3 months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Rahulsingh Tomar</dc:creator>
  <cp:lastModifiedBy>Satya Nagar</cp:lastModifiedBy>
  <cp:revision>1</cp:revision>
  <cp:lastPrinted>2024-07-02T12:11:54Z</cp:lastPrinted>
  <dcterms:created xsi:type="dcterms:W3CDTF">2023-08-27T05:23:05Z</dcterms:created>
  <dcterms:modified xsi:type="dcterms:W3CDTF">2026-09-09T06:44:34Z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0x010100A992E9080220D84BBED9FCDBEF1B5C47</vt:lpwstr>
  </property>
  <property fmtid="{D5CDD505-2E9C-101B-9397-08002B2CF9AE}" pid="3" name="Order">
    <vt:r8>225357400</vt:r8>
  </property>
  <property fmtid="{D5CDD505-2E9C-101B-9397-08002B2CF9AE}" pid="4" name="ComplianceAssetId">
    <vt:lpwstr/>
  </property>
  <property fmtid="{D5CDD505-2E9C-101B-9397-08002B2CF9AE}" pid="5" name="_activity">
    <vt:lpwstr>{"FileActivityType":"6","FileActivityTimeStamp":"2026-02-05T06:56:55.710Z","FileActivityUsersOnPage":[{"DisplayName":"Satya Nagar","Id":"30135924@adani.com"}],"FileActivityNavigationId":null}</vt:lpwstr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MediaServiceImageTags">
    <vt:lpwstr/>
  </property>
</Properties>
</file>