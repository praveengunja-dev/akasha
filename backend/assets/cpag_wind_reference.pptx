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82" r:id="rId6"/>
  </p:sldMasterIdLst>
  <p:notesMasterIdLst>
    <p:notesMasterId r:id="rId20"/>
  </p:notesMasterIdLst>
  <p:handoutMasterIdLst>
    <p:handoutMasterId r:id="rId21"/>
  </p:handoutMasterIdLst>
  <p:sldIdLst>
    <p:sldId id="256" r:id="rId7"/>
    <p:sldId id="2147376139" r:id="rId8"/>
    <p:sldId id="2147378532" r:id="rId9"/>
    <p:sldId id="2147482500" r:id="rId10"/>
    <p:sldId id="2147483643" r:id="rId11"/>
    <p:sldId id="2147482540" r:id="rId12"/>
    <p:sldId id="2147482536" r:id="rId13"/>
    <p:sldId id="2147482487" r:id="rId14"/>
    <p:sldId id="2147482538" r:id="rId15"/>
    <p:sldId id="264" r:id="rId16"/>
    <p:sldId id="2147482567" r:id="rId17"/>
    <p:sldId id="2147376764" r:id="rId18"/>
    <p:sldId id="2146848161" r:id="rId1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4A2"/>
    <a:srgbClr val="4F81BD"/>
    <a:srgbClr val="7030A0"/>
    <a:srgbClr val="4BACC6"/>
    <a:srgbClr val="66FF33"/>
    <a:srgbClr val="B9CDE5"/>
    <a:srgbClr val="EAD8F4"/>
    <a:srgbClr val="E1C7EF"/>
    <a:srgbClr val="DFD1EF"/>
    <a:srgbClr val="ECE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F291B-89B8-46B4-BCD6-EBA63C644087}" v="23" dt="2026-09-08T11:07:34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ra Sathe" userId="cb7e5082-8969-4301-89ed-8aa901a200bd" providerId="ADAL" clId="{2781F281-2C6B-460C-94ED-9BCEC613F48B}"/>
    <pc:docChg chg="undo custSel modSld">
      <pc:chgData name="Chitra Sathe" userId="cb7e5082-8969-4301-89ed-8aa901a200bd" providerId="ADAL" clId="{2781F281-2C6B-460C-94ED-9BCEC613F48B}" dt="2026-09-08T11:09:59.441" v="1780" actId="20577"/>
      <pc:docMkLst>
        <pc:docMk/>
      </pc:docMkLst>
      <pc:sldChg chg="modSp mod">
        <pc:chgData name="Chitra Sathe" userId="cb7e5082-8969-4301-89ed-8aa901a200bd" providerId="ADAL" clId="{2781F281-2C6B-460C-94ED-9BCEC613F48B}" dt="2026-09-08T11:06:37.705" v="1750" actId="1076"/>
        <pc:sldMkLst>
          <pc:docMk/>
          <pc:sldMk cId="1160475412" sldId="256"/>
        </pc:sldMkLst>
        <pc:spChg chg="mod">
          <ac:chgData name="Chitra Sathe" userId="cb7e5082-8969-4301-89ed-8aa901a200bd" providerId="ADAL" clId="{2781F281-2C6B-460C-94ED-9BCEC613F48B}" dt="2026-09-08T11:06:37.423" v="1749" actId="1076"/>
          <ac:spMkLst>
            <pc:docMk/>
            <pc:sldMk cId="1160475412" sldId="256"/>
            <ac:spMk id="2" creationId="{2E0E2271-56F6-9272-7B94-4FDE5F4C6155}"/>
          </ac:spMkLst>
        </pc:spChg>
        <pc:spChg chg="mod">
          <ac:chgData name="Chitra Sathe" userId="cb7e5082-8969-4301-89ed-8aa901a200bd" providerId="ADAL" clId="{2781F281-2C6B-460C-94ED-9BCEC613F48B}" dt="2026-09-08T11:06:37.705" v="1750" actId="1076"/>
          <ac:spMkLst>
            <pc:docMk/>
            <pc:sldMk cId="1160475412" sldId="256"/>
            <ac:spMk id="3" creationId="{0418B459-F60D-9532-01A3-FBCDA45E76D7}"/>
          </ac:spMkLst>
        </pc:spChg>
        <pc:spChg chg="mod">
          <ac:chgData name="Chitra Sathe" userId="cb7e5082-8969-4301-89ed-8aa901a200bd" providerId="ADAL" clId="{2781F281-2C6B-460C-94ED-9BCEC613F48B}" dt="2026-09-02T08:56:51.085" v="1588" actId="20577"/>
          <ac:spMkLst>
            <pc:docMk/>
            <pc:sldMk cId="1160475412" sldId="256"/>
            <ac:spMk id="8" creationId="{643FA834-7D73-60FF-8F4B-3D8C8B4EADA1}"/>
          </ac:spMkLst>
        </pc:spChg>
      </pc:sldChg>
      <pc:sldChg chg="modSp mod">
        <pc:chgData name="Chitra Sathe" userId="cb7e5082-8969-4301-89ed-8aa901a200bd" providerId="ADAL" clId="{2781F281-2C6B-460C-94ED-9BCEC613F48B}" dt="2026-09-03T05:58:36.625" v="1728" actId="13926"/>
        <pc:sldMkLst>
          <pc:docMk/>
          <pc:sldMk cId="139408243" sldId="264"/>
        </pc:sldMkLst>
        <pc:graphicFrameChg chg="mod modGraphic">
          <ac:chgData name="Chitra Sathe" userId="cb7e5082-8969-4301-89ed-8aa901a200bd" providerId="ADAL" clId="{2781F281-2C6B-460C-94ED-9BCEC613F48B}" dt="2026-09-03T05:58:36.625" v="1728" actId="13926"/>
          <ac:graphicFrameMkLst>
            <pc:docMk/>
            <pc:sldMk cId="139408243" sldId="264"/>
            <ac:graphicFrameMk id="4" creationId="{FD0A2041-2D3E-3D19-A6C0-465647984953}"/>
          </ac:graphicFrameMkLst>
        </pc:graphicFrameChg>
      </pc:sldChg>
      <pc:sldChg chg="modSp mod">
        <pc:chgData name="Chitra Sathe" userId="cb7e5082-8969-4301-89ed-8aa901a200bd" providerId="ADAL" clId="{2781F281-2C6B-460C-94ED-9BCEC613F48B}" dt="2026-09-08T11:06:03.750" v="1746" actId="13926"/>
        <pc:sldMkLst>
          <pc:docMk/>
          <pc:sldMk cId="2887714109" sldId="2147376764"/>
        </pc:sldMkLst>
        <pc:spChg chg="mod">
          <ac:chgData name="Chitra Sathe" userId="cb7e5082-8969-4301-89ed-8aa901a200bd" providerId="ADAL" clId="{2781F281-2C6B-460C-94ED-9BCEC613F48B}" dt="2026-09-08T11:06:03.750" v="1746" actId="13926"/>
          <ac:spMkLst>
            <pc:docMk/>
            <pc:sldMk cId="2887714109" sldId="2147376764"/>
            <ac:spMk id="2" creationId="{91137688-FC03-A1E4-2B9F-6EFC819C6C89}"/>
          </ac:spMkLst>
        </pc:spChg>
        <pc:graphicFrameChg chg="modGraphic">
          <ac:chgData name="Chitra Sathe" userId="cb7e5082-8969-4301-89ed-8aa901a200bd" providerId="ADAL" clId="{2781F281-2C6B-460C-94ED-9BCEC613F48B}" dt="2026-09-08T11:05:58.917" v="1745" actId="20577"/>
          <ac:graphicFrameMkLst>
            <pc:docMk/>
            <pc:sldMk cId="2887714109" sldId="2147376764"/>
            <ac:graphicFrameMk id="5" creationId="{DBCECB36-804E-13A2-EDA0-18DF2C236ECE}"/>
          </ac:graphicFrameMkLst>
        </pc:graphicFrameChg>
      </pc:sldChg>
      <pc:sldChg chg="modSp mod">
        <pc:chgData name="Chitra Sathe" userId="cb7e5082-8969-4301-89ed-8aa901a200bd" providerId="ADAL" clId="{2781F281-2C6B-460C-94ED-9BCEC613F48B}" dt="2026-09-03T05:32:52.571" v="1667" actId="20577"/>
        <pc:sldMkLst>
          <pc:docMk/>
          <pc:sldMk cId="281574430" sldId="2147378532"/>
        </pc:sldMkLst>
        <pc:graphicFrameChg chg="modGraphic">
          <ac:chgData name="Chitra Sathe" userId="cb7e5082-8969-4301-89ed-8aa901a200bd" providerId="ADAL" clId="{2781F281-2C6B-460C-94ED-9BCEC613F48B}" dt="2026-09-03T05:32:52.571" v="1667" actId="20577"/>
          <ac:graphicFrameMkLst>
            <pc:docMk/>
            <pc:sldMk cId="281574430" sldId="2147378532"/>
            <ac:graphicFrameMk id="11" creationId="{F97884D0-27D2-932F-9C20-A467221E5846}"/>
          </ac:graphicFrameMkLst>
        </pc:graphicFrameChg>
      </pc:sldChg>
      <pc:sldChg chg="modSp mod">
        <pc:chgData name="Chitra Sathe" userId="cb7e5082-8969-4301-89ed-8aa901a200bd" providerId="ADAL" clId="{2781F281-2C6B-460C-94ED-9BCEC613F48B}" dt="2026-09-03T05:57:41.759" v="1726" actId="20577"/>
        <pc:sldMkLst>
          <pc:docMk/>
          <pc:sldMk cId="3298201261" sldId="2147482487"/>
        </pc:sldMkLst>
        <pc:graphicFrameChg chg="mod modGraphic">
          <ac:chgData name="Chitra Sathe" userId="cb7e5082-8969-4301-89ed-8aa901a200bd" providerId="ADAL" clId="{2781F281-2C6B-460C-94ED-9BCEC613F48B}" dt="2026-09-03T05:57:41.759" v="1726" actId="20577"/>
          <ac:graphicFrameMkLst>
            <pc:docMk/>
            <pc:sldMk cId="3298201261" sldId="2147482487"/>
            <ac:graphicFrameMk id="3" creationId="{FB9F1A19-B322-9C92-A5BE-7D29481C8492}"/>
          </ac:graphicFrameMkLst>
        </pc:graphicFrameChg>
      </pc:sldChg>
      <pc:sldChg chg="modSp mod">
        <pc:chgData name="Chitra Sathe" userId="cb7e5082-8969-4301-89ed-8aa901a200bd" providerId="ADAL" clId="{2781F281-2C6B-460C-94ED-9BCEC613F48B}" dt="2026-09-08T11:08:05.164" v="1774" actId="2711"/>
        <pc:sldMkLst>
          <pc:docMk/>
          <pc:sldMk cId="2860789792" sldId="2147482500"/>
        </pc:sldMkLst>
        <pc:graphicFrameChg chg="mod">
          <ac:chgData name="Chitra Sathe" userId="cb7e5082-8969-4301-89ed-8aa901a200bd" providerId="ADAL" clId="{2781F281-2C6B-460C-94ED-9BCEC613F48B}" dt="2026-09-08T11:07:05.563" v="1759"/>
          <ac:graphicFrameMkLst>
            <pc:docMk/>
            <pc:sldMk cId="2860789792" sldId="2147482500"/>
            <ac:graphicFrameMk id="19" creationId="{53BFD121-8EB3-0D80-2FCA-916725B910C5}"/>
          </ac:graphicFrameMkLst>
        </pc:graphicFrameChg>
        <pc:graphicFrameChg chg="mod modGraphic">
          <ac:chgData name="Chitra Sathe" userId="cb7e5082-8969-4301-89ed-8aa901a200bd" providerId="ADAL" clId="{2781F281-2C6B-460C-94ED-9BCEC613F48B}" dt="2026-09-08T11:08:05.164" v="1774" actId="2711"/>
          <ac:graphicFrameMkLst>
            <pc:docMk/>
            <pc:sldMk cId="2860789792" sldId="2147482500"/>
            <ac:graphicFrameMk id="20" creationId="{C2A7A4C4-1BA8-C080-D994-4EA6D182276D}"/>
          </ac:graphicFrameMkLst>
        </pc:graphicFrameChg>
      </pc:sldChg>
      <pc:sldChg chg="addSp delSp modSp mod">
        <pc:chgData name="Chitra Sathe" userId="cb7e5082-8969-4301-89ed-8aa901a200bd" providerId="ADAL" clId="{2781F281-2C6B-460C-94ED-9BCEC613F48B}" dt="2026-09-08T11:09:59.441" v="1780" actId="20577"/>
        <pc:sldMkLst>
          <pc:docMk/>
          <pc:sldMk cId="2576708610" sldId="2147482536"/>
        </pc:sldMkLst>
        <pc:graphicFrameChg chg="add mod">
          <ac:chgData name="Chitra Sathe" userId="cb7e5082-8969-4301-89ed-8aa901a200bd" providerId="ADAL" clId="{2781F281-2C6B-460C-94ED-9BCEC613F48B}" dt="2026-09-08T11:08:44.370" v="1775" actId="14100"/>
          <ac:graphicFrameMkLst>
            <pc:docMk/>
            <pc:sldMk cId="2576708610" sldId="2147482536"/>
            <ac:graphicFrameMk id="3" creationId="{DC70ADFA-B2F3-4DAD-8D47-C96827C00FA0}"/>
          </ac:graphicFrameMkLst>
        </pc:graphicFrameChg>
        <pc:graphicFrameChg chg="mod modGraphic">
          <ac:chgData name="Chitra Sathe" userId="cb7e5082-8969-4301-89ed-8aa901a200bd" providerId="ADAL" clId="{2781F281-2C6B-460C-94ED-9BCEC613F48B}" dt="2026-09-08T11:09:59.441" v="1780" actId="20577"/>
          <ac:graphicFrameMkLst>
            <pc:docMk/>
            <pc:sldMk cId="2576708610" sldId="2147482536"/>
            <ac:graphicFrameMk id="5" creationId="{DD971BFC-2F53-FBEC-74FF-D373076EB0F0}"/>
          </ac:graphicFrameMkLst>
        </pc:graphicFrameChg>
      </pc:sldChg>
      <pc:sldChg chg="modSp mod">
        <pc:chgData name="Chitra Sathe" userId="cb7e5082-8969-4301-89ed-8aa901a200bd" providerId="ADAL" clId="{2781F281-2C6B-460C-94ED-9BCEC613F48B}" dt="2026-09-08T11:09:30.925" v="1778" actId="255"/>
        <pc:sldMkLst>
          <pc:docMk/>
          <pc:sldMk cId="2321178638" sldId="2147482538"/>
        </pc:sldMkLst>
        <pc:graphicFrameChg chg="mod modGraphic">
          <ac:chgData name="Chitra Sathe" userId="cb7e5082-8969-4301-89ed-8aa901a200bd" providerId="ADAL" clId="{2781F281-2C6B-460C-94ED-9BCEC613F48B}" dt="2026-09-08T11:09:30.925" v="1778" actId="255"/>
          <ac:graphicFrameMkLst>
            <pc:docMk/>
            <pc:sldMk cId="2321178638" sldId="2147482538"/>
            <ac:graphicFrameMk id="7" creationId="{DA52CB87-07A4-57D0-AAFB-0170715EE981}"/>
          </ac:graphicFrameMkLst>
        </pc:graphicFrameChg>
      </pc:sldChg>
      <pc:sldChg chg="addSp delSp modSp mod">
        <pc:chgData name="Chitra Sathe" userId="cb7e5082-8969-4301-89ed-8aa901a200bd" providerId="ADAL" clId="{2781F281-2C6B-460C-94ED-9BCEC613F48B}" dt="2026-09-08T11:08:52.879" v="1776" actId="14100"/>
        <pc:sldMkLst>
          <pc:docMk/>
          <pc:sldMk cId="365010376" sldId="2147482567"/>
        </pc:sldMkLst>
        <pc:spChg chg="mod">
          <ac:chgData name="Chitra Sathe" userId="cb7e5082-8969-4301-89ed-8aa901a200bd" providerId="ADAL" clId="{2781F281-2C6B-460C-94ED-9BCEC613F48B}" dt="2026-09-02T09:45:19.306" v="1602" actId="13926"/>
          <ac:spMkLst>
            <pc:docMk/>
            <pc:sldMk cId="365010376" sldId="2147482567"/>
            <ac:spMk id="4" creationId="{56A5FADD-23DE-1D71-EBF0-211D8438EA6C}"/>
          </ac:spMkLst>
        </pc:spChg>
        <pc:graphicFrameChg chg="add mod">
          <ac:chgData name="Chitra Sathe" userId="cb7e5082-8969-4301-89ed-8aa901a200bd" providerId="ADAL" clId="{2781F281-2C6B-460C-94ED-9BCEC613F48B}" dt="2026-09-08T11:08:52.879" v="1776" actId="14100"/>
          <ac:graphicFrameMkLst>
            <pc:docMk/>
            <pc:sldMk cId="365010376" sldId="2147482567"/>
            <ac:graphicFrameMk id="3" creationId="{C96D7089-C312-7909-612C-FC0D7AEA433B}"/>
          </ac:graphicFrameMkLst>
        </pc:graphicFrameChg>
      </pc:sldChg>
    </pc:docChg>
  </pc:docChgLst>
  <pc:docChgLst>
    <pc:chgData name="Sanidhya Dabhi" userId="1e732084-9d7f-4d7f-82ab-9e32cfb3eed0" providerId="ADAL" clId="{73E8861E-4C3C-4D00-9F91-49E94292A308}"/>
    <pc:docChg chg="undo redo custSel addSld delSld modSld sldOrd delMainMaster">
      <pc:chgData name="Sanidhya Dabhi" userId="1e732084-9d7f-4d7f-82ab-9e32cfb3eed0" providerId="ADAL" clId="{73E8861E-4C3C-4D00-9F91-49E94292A308}" dt="2026-08-10T12:34:40.866" v="1017" actId="13926"/>
      <pc:docMkLst>
        <pc:docMk/>
      </pc:docMkLst>
      <pc:sldChg chg="modSp mod">
        <pc:chgData name="Sanidhya Dabhi" userId="1e732084-9d7f-4d7f-82ab-9e32cfb3eed0" providerId="ADAL" clId="{73E8861E-4C3C-4D00-9F91-49E94292A308}" dt="2026-08-10T12:34:40.866" v="1017" actId="13926"/>
        <pc:sldMkLst>
          <pc:docMk/>
          <pc:sldMk cId="2887714109" sldId="2147376764"/>
        </pc:sldMkLst>
        <pc:spChg chg="mod">
          <ac:chgData name="Sanidhya Dabhi" userId="1e732084-9d7f-4d7f-82ab-9e32cfb3eed0" providerId="ADAL" clId="{73E8861E-4C3C-4D00-9F91-49E94292A308}" dt="2026-08-10T12:34:40.866" v="1017" actId="13926"/>
          <ac:spMkLst>
            <pc:docMk/>
            <pc:sldMk cId="2887714109" sldId="2147376764"/>
            <ac:spMk id="2" creationId="{91137688-FC03-A1E4-2B9F-6EFC819C6C8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2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3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4200760648214322"/>
          <c:y val="1.2159965895604042E-2"/>
          <c:w val="0.85614466850309989"/>
          <c:h val="0.75937635101186551"/>
        </c:manualLayout>
      </c:layout>
      <c:barChart>
        <c:barDir val="col"/>
        <c:grouping val="clustered"/>
        <c:varyColors val="0"/>
        <c:ser>
          <c:idx val="4"/>
          <c:order val="3"/>
          <c:tx>
            <c:strRef>
              <c:f>'[Revised Working S-Curve-Mundra North 323.4 MW_August-26 -Revised AOP.xlsx]MIS'!$A$7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5B9BD5"/>
            </a:solidFill>
            <a:ln>
              <a:noFill/>
            </a:ln>
            <a:effectLst/>
          </c:spPr>
          <c:invertIfNegative val="0"/>
          <c:cat>
            <c:numRef>
              <c:f>'[Revised Working S-Curve-Mundra North 323.4 MW_August-26 -Revised AOP.xlsx]MIS'!$B$3:$Q$3</c:f>
              <c:numCache>
                <c:formatCode>[$-409]mmm/yy;@</c:formatCode>
                <c:ptCount val="1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  <c:pt idx="13">
                  <c:v>46478</c:v>
                </c:pt>
                <c:pt idx="14">
                  <c:v>46508</c:v>
                </c:pt>
                <c:pt idx="15">
                  <c:v>46539</c:v>
                </c:pt>
              </c:numCache>
            </c:numRef>
          </c:cat>
          <c:val>
            <c:numRef>
              <c:f>'[Revised Working S-Curve-Mundra North 323.4 MW_August-26 -Revised AOP.xlsx]MIS'!$B$7:$Q$7</c:f>
              <c:numCache>
                <c:formatCode>0%</c:formatCode>
                <c:ptCount val="16"/>
                <c:pt idx="0">
                  <c:v>0.67498657202011247</c:v>
                </c:pt>
                <c:pt idx="1">
                  <c:v>4.709916444838802E-2</c:v>
                </c:pt>
                <c:pt idx="2">
                  <c:v>2.3759220644779644E-2</c:v>
                </c:pt>
                <c:pt idx="3">
                  <c:v>1.8386631174208801E-2</c:v>
                </c:pt>
                <c:pt idx="4">
                  <c:v>3.1426796805678836E-2</c:v>
                </c:pt>
                <c:pt idx="5">
                  <c:v>2.473291925465837E-2</c:v>
                </c:pt>
                <c:pt idx="6">
                  <c:v>1.3141082519964487E-2</c:v>
                </c:pt>
                <c:pt idx="7">
                  <c:v>1.8606921029281298E-2</c:v>
                </c:pt>
                <c:pt idx="8">
                  <c:v>2.3643892339544559E-2</c:v>
                </c:pt>
                <c:pt idx="9">
                  <c:v>2.5280686187518442E-2</c:v>
                </c:pt>
                <c:pt idx="10">
                  <c:v>2.4443655723158875E-2</c:v>
                </c:pt>
                <c:pt idx="11">
                  <c:v>2.0259982253771125E-2</c:v>
                </c:pt>
                <c:pt idx="12" formatCode="0.0%">
                  <c:v>1.4353741496598627E-2</c:v>
                </c:pt>
                <c:pt idx="13" formatCode="0.0%">
                  <c:v>1.5759538598047906E-2</c:v>
                </c:pt>
                <c:pt idx="14" formatCode="0.0%">
                  <c:v>1.487755102040822E-2</c:v>
                </c:pt>
                <c:pt idx="15" formatCode="0.0%">
                  <c:v>9.1836734693877542E-3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A1-4D54-A7B2-7E6E4ABB9D23}"/>
            </c:ext>
          </c:extLst>
        </c:ser>
        <c:ser>
          <c:idx val="5"/>
          <c:order val="4"/>
          <c:tx>
            <c:strRef>
              <c:f>'[Revised Working S-Curve-Mundra North 323.4 MW_August-26 -Revised AOP.xlsx]MIS'!$A$8</c:f>
              <c:strCache>
                <c:ptCount val="1"/>
                <c:pt idx="0">
                  <c:v>Monthly Actual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numRef>
              <c:f>'[Revised Working S-Curve-Mundra North 323.4 MW_August-26 -Revised AOP.xlsx]MIS'!$B$3:$Q$3</c:f>
              <c:numCache>
                <c:formatCode>[$-409]mmm/yy;@</c:formatCode>
                <c:ptCount val="1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  <c:pt idx="13">
                  <c:v>46478</c:v>
                </c:pt>
                <c:pt idx="14">
                  <c:v>46508</c:v>
                </c:pt>
                <c:pt idx="15">
                  <c:v>46539</c:v>
                </c:pt>
              </c:numCache>
            </c:numRef>
          </c:cat>
          <c:val>
            <c:numRef>
              <c:f>'[Revised Working S-Curve-Mundra North 323.4 MW_August-26 -Revised AOP.xlsx]MIS'!$B$8:$Q$8</c:f>
              <c:numCache>
                <c:formatCode>0%</c:formatCode>
                <c:ptCount val="16"/>
                <c:pt idx="0">
                  <c:v>0.67498657202011247</c:v>
                </c:pt>
                <c:pt idx="1">
                  <c:v>4.7071628216504013E-2</c:v>
                </c:pt>
                <c:pt idx="2">
                  <c:v>2.3880220349009162E-2</c:v>
                </c:pt>
                <c:pt idx="3">
                  <c:v>1.6973528541851524E-2</c:v>
                </c:pt>
                <c:pt idx="4">
                  <c:v>2.3457556935817747E-2</c:v>
                </c:pt>
                <c:pt idx="5">
                  <c:v>1.8684117125110866E-2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A1-4D54-A7B2-7E6E4ABB9D23}"/>
            </c:ext>
          </c:extLst>
        </c:ser>
        <c:ser>
          <c:idx val="6"/>
          <c:order val="5"/>
          <c:tx>
            <c:strRef>
              <c:f>'[Revised Working S-Curve-Mundra North 323.4 MW_August-26 -Revised AOP.xlsx]MIS'!$A$9</c:f>
              <c:strCache>
                <c:ptCount val="1"/>
                <c:pt idx="0">
                  <c:v>Monthly Forecast Plan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'[Revised Working S-Curve-Mundra North 323.4 MW_August-26 -Revised AOP.xlsx]MIS'!$B$3:$Q$3</c:f>
              <c:numCache>
                <c:formatCode>[$-409]mmm/yy;@</c:formatCode>
                <c:ptCount val="1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  <c:pt idx="13">
                  <c:v>46478</c:v>
                </c:pt>
                <c:pt idx="14">
                  <c:v>46508</c:v>
                </c:pt>
                <c:pt idx="15">
                  <c:v>46539</c:v>
                </c:pt>
              </c:numCache>
            </c:numRef>
          </c:cat>
          <c:val>
            <c:numRef>
              <c:f>'[Revised Working S-Curve-Mundra North 323.4 MW_August-26 -Revised AOP.xlsx]MIS'!$B$9:$Q$9</c:f>
            </c:numRef>
          </c:val>
          <c:extLst>
            <c:ext xmlns:c16="http://schemas.microsoft.com/office/drawing/2014/chart" uri="{C3380CC4-5D6E-409C-BE32-E72D297353CC}">
              <c16:uniqueId val="{00000002-EDA1-4D54-A7B2-7E6E4ABB9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0474672"/>
        <c:axId val="590453456"/>
      </c:barChart>
      <c:lineChart>
        <c:grouping val="standard"/>
        <c:varyColors val="0"/>
        <c:ser>
          <c:idx val="1"/>
          <c:order val="0"/>
          <c:tx>
            <c:strRef>
              <c:f>'[Revised Working S-Curve-Mundra North 323.4 MW_August-26 -Revised AOP.xlsx]MIS'!$A$4</c:f>
              <c:strCache>
                <c:ptCount val="1"/>
                <c:pt idx="0">
                  <c:v>Cummulative Plan</c:v>
                </c:pt>
              </c:strCache>
            </c:strRef>
          </c:tx>
          <c:spPr>
            <a:ln w="28575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8.4784994219551744E-3"/>
                  <c:y val="-3.802281368821291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DA1-4D54-A7B2-7E6E4ABB9D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'[Revised Working S-Curve-Mundra North 323.4 MW_August-26 -Revised AOP.xlsx]MIS'!$B$3:$Q$3</c:f>
              <c:numCache>
                <c:formatCode>[$-409]mmm/yy;@</c:formatCode>
                <c:ptCount val="1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  <c:pt idx="13">
                  <c:v>46478</c:v>
                </c:pt>
                <c:pt idx="14">
                  <c:v>46508</c:v>
                </c:pt>
                <c:pt idx="15">
                  <c:v>46539</c:v>
                </c:pt>
              </c:numCache>
            </c:numRef>
          </c:cat>
          <c:val>
            <c:numRef>
              <c:f>'[Revised Working S-Curve-Mundra North 323.4 MW_August-26 -Revised AOP.xlsx]MIS'!$B$4:$Q$4</c:f>
              <c:numCache>
                <c:formatCode>0%</c:formatCode>
                <c:ptCount val="16"/>
                <c:pt idx="0">
                  <c:v>0.67498657202011247</c:v>
                </c:pt>
                <c:pt idx="1">
                  <c:v>0.72208573646850049</c:v>
                </c:pt>
                <c:pt idx="2">
                  <c:v>0.74584495711328014</c:v>
                </c:pt>
                <c:pt idx="3">
                  <c:v>0.76423158828748894</c:v>
                </c:pt>
                <c:pt idx="4">
                  <c:v>0.79565838509316777</c:v>
                </c:pt>
                <c:pt idx="5">
                  <c:v>0.82039130434782614</c:v>
                </c:pt>
                <c:pt idx="6">
                  <c:v>0.83353238686779063</c:v>
                </c:pt>
                <c:pt idx="7">
                  <c:v>0.85213930789707193</c:v>
                </c:pt>
                <c:pt idx="8">
                  <c:v>0.87578320023661649</c:v>
                </c:pt>
                <c:pt idx="9">
                  <c:v>0.90106388642413493</c:v>
                </c:pt>
                <c:pt idx="10">
                  <c:v>0.9255075421472938</c:v>
                </c:pt>
                <c:pt idx="11">
                  <c:v>0.94576752440106493</c:v>
                </c:pt>
                <c:pt idx="12">
                  <c:v>0.96012126589766356</c:v>
                </c:pt>
                <c:pt idx="13">
                  <c:v>0.97588080449571146</c:v>
                </c:pt>
                <c:pt idx="14">
                  <c:v>0.99075835551611968</c:v>
                </c:pt>
                <c:pt idx="15">
                  <c:v>0.99994202898550744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DA1-4D54-A7B2-7E6E4ABB9D23}"/>
            </c:ext>
          </c:extLst>
        </c:ser>
        <c:ser>
          <c:idx val="3"/>
          <c:order val="1"/>
          <c:tx>
            <c:strRef>
              <c:f>'[Revised Working S-Curve-Mundra North 323.4 MW_August-26 -Revised AOP.xlsx]MIS'!$A$5</c:f>
              <c:strCache>
                <c:ptCount val="1"/>
                <c:pt idx="0">
                  <c:v>Cummulative Actual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5"/>
              <c:layout>
                <c:manualLayout>
                  <c:x val="-4.8448568125457692E-3"/>
                  <c:y val="5.830164765525977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DA1-4D54-A7B2-7E6E4ABB9D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'[Revised Working S-Curve-Mundra North 323.4 MW_August-26 -Revised AOP.xlsx]MIS'!$B$3:$Q$3</c:f>
              <c:numCache>
                <c:formatCode>[$-409]mmm/yy;@</c:formatCode>
                <c:ptCount val="1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  <c:pt idx="13">
                  <c:v>46478</c:v>
                </c:pt>
                <c:pt idx="14">
                  <c:v>46508</c:v>
                </c:pt>
                <c:pt idx="15">
                  <c:v>46539</c:v>
                </c:pt>
              </c:numCache>
            </c:numRef>
          </c:cat>
          <c:val>
            <c:numRef>
              <c:f>'[Revised Working S-Curve-Mundra North 323.4 MW_August-26 -Revised AOP.xlsx]MIS'!$B$5:$G$5</c:f>
              <c:numCache>
                <c:formatCode>0%</c:formatCode>
                <c:ptCount val="6"/>
                <c:pt idx="0">
                  <c:v>0.67498657202011247</c:v>
                </c:pt>
                <c:pt idx="1">
                  <c:v>0.72205820023661649</c:v>
                </c:pt>
                <c:pt idx="2">
                  <c:v>0.74593842058562565</c:v>
                </c:pt>
                <c:pt idx="3">
                  <c:v>0.76291194912747717</c:v>
                </c:pt>
                <c:pt idx="4">
                  <c:v>0.78636950606329492</c:v>
                </c:pt>
                <c:pt idx="5">
                  <c:v>0.80505362318840579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DA1-4D54-A7B2-7E6E4ABB9D23}"/>
            </c:ext>
          </c:extLst>
        </c:ser>
        <c:ser>
          <c:idx val="2"/>
          <c:order val="2"/>
          <c:tx>
            <c:strRef>
              <c:f>'[Revised Working S-Curve-Mundra North 323.4 MW_August-26 -Revised AOP.xlsx]MIS'!$A$6</c:f>
              <c:strCache>
                <c:ptCount val="1"/>
                <c:pt idx="0">
                  <c:v>Cummulative Forecast Plan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'[Revised Working S-Curve-Mundra North 323.4 MW_August-26 -Revised AOP.xlsx]MIS'!$B$3:$Q$3</c:f>
              <c:numCache>
                <c:formatCode>[$-409]mmm/yy;@</c:formatCode>
                <c:ptCount val="16"/>
                <c:pt idx="0">
                  <c:v>46082</c:v>
                </c:pt>
                <c:pt idx="1">
                  <c:v>46113</c:v>
                </c:pt>
                <c:pt idx="2">
                  <c:v>46143</c:v>
                </c:pt>
                <c:pt idx="3">
                  <c:v>46174</c:v>
                </c:pt>
                <c:pt idx="4">
                  <c:v>46204</c:v>
                </c:pt>
                <c:pt idx="5">
                  <c:v>46235</c:v>
                </c:pt>
                <c:pt idx="6">
                  <c:v>46266</c:v>
                </c:pt>
                <c:pt idx="7">
                  <c:v>46296</c:v>
                </c:pt>
                <c:pt idx="8">
                  <c:v>46327</c:v>
                </c:pt>
                <c:pt idx="9">
                  <c:v>46357</c:v>
                </c:pt>
                <c:pt idx="10">
                  <c:v>46388</c:v>
                </c:pt>
                <c:pt idx="11">
                  <c:v>46419</c:v>
                </c:pt>
                <c:pt idx="12">
                  <c:v>46447</c:v>
                </c:pt>
                <c:pt idx="13">
                  <c:v>46478</c:v>
                </c:pt>
                <c:pt idx="14">
                  <c:v>46508</c:v>
                </c:pt>
                <c:pt idx="15">
                  <c:v>46539</c:v>
                </c:pt>
              </c:numCache>
            </c:numRef>
          </c:cat>
          <c:val>
            <c:numRef>
              <c:f>'[Revised Working S-Curve-Mundra North 323.4 MW_August-26 -Revised AOP.xlsx]MIS'!$B$6:$Q$6</c:f>
            </c:numRef>
          </c:val>
          <c:smooth val="0"/>
          <c:extLst>
            <c:ext xmlns:c16="http://schemas.microsoft.com/office/drawing/2014/chart" uri="{C3380CC4-5D6E-409C-BE32-E72D297353CC}">
              <c16:uniqueId val="{00000007-EDA1-4D54-A7B2-7E6E4ABB9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6212624"/>
        <c:axId val="2066193072"/>
      </c:lineChart>
      <c:dateAx>
        <c:axId val="590474672"/>
        <c:scaling>
          <c:orientation val="minMax"/>
          <c:max val="46539"/>
          <c:min val="46113"/>
        </c:scaling>
        <c:delete val="0"/>
        <c:axPos val="b"/>
        <c:numFmt formatCode="[$-409]mmm/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590453456"/>
        <c:crosses val="autoZero"/>
        <c:auto val="1"/>
        <c:lblOffset val="100"/>
        <c:baseTimeUnit val="months"/>
      </c:dateAx>
      <c:valAx>
        <c:axId val="590453456"/>
        <c:scaling>
          <c:orientation val="minMax"/>
          <c:max val="7.0000000000000007E-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590474672"/>
        <c:crosses val="autoZero"/>
        <c:crossBetween val="between"/>
      </c:valAx>
      <c:valAx>
        <c:axId val="2066193072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2066212624"/>
        <c:crosses val="max"/>
        <c:crossBetween val="between"/>
      </c:valAx>
      <c:dateAx>
        <c:axId val="2066212624"/>
        <c:scaling>
          <c:orientation val="minMax"/>
          <c:min val="45170"/>
        </c:scaling>
        <c:delete val="1"/>
        <c:axPos val="t"/>
        <c:numFmt formatCode="[$-409]mmm/yy;@" sourceLinked="1"/>
        <c:majorTickMark val="out"/>
        <c:minorTickMark val="none"/>
        <c:tickLblPos val="nextTo"/>
        <c:crossAx val="2066193072"/>
        <c:crosses val="max"/>
        <c:auto val="1"/>
        <c:lblOffset val="100"/>
        <c:baseTimeUnit val="months"/>
      </c:dateAx>
      <c:dTable>
        <c:showHorzBorder val="1"/>
        <c:showVertBorder val="1"/>
        <c:showOutline val="1"/>
        <c:showKeys val="1"/>
        <c:spPr>
          <a:solidFill>
            <a:sysClr val="window" lastClr="FFFFFF"/>
          </a:solidFill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</c:dTable>
      <c:spPr>
        <a:noFill/>
        <a:ln w="25400">
          <a:noFill/>
        </a:ln>
        <a:effectLst/>
      </c:spPr>
    </c:plotArea>
    <c:plotVisOnly val="1"/>
    <c:dispBlanksAs val="gap"/>
    <c:showDLblsOverMax val="0"/>
    <c:extLst/>
  </c:chart>
  <c:spPr>
    <a:solidFill>
      <a:sysClr val="window" lastClr="FFFFFF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sz="800">
          <a:latin typeface="Adani Regular" panose="02000503000000020004" pitchFamily="2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'[Revised Working S-Curve-Mundra North 323.4 MW_August-26 -Revised AOP.xlsx]Manpower Actual - Forecast'!$B$28</c:f>
              <c:strCache>
                <c:ptCount val="1"/>
                <c:pt idx="0">
                  <c:v>Plan Manpower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70C0"/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'[Revised Working S-Curve-Mundra North 323.4 MW_August-26 -Revised AOP.xlsx]Manpower Actual - Forecast'!$C$27:$Q$27</c:f>
              <c:numCache>
                <c:formatCode>[$-409]mmm\-yy;@</c:formatCode>
                <c:ptCount val="15"/>
                <c:pt idx="0">
                  <c:v>46136</c:v>
                </c:pt>
                <c:pt idx="1">
                  <c:v>46166</c:v>
                </c:pt>
                <c:pt idx="2">
                  <c:v>46197</c:v>
                </c:pt>
                <c:pt idx="3">
                  <c:v>46227</c:v>
                </c:pt>
                <c:pt idx="4">
                  <c:v>46258</c:v>
                </c:pt>
                <c:pt idx="5">
                  <c:v>46289</c:v>
                </c:pt>
                <c:pt idx="6">
                  <c:v>46319</c:v>
                </c:pt>
                <c:pt idx="7">
                  <c:v>46350</c:v>
                </c:pt>
                <c:pt idx="8">
                  <c:v>46380</c:v>
                </c:pt>
                <c:pt idx="9">
                  <c:v>46411</c:v>
                </c:pt>
                <c:pt idx="10">
                  <c:v>46442</c:v>
                </c:pt>
                <c:pt idx="11">
                  <c:v>46470</c:v>
                </c:pt>
                <c:pt idx="12">
                  <c:v>46501</c:v>
                </c:pt>
                <c:pt idx="13">
                  <c:v>46531</c:v>
                </c:pt>
                <c:pt idx="14">
                  <c:v>46562</c:v>
                </c:pt>
              </c:numCache>
            </c:numRef>
          </c:cat>
          <c:val>
            <c:numRef>
              <c:f>'[Revised Working S-Curve-Mundra North 323.4 MW_August-26 -Revised AOP.xlsx]Manpower Actual - Forecast'!$C$28:$Q$28</c:f>
              <c:numCache>
                <c:formatCode>General</c:formatCode>
                <c:ptCount val="15"/>
                <c:pt idx="0">
                  <c:v>920</c:v>
                </c:pt>
                <c:pt idx="1">
                  <c:v>698</c:v>
                </c:pt>
                <c:pt idx="2">
                  <c:v>668</c:v>
                </c:pt>
                <c:pt idx="3">
                  <c:v>678</c:v>
                </c:pt>
                <c:pt idx="4">
                  <c:v>803</c:v>
                </c:pt>
                <c:pt idx="5">
                  <c:v>650</c:v>
                </c:pt>
                <c:pt idx="6">
                  <c:v>625</c:v>
                </c:pt>
                <c:pt idx="7">
                  <c:v>625</c:v>
                </c:pt>
                <c:pt idx="8">
                  <c:v>625</c:v>
                </c:pt>
                <c:pt idx="9">
                  <c:v>625</c:v>
                </c:pt>
                <c:pt idx="10">
                  <c:v>555</c:v>
                </c:pt>
                <c:pt idx="11">
                  <c:v>502</c:v>
                </c:pt>
                <c:pt idx="12">
                  <c:v>442</c:v>
                </c:pt>
                <c:pt idx="13">
                  <c:v>352</c:v>
                </c:pt>
                <c:pt idx="14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01-491A-9912-3D470967D1EE}"/>
            </c:ext>
          </c:extLst>
        </c:ser>
        <c:ser>
          <c:idx val="1"/>
          <c:order val="1"/>
          <c:tx>
            <c:strRef>
              <c:f>'[Revised Working S-Curve-Mundra North 323.4 MW_August-26 -Revised AOP.xlsx]Manpower Actual - Forecast'!$B$29</c:f>
              <c:strCache>
                <c:ptCount val="1"/>
                <c:pt idx="0">
                  <c:v>Actual Manpower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accent6">
                        <a:lumMod val="50000"/>
                      </a:schemeClr>
                    </a:solidFill>
                    <a:latin typeface="Adani Regular" panose="02000503000000020004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'[Revised Working S-Curve-Mundra North 323.4 MW_August-26 -Revised AOP.xlsx]Manpower Actual - Forecast'!$C$27:$Q$27</c:f>
              <c:numCache>
                <c:formatCode>[$-409]mmm\-yy;@</c:formatCode>
                <c:ptCount val="15"/>
                <c:pt idx="0">
                  <c:v>46136</c:v>
                </c:pt>
                <c:pt idx="1">
                  <c:v>46166</c:v>
                </c:pt>
                <c:pt idx="2">
                  <c:v>46197</c:v>
                </c:pt>
                <c:pt idx="3">
                  <c:v>46227</c:v>
                </c:pt>
                <c:pt idx="4">
                  <c:v>46258</c:v>
                </c:pt>
                <c:pt idx="5">
                  <c:v>46289</c:v>
                </c:pt>
                <c:pt idx="6">
                  <c:v>46319</c:v>
                </c:pt>
                <c:pt idx="7">
                  <c:v>46350</c:v>
                </c:pt>
                <c:pt idx="8">
                  <c:v>46380</c:v>
                </c:pt>
                <c:pt idx="9">
                  <c:v>46411</c:v>
                </c:pt>
                <c:pt idx="10">
                  <c:v>46442</c:v>
                </c:pt>
                <c:pt idx="11">
                  <c:v>46470</c:v>
                </c:pt>
                <c:pt idx="12">
                  <c:v>46501</c:v>
                </c:pt>
                <c:pt idx="13">
                  <c:v>46531</c:v>
                </c:pt>
                <c:pt idx="14">
                  <c:v>46562</c:v>
                </c:pt>
              </c:numCache>
            </c:numRef>
          </c:cat>
          <c:val>
            <c:numRef>
              <c:f>'[Revised Working S-Curve-Mundra North 323.4 MW_August-26 -Revised AOP.xlsx]Manpower Actual - Forecast'!$C$29:$K$29</c:f>
              <c:numCache>
                <c:formatCode>General</c:formatCode>
                <c:ptCount val="9"/>
                <c:pt idx="0">
                  <c:v>635</c:v>
                </c:pt>
                <c:pt idx="1">
                  <c:v>604</c:v>
                </c:pt>
                <c:pt idx="2">
                  <c:v>536</c:v>
                </c:pt>
                <c:pt idx="3">
                  <c:v>464</c:v>
                </c:pt>
                <c:pt idx="4">
                  <c:v>472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01-491A-9912-3D470967D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243391"/>
        <c:axId val="74244351"/>
      </c:barChart>
      <c:lineChart>
        <c:grouping val="standard"/>
        <c:varyColors val="0"/>
        <c:ser>
          <c:idx val="2"/>
          <c:order val="2"/>
          <c:tx>
            <c:strRef>
              <c:f>'[Revised Working S-Curve-Mundra North 323.4 MW_August-26 -Revised AOP.xlsx]Manpower Actual - Forecast'!$B$30</c:f>
              <c:strCache>
                <c:ptCount val="1"/>
                <c:pt idx="0">
                  <c:v>Plan</c:v>
                </c:pt>
              </c:strCache>
            </c:strRef>
          </c:tx>
          <c:spPr>
            <a:ln w="28575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'[Revised Working S-Curve-Mundra North 323.4 MW_August-26 -Revised AOP.xlsx]Manpower Actual - Forecast'!$C$27:$Q$27</c:f>
              <c:numCache>
                <c:formatCode>[$-409]mmm\-yy;@</c:formatCode>
                <c:ptCount val="15"/>
                <c:pt idx="0">
                  <c:v>46136</c:v>
                </c:pt>
                <c:pt idx="1">
                  <c:v>46166</c:v>
                </c:pt>
                <c:pt idx="2">
                  <c:v>46197</c:v>
                </c:pt>
                <c:pt idx="3">
                  <c:v>46227</c:v>
                </c:pt>
                <c:pt idx="4">
                  <c:v>46258</c:v>
                </c:pt>
                <c:pt idx="5">
                  <c:v>46289</c:v>
                </c:pt>
                <c:pt idx="6">
                  <c:v>46319</c:v>
                </c:pt>
                <c:pt idx="7">
                  <c:v>46350</c:v>
                </c:pt>
                <c:pt idx="8">
                  <c:v>46380</c:v>
                </c:pt>
                <c:pt idx="9">
                  <c:v>46411</c:v>
                </c:pt>
                <c:pt idx="10">
                  <c:v>46442</c:v>
                </c:pt>
                <c:pt idx="11">
                  <c:v>46470</c:v>
                </c:pt>
                <c:pt idx="12">
                  <c:v>46501</c:v>
                </c:pt>
                <c:pt idx="13">
                  <c:v>46531</c:v>
                </c:pt>
                <c:pt idx="14">
                  <c:v>46562</c:v>
                </c:pt>
              </c:numCache>
            </c:numRef>
          </c:cat>
          <c:val>
            <c:numRef>
              <c:f>'[Revised Working S-Curve-Mundra North 323.4 MW_August-26 -Revised AOP.xlsx]Manpower Actual - Forecast'!$C$30:$Q$30</c:f>
              <c:numCache>
                <c:formatCode>General</c:formatCode>
                <c:ptCount val="15"/>
                <c:pt idx="0">
                  <c:v>920</c:v>
                </c:pt>
                <c:pt idx="1">
                  <c:v>698</c:v>
                </c:pt>
                <c:pt idx="2">
                  <c:v>668</c:v>
                </c:pt>
                <c:pt idx="3">
                  <c:v>678</c:v>
                </c:pt>
                <c:pt idx="4">
                  <c:v>803</c:v>
                </c:pt>
                <c:pt idx="5">
                  <c:v>650</c:v>
                </c:pt>
                <c:pt idx="6">
                  <c:v>625</c:v>
                </c:pt>
                <c:pt idx="7">
                  <c:v>625</c:v>
                </c:pt>
                <c:pt idx="8">
                  <c:v>625</c:v>
                </c:pt>
                <c:pt idx="9">
                  <c:v>625</c:v>
                </c:pt>
                <c:pt idx="10">
                  <c:v>555</c:v>
                </c:pt>
                <c:pt idx="11">
                  <c:v>502</c:v>
                </c:pt>
                <c:pt idx="12">
                  <c:v>442</c:v>
                </c:pt>
                <c:pt idx="13">
                  <c:v>352</c:v>
                </c:pt>
                <c:pt idx="14">
                  <c:v>262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501-491A-9912-3D470967D1EE}"/>
            </c:ext>
          </c:extLst>
        </c:ser>
        <c:ser>
          <c:idx val="3"/>
          <c:order val="3"/>
          <c:tx>
            <c:strRef>
              <c:f>'[Revised Working S-Curve-Mundra North 323.4 MW_August-26 -Revised AOP.xlsx]Manpower Actual - Forecast'!$B$31</c:f>
              <c:strCache>
                <c:ptCount val="1"/>
                <c:pt idx="0">
                  <c:v>Actual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'[Revised Working S-Curve-Mundra North 323.4 MW_August-26 -Revised AOP.xlsx]Manpower Actual - Forecast'!$C$27:$Q$27</c:f>
              <c:numCache>
                <c:formatCode>[$-409]mmm\-yy;@</c:formatCode>
                <c:ptCount val="15"/>
                <c:pt idx="0">
                  <c:v>46136</c:v>
                </c:pt>
                <c:pt idx="1">
                  <c:v>46166</c:v>
                </c:pt>
                <c:pt idx="2">
                  <c:v>46197</c:v>
                </c:pt>
                <c:pt idx="3">
                  <c:v>46227</c:v>
                </c:pt>
                <c:pt idx="4">
                  <c:v>46258</c:v>
                </c:pt>
                <c:pt idx="5">
                  <c:v>46289</c:v>
                </c:pt>
                <c:pt idx="6">
                  <c:v>46319</c:v>
                </c:pt>
                <c:pt idx="7">
                  <c:v>46350</c:v>
                </c:pt>
                <c:pt idx="8">
                  <c:v>46380</c:v>
                </c:pt>
                <c:pt idx="9">
                  <c:v>46411</c:v>
                </c:pt>
                <c:pt idx="10">
                  <c:v>46442</c:v>
                </c:pt>
                <c:pt idx="11">
                  <c:v>46470</c:v>
                </c:pt>
                <c:pt idx="12">
                  <c:v>46501</c:v>
                </c:pt>
                <c:pt idx="13">
                  <c:v>46531</c:v>
                </c:pt>
                <c:pt idx="14">
                  <c:v>46562</c:v>
                </c:pt>
              </c:numCache>
            </c:numRef>
          </c:cat>
          <c:val>
            <c:numRef>
              <c:f>'[Revised Working S-Curve-Mundra North 323.4 MW_August-26 -Revised AOP.xlsx]Manpower Actual - Forecast'!$C$31:$K$31</c:f>
              <c:numCache>
                <c:formatCode>General</c:formatCode>
                <c:ptCount val="9"/>
                <c:pt idx="0">
                  <c:v>635</c:v>
                </c:pt>
                <c:pt idx="1">
                  <c:v>604</c:v>
                </c:pt>
                <c:pt idx="2">
                  <c:v>536</c:v>
                </c:pt>
                <c:pt idx="3">
                  <c:v>464</c:v>
                </c:pt>
                <c:pt idx="4">
                  <c:v>472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E501-491A-9912-3D470967D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243391"/>
        <c:axId val="74244351"/>
      </c:lineChart>
      <c:dateAx>
        <c:axId val="74243391"/>
        <c:scaling>
          <c:orientation val="minMax"/>
          <c:max val="46539"/>
        </c:scaling>
        <c:delete val="0"/>
        <c:axPos val="b"/>
        <c:numFmt formatCode="[$-409]mmm\-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74244351"/>
        <c:crosses val="autoZero"/>
        <c:auto val="1"/>
        <c:lblOffset val="100"/>
        <c:baseTimeUnit val="months"/>
      </c:dateAx>
      <c:valAx>
        <c:axId val="74244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dani Regular" panose="02000503000000020004" pitchFamily="2" charset="0"/>
                <a:ea typeface="+mn-ea"/>
                <a:cs typeface="+mn-cs"/>
              </a:defRPr>
            </a:pPr>
            <a:endParaRPr lang="en-US"/>
          </a:p>
        </c:txPr>
        <c:crossAx val="74243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ani Regular" panose="02000503000000020004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FC32EF-7F26-FBF5-A4DB-863788E1EB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12DA0-A275-7762-DFB4-275780D20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3A120-FA9F-4253-8750-ADEFC14124A8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AD6E7-5E67-2263-9B48-8C92DBC772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26CE1-A1EF-C59D-1EAF-966039A4B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A9303-E99E-4461-883B-BF5028EA1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8300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9" y="1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09B9A-C4C1-4AD2-8C55-4EDBAF27EF7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1" y="4776789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9" y="9429750"/>
            <a:ext cx="2946400" cy="4968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D3562-5CE4-49E3-A698-59ED55762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5750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DC23E-C164-9FF2-8FEA-C821B08A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0BA50-1D10-1637-FF1B-285ADE533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4674E-4D6D-0C29-93BA-F9A5BE676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B9007-8949-9F51-1925-A1CC7B5774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46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424C0-538D-0631-0D14-E2121A5ED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2858C-CDEB-B61D-C922-DA7314312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ABEB9-B182-A359-E00C-C2E3206B3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CCD55-0B0F-EE51-A7DA-96944F29B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4581F-A6E4-4E27-A271-B7A3F9493A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223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6ADF-DAE3-0BD7-3922-810B8618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0F02A-C509-18BE-5CA4-4E6495633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E98D3-239A-A139-EA6A-9D618F4A7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99608-3BE8-A094-5BEC-86B04EF34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D287E-0E5C-35BD-1AC0-0D3B6B7385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66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9469-0EBB-A083-EC4E-E42F9701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CE6BA-BFB9-CFCC-4DB3-9C58FF754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D8F01-25DB-2486-15BC-0C28DDEA9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62FC8-6924-6432-EE48-6B4F05885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A0C43-FC9B-DAB2-40E6-F27E63CC9C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99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BD3562-5CE4-49E3-A698-59ED557625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67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784B8-D3BE-AE07-6557-1EA084D0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C7430-F3FC-2EF9-F1E5-09A6B8285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41674-C987-0515-9817-8C73F0AB3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8E86E-2504-5B10-EB70-5101B7552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30FCD0-4A1E-4F03-8F18-59FBC7C66F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141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BAD34-B45B-407E-A1B8-52C038A48D05}" type="slidenum">
              <a:rPr lang="en-IN" smtClean="0"/>
              <a:t>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2F6ED-A3B5-CDEC-18D8-CB141BEFC2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7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71" y="107818"/>
            <a:ext cx="11498943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>
              <a:def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defRPr>
            </a:lvl1pPr>
          </a:lstStyle>
          <a:p>
            <a:pPr marL="109192" lvl="0" defTabSz="911377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970" y="655637"/>
            <a:ext cx="11498943" cy="3651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rgbClr val="7030A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11FDC09-5BC8-B895-A291-B9A8024BBA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8969" y="1144132"/>
            <a:ext cx="11498943" cy="506186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FF0D2-0874-80AB-5E01-138E3F2780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5D8627-D436-1E78-A822-A706D2C392D4}"/>
              </a:ext>
            </a:extLst>
          </p:cNvPr>
          <p:cNvSpPr txBox="1"/>
          <p:nvPr userDrawn="1"/>
        </p:nvSpPr>
        <p:spPr>
          <a:xfrm>
            <a:off x="1156531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D8660E-D71A-5DE1-EB36-594448D56745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23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658EF-EED0-CB11-E9B3-42115C23E6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76149A-A0E6-67A4-64F8-B9B59BDB469B}"/>
              </a:ext>
            </a:extLst>
          </p:cNvPr>
          <p:cNvSpPr txBox="1"/>
          <p:nvPr userDrawn="1"/>
        </p:nvSpPr>
        <p:spPr>
          <a:xfrm>
            <a:off x="1156531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8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0D86267A-8FA6-4035-931E-6C1AAE83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771424"/>
            <a:ext cx="104040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algn="l" defTabSz="457206" rtl="0" eaLnBrk="1" latinLnBrk="0" hangingPunct="1">
              <a:defRPr lang="en-US" sz="2000" kern="1200" dirty="0">
                <a:solidFill>
                  <a:srgbClr val="912A82"/>
                </a:solidFill>
                <a:latin typeface="Adani Light" panose="02000503000000020004" pitchFamily="2" charset="0"/>
                <a:ea typeface="Adani" charset="0"/>
                <a:cs typeface="Adani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1FEE5-F907-4692-A090-F903596527C5}"/>
              </a:ext>
            </a:extLst>
          </p:cNvPr>
          <p:cNvSpPr txBox="1"/>
          <p:nvPr userDrawn="1"/>
        </p:nvSpPr>
        <p:spPr>
          <a:xfrm>
            <a:off x="1156531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CD51E0-8331-4503-B577-41B5C26DFEB3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30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788" y="518159"/>
            <a:ext cx="7213092" cy="502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89788" y="569976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764" y="48767"/>
            <a:ext cx="2496312" cy="144017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0807" y="2086355"/>
            <a:ext cx="6640068" cy="990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19520" y="1371346"/>
            <a:ext cx="5246370" cy="6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1" i="0">
                <a:solidFill>
                  <a:srgbClr val="006FC0"/>
                </a:solidFill>
                <a:latin typeface="Adani Regular" panose="02000503000000020004" pitchFamily="2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dani Regular" panose="02000503000000020004" pitchFamily="2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1" i="0">
                <a:solidFill>
                  <a:srgbClr val="006FC0"/>
                </a:solidFill>
                <a:latin typeface="Adani Regular" panose="02000503000000020004" pitchFamily="2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</p:spPr>
        <p:txBody>
          <a:bodyPr lIns="0" tIns="0" rIns="0" bIns="0"/>
          <a:lstStyle>
            <a:lvl1pPr>
              <a:defRPr>
                <a:latin typeface="Adani Regular" panose="02000503000000020004" pitchFamily="2" charset="0"/>
              </a:defRPr>
            </a:lvl1pPr>
          </a:lstStyle>
          <a:p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629A6C-53E6-C37F-CD5E-2A57946E62ED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087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1" i="0">
                <a:solidFill>
                  <a:srgbClr val="006FC0"/>
                </a:solidFill>
                <a:latin typeface="Adani Regular" panose="02000503000000020004" pitchFamily="2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dani Regular" panose="02000503000000020004" pitchFamily="2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dani Regular" panose="02000503000000020004" pitchFamily="2" charset="0"/>
              </a:defRPr>
            </a:lvl1pPr>
          </a:lstStyle>
          <a:p>
            <a:endParaRPr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E28E94-553B-56A8-7128-9FEE69F18DEB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169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1" i="0">
                <a:solidFill>
                  <a:srgbClr val="006FC0"/>
                </a:solidFill>
                <a:latin typeface="Adani Regular" panose="02000503000000020004" pitchFamily="2" charset="0"/>
                <a:cs typeface="Arial"/>
              </a:defRPr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0B320D-B83D-E81D-D4A2-0627AF312E78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12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94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dani Regular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Adani Regular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75350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10D4C6F-D238-4B8C-967B-B75BB4E828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3B7FA9-C906-423F-BE83-0CEE4EC5A2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6000" y="1939876"/>
            <a:ext cx="5580000" cy="50765"/>
          </a:xfrm>
          <a:prstGeom prst="rect">
            <a:avLst/>
          </a:prstGeom>
        </p:spPr>
      </p:pic>
      <p:pic>
        <p:nvPicPr>
          <p:cNvPr id="2" name="Picture 3" descr="D:\Logos 2018\Adani logo\PNG\Adani logo _Original.png">
            <a:extLst>
              <a:ext uri="{FF2B5EF4-FFF2-40B4-BE49-F238E27FC236}">
                <a16:creationId xmlns:a16="http://schemas.microsoft.com/office/drawing/2014/main" id="{1C98A24C-970C-3233-0642-16FF2E56E3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8324" y="44069"/>
            <a:ext cx="1198987" cy="69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69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DE44-7875-0A18-0A49-6DE65523C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99" y="-1"/>
            <a:ext cx="9967078" cy="53518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2800" b="1">
                <a:solidFill>
                  <a:srgbClr val="922682"/>
                </a:solidFill>
                <a:latin typeface="Adani Regular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115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835594-6BE8-C215-2C02-FA053B02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99" y="-1"/>
            <a:ext cx="9967078" cy="53518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2800" b="1">
                <a:solidFill>
                  <a:srgbClr val="922682"/>
                </a:solidFill>
                <a:latin typeface="Adani Regular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546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047" y="73804"/>
            <a:ext cx="9986030" cy="461382"/>
          </a:xfrm>
          <a:prstGeom prst="rect">
            <a:avLst/>
          </a:prstGeom>
          <a:noFill/>
        </p:spPr>
        <p:txBody>
          <a:bodyPr vert="horz" wrap="square" lIns="0" tIns="45580" rIns="0" bIns="45580" rtlCol="0" anchor="b">
            <a:spAutoFit/>
          </a:bodyPr>
          <a:lstStyle>
            <a:lvl1pPr marL="107950" indent="-107950">
              <a:defRPr lang="en-IN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defRPr>
            </a:lvl1pPr>
          </a:lstStyle>
          <a:p>
            <a:pPr marL="109192" lvl="0" algn="l" defTabSz="911377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222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73">
          <p15:clr>
            <a:srgbClr val="FBAE40"/>
          </p15:clr>
        </p15:guide>
        <p15:guide id="3" pos="3840">
          <p15:clr>
            <a:srgbClr val="FBAE40"/>
          </p15:clr>
        </p15:guide>
        <p15:guide id="4" pos="74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212">
          <p15:clr>
            <a:srgbClr val="FBAE40"/>
          </p15:clr>
        </p15:guide>
        <p15:guide id="8" pos="66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3673-ED7E-D140-BEB7-45A5D7280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17888-9A6C-A7C3-9F88-C87B575D7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658EF-EED0-CB11-E9B3-42115C23E6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76149A-A0E6-67A4-64F8-B9B59BDB469B}"/>
              </a:ext>
            </a:extLst>
          </p:cNvPr>
          <p:cNvSpPr txBox="1"/>
          <p:nvPr userDrawn="1"/>
        </p:nvSpPr>
        <p:spPr>
          <a:xfrm>
            <a:off x="1156531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2E60C1D-8229-FA0C-36AC-ECA4D03F91A5}"/>
              </a:ext>
            </a:extLst>
          </p:cNvPr>
          <p:cNvGrpSpPr/>
          <p:nvPr userDrawn="1"/>
        </p:nvGrpSpPr>
        <p:grpSpPr>
          <a:xfrm>
            <a:off x="590439" y="517436"/>
            <a:ext cx="11376000" cy="51953"/>
            <a:chOff x="521460" y="771510"/>
            <a:chExt cx="7921056" cy="47148"/>
          </a:xfrm>
        </p:grpSpPr>
        <p:pic>
          <p:nvPicPr>
            <p:cNvPr id="17" name="Picture 2" descr="D:\Corp Comm Department Work 2015\Brand Adani 2012\adani_gradient_master.jpg">
              <a:extLst>
                <a:ext uri="{FF2B5EF4-FFF2-40B4-BE49-F238E27FC236}">
                  <a16:creationId xmlns:a16="http://schemas.microsoft.com/office/drawing/2014/main" id="{6A70796F-80D4-567A-E9DA-429F9BF73A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60" y="771510"/>
              <a:ext cx="5022060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87F551D-327A-450F-2D48-6D3CB54AF51F}"/>
                </a:ext>
              </a:extLst>
            </p:cNvPr>
            <p:cNvCxnSpPr/>
            <p:nvPr/>
          </p:nvCxnSpPr>
          <p:spPr>
            <a:xfrm>
              <a:off x="521460" y="818658"/>
              <a:ext cx="7921056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569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dani Regular" panose="02000503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dani Regular" panose="02000503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9787" y="518159"/>
            <a:ext cx="7213092" cy="502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89787" y="569975"/>
            <a:ext cx="11376025" cy="0"/>
          </a:xfrm>
          <a:custGeom>
            <a:avLst/>
            <a:gdLst/>
            <a:ahLst/>
            <a:cxnLst/>
            <a:rect l="l" t="t" r="r" b="b"/>
            <a:pathLst>
              <a:path w="11376025">
                <a:moveTo>
                  <a:pt x="0" y="0"/>
                </a:moveTo>
                <a:lnTo>
                  <a:pt x="11376025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467" y="2681427"/>
            <a:ext cx="9079865" cy="676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9A07D5-EB06-D9FA-05F8-C3843DAF095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352804"/>
            <a:ext cx="194366" cy="386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5A1342-2E84-B14F-9EC7-51E0AEB76B55}"/>
              </a:ext>
            </a:extLst>
          </p:cNvPr>
          <p:cNvSpPr txBox="1"/>
          <p:nvPr userDrawn="1"/>
        </p:nvSpPr>
        <p:spPr>
          <a:xfrm>
            <a:off x="11565313" y="6428075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5D21C-D128-05A0-E723-2419FCDCC9D0}"/>
              </a:ext>
            </a:extLst>
          </p:cNvPr>
          <p:cNvCxnSpPr>
            <a:cxnSpLocks/>
          </p:cNvCxnSpPr>
          <p:nvPr userDrawn="1"/>
        </p:nvCxnSpPr>
        <p:spPr>
          <a:xfrm>
            <a:off x="418264" y="6342507"/>
            <a:ext cx="1096949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54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1D1D5E-CED2-1653-38F8-28493EC2A569}"/>
              </a:ext>
            </a:extLst>
          </p:cNvPr>
          <p:cNvGrpSpPr/>
          <p:nvPr userDrawn="1"/>
        </p:nvGrpSpPr>
        <p:grpSpPr>
          <a:xfrm>
            <a:off x="516000" y="518159"/>
            <a:ext cx="11160000" cy="51816"/>
            <a:chOff x="589787" y="518159"/>
            <a:chExt cx="11376025" cy="51816"/>
          </a:xfrm>
        </p:grpSpPr>
        <p:pic>
          <p:nvPicPr>
            <p:cNvPr id="16" name="bg 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9787" y="518159"/>
              <a:ext cx="7213092" cy="50291"/>
            </a:xfrm>
            <a:prstGeom prst="rect">
              <a:avLst/>
            </a:prstGeom>
          </p:spPr>
        </p:pic>
        <p:sp>
          <p:nvSpPr>
            <p:cNvPr id="17" name="bg object 17"/>
            <p:cNvSpPr/>
            <p:nvPr/>
          </p:nvSpPr>
          <p:spPr>
            <a:xfrm>
              <a:off x="589787" y="569975"/>
              <a:ext cx="11376025" cy="0"/>
            </a:xfrm>
            <a:custGeom>
              <a:avLst/>
              <a:gdLst/>
              <a:ahLst/>
              <a:cxnLst/>
              <a:rect l="l" t="t" r="r" b="b"/>
              <a:pathLst>
                <a:path w="11376025">
                  <a:moveTo>
                    <a:pt x="0" y="0"/>
                  </a:moveTo>
                  <a:lnTo>
                    <a:pt x="11376025" y="0"/>
                  </a:lnTo>
                </a:path>
              </a:pathLst>
            </a:custGeom>
            <a:ln w="635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E9A07D5-EB06-D9FA-05F8-C3843DAF095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97635" y="6428220"/>
            <a:ext cx="194366" cy="386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5A1342-2E84-B14F-9EC7-51E0AEB76B55}"/>
              </a:ext>
            </a:extLst>
          </p:cNvPr>
          <p:cNvSpPr txBox="1"/>
          <p:nvPr/>
        </p:nvSpPr>
        <p:spPr>
          <a:xfrm>
            <a:off x="11716145" y="6503491"/>
            <a:ext cx="3273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7F89D720-7EAF-A942-9DA7-171430440A11}" type="slidenum">
              <a:rPr lang="en-US" sz="800" b="0" i="0" smtClean="0">
                <a:solidFill>
                  <a:srgbClr val="2A69AF"/>
                </a:solidFill>
                <a:latin typeface="Adani Medium" charset="0"/>
                <a:ea typeface="Adani Medium" charset="0"/>
                <a:cs typeface="Adani Medium" charset="0"/>
              </a:rPr>
              <a:pPr algn="r"/>
              <a:t>‹#›</a:t>
            </a:fld>
            <a:endParaRPr lang="en-US" sz="800" b="0" i="0">
              <a:solidFill>
                <a:srgbClr val="2A69AF"/>
              </a:solidFill>
              <a:latin typeface="Adani Medium" charset="0"/>
              <a:ea typeface="Adani Medium" charset="0"/>
              <a:cs typeface="Adani Medium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5D21C-D128-05A0-E723-2419FCDCC9D0}"/>
              </a:ext>
            </a:extLst>
          </p:cNvPr>
          <p:cNvCxnSpPr>
            <a:cxnSpLocks/>
          </p:cNvCxnSpPr>
          <p:nvPr/>
        </p:nvCxnSpPr>
        <p:spPr>
          <a:xfrm>
            <a:off x="516000" y="6342507"/>
            <a:ext cx="11160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54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sitting at a table&#10;&#10;Description generated with high confidence">
            <a:extLst>
              <a:ext uri="{FF2B5EF4-FFF2-40B4-BE49-F238E27FC236}">
                <a16:creationId xmlns:a16="http://schemas.microsoft.com/office/drawing/2014/main" id="{CD68E4D1-9FF4-C415-9C36-ACED6C1C9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2"/>
            <a:ext cx="12192718" cy="6857598"/>
          </a:xfrm>
          <a:prstGeom prst="rect">
            <a:avLst/>
          </a:prstGeom>
        </p:spPr>
      </p:pic>
      <p:pic>
        <p:nvPicPr>
          <p:cNvPr id="5" name="Picture 3" descr="D:\Logos 2018\Adani logo\PNG\Adani logo _Original.png">
            <a:extLst>
              <a:ext uri="{FF2B5EF4-FFF2-40B4-BE49-F238E27FC236}">
                <a16:creationId xmlns:a16="http://schemas.microsoft.com/office/drawing/2014/main" id="{0B52E213-219B-BE62-210F-7D3C953EC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8" y="48778"/>
            <a:ext cx="2496474" cy="144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:\Corp Comm Department Work 2015\Brand Adani 2012\adani_gradient_master.jpg">
            <a:extLst>
              <a:ext uri="{FF2B5EF4-FFF2-40B4-BE49-F238E27FC236}">
                <a16:creationId xmlns:a16="http://schemas.microsoft.com/office/drawing/2014/main" id="{13ACB4F0-A80D-A028-2E06-928C7BD2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897" y="1311582"/>
            <a:ext cx="502206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0E2271-56F6-9272-7B94-4FDE5F4C6155}"/>
              </a:ext>
            </a:extLst>
          </p:cNvPr>
          <p:cNvSpPr txBox="1"/>
          <p:nvPr/>
        </p:nvSpPr>
        <p:spPr>
          <a:xfrm>
            <a:off x="6459793" y="771874"/>
            <a:ext cx="5509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dani Regular" panose="02000503000000020004" pitchFamily="2" charset="0"/>
              </a:rPr>
              <a:t>CPAG – Energy Cluster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8B459-F60D-9532-01A3-FBCDA45E76D7}"/>
              </a:ext>
            </a:extLst>
          </p:cNvPr>
          <p:cNvSpPr txBox="1"/>
          <p:nvPr/>
        </p:nvSpPr>
        <p:spPr>
          <a:xfrm>
            <a:off x="6495023" y="1391100"/>
            <a:ext cx="510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dani Regular" panose="02000503000000020004" pitchFamily="2" charset="0"/>
              </a:rPr>
              <a:t>Adani Green Energy Ltd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FA834-7D73-60FF-8F4B-3D8C8B4EADA1}"/>
              </a:ext>
            </a:extLst>
          </p:cNvPr>
          <p:cNvSpPr txBox="1"/>
          <p:nvPr/>
        </p:nvSpPr>
        <p:spPr>
          <a:xfrm>
            <a:off x="9400097" y="1342571"/>
            <a:ext cx="2496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latin typeface="Adani Regular" panose="02000503000000020004" pitchFamily="2" charset="0"/>
              </a:rPr>
              <a:t>Aug-26</a:t>
            </a:r>
          </a:p>
        </p:txBody>
      </p:sp>
    </p:spTree>
    <p:extLst>
      <p:ext uri="{BB962C8B-B14F-4D97-AF65-F5344CB8AC3E}">
        <p14:creationId xmlns:p14="http://schemas.microsoft.com/office/powerpoint/2010/main" val="11604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395168" y="19604"/>
            <a:ext cx="11515764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Agenda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79B8A0-93B0-4F3C-1836-361A58C2AE3C}"/>
              </a:ext>
            </a:extLst>
          </p:cNvPr>
          <p:cNvSpPr txBox="1"/>
          <p:nvPr/>
        </p:nvSpPr>
        <p:spPr>
          <a:xfrm flipH="1">
            <a:off x="947311" y="674400"/>
            <a:ext cx="11157248" cy="1760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7030A0"/>
                </a:solidFill>
                <a:latin typeface="Adani Regular" panose="02000503000000020004" pitchFamily="2" charset="0"/>
              </a:rPr>
              <a:t>Executive Summary </a:t>
            </a:r>
          </a:p>
          <a:p>
            <a:pPr marL="1200150" lvl="6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Project Information &amp; Salient Features</a:t>
            </a:r>
          </a:p>
          <a:p>
            <a:pPr marL="1200150" lvl="6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Progress Update</a:t>
            </a:r>
          </a:p>
          <a:p>
            <a:pPr marL="1200150" lvl="7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600">
                <a:latin typeface="Adani Regular" panose="02000503000000020004" pitchFamily="2" charset="0"/>
              </a:rPr>
              <a:t>Major Critical Issues </a:t>
            </a:r>
          </a:p>
        </p:txBody>
      </p:sp>
    </p:spTree>
    <p:extLst>
      <p:ext uri="{BB962C8B-B14F-4D97-AF65-F5344CB8AC3E}">
        <p14:creationId xmlns:p14="http://schemas.microsoft.com/office/powerpoint/2010/main" val="150386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2F2549D-E6B1-2A5E-CF9D-9E55B7135E74}"/>
              </a:ext>
            </a:extLst>
          </p:cNvPr>
          <p:cNvSpPr txBox="1">
            <a:spLocks/>
          </p:cNvSpPr>
          <p:nvPr/>
        </p:nvSpPr>
        <p:spPr>
          <a:xfrm>
            <a:off x="432447" y="124535"/>
            <a:ext cx="11600267" cy="424449"/>
          </a:xfrm>
          <a:prstGeom prst="rect">
            <a:avLst/>
          </a:prstGeom>
          <a:noFill/>
        </p:spPr>
        <p:txBody>
          <a:bodyPr vert="horz" wrap="square" lIns="91157" tIns="45580" rIns="91157" bIns="4558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dani Regular" panose="02000503000000020004" pitchFamily="2" charset="0"/>
                <a:ea typeface="+mj-ea"/>
                <a:cs typeface="+mj-cs"/>
              </a:defRPr>
            </a:lvl1pPr>
          </a:lstStyle>
          <a:p>
            <a:pPr marL="109192" marR="0" lvl="0" indent="0" algn="l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Executive Summary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j-ea"/>
              <a:cs typeface="+mj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7884D0-27D2-932F-9C20-A467221E5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948288"/>
              </p:ext>
            </p:extLst>
          </p:nvPr>
        </p:nvGraphicFramePr>
        <p:xfrm>
          <a:off x="355255" y="684499"/>
          <a:ext cx="11657813" cy="1238553"/>
        </p:xfrm>
        <a:graphic>
          <a:graphicData uri="http://schemas.openxmlformats.org/drawingml/2006/table">
            <a:tbl>
              <a:tblPr firstRow="1" bandRow="1"/>
              <a:tblGrid>
                <a:gridCol w="808349">
                  <a:extLst>
                    <a:ext uri="{9D8B030D-6E8A-4147-A177-3AD203B41FA5}">
                      <a16:colId xmlns:a16="http://schemas.microsoft.com/office/drawing/2014/main" val="520924265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826271822"/>
                    </a:ext>
                  </a:extLst>
                </a:gridCol>
                <a:gridCol w="911230">
                  <a:extLst>
                    <a:ext uri="{9D8B030D-6E8A-4147-A177-3AD203B41FA5}">
                      <a16:colId xmlns:a16="http://schemas.microsoft.com/office/drawing/2014/main" val="1979045931"/>
                    </a:ext>
                  </a:extLst>
                </a:gridCol>
                <a:gridCol w="911230">
                  <a:extLst>
                    <a:ext uri="{9D8B030D-6E8A-4147-A177-3AD203B41FA5}">
                      <a16:colId xmlns:a16="http://schemas.microsoft.com/office/drawing/2014/main" val="2589940344"/>
                    </a:ext>
                  </a:extLst>
                </a:gridCol>
                <a:gridCol w="1469726">
                  <a:extLst>
                    <a:ext uri="{9D8B030D-6E8A-4147-A177-3AD203B41FA5}">
                      <a16:colId xmlns:a16="http://schemas.microsoft.com/office/drawing/2014/main" val="3034237294"/>
                    </a:ext>
                  </a:extLst>
                </a:gridCol>
                <a:gridCol w="1425634">
                  <a:extLst>
                    <a:ext uri="{9D8B030D-6E8A-4147-A177-3AD203B41FA5}">
                      <a16:colId xmlns:a16="http://schemas.microsoft.com/office/drawing/2014/main" val="2376360582"/>
                    </a:ext>
                  </a:extLst>
                </a:gridCol>
                <a:gridCol w="837744">
                  <a:extLst>
                    <a:ext uri="{9D8B030D-6E8A-4147-A177-3AD203B41FA5}">
                      <a16:colId xmlns:a16="http://schemas.microsoft.com/office/drawing/2014/main" val="2879489690"/>
                    </a:ext>
                  </a:extLst>
                </a:gridCol>
                <a:gridCol w="843516">
                  <a:extLst>
                    <a:ext uri="{9D8B030D-6E8A-4147-A177-3AD203B41FA5}">
                      <a16:colId xmlns:a16="http://schemas.microsoft.com/office/drawing/2014/main" val="1141108596"/>
                    </a:ext>
                  </a:extLst>
                </a:gridCol>
                <a:gridCol w="2398384">
                  <a:extLst>
                    <a:ext uri="{9D8B030D-6E8A-4147-A177-3AD203B41FA5}">
                      <a16:colId xmlns:a16="http://schemas.microsoft.com/office/drawing/2014/main" val="599360055"/>
                    </a:ext>
                  </a:extLst>
                </a:gridCol>
              </a:tblGrid>
              <a:tr h="2921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Location 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Project Name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FY 27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</a:p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FY 27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Actual till Aug’26 (MW)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latin typeface="Adani Regular" panose="02000503000000020004" pitchFamily="2" charset="0"/>
                        </a:rPr>
                        <a:t>COD</a:t>
                      </a:r>
                      <a:endParaRPr lang="en-US" sz="1100" b="1"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Overall Progress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Remarks </a:t>
                      </a: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136535"/>
                  </a:ext>
                </a:extLst>
              </a:tr>
              <a:tr h="4612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Revised AOP Plan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Achieved/ Expected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dani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Plan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dani Regular" panose="02000503000000020004" pitchFamily="2" charset="0"/>
                        </a:rPr>
                        <a:t>Actual</a:t>
                      </a:r>
                      <a:endParaRPr lang="en-US" sz="1100" b="1">
                        <a:solidFill>
                          <a:schemeClr val="bg1"/>
                        </a:solidFill>
                        <a:latin typeface="Adani Regular" panose="02000503000000020004" pitchFamily="2" charset="0"/>
                      </a:endParaRPr>
                    </a:p>
                  </a:txBody>
                  <a:tcPr marL="0" marR="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444751"/>
                  </a:ext>
                </a:extLst>
              </a:tr>
              <a:tr h="4851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GJ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Mundra North-Wind </a:t>
                      </a:r>
                    </a:p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(Project capacity : 323.4 MW)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257.4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99</a:t>
                      </a:r>
                    </a:p>
                  </a:txBody>
                  <a:tcPr marL="12700" marR="12700" marT="1270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31-Mar-27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31-Mar-27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dani Regular" panose="02000503000000020004" pitchFamily="2" charset="0"/>
                        </a:rPr>
                        <a:t>83%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dani Regular" panose="02000503000000020004" pitchFamily="2" charset="0"/>
                        </a:rPr>
                        <a:t>81%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243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7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5285D-14E9-588E-3B70-6FE34D6B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BB755E7-86F9-0C52-4073-63FEEE5AD0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-1141809" y="85844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BB755E7-86F9-0C52-4073-63FEEE5AD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141809" y="85844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33459A2D-9159-0AE7-0A54-40CE1609BB9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143001" y="857251"/>
            <a:ext cx="119063" cy="119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750" b="1">
              <a:solidFill>
                <a:prstClr val="white"/>
              </a:solidFill>
              <a:sym typeface="Calibri" panose="020F050202020403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5546F90-5AEE-6370-6DD0-E8231541EAD2}"/>
              </a:ext>
            </a:extLst>
          </p:cNvPr>
          <p:cNvSpPr txBox="1">
            <a:spLocks/>
          </p:cNvSpPr>
          <p:nvPr/>
        </p:nvSpPr>
        <p:spPr>
          <a:xfrm>
            <a:off x="306616" y="83070"/>
            <a:ext cx="10829385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defRPr>
            </a:lvl1pPr>
          </a:lstStyle>
          <a:p>
            <a:pPr>
              <a:defRPr/>
            </a:pPr>
            <a:r>
              <a:rPr lang="en-US">
                <a:latin typeface="Adani Regular" panose="02000503000000020004" pitchFamily="2" charset="0"/>
              </a:rPr>
              <a:t>Commissioning: Plan vs. Forecast – Mundra North Wind Project</a:t>
            </a:r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3BFD121-8EB3-0D80-2FCA-916725B91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69440"/>
              </p:ext>
            </p:extLst>
          </p:nvPr>
        </p:nvGraphicFramePr>
        <p:xfrm>
          <a:off x="306616" y="843222"/>
          <a:ext cx="11232000" cy="1149475"/>
        </p:xfrm>
        <a:graphic>
          <a:graphicData uri="http://schemas.openxmlformats.org/drawingml/2006/table">
            <a:tbl>
              <a:tblPr firstRow="1" bandRow="1"/>
              <a:tblGrid>
                <a:gridCol w="2052000">
                  <a:extLst>
                    <a:ext uri="{9D8B030D-6E8A-4147-A177-3AD203B41FA5}">
                      <a16:colId xmlns:a16="http://schemas.microsoft.com/office/drawing/2014/main" val="382289171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15742044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24275467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33443767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56015989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74762056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26483803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73835375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59545173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74143112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11583039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05070811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0422123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62122577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929736579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366720066"/>
                    </a:ext>
                  </a:extLst>
                </a:gridCol>
              </a:tblGrid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pPr algn="ctr"/>
                      <a:r>
                        <a:rPr lang="en-US" sz="1200" dirty="0"/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gridSpan="1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Adani Regular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dani Regular"/>
                        </a:defRPr>
                      </a:lvl9pPr>
                    </a:lstStyle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2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341829"/>
                  </a:ext>
                </a:extLst>
              </a:tr>
              <a:tr h="417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latin typeface="Adani Regular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Apr-26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May-26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Jun-26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Jul-26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Aug-26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Dec-26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Jan-27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Feb-27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Mar-27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Apr-27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May-27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Jun-27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5122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Adani Regular"/>
                        </a:rPr>
                        <a:t>Mundra North-323.4 MW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Adani Regular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26.4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19.8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40542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2A7A4C4-1BA8-C080-D994-4EA6D1822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303317"/>
              </p:ext>
            </p:extLst>
          </p:nvPr>
        </p:nvGraphicFramePr>
        <p:xfrm>
          <a:off x="306614" y="4343654"/>
          <a:ext cx="11232000" cy="1222156"/>
        </p:xfrm>
        <a:graphic>
          <a:graphicData uri="http://schemas.openxmlformats.org/drawingml/2006/table">
            <a:tbl>
              <a:tblPr firstRow="1" bandRow="1"/>
              <a:tblGrid>
                <a:gridCol w="2052000">
                  <a:extLst>
                    <a:ext uri="{9D8B030D-6E8A-4147-A177-3AD203B41FA5}">
                      <a16:colId xmlns:a16="http://schemas.microsoft.com/office/drawing/2014/main" val="382289171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462377119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26483803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6115015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738353756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59545173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390762583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45873424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4588702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18809512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62933933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08207799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760237218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823367062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2857138655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327740946"/>
                    </a:ext>
                  </a:extLst>
                </a:gridCol>
              </a:tblGrid>
              <a:tr h="3832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Details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gridSpan="15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Actual</a:t>
                      </a: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/ </a:t>
                      </a:r>
                      <a:r>
                        <a:rPr lang="en-IN" sz="1200" b="1" i="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Forecast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200" b="1" i="0" u="none" strike="noStrike">
                        <a:solidFill>
                          <a:srgbClr val="FFFFFF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3418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Apr-26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May-26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Jun-26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Jul-26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Aug-26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Sep-26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Oct-26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Nov-26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Dec-26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Jan-27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Feb-27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Mar-27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Apr-27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May-27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Jun-27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393978"/>
                  </a:ext>
                </a:extLst>
              </a:tr>
              <a:tr h="4788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+mj-lt"/>
                        </a:rPr>
                        <a:t>Mundra North-323.4 MW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0" b="0" i="0" u="none" strike="noStrike" kern="1200">
                        <a:solidFill>
                          <a:srgbClr val="00B05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13.2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26.4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26.4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512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78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21E5-0CA3-36DD-B1D7-150BFE1E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EC437E-C92D-3177-FC4F-BEAB82A67261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itle 5">
            <a:extLst>
              <a:ext uri="{FF2B5EF4-FFF2-40B4-BE49-F238E27FC236}">
                <a16:creationId xmlns:a16="http://schemas.microsoft.com/office/drawing/2014/main" id="{F43D7C6F-4E25-B07B-3CCF-58EC916D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99" y="73804"/>
            <a:ext cx="11168700" cy="461382"/>
          </a:xfrm>
          <a:noFill/>
        </p:spPr>
        <p:txBody>
          <a:bodyPr vert="horz" wrap="square" lIns="0" tIns="45580" rIns="0" bIns="45580" rtlCol="0" anchor="b">
            <a:spAutoFit/>
          </a:bodyPr>
          <a:lstStyle/>
          <a:p>
            <a:pPr algn="l" defTabSz="911377"/>
            <a:r>
              <a:rPr lang="en-US" sz="2400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Salient Features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8891F8-4272-E82F-307D-4E3E888D4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135127"/>
              </p:ext>
            </p:extLst>
          </p:nvPr>
        </p:nvGraphicFramePr>
        <p:xfrm>
          <a:off x="495302" y="713347"/>
          <a:ext cx="11201399" cy="5436221"/>
        </p:xfrm>
        <a:graphic>
          <a:graphicData uri="http://schemas.openxmlformats.org/drawingml/2006/table">
            <a:tbl>
              <a:tblPr firstRow="1" bandRow="1"/>
              <a:tblGrid>
                <a:gridCol w="238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560">
                  <a:extLst>
                    <a:ext uri="{9D8B030D-6E8A-4147-A177-3AD203B41FA5}">
                      <a16:colId xmlns:a16="http://schemas.microsoft.com/office/drawing/2014/main" val="1807322475"/>
                    </a:ext>
                  </a:extLst>
                </a:gridCol>
                <a:gridCol w="1763560">
                  <a:extLst>
                    <a:ext uri="{9D8B030D-6E8A-4147-A177-3AD203B41FA5}">
                      <a16:colId xmlns:a16="http://schemas.microsoft.com/office/drawing/2014/main" val="3344889845"/>
                    </a:ext>
                  </a:extLst>
                </a:gridCol>
                <a:gridCol w="1763560">
                  <a:extLst>
                    <a:ext uri="{9D8B030D-6E8A-4147-A177-3AD203B41FA5}">
                      <a16:colId xmlns:a16="http://schemas.microsoft.com/office/drawing/2014/main" val="778979257"/>
                    </a:ext>
                  </a:extLst>
                </a:gridCol>
                <a:gridCol w="1763560">
                  <a:extLst>
                    <a:ext uri="{9D8B030D-6E8A-4147-A177-3AD203B41FA5}">
                      <a16:colId xmlns:a16="http://schemas.microsoft.com/office/drawing/2014/main" val="1674863550"/>
                    </a:ext>
                  </a:extLst>
                </a:gridCol>
              </a:tblGrid>
              <a:tr h="4879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Project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300" b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Mundra North Wind Projects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lvl="0" indent="0" algn="just" fontAlgn="ctr"/>
                      <a:endParaRPr lang="en-US" sz="1300" b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8DD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9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Project Scope / Capacity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323.4 MW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lvl="0" indent="0" algn="just" fontAlgn="ctr"/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9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Owner/ Developer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Adani Wind Energy Kutch Three Limited (AWEK3L)	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u="none" strike="noStrike" kern="12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9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Location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indent="0" algn="just" fontAlgn="ctr"/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Mundra Kutch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indent="0" algn="just" fontAlgn="ctr"/>
                      <a:endParaRPr lang="en-US" sz="1300" b="0" i="0" u="none" strike="noStrike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3943223"/>
                  </a:ext>
                </a:extLst>
              </a:tr>
              <a:tr h="4879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Land Area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lvl="0" indent="0" algn="just" defTabSz="914400" rtl="0" eaLnBrk="1" fontAlgn="ctr" latinLnBrk="0" hangingPunct="1"/>
                      <a:r>
                        <a:rPr lang="en-US" sz="13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Approx 7.2 acres land is considered for each WTG (170m x 170m)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15888" lvl="0" indent="0" algn="just" defTabSz="914400" rtl="0" eaLnBrk="1" fontAlgn="ctr" latinLnBrk="0" hangingPunct="1"/>
                      <a:endParaRPr lang="en-US" sz="1300" b="0" u="none" strike="noStrike" kern="12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968567"/>
                  </a:ext>
                </a:extLst>
              </a:tr>
              <a:tr h="242412">
                <a:tc gridSpan="6"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008339"/>
                  </a:ext>
                </a:extLst>
              </a:tr>
              <a:tr h="487901">
                <a:tc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 Configuration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300" b="1" kern="1200">
                          <a:solidFill>
                            <a:schemeClr val="tx1"/>
                          </a:solidFill>
                          <a:latin typeface="Adani Regular" panose="02000503000000020004" pitchFamily="2" charset="0"/>
                          <a:ea typeface="+mn-ea"/>
                          <a:cs typeface="Calibri"/>
                        </a:rPr>
                        <a:t>Wind Turbine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1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320645"/>
                  </a:ext>
                </a:extLst>
              </a:tr>
              <a:tr h="560288">
                <a:tc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Parameters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marL="115888" lvl="0" indent="0" algn="l" defTabSz="914400" rtl="0" eaLnBrk="1" fontAlgn="ctr" latinLnBrk="0" hangingPunct="1"/>
                      <a:r>
                        <a:rPr lang="en-US" sz="1300" b="0" u="none" strike="noStrike" kern="1200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  <a:ea typeface="+mn-ea"/>
                          <a:cs typeface="+mn-cs"/>
                        </a:rPr>
                        <a:t>ANIL 3.3MW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/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sz="1300">
                        <a:latin typeface="Adani Regular" panose="02000503000000020004" pitchFamily="2" charset="0"/>
                      </a:endParaRPr>
                    </a:p>
                  </a:txBody>
                  <a:tcPr marL="216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15888" lvl="0" indent="0" algn="l" defTabSz="914400" rtl="0" eaLnBrk="1" fontAlgn="ctr" latinLnBrk="0" hangingPunct="1"/>
                      <a:endParaRPr lang="en-US" sz="1300" b="0" u="none" strike="noStrike" kern="1200">
                        <a:solidFill>
                          <a:schemeClr val="tx1"/>
                        </a:solidFill>
                        <a:effectLst/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5191664"/>
                  </a:ext>
                </a:extLst>
              </a:tr>
              <a:tr h="242412">
                <a:tc gridSpan="6"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IN" sz="1300" b="0" kern="1200">
                        <a:solidFill>
                          <a:schemeClr val="tx1"/>
                        </a:solidFill>
                        <a:latin typeface="Adani Regular" panose="02000503000000020004" pitchFamily="2" charset="0"/>
                        <a:ea typeface="+mn-ea"/>
                        <a:cs typeface="Calibri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indent="0" algn="just" rtl="0" fontAlgn="ctr">
                        <a:buFontTx/>
                        <a:buNone/>
                      </a:pP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2803872"/>
                  </a:ext>
                </a:extLst>
              </a:tr>
              <a:tr h="4879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just" rtl="0" fontAlgn="ctr">
                        <a:buFontTx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Commissioning (FY 26-27)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Q1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Q2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Q3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Q4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Total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901">
                <a:tc>
                  <a:txBody>
                    <a:bodyPr/>
                    <a:lstStyle/>
                    <a:p>
                      <a:pPr marL="0" indent="0" algn="r" rtl="0" fontAlgn="ctr">
                        <a:buFontTx/>
                        <a:buNone/>
                      </a:pPr>
                      <a:r>
                        <a:rPr lang="en-US" sz="13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Budget Plan (MW)</a:t>
                      </a:r>
                    </a:p>
                  </a:txBody>
                  <a:tcPr marL="36000" marR="108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138.6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46.2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72.6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1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257.4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821387"/>
                  </a:ext>
                </a:extLst>
              </a:tr>
              <a:tr h="4879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r" rtl="0" fontAlgn="ctr">
                        <a:buFontTx/>
                        <a:buNone/>
                      </a:pPr>
                      <a:r>
                        <a:rPr lang="en-US" sz="1300" b="0" i="1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Actual /</a:t>
                      </a:r>
                      <a:r>
                        <a:rPr lang="en-US" sz="13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 </a:t>
                      </a:r>
                      <a:r>
                        <a:rPr lang="en-US" sz="1300" b="0" i="1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Expected </a:t>
                      </a:r>
                      <a:r>
                        <a:rPr lang="en-US" sz="1300" b="0" i="1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(MW)</a:t>
                      </a:r>
                    </a:p>
                  </a:txBody>
                  <a:tcPr marL="36000" marR="108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B050"/>
                          </a:solidFill>
                          <a:effectLst/>
                          <a:latin typeface="Adani Regular" panose="02000503000000020004" pitchFamily="2" charset="0"/>
                        </a:rPr>
                        <a:t>99</a:t>
                      </a:r>
                      <a:r>
                        <a:rPr lang="en-US" sz="1300" b="0" i="0" u="none" strike="noStrike">
                          <a:solidFill>
                            <a:schemeClr val="tx1"/>
                          </a:solidFill>
                          <a:effectLst/>
                          <a:latin typeface="Adani Regular" panose="02000503000000020004" pitchFamily="2" charset="0"/>
                        </a:rPr>
                        <a:t> / </a:t>
                      </a: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138.6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46.2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0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72.6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5888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1" i="0" u="none" strike="noStrike">
                          <a:solidFill>
                            <a:srgbClr val="0070C0"/>
                          </a:solidFill>
                          <a:effectLst/>
                          <a:latin typeface="Adani Regular" panose="02000503000000020004" pitchFamily="2" charset="0"/>
                        </a:rPr>
                        <a:t>257.4</a:t>
                      </a:r>
                    </a:p>
                  </a:txBody>
                  <a:tcPr marL="72000" marR="36000" marT="9525" marB="0"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52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7688-FC03-A1E4-2B9F-6EFC819C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7703" y="128399"/>
            <a:ext cx="11577483" cy="461382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Mundra North: Site Layout 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0FE4C53-C166-2CB0-E139-E1D68CA49D0D}"/>
              </a:ext>
            </a:extLst>
          </p:cNvPr>
          <p:cNvSpPr txBox="1">
            <a:spLocks/>
          </p:cNvSpPr>
          <p:nvPr/>
        </p:nvSpPr>
        <p:spPr>
          <a:xfrm>
            <a:off x="11760200" y="6560509"/>
            <a:ext cx="244986" cy="233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>
              <a:latin typeface="Adani Regular" panose="02000503000000020004" pitchFamily="2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18C0152-87A2-0FFF-4B25-BF37DA095A07}"/>
              </a:ext>
            </a:extLst>
          </p:cNvPr>
          <p:cNvSpPr txBox="1">
            <a:spLocks/>
          </p:cNvSpPr>
          <p:nvPr/>
        </p:nvSpPr>
        <p:spPr>
          <a:xfrm>
            <a:off x="11780307" y="6624009"/>
            <a:ext cx="333646" cy="23399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Adani Regular" panose="02000503000000020004" pitchFamily="2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51548A7-808E-353F-85E3-A30F5BD96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8200"/>
              </p:ext>
            </p:extLst>
          </p:nvPr>
        </p:nvGraphicFramePr>
        <p:xfrm>
          <a:off x="8260125" y="665814"/>
          <a:ext cx="2837434" cy="97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429">
                  <a:extLst>
                    <a:ext uri="{9D8B030D-6E8A-4147-A177-3AD203B41FA5}">
                      <a16:colId xmlns:a16="http://schemas.microsoft.com/office/drawing/2014/main" val="1139956095"/>
                    </a:ext>
                  </a:extLst>
                </a:gridCol>
                <a:gridCol w="1863524">
                  <a:extLst>
                    <a:ext uri="{9D8B030D-6E8A-4147-A177-3AD203B41FA5}">
                      <a16:colId xmlns:a16="http://schemas.microsoft.com/office/drawing/2014/main" val="2001812421"/>
                    </a:ext>
                  </a:extLst>
                </a:gridCol>
                <a:gridCol w="539481">
                  <a:extLst>
                    <a:ext uri="{9D8B030D-6E8A-4147-A177-3AD203B41FA5}">
                      <a16:colId xmlns:a16="http://schemas.microsoft.com/office/drawing/2014/main" val="1047836881"/>
                    </a:ext>
                  </a:extLst>
                </a:gridCol>
              </a:tblGrid>
              <a:tr h="48564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dani Regular" panose="02000503000000020004" pitchFamily="2" charset="0"/>
                        </a:rPr>
                        <a:t>No. of Private Locations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151549"/>
                  </a:ext>
                </a:extLst>
              </a:tr>
              <a:tr h="485645">
                <a:tc>
                  <a:txBody>
                    <a:bodyPr/>
                    <a:lstStyle/>
                    <a:p>
                      <a:endParaRPr lang="en-US" sz="1050">
                        <a:latin typeface="Adani Regular" panose="02000503000000020004" pitchFamily="2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Adani Regular" panose="02000503000000020004" pitchFamily="2" charset="0"/>
                        </a:rPr>
                        <a:t>Acquired Locations  (Registry Done)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605760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29E29DFC-BE25-102B-EB1B-8F3C0285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6998" b="5102"/>
          <a:stretch>
            <a:fillRect/>
          </a:stretch>
        </p:blipFill>
        <p:spPr>
          <a:xfrm>
            <a:off x="8326294" y="1214175"/>
            <a:ext cx="236682" cy="2817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768882-9DB8-0D86-5802-C2F290F8BBD9}"/>
              </a:ext>
            </a:extLst>
          </p:cNvPr>
          <p:cNvSpPr txBox="1"/>
          <p:nvPr/>
        </p:nvSpPr>
        <p:spPr>
          <a:xfrm>
            <a:off x="6662738" y="713404"/>
            <a:ext cx="1527645" cy="8582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F5B5D-F2DE-C358-AE0C-04F00468F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62" y="713404"/>
            <a:ext cx="7350618" cy="441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4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BE5D-3C01-D9EF-5E1D-56A7B4A4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1AA0-BC41-23B6-4A1A-A91831787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28399"/>
            <a:ext cx="11389537" cy="461382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Overall S Curve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536A53-3E21-3AF9-EDE8-36994646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971BFC-2F53-FBEC-74FF-D373076EB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260114"/>
              </p:ext>
            </p:extLst>
          </p:nvPr>
        </p:nvGraphicFramePr>
        <p:xfrm>
          <a:off x="369647" y="5285453"/>
          <a:ext cx="11288952" cy="14458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9166">
                  <a:extLst>
                    <a:ext uri="{9D8B030D-6E8A-4147-A177-3AD203B41FA5}">
                      <a16:colId xmlns:a16="http://schemas.microsoft.com/office/drawing/2014/main" val="787533436"/>
                    </a:ext>
                  </a:extLst>
                </a:gridCol>
                <a:gridCol w="1079533">
                  <a:extLst>
                    <a:ext uri="{9D8B030D-6E8A-4147-A177-3AD203B41FA5}">
                      <a16:colId xmlns:a16="http://schemas.microsoft.com/office/drawing/2014/main" val="1261480838"/>
                    </a:ext>
                  </a:extLst>
                </a:gridCol>
                <a:gridCol w="1102606">
                  <a:extLst>
                    <a:ext uri="{9D8B030D-6E8A-4147-A177-3AD203B41FA5}">
                      <a16:colId xmlns:a16="http://schemas.microsoft.com/office/drawing/2014/main" val="3960744436"/>
                    </a:ext>
                  </a:extLst>
                </a:gridCol>
                <a:gridCol w="1311660">
                  <a:extLst>
                    <a:ext uri="{9D8B030D-6E8A-4147-A177-3AD203B41FA5}">
                      <a16:colId xmlns:a16="http://schemas.microsoft.com/office/drawing/2014/main" val="2148855123"/>
                    </a:ext>
                  </a:extLst>
                </a:gridCol>
                <a:gridCol w="897747">
                  <a:extLst>
                    <a:ext uri="{9D8B030D-6E8A-4147-A177-3AD203B41FA5}">
                      <a16:colId xmlns:a16="http://schemas.microsoft.com/office/drawing/2014/main" val="3159957225"/>
                    </a:ext>
                  </a:extLst>
                </a:gridCol>
                <a:gridCol w="4908240">
                  <a:extLst>
                    <a:ext uri="{9D8B030D-6E8A-4147-A177-3AD203B41FA5}">
                      <a16:colId xmlns:a16="http://schemas.microsoft.com/office/drawing/2014/main" val="1291830811"/>
                    </a:ext>
                  </a:extLst>
                </a:gridCol>
              </a:tblGrid>
              <a:tr h="249586">
                <a:tc gridSpan="6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Gap Analysis</a:t>
                      </a:r>
                    </a:p>
                  </a:txBody>
                  <a:tcPr marL="68580" marR="68580" marT="0" marB="0" anchor="ctr"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61873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Progress Parameter</a:t>
                      </a:r>
                      <a:endParaRPr lang="en-US" sz="1100">
                        <a:solidFill>
                          <a:schemeClr val="bg1"/>
                        </a:solidFill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Weightage</a:t>
                      </a:r>
                      <a:endParaRPr lang="en-US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Cumm. Plan</a:t>
                      </a:r>
                      <a:endParaRPr lang="en-US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Cumm. Actual</a:t>
                      </a:r>
                      <a:endParaRPr lang="en-US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Variance</a:t>
                      </a:r>
                      <a:endParaRPr lang="en-US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Remarks for Variance</a:t>
                      </a:r>
                      <a:endParaRPr lang="en-US" sz="1100">
                        <a:effectLst/>
                        <a:latin typeface="Adani Regular" panose="02000503000000020004" pitchFamily="2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5341096"/>
                  </a:ext>
                </a:extLst>
              </a:tr>
              <a:tr h="2270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Engineering</a:t>
                      </a:r>
                    </a:p>
                  </a:txBody>
                  <a:tcPr marL="68580" marR="68580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5128091"/>
                  </a:ext>
                </a:extLst>
              </a:tr>
              <a:tr h="2270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Procurement</a:t>
                      </a:r>
                    </a:p>
                  </a:txBody>
                  <a:tcPr marL="68580" marR="68580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dani Regular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1467313"/>
                  </a:ext>
                </a:extLst>
              </a:tr>
              <a:tr h="2270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Construction</a:t>
                      </a:r>
                    </a:p>
                  </a:txBody>
                  <a:tcPr marL="68580" marR="68580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75%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dani Regular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2204274"/>
                  </a:ext>
                </a:extLst>
              </a:tr>
              <a:tr h="2270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bg1"/>
                          </a:solidFill>
                          <a:effectLst/>
                          <a:latin typeface="Adani Regular" panose="02000503000000020004" pitchFamily="2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100%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latin typeface="Adani Regular" panose="02000503000000020004" pitchFamily="2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5326759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70ADFA-B2F3-4DAD-8D47-C96827C00F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487301"/>
              </p:ext>
            </p:extLst>
          </p:nvPr>
        </p:nvGraphicFramePr>
        <p:xfrm>
          <a:off x="533401" y="722757"/>
          <a:ext cx="11125198" cy="4443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76708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A2FF-E257-2F80-A512-E331F245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4795-18B9-4803-F317-D3B2C594A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21087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Procurement &amp; 3 month rolling plan for Supply Status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3025A2-2F93-795F-A1E2-2AC28358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9F1A19-B322-9C92-A5BE-7D29481C8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221978"/>
              </p:ext>
            </p:extLst>
          </p:nvPr>
        </p:nvGraphicFramePr>
        <p:xfrm>
          <a:off x="501904" y="773080"/>
          <a:ext cx="11046968" cy="2774792"/>
        </p:xfrm>
        <a:graphic>
          <a:graphicData uri="http://schemas.openxmlformats.org/drawingml/2006/table">
            <a:tbl>
              <a:tblPr/>
              <a:tblGrid>
                <a:gridCol w="972186">
                  <a:extLst>
                    <a:ext uri="{9D8B030D-6E8A-4147-A177-3AD203B41FA5}">
                      <a16:colId xmlns:a16="http://schemas.microsoft.com/office/drawing/2014/main" val="2451124406"/>
                    </a:ext>
                  </a:extLst>
                </a:gridCol>
                <a:gridCol w="1827844">
                  <a:extLst>
                    <a:ext uri="{9D8B030D-6E8A-4147-A177-3AD203B41FA5}">
                      <a16:colId xmlns:a16="http://schemas.microsoft.com/office/drawing/2014/main" val="2304737114"/>
                    </a:ext>
                  </a:extLst>
                </a:gridCol>
                <a:gridCol w="799057">
                  <a:extLst>
                    <a:ext uri="{9D8B030D-6E8A-4147-A177-3AD203B41FA5}">
                      <a16:colId xmlns:a16="http://schemas.microsoft.com/office/drawing/2014/main" val="1427498291"/>
                    </a:ext>
                  </a:extLst>
                </a:gridCol>
                <a:gridCol w="1068740">
                  <a:extLst>
                    <a:ext uri="{9D8B030D-6E8A-4147-A177-3AD203B41FA5}">
                      <a16:colId xmlns:a16="http://schemas.microsoft.com/office/drawing/2014/main" val="648757511"/>
                    </a:ext>
                  </a:extLst>
                </a:gridCol>
                <a:gridCol w="1185269">
                  <a:extLst>
                    <a:ext uri="{9D8B030D-6E8A-4147-A177-3AD203B41FA5}">
                      <a16:colId xmlns:a16="http://schemas.microsoft.com/office/drawing/2014/main" val="1443273990"/>
                    </a:ext>
                  </a:extLst>
                </a:gridCol>
                <a:gridCol w="1345080">
                  <a:extLst>
                    <a:ext uri="{9D8B030D-6E8A-4147-A177-3AD203B41FA5}">
                      <a16:colId xmlns:a16="http://schemas.microsoft.com/office/drawing/2014/main" val="4245891743"/>
                    </a:ext>
                  </a:extLst>
                </a:gridCol>
                <a:gridCol w="932234">
                  <a:extLst>
                    <a:ext uri="{9D8B030D-6E8A-4147-A177-3AD203B41FA5}">
                      <a16:colId xmlns:a16="http://schemas.microsoft.com/office/drawing/2014/main" val="3105201082"/>
                    </a:ext>
                  </a:extLst>
                </a:gridCol>
                <a:gridCol w="972186">
                  <a:extLst>
                    <a:ext uri="{9D8B030D-6E8A-4147-A177-3AD203B41FA5}">
                      <a16:colId xmlns:a16="http://schemas.microsoft.com/office/drawing/2014/main" val="2766723121"/>
                    </a:ext>
                  </a:extLst>
                </a:gridCol>
                <a:gridCol w="972186">
                  <a:extLst>
                    <a:ext uri="{9D8B030D-6E8A-4147-A177-3AD203B41FA5}">
                      <a16:colId xmlns:a16="http://schemas.microsoft.com/office/drawing/2014/main" val="647973105"/>
                    </a:ext>
                  </a:extLst>
                </a:gridCol>
                <a:gridCol w="972186">
                  <a:extLst>
                    <a:ext uri="{9D8B030D-6E8A-4147-A177-3AD203B41FA5}">
                      <a16:colId xmlns:a16="http://schemas.microsoft.com/office/drawing/2014/main" val="1298158207"/>
                    </a:ext>
                  </a:extLst>
                </a:gridCol>
              </a:tblGrid>
              <a:tr h="42100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Sr No.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Packages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Ordering 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Delivered at Site up to Aug'26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 to Deliver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Rolling Plan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967912"/>
                  </a:ext>
                </a:extLst>
              </a:tr>
              <a:tr h="28704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502914"/>
                  </a:ext>
                </a:extLst>
              </a:tr>
              <a:tr h="3444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Set (N-H-DT)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02902"/>
                  </a:ext>
                </a:extLst>
              </a:tr>
              <a:tr h="3444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Blade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580626"/>
                  </a:ext>
                </a:extLst>
              </a:tr>
              <a:tr h="3444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Tower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dani Regular" panose="0200050300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884391"/>
                  </a:ext>
                </a:extLst>
              </a:tr>
              <a:tr h="3444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Transformer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89490"/>
                  </a:ext>
                </a:extLst>
              </a:tr>
              <a:tr h="3444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HT Panel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32850"/>
                  </a:ext>
                </a:extLst>
              </a:tr>
              <a:tr h="3444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33 kV Counductor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1150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578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20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7688-FC03-A1E4-2B9F-6EFC819C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21087"/>
            <a:ext cx="11577483" cy="424449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Construction</a:t>
            </a: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agular"/>
                <a:ea typeface="+mn-ea"/>
                <a:cs typeface="+mn-cs"/>
              </a:rPr>
              <a:t> </a:t>
            </a:r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a typeface="+mn-ea"/>
                <a:cs typeface="+mn-cs"/>
              </a:rPr>
              <a:t>Progress Update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D8F2-3E7C-C68F-BEF5-3DC22A31F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52CB87-07A4-57D0-AAFB-0170715EE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95075"/>
              </p:ext>
            </p:extLst>
          </p:nvPr>
        </p:nvGraphicFramePr>
        <p:xfrm>
          <a:off x="606298" y="668490"/>
          <a:ext cx="11340832" cy="3976663"/>
        </p:xfrm>
        <a:graphic>
          <a:graphicData uri="http://schemas.openxmlformats.org/drawingml/2006/table">
            <a:tbl>
              <a:tblPr/>
              <a:tblGrid>
                <a:gridCol w="2451353">
                  <a:extLst>
                    <a:ext uri="{9D8B030D-6E8A-4147-A177-3AD203B41FA5}">
                      <a16:colId xmlns:a16="http://schemas.microsoft.com/office/drawing/2014/main" val="1603732215"/>
                    </a:ext>
                  </a:extLst>
                </a:gridCol>
                <a:gridCol w="516874">
                  <a:extLst>
                    <a:ext uri="{9D8B030D-6E8A-4147-A177-3AD203B41FA5}">
                      <a16:colId xmlns:a16="http://schemas.microsoft.com/office/drawing/2014/main" val="1395129033"/>
                    </a:ext>
                  </a:extLst>
                </a:gridCol>
                <a:gridCol w="562481">
                  <a:extLst>
                    <a:ext uri="{9D8B030D-6E8A-4147-A177-3AD203B41FA5}">
                      <a16:colId xmlns:a16="http://schemas.microsoft.com/office/drawing/2014/main" val="1908455032"/>
                    </a:ext>
                  </a:extLst>
                </a:gridCol>
                <a:gridCol w="881727">
                  <a:extLst>
                    <a:ext uri="{9D8B030D-6E8A-4147-A177-3AD203B41FA5}">
                      <a16:colId xmlns:a16="http://schemas.microsoft.com/office/drawing/2014/main" val="3506578299"/>
                    </a:ext>
                  </a:extLst>
                </a:gridCol>
                <a:gridCol w="668896">
                  <a:extLst>
                    <a:ext uri="{9D8B030D-6E8A-4147-A177-3AD203B41FA5}">
                      <a16:colId xmlns:a16="http://schemas.microsoft.com/office/drawing/2014/main" val="536110765"/>
                    </a:ext>
                  </a:extLst>
                </a:gridCol>
                <a:gridCol w="946336">
                  <a:extLst>
                    <a:ext uri="{9D8B030D-6E8A-4147-A177-3AD203B41FA5}">
                      <a16:colId xmlns:a16="http://schemas.microsoft.com/office/drawing/2014/main" val="1925217591"/>
                    </a:ext>
                  </a:extLst>
                </a:gridCol>
                <a:gridCol w="946336">
                  <a:extLst>
                    <a:ext uri="{9D8B030D-6E8A-4147-A177-3AD203B41FA5}">
                      <a16:colId xmlns:a16="http://schemas.microsoft.com/office/drawing/2014/main" val="2272462737"/>
                    </a:ext>
                  </a:extLst>
                </a:gridCol>
                <a:gridCol w="1048951">
                  <a:extLst>
                    <a:ext uri="{9D8B030D-6E8A-4147-A177-3AD203B41FA5}">
                      <a16:colId xmlns:a16="http://schemas.microsoft.com/office/drawing/2014/main" val="3281178670"/>
                    </a:ext>
                  </a:extLst>
                </a:gridCol>
                <a:gridCol w="1048951">
                  <a:extLst>
                    <a:ext uri="{9D8B030D-6E8A-4147-A177-3AD203B41FA5}">
                      <a16:colId xmlns:a16="http://schemas.microsoft.com/office/drawing/2014/main" val="653782260"/>
                    </a:ext>
                  </a:extLst>
                </a:gridCol>
                <a:gridCol w="1048951">
                  <a:extLst>
                    <a:ext uri="{9D8B030D-6E8A-4147-A177-3AD203B41FA5}">
                      <a16:colId xmlns:a16="http://schemas.microsoft.com/office/drawing/2014/main" val="433970713"/>
                    </a:ext>
                  </a:extLst>
                </a:gridCol>
                <a:gridCol w="1219976">
                  <a:extLst>
                    <a:ext uri="{9D8B030D-6E8A-4147-A177-3AD203B41FA5}">
                      <a16:colId xmlns:a16="http://schemas.microsoft.com/office/drawing/2014/main" val="86467661"/>
                    </a:ext>
                  </a:extLst>
                </a:gridCol>
              </a:tblGrid>
              <a:tr h="535320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Activity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UOM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Scope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Preceding Month Aug’26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Next 3 Month Rolling Plan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Completion Target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877042"/>
                  </a:ext>
                </a:extLst>
              </a:tr>
              <a:tr h="4588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Actual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Oct-26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Nov-26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024947"/>
                  </a:ext>
                </a:extLst>
              </a:tr>
              <a:tr h="497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Foundation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625592"/>
                  </a:ext>
                </a:extLst>
              </a:tr>
              <a:tr h="497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USS Pre-cast Erection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30-Sep-26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000792"/>
                  </a:ext>
                </a:extLst>
              </a:tr>
              <a:tr h="497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Erection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12-Jun-27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330415"/>
                  </a:ext>
                </a:extLst>
              </a:tr>
              <a:tr h="497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USS Erection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28-Feb-27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099066"/>
                  </a:ext>
                </a:extLst>
              </a:tr>
              <a:tr h="497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33kV OH Line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Km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30-Apr-27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593306"/>
                  </a:ext>
                </a:extLst>
              </a:tr>
              <a:tr h="497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Commissioning (Trial Run)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30-Jun-27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921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17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7688-FC03-A1E4-2B9F-6EFC819C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91328"/>
            <a:ext cx="11577483" cy="461382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Major Milestone – Next 3 months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D8F2-3E7C-C68F-BEF5-3DC22A31F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0A2041-2D3E-3D19-A6C0-465647984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823278"/>
              </p:ext>
            </p:extLst>
          </p:nvPr>
        </p:nvGraphicFramePr>
        <p:xfrm>
          <a:off x="557784" y="745228"/>
          <a:ext cx="11094466" cy="1315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3346">
                  <a:extLst>
                    <a:ext uri="{9D8B030D-6E8A-4147-A177-3AD203B41FA5}">
                      <a16:colId xmlns:a16="http://schemas.microsoft.com/office/drawing/2014/main" val="1749187894"/>
                    </a:ext>
                  </a:extLst>
                </a:gridCol>
                <a:gridCol w="3690560">
                  <a:extLst>
                    <a:ext uri="{9D8B030D-6E8A-4147-A177-3AD203B41FA5}">
                      <a16:colId xmlns:a16="http://schemas.microsoft.com/office/drawing/2014/main" val="3946299965"/>
                    </a:ext>
                  </a:extLst>
                </a:gridCol>
                <a:gridCol w="3690560">
                  <a:extLst>
                    <a:ext uri="{9D8B030D-6E8A-4147-A177-3AD203B41FA5}">
                      <a16:colId xmlns:a16="http://schemas.microsoft.com/office/drawing/2014/main" val="4079946011"/>
                    </a:ext>
                  </a:extLst>
                </a:gridCol>
              </a:tblGrid>
              <a:tr h="41557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Oct-26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dani Regular" panose="02000503000000020004"/>
                        </a:rPr>
                        <a:t>Nov-26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64186"/>
                  </a:ext>
                </a:extLst>
              </a:tr>
              <a:tr h="900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dani Regular" panose="02000503000000020004" pitchFamily="2" charset="0"/>
                        </a:rPr>
                        <a:t>Milestone: </a:t>
                      </a:r>
                      <a:r>
                        <a:rPr lang="en-US" sz="1200" b="0" dirty="0">
                          <a:latin typeface="Adani Regular" panose="02000503000000020004" pitchFamily="2" charset="0"/>
                        </a:rPr>
                        <a:t>Cum. Commissioning of 138.6 MW.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dani Regular" panose="02000503000000020004" pitchFamily="2" charset="0"/>
                        </a:rPr>
                        <a:t>Milestone: </a:t>
                      </a:r>
                      <a:r>
                        <a:rPr lang="en-US" sz="1200" b="0" dirty="0">
                          <a:latin typeface="Adani Regular" panose="02000503000000020004" pitchFamily="2" charset="0"/>
                        </a:rPr>
                        <a:t>Cum. Commissioning of 151.8 MW.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Adani Regular" panose="02000503000000020004" pitchFamily="2" charset="0"/>
                        </a:rPr>
                        <a:t>Milestone: </a:t>
                      </a:r>
                      <a:r>
                        <a:rPr lang="en-US" sz="1200" b="0" dirty="0">
                          <a:latin typeface="Adani Regular" panose="02000503000000020004" pitchFamily="2" charset="0"/>
                        </a:rPr>
                        <a:t>Cum. Commissioning of 165 MW.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66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08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C12B-F65B-F7E9-B2E1-7D7B3A20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A5FADD-23DE-1D71-EBF0-211D8438EA6C}"/>
              </a:ext>
            </a:extLst>
          </p:cNvPr>
          <p:cNvSpPr txBox="1">
            <a:spLocks/>
          </p:cNvSpPr>
          <p:nvPr/>
        </p:nvSpPr>
        <p:spPr>
          <a:xfrm>
            <a:off x="552450" y="144872"/>
            <a:ext cx="10512915" cy="424449"/>
          </a:xfrm>
          <a:prstGeom prst="rect">
            <a:avLst/>
          </a:prstGeom>
          <a:noFill/>
        </p:spPr>
        <p:txBody>
          <a:bodyPr vert="horz" wrap="square" lIns="0" tIns="45580" rIns="91157" bIns="45580" rtlCol="0" anchor="b">
            <a:spAutoFit/>
          </a:bodyPr>
          <a:lstStyle>
            <a:lvl1pPr marL="109192" defTabSz="911377">
              <a:lnSpc>
                <a:spcPct val="90000"/>
              </a:lnSpc>
              <a:spcBef>
                <a:spcPct val="0"/>
              </a:spcBef>
              <a:buNone/>
              <a:defRPr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defRPr>
            </a:lvl1pPr>
          </a:lstStyle>
          <a:p>
            <a:pPr marL="0" marR="0" lvl="0" indent="0" algn="l" defTabSz="9113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</a:rPr>
              <a:t>Mundra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: Manpower Deployment Plan vs Actual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74A981-3EB4-51A1-684A-A594059FE3FF}"/>
              </a:ext>
            </a:extLst>
          </p:cNvPr>
          <p:cNvSpPr txBox="1">
            <a:spLocks/>
          </p:cNvSpPr>
          <p:nvPr/>
        </p:nvSpPr>
        <p:spPr>
          <a:xfrm>
            <a:off x="11230428" y="6506482"/>
            <a:ext cx="96157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8B1E0-A6C5-4A01-86A0-BE5B8CAA4EE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dani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dani Regular"/>
              <a:ea typeface="+mn-ea"/>
              <a:cs typeface="+mn-c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96D7089-C312-7909-612C-FC0D7AEA43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2718817"/>
              </p:ext>
            </p:extLst>
          </p:nvPr>
        </p:nvGraphicFramePr>
        <p:xfrm>
          <a:off x="552450" y="1006474"/>
          <a:ext cx="10859262" cy="4918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01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7688-FC03-A1E4-2B9F-6EFC819C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47" y="128399"/>
            <a:ext cx="11577483" cy="461382"/>
          </a:xfrm>
          <a:noFill/>
        </p:spPr>
        <p:txBody>
          <a:bodyPr vert="horz" wrap="square" lIns="91157" tIns="45580" rIns="91157" bIns="45580" rtlCol="0" anchor="b">
            <a:spAutoFit/>
          </a:bodyPr>
          <a:lstStyle/>
          <a:p>
            <a:pPr marL="109192" algn="l" defTabSz="911377"/>
            <a:r>
              <a:rPr lang="en-US" sz="2400" b="1" dirty="0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Major Critical Issues/Support desired – Mundra North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D8F2-3E7C-C68F-BEF5-3DC22A31F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3419475"/>
            <a:ext cx="19050" cy="190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CECB36-804E-13A2-EDA0-18DF2C236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16024"/>
              </p:ext>
            </p:extLst>
          </p:nvPr>
        </p:nvGraphicFramePr>
        <p:xfrm>
          <a:off x="297560" y="780510"/>
          <a:ext cx="11655705" cy="2278638"/>
        </p:xfrm>
        <a:graphic>
          <a:graphicData uri="http://schemas.openxmlformats.org/drawingml/2006/table">
            <a:tbl>
              <a:tblPr firstRow="1" bandRow="1"/>
              <a:tblGrid>
                <a:gridCol w="383653">
                  <a:extLst>
                    <a:ext uri="{9D8B030D-6E8A-4147-A177-3AD203B41FA5}">
                      <a16:colId xmlns:a16="http://schemas.microsoft.com/office/drawing/2014/main" val="2105732643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152936535"/>
                    </a:ext>
                  </a:extLst>
                </a:gridCol>
                <a:gridCol w="1380363">
                  <a:extLst>
                    <a:ext uri="{9D8B030D-6E8A-4147-A177-3AD203B41FA5}">
                      <a16:colId xmlns:a16="http://schemas.microsoft.com/office/drawing/2014/main" val="3846089045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1470619186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4073843976"/>
                    </a:ext>
                  </a:extLst>
                </a:gridCol>
                <a:gridCol w="773755">
                  <a:extLst>
                    <a:ext uri="{9D8B030D-6E8A-4147-A177-3AD203B41FA5}">
                      <a16:colId xmlns:a16="http://schemas.microsoft.com/office/drawing/2014/main" val="3648767015"/>
                    </a:ext>
                  </a:extLst>
                </a:gridCol>
                <a:gridCol w="820179">
                  <a:extLst>
                    <a:ext uri="{9D8B030D-6E8A-4147-A177-3AD203B41FA5}">
                      <a16:colId xmlns:a16="http://schemas.microsoft.com/office/drawing/2014/main" val="2044084759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3045756515"/>
                    </a:ext>
                  </a:extLst>
                </a:gridCol>
                <a:gridCol w="773755">
                  <a:extLst>
                    <a:ext uri="{9D8B030D-6E8A-4147-A177-3AD203B41FA5}">
                      <a16:colId xmlns:a16="http://schemas.microsoft.com/office/drawing/2014/main" val="3341360902"/>
                    </a:ext>
                  </a:extLst>
                </a:gridCol>
              </a:tblGrid>
              <a:tr h="40131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S.N.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Issues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Potential Impact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Root Cause of the Issue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Corrective Action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Action By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Current Status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Support Required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628493"/>
                  </a:ext>
                </a:extLst>
              </a:tr>
              <a:tr h="4013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Whom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dani Regular" panose="02000503000000020004" pitchFamily="2" charset="0"/>
                        </a:rPr>
                        <a:t>Date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531993"/>
                  </a:ext>
                </a:extLst>
              </a:tr>
              <a:tr h="147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1</a:t>
                      </a:r>
                    </a:p>
                  </a:txBody>
                  <a:tcPr marL="6781" marR="6781" marT="67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WTG Supply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Delay in project commissioning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latin typeface="Adani Regular" panose="02000503000000020004" pitchFamily="2" charset="0"/>
                        </a:rPr>
                        <a:t> Manufacturing delay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Adani Regular" panose="02000503000000020004" pitchFamily="2" charset="0"/>
                        </a:rPr>
                        <a:t>ANIL has shared the revised WTG dispatch schedule.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Project / ANIL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Ongoing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000" dirty="0">
                          <a:latin typeface="Adani Regular" panose="02000503000000020004" pitchFamily="2" charset="0"/>
                        </a:rPr>
                        <a:t>Project commissioning is deferred in revised AOP inline with WTG supply.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dani Regular" panose="02000503000000020004" pitchFamily="2" charset="0"/>
                        </a:rPr>
                        <a:t>-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455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71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71376A-649B-EF15-52C4-CD2D8EA9D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762" y="3290887"/>
            <a:ext cx="10404475" cy="2762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latin typeface="Adani Regular" panose="02000503000000020004" pitchFamily="2" charset="0"/>
              </a:rPr>
              <a:t>Thank You</a:t>
            </a: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43EC949C-14E3-86D0-298B-D249DEF74BE0}"/>
              </a:ext>
            </a:extLst>
          </p:cNvPr>
          <p:cNvGrpSpPr/>
          <p:nvPr/>
        </p:nvGrpSpPr>
        <p:grpSpPr>
          <a:xfrm>
            <a:off x="521208" y="543305"/>
            <a:ext cx="7921625" cy="52705"/>
            <a:chOff x="521208" y="543305"/>
            <a:chExt cx="7921625" cy="52705"/>
          </a:xfrm>
        </p:grpSpPr>
        <p:pic>
          <p:nvPicPr>
            <p:cNvPr id="3" name="object 5">
              <a:extLst>
                <a:ext uri="{FF2B5EF4-FFF2-40B4-BE49-F238E27FC236}">
                  <a16:creationId xmlns:a16="http://schemas.microsoft.com/office/drawing/2014/main" id="{591908A6-ACD6-2086-C295-4DA207BDC8D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208" y="543305"/>
              <a:ext cx="5022342" cy="45720"/>
            </a:xfrm>
            <a:prstGeom prst="rect">
              <a:avLst/>
            </a:prstGeom>
          </p:spPr>
        </p:pic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EC56DCF2-5BDA-B1A0-8207-9A8493E929A9}"/>
                </a:ext>
              </a:extLst>
            </p:cNvPr>
            <p:cNvSpPr/>
            <p:nvPr/>
          </p:nvSpPr>
          <p:spPr>
            <a:xfrm>
              <a:off x="521589" y="590930"/>
              <a:ext cx="7921625" cy="0"/>
            </a:xfrm>
            <a:custGeom>
              <a:avLst/>
              <a:gdLst/>
              <a:ahLst/>
              <a:cxnLst/>
              <a:rect l="l" t="t" r="r" b="b"/>
              <a:pathLst>
                <a:path w="7921625">
                  <a:moveTo>
                    <a:pt x="0" y="0"/>
                  </a:moveTo>
                  <a:lnTo>
                    <a:pt x="7921116" y="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6387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zbNU5UQYqX_ukejadiJ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Time xmlns="4b0af4b3-07bf-413a-aea0-81de99942a5f" xsi:nil="true"/>
    <lcf76f155ced4ddcb4097134ff3c332f xmlns="4b0af4b3-07bf-413a-aea0-81de99942a5f">
      <Terms xmlns="http://schemas.microsoft.com/office/infopath/2007/PartnerControls"/>
    </lcf76f155ced4ddcb4097134ff3c332f>
    <History xmlns="4b0af4b3-07bf-413a-aea0-81de99942a5f" xsi:nil="true"/>
    <TaxCatchAll xmlns="ffe3c74f-61e8-4c5b-bf2f-f596927c8ff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2E9080220D84BBED9FCDBEF1B5C47" ma:contentTypeVersion="16" ma:contentTypeDescription="Create a new document." ma:contentTypeScope="" ma:versionID="9cae68be07acca408ecef65a74970196">
  <xsd:schema xmlns:xsd="http://www.w3.org/2001/XMLSchema" xmlns:xs="http://www.w3.org/2001/XMLSchema" xmlns:p="http://schemas.microsoft.com/office/2006/metadata/properties" xmlns:ns2="4b0af4b3-07bf-413a-aea0-81de99942a5f" xmlns:ns3="ffe3c74f-61e8-4c5b-bf2f-f596927c8ffb" targetNamespace="http://schemas.microsoft.com/office/2006/metadata/properties" ma:root="true" ma:fieldsID="2122b5f6738d9bc9e4a485c0d0ca3f61" ns2:_="" ns3:_="">
    <xsd:import namespace="4b0af4b3-07bf-413a-aea0-81de99942a5f"/>
    <xsd:import namespace="ffe3c74f-61e8-4c5b-bf2f-f596927c8f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DateTime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Hist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0af4b3-07bf-413a-aea0-81de99942a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Time" ma:index="12" nillable="true" ma:displayName="Date &amp; Time" ma:format="DateTime" ma:internalName="DateTime">
      <xsd:simpleType>
        <xsd:restriction base="dms:DateTim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b514443-b7a3-4086-9c59-89a49c0c91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History" ma:index="23" nillable="true" ma:displayName="History " ma:format="Dropdown" ma:internalName="Hist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e3c74f-61e8-4c5b-bf2f-f596927c8ff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8f27ac6-ee86-42f7-a42c-69380e9f4440}" ma:internalName="TaxCatchAll" ma:showField="CatchAllData" ma:web="ffe3c74f-61e8-4c5b-bf2f-f596927c8f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F914F3-EF9A-4778-8D65-A38E444A1766}">
  <ds:schemaRefs>
    <ds:schemaRef ds:uri="4b0af4b3-07bf-413a-aea0-81de99942a5f"/>
    <ds:schemaRef ds:uri="ffe3c74f-61e8-4c5b-bf2f-f596927c8ff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909691C-9E58-46A4-8546-3F2BD096F1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CF2AF5-1A56-4CE0-873D-EE0AACA69B9A}">
  <ds:schemaRefs>
    <ds:schemaRef ds:uri="4b0af4b3-07bf-413a-aea0-81de99942a5f"/>
    <ds:schemaRef ds:uri="ffe3c74f-61e8-4c5b-bf2f-f596927c8f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638</Words>
  <Application>Microsoft Office PowerPoint</Application>
  <PresentationFormat>Widescreen</PresentationFormat>
  <Paragraphs>350</Paragraphs>
  <Slides>13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Adani Light</vt:lpstr>
      <vt:lpstr>Adani Medium</vt:lpstr>
      <vt:lpstr>Adani Ragular</vt:lpstr>
      <vt:lpstr>Adani Regular</vt:lpstr>
      <vt:lpstr>Aptos</vt:lpstr>
      <vt:lpstr>Arial</vt:lpstr>
      <vt:lpstr>Calibri</vt:lpstr>
      <vt:lpstr>Courier New</vt:lpstr>
      <vt:lpstr>Wingdings</vt:lpstr>
      <vt:lpstr>Office Theme</vt:lpstr>
      <vt:lpstr>1_Office Theme</vt:lpstr>
      <vt:lpstr>3_Office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Salient Features</vt:lpstr>
      <vt:lpstr>Mundra North: Site Layout </vt:lpstr>
      <vt:lpstr>Overall S Curve</vt:lpstr>
      <vt:lpstr>Procurement &amp; 3 month rolling plan for Supply Status</vt:lpstr>
      <vt:lpstr>Construction Progress Update</vt:lpstr>
      <vt:lpstr>Major Milestone – Next 3 months</vt:lpstr>
      <vt:lpstr>PowerPoint Presentation</vt:lpstr>
      <vt:lpstr>Major Critical Issues/Support desired – Mundra North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Rahulsingh Tomar</dc:creator>
  <cp:lastModifiedBy>Chitra Sathe</cp:lastModifiedBy>
  <cp:revision>1</cp:revision>
  <cp:lastPrinted>2025-04-07T06:45:00Z</cp:lastPrinted>
  <dcterms:created xsi:type="dcterms:W3CDTF">2023-08-27T05:23:05Z</dcterms:created>
  <dcterms:modified xsi:type="dcterms:W3CDTF">2026-09-08T11:10:07Z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0x010100A992E9080220D84BBED9FCDBEF1B5C47</vt:lpwstr>
  </property>
  <property fmtid="{D5CDD505-2E9C-101B-9397-08002B2CF9AE}" pid="3" name="Order">
    <vt:r8>241410400</vt:r8>
  </property>
  <property fmtid="{D5CDD505-2E9C-101B-9397-08002B2CF9AE}" pid="4" name="ComplianceAssetId">
    <vt:lpwstr/>
  </property>
  <property fmtid="{D5CDD505-2E9C-101B-9397-08002B2CF9AE}" pid="5" name="_activity">
    <vt:lpwstr>{"FileActivityType":"9","FileActivityTimeStamp":"2025-08-05T04:42:44.840Z","FileActivityUsersOnPage":[{"DisplayName":"Sanidhya Dabhi","Id":"30106826@adani.com"},{"DisplayName":"Kiran Dhoble","Id":"30060724@adani.com"}],"FileActivityNavigationId":null}</vt:lpwstr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</Properties>
</file>