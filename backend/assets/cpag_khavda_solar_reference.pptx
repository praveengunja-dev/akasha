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1"/>
  </p:notesMasterIdLst>
  <p:handoutMasterIdLst>
    <p:handoutMasterId r:id="rId42"/>
  </p:handoutMasterIdLst>
  <p:sldIdLst>
    <p:sldId id="256" r:id="rId5"/>
    <p:sldId id="2147376139" r:id="rId6"/>
    <p:sldId id="2147378532" r:id="rId7"/>
    <p:sldId id="2147482629" r:id="rId8"/>
    <p:sldId id="2147376723" r:id="rId9"/>
    <p:sldId id="2147482737" r:id="rId10"/>
    <p:sldId id="2147378533" r:id="rId11"/>
    <p:sldId id="2147482740" r:id="rId12"/>
    <p:sldId id="2147482491" r:id="rId13"/>
    <p:sldId id="2147482748" r:id="rId14"/>
    <p:sldId id="2147482749" r:id="rId15"/>
    <p:sldId id="2147482750" r:id="rId16"/>
    <p:sldId id="2147376779" r:id="rId17"/>
    <p:sldId id="2147482542" r:id="rId18"/>
    <p:sldId id="2147482492" r:id="rId19"/>
    <p:sldId id="2147482725" r:id="rId20"/>
    <p:sldId id="2147482726" r:id="rId21"/>
    <p:sldId id="2147482742" r:id="rId22"/>
    <p:sldId id="2147482747" r:id="rId23"/>
    <p:sldId id="2147482746" r:id="rId24"/>
    <p:sldId id="2147482727" r:id="rId25"/>
    <p:sldId id="2147482720" r:id="rId26"/>
    <p:sldId id="2147482734" r:id="rId27"/>
    <p:sldId id="2147482736" r:id="rId28"/>
    <p:sldId id="2147482745" r:id="rId29"/>
    <p:sldId id="2147482744" r:id="rId30"/>
    <p:sldId id="2147482743" r:id="rId31"/>
    <p:sldId id="2147482719" r:id="rId40"/>
    <p:sldId id="2146848161" r:id="rId39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4CAD187-431C-4FA6-9F84-8A6EB16633C3}">
          <p14:sldIdLst>
            <p14:sldId id="256"/>
            <p14:sldId id="2147376139"/>
            <p14:sldId id="2147378532"/>
            <p14:sldId id="2147482629"/>
          </p14:sldIdLst>
        </p14:section>
        <p14:section name="Khavda Solar" id="{F3304007-79EB-469B-B690-89A4F908ADEC}">
          <p14:sldIdLst>
            <p14:sldId id="2147376723"/>
            <p14:sldId id="2147482737"/>
            <p14:sldId id="2147378533"/>
            <p14:sldId id="2147482740"/>
            <p14:sldId id="2147482491"/>
            <p14:sldId id="2147482748"/>
            <p14:sldId id="2147482749"/>
            <p14:sldId id="2147482750"/>
            <p14:sldId id="2147376779"/>
            <p14:sldId id="2147482542"/>
            <p14:sldId id="2147482492"/>
            <p14:sldId id="2147482725"/>
            <p14:sldId id="2147482726"/>
            <p14:sldId id="2147482742"/>
            <p14:sldId id="2147482747"/>
            <p14:sldId id="2147482746"/>
            <p14:sldId id="2147482727"/>
            <p14:sldId id="2147482720"/>
            <p14:sldId id="2147482734"/>
            <p14:sldId id="2147482736"/>
            <p14:sldId id="2147482745"/>
            <p14:sldId id="2147482744"/>
            <p14:sldId id="2147482743"/>
          </p14:sldIdLst>
        </p14:section>
        <p14:section name="Wind" id="{1F29DD25-4ABF-452C-BB92-C88FB63B48A3}">
          <p14:sldIdLst>
            <p14:sldId id="2147376703"/>
            <p14:sldId id="2147376654"/>
            <p14:sldId id="2147482524"/>
            <p14:sldId id="2147482487"/>
            <p14:sldId id="2147482503"/>
            <p14:sldId id="2147376772"/>
            <p14:sldId id="2147378518"/>
            <p14:sldId id="2146848161"/>
            <p14:sldId id="214748271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A26A033-B539-159D-9332-8435FEE84A22}" name="Kirtan Gadhiya" initials="KG" userId="S::30106856@adani.com::113427f0-5d56-4e39-916b-f90a3a5adcd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F3E8F9"/>
    <a:srgbClr val="66FF33"/>
    <a:srgbClr val="E9EDF4"/>
    <a:srgbClr val="E9EBF5"/>
    <a:srgbClr val="CFD5EA"/>
    <a:srgbClr val="FFFFFF"/>
    <a:srgbClr val="7030A0"/>
    <a:srgbClr val="196B24"/>
    <a:srgbClr val="4BAC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54E59F-141C-4D56-8DCD-FAB181E4A65E}" v="1" dt="2026-09-10T07:20:20.815"/>
    <p1510:client id="{88C9014D-AFEA-4893-ABC8-3C21B36A7E15}" v="174" dt="2026-09-10T10:27:18.284"/>
    <p1510:client id="{DAC02922-318A-4018-94EE-2156999CF089}" v="13" dt="2026-09-10T05:38:22.5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1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notesMaster" Target="notesMasters/notesMaster1.xml"/><Relationship Id="rId42" Type="http://schemas.openxmlformats.org/officeDocument/2006/relationships/handoutMaster" Target="handoutMasters/handout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47" Type="http://schemas.microsoft.com/office/2016/11/relationships/changesInfo" Target="changesInfos/changesInfo1.xml"/><Relationship Id="rId48" Type="http://schemas.microsoft.com/office/2015/10/relationships/revisionInfo" Target="revisionInfo.xml"/><Relationship Id="rId49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nj Shah" userId="d331ccce-77d3-4f14-b3f8-f88f5276389b" providerId="ADAL" clId="{D8A043CB-AE4D-4398-97C9-396734588730}"/>
    <pc:docChg chg="modSld">
      <pc:chgData name="Kunj Shah" userId="d331ccce-77d3-4f14-b3f8-f88f5276389b" providerId="ADAL" clId="{D8A043CB-AE4D-4398-97C9-396734588730}" dt="2026-09-10T07:20:20.815" v="0"/>
      <pc:docMkLst>
        <pc:docMk/>
      </pc:docMkLst>
      <pc:sldChg chg="modSp">
        <pc:chgData name="Kunj Shah" userId="d331ccce-77d3-4f14-b3f8-f88f5276389b" providerId="ADAL" clId="{D8A043CB-AE4D-4398-97C9-396734588730}" dt="2026-09-10T07:20:20.815" v="0"/>
        <pc:sldMkLst>
          <pc:docMk/>
          <pc:sldMk cId="504395566" sldId="2147378518"/>
        </pc:sldMkLst>
        <pc:graphicFrameChg chg="mod">
          <ac:chgData name="Kunj Shah" userId="d331ccce-77d3-4f14-b3f8-f88f5276389b" providerId="ADAL" clId="{D8A043CB-AE4D-4398-97C9-396734588730}" dt="2026-09-10T07:20:20.815" v="0"/>
          <ac:graphicFrameMkLst>
            <pc:docMk/>
            <pc:sldMk cId="504395566" sldId="2147378518"/>
            <ac:graphicFrameMk id="2" creationId="{00000000-0008-0000-0000-000002000000}"/>
          </ac:graphicFrameMkLst>
        </pc:graphicFrameChg>
      </pc:sldChg>
    </pc:docChg>
  </pc:docChgLst>
  <pc:docChgLst>
    <pc:chgData name="Kirtan Gadhiya" userId="113427f0-5d56-4e39-916b-f90a3a5adcd7" providerId="ADAL" clId="{5F324EF6-2AC8-40FD-9CB6-5573D5497BDB}"/>
    <pc:docChg chg="undo redo custSel addSld delSld modSld sldOrd delMainMaster delSection modSection">
      <pc:chgData name="Kirtan Gadhiya" userId="113427f0-5d56-4e39-916b-f90a3a5adcd7" providerId="ADAL" clId="{5F324EF6-2AC8-40FD-9CB6-5573D5497BDB}" dt="2026-09-10T10:27:48.152" v="6716" actId="1037"/>
      <pc:docMkLst>
        <pc:docMk/>
      </pc:docMkLst>
      <pc:sldChg chg="modSp mod">
        <pc:chgData name="Kirtan Gadhiya" userId="113427f0-5d56-4e39-916b-f90a3a5adcd7" providerId="ADAL" clId="{5F324EF6-2AC8-40FD-9CB6-5573D5497BDB}" dt="2026-09-04T05:13:41.105" v="6277" actId="20577"/>
        <pc:sldMkLst>
          <pc:docMk/>
          <pc:sldMk cId="1160475412" sldId="256"/>
        </pc:sldMkLst>
        <pc:spChg chg="mod">
          <ac:chgData name="Kirtan Gadhiya" userId="113427f0-5d56-4e39-916b-f90a3a5adcd7" providerId="ADAL" clId="{5F324EF6-2AC8-40FD-9CB6-5573D5497BDB}" dt="2026-09-04T05:13:41.105" v="6277" actId="20577"/>
          <ac:spMkLst>
            <pc:docMk/>
            <pc:sldMk cId="1160475412" sldId="256"/>
            <ac:spMk id="8" creationId="{643FA834-7D73-60FF-8F4B-3D8C8B4EADA1}"/>
          </ac:spMkLst>
        </pc:spChg>
      </pc:sldChg>
      <pc:sldChg chg="modSp mod">
        <pc:chgData name="Kirtan Gadhiya" userId="113427f0-5d56-4e39-916b-f90a3a5adcd7" providerId="ADAL" clId="{5F324EF6-2AC8-40FD-9CB6-5573D5497BDB}" dt="2026-09-08T10:51:21.503" v="6559" actId="20577"/>
        <pc:sldMkLst>
          <pc:docMk/>
          <pc:sldMk cId="3817427944" sldId="2147376779"/>
        </pc:sldMkLst>
        <pc:graphicFrameChg chg="modGraphic">
          <ac:chgData name="Kirtan Gadhiya" userId="113427f0-5d56-4e39-916b-f90a3a5adcd7" providerId="ADAL" clId="{5F324EF6-2AC8-40FD-9CB6-5573D5497BDB}" dt="2026-09-08T10:51:21.503" v="6559" actId="20577"/>
          <ac:graphicFrameMkLst>
            <pc:docMk/>
            <pc:sldMk cId="3817427944" sldId="2147376779"/>
            <ac:graphicFrameMk id="2" creationId="{70839C36-7A0D-1931-4D65-2F052630F6AA}"/>
          </ac:graphicFrameMkLst>
        </pc:graphicFrameChg>
      </pc:sldChg>
      <pc:sldChg chg="addSp delSp modSp mod">
        <pc:chgData name="Kirtan Gadhiya" userId="113427f0-5d56-4e39-916b-f90a3a5adcd7" providerId="ADAL" clId="{5F324EF6-2AC8-40FD-9CB6-5573D5497BDB}" dt="2026-09-10T10:27:48.152" v="6716" actId="1037"/>
        <pc:sldMkLst>
          <pc:docMk/>
          <pc:sldMk cId="504395566" sldId="2147378518"/>
        </pc:sldMkLst>
        <pc:spChg chg="add mod">
          <ac:chgData name="Kirtan Gadhiya" userId="113427f0-5d56-4e39-916b-f90a3a5adcd7" providerId="ADAL" clId="{5F324EF6-2AC8-40FD-9CB6-5573D5497BDB}" dt="2026-09-10T10:27:09.436" v="6683" actId="255"/>
          <ac:spMkLst>
            <pc:docMk/>
            <pc:sldMk cId="504395566" sldId="2147378518"/>
            <ac:spMk id="3" creationId="{E9D692A6-0A13-FC76-9A2B-01DA1B3FD207}"/>
          </ac:spMkLst>
        </pc:spChg>
        <pc:spChg chg="add mod">
          <ac:chgData name="Kirtan Gadhiya" userId="113427f0-5d56-4e39-916b-f90a3a5adcd7" providerId="ADAL" clId="{5F324EF6-2AC8-40FD-9CB6-5573D5497BDB}" dt="2026-09-10T10:27:48.152" v="6716" actId="1037"/>
          <ac:spMkLst>
            <pc:docMk/>
            <pc:sldMk cId="504395566" sldId="2147378518"/>
            <ac:spMk id="6" creationId="{915F3BA1-0F8E-7837-8016-7E58871C6C10}"/>
          </ac:spMkLst>
        </pc:spChg>
        <pc:graphicFrameChg chg="add del mod">
          <ac:chgData name="Kirtan Gadhiya" userId="113427f0-5d56-4e39-916b-f90a3a5adcd7" providerId="ADAL" clId="{5F324EF6-2AC8-40FD-9CB6-5573D5497BDB}" dt="2026-09-10T10:26:50.736" v="6678" actId="478"/>
          <ac:graphicFrameMkLst>
            <pc:docMk/>
            <pc:sldMk cId="504395566" sldId="2147378518"/>
            <ac:graphicFrameMk id="2" creationId="{00000000-0008-0000-0000-000002000000}"/>
          </ac:graphicFrameMkLst>
        </pc:graphicFrameChg>
        <pc:graphicFrameChg chg="add del mod ord">
          <ac:chgData name="Kirtan Gadhiya" userId="113427f0-5d56-4e39-916b-f90a3a5adcd7" providerId="ADAL" clId="{5F324EF6-2AC8-40FD-9CB6-5573D5497BDB}" dt="2026-09-10T10:27:24.332" v="6685" actId="167"/>
          <ac:graphicFrameMkLst>
            <pc:docMk/>
            <pc:sldMk cId="504395566" sldId="2147378518"/>
            <ac:graphicFrameMk id="5" creationId="{00000000-0008-0000-0000-000002000000}"/>
          </ac:graphicFrameMkLst>
        </pc:graphicFrameChg>
      </pc:sldChg>
      <pc:sldChg chg="modSp mod">
        <pc:chgData name="Kirtan Gadhiya" userId="113427f0-5d56-4e39-916b-f90a3a5adcd7" providerId="ADAL" clId="{5F324EF6-2AC8-40FD-9CB6-5573D5497BDB}" dt="2026-09-08T10:54:41.652" v="6562" actId="20577"/>
        <pc:sldMkLst>
          <pc:docMk/>
          <pc:sldMk cId="281574430" sldId="2147378532"/>
        </pc:sldMkLst>
        <pc:graphicFrameChg chg="modGraphic">
          <ac:chgData name="Kirtan Gadhiya" userId="113427f0-5d56-4e39-916b-f90a3a5adcd7" providerId="ADAL" clId="{5F324EF6-2AC8-40FD-9CB6-5573D5497BDB}" dt="2026-09-08T10:54:41.652" v="6562" actId="20577"/>
          <ac:graphicFrameMkLst>
            <pc:docMk/>
            <pc:sldMk cId="281574430" sldId="2147378532"/>
            <ac:graphicFrameMk id="11" creationId="{F97884D0-27D2-932F-9C20-A467221E5846}"/>
          </ac:graphicFrameMkLst>
        </pc:graphicFrameChg>
      </pc:sldChg>
      <pc:sldChg chg="modSp mod">
        <pc:chgData name="Kirtan Gadhiya" userId="113427f0-5d56-4e39-916b-f90a3a5adcd7" providerId="ADAL" clId="{5F324EF6-2AC8-40FD-9CB6-5573D5497BDB}" dt="2026-09-04T05:20:49.002" v="6352" actId="20577"/>
        <pc:sldMkLst>
          <pc:docMk/>
          <pc:sldMk cId="840639974" sldId="2147378533"/>
        </pc:sldMkLst>
        <pc:graphicFrameChg chg="mod modGraphic">
          <ac:chgData name="Kirtan Gadhiya" userId="113427f0-5d56-4e39-916b-f90a3a5adcd7" providerId="ADAL" clId="{5F324EF6-2AC8-40FD-9CB6-5573D5497BDB}" dt="2026-09-04T05:20:49.002" v="6352" actId="20577"/>
          <ac:graphicFrameMkLst>
            <pc:docMk/>
            <pc:sldMk cId="840639974" sldId="2147378533"/>
            <ac:graphicFrameMk id="14" creationId="{0138DC78-B9EC-5F59-B427-F6FC7837F8A1}"/>
          </ac:graphicFrameMkLst>
        </pc:graphicFrameChg>
      </pc:sldChg>
      <pc:sldChg chg="modSp mod">
        <pc:chgData name="Kirtan Gadhiya" userId="113427f0-5d56-4e39-916b-f90a3a5adcd7" providerId="ADAL" clId="{5F324EF6-2AC8-40FD-9CB6-5573D5497BDB}" dt="2026-09-08T04:59:00.117" v="6403" actId="13926"/>
        <pc:sldMkLst>
          <pc:docMk/>
          <pc:sldMk cId="4060271580" sldId="2147482491"/>
        </pc:sldMkLst>
        <pc:spChg chg="mod">
          <ac:chgData name="Kirtan Gadhiya" userId="113427f0-5d56-4e39-916b-f90a3a5adcd7" providerId="ADAL" clId="{5F324EF6-2AC8-40FD-9CB6-5573D5497BDB}" dt="2026-09-08T04:59:00.117" v="6403" actId="13926"/>
          <ac:spMkLst>
            <pc:docMk/>
            <pc:sldMk cId="4060271580" sldId="2147482491"/>
            <ac:spMk id="11" creationId="{B532495E-6E02-1671-0347-9F6E56114843}"/>
          </ac:spMkLst>
        </pc:spChg>
        <pc:graphicFrameChg chg="mod modGraphic">
          <ac:chgData name="Kirtan Gadhiya" userId="113427f0-5d56-4e39-916b-f90a3a5adcd7" providerId="ADAL" clId="{5F324EF6-2AC8-40FD-9CB6-5573D5497BDB}" dt="2026-09-08T04:58:57.858" v="6402" actId="255"/>
          <ac:graphicFrameMkLst>
            <pc:docMk/>
            <pc:sldMk cId="4060271580" sldId="2147482491"/>
            <ac:graphicFrameMk id="2" creationId="{652D4899-635E-46C2-AE41-4728EE765DC3}"/>
          </ac:graphicFrameMkLst>
        </pc:graphicFrameChg>
      </pc:sldChg>
      <pc:sldChg chg="modSp mod">
        <pc:chgData name="Kirtan Gadhiya" userId="113427f0-5d56-4e39-916b-f90a3a5adcd7" providerId="ADAL" clId="{5F324EF6-2AC8-40FD-9CB6-5573D5497BDB}" dt="2026-09-08T10:50:33.436" v="6555" actId="20577"/>
        <pc:sldMkLst>
          <pc:docMk/>
          <pc:sldMk cId="646769686" sldId="2147482542"/>
        </pc:sldMkLst>
        <pc:graphicFrameChg chg="mod modGraphic">
          <ac:chgData name="Kirtan Gadhiya" userId="113427f0-5d56-4e39-916b-f90a3a5adcd7" providerId="ADAL" clId="{5F324EF6-2AC8-40FD-9CB6-5573D5497BDB}" dt="2026-09-08T10:50:33.436" v="6555" actId="20577"/>
          <ac:graphicFrameMkLst>
            <pc:docMk/>
            <pc:sldMk cId="646769686" sldId="2147482542"/>
            <ac:graphicFrameMk id="4" creationId="{02B456FF-9401-6E90-16B4-5D8578B80C36}"/>
          </ac:graphicFrameMkLst>
        </pc:graphicFrameChg>
      </pc:sldChg>
      <pc:sldChg chg="addSp delSp modSp mod">
        <pc:chgData name="Kirtan Gadhiya" userId="113427f0-5d56-4e39-916b-f90a3a5adcd7" providerId="ADAL" clId="{5F324EF6-2AC8-40FD-9CB6-5573D5497BDB}" dt="2026-09-04T05:19:39.839" v="6326" actId="1037"/>
        <pc:sldMkLst>
          <pc:docMk/>
          <pc:sldMk cId="3164519870" sldId="2147482629"/>
        </pc:sldMkLst>
        <pc:spChg chg="mod">
          <ac:chgData name="Kirtan Gadhiya" userId="113427f0-5d56-4e39-916b-f90a3a5adcd7" providerId="ADAL" clId="{5F324EF6-2AC8-40FD-9CB6-5573D5497BDB}" dt="2026-08-11T05:59:57.477" v="6269" actId="20577"/>
          <ac:spMkLst>
            <pc:docMk/>
            <pc:sldMk cId="3164519870" sldId="2147482629"/>
            <ac:spMk id="7" creationId="{457308FB-4CED-B2A0-B05E-F88C39C3DD1D}"/>
          </ac:spMkLst>
        </pc:spChg>
        <pc:graphicFrameChg chg="add mod">
          <ac:chgData name="Kirtan Gadhiya" userId="113427f0-5d56-4e39-916b-f90a3a5adcd7" providerId="ADAL" clId="{5F324EF6-2AC8-40FD-9CB6-5573D5497BDB}" dt="2026-09-04T05:19:39.839" v="6326" actId="1037"/>
          <ac:graphicFrameMkLst>
            <pc:docMk/>
            <pc:sldMk cId="3164519870" sldId="2147482629"/>
            <ac:graphicFrameMk id="6" creationId="{0AF8D1BD-EDC0-4BDC-816D-268B0E8C6FA5}"/>
          </ac:graphicFrameMkLst>
        </pc:graphicFrameChg>
        <pc:graphicFrameChg chg="mod">
          <ac:chgData name="Kirtan Gadhiya" userId="113427f0-5d56-4e39-916b-f90a3a5adcd7" providerId="ADAL" clId="{5F324EF6-2AC8-40FD-9CB6-5573D5497BDB}" dt="2026-09-04T05:19:07.070" v="6305"/>
          <ac:graphicFrameMkLst>
            <pc:docMk/>
            <pc:sldMk cId="3164519870" sldId="2147482629"/>
            <ac:graphicFrameMk id="10" creationId="{516C6700-4D1F-94AD-8041-2EA827EFF5C5}"/>
          </ac:graphicFrameMkLst>
        </pc:graphicFrameChg>
      </pc:sldChg>
      <pc:sldChg chg="modSp mod">
        <pc:chgData name="Kirtan Gadhiya" userId="113427f0-5d56-4e39-916b-f90a3a5adcd7" providerId="ADAL" clId="{5F324EF6-2AC8-40FD-9CB6-5573D5497BDB}" dt="2026-09-04T05:20:36.084" v="6347" actId="20577"/>
        <pc:sldMkLst>
          <pc:docMk/>
          <pc:sldMk cId="2553148696" sldId="2147482737"/>
        </pc:sldMkLst>
        <pc:graphicFrameChg chg="modGraphic">
          <ac:chgData name="Kirtan Gadhiya" userId="113427f0-5d56-4e39-916b-f90a3a5adcd7" providerId="ADAL" clId="{5F324EF6-2AC8-40FD-9CB6-5573D5497BDB}" dt="2026-09-04T05:20:36.084" v="6347" actId="20577"/>
          <ac:graphicFrameMkLst>
            <pc:docMk/>
            <pc:sldMk cId="2553148696" sldId="2147482737"/>
            <ac:graphicFrameMk id="16" creationId="{B38E87D4-D267-D38A-9289-BEFE1FC3077C}"/>
          </ac:graphicFrameMkLst>
        </pc:graphicFrameChg>
      </pc:sldChg>
      <pc:sldChg chg="addSp delSp modSp mod">
        <pc:chgData name="Kirtan Gadhiya" userId="113427f0-5d56-4e39-916b-f90a3a5adcd7" providerId="ADAL" clId="{5F324EF6-2AC8-40FD-9CB6-5573D5497BDB}" dt="2026-09-08T04:58:30.196" v="6393" actId="14734"/>
        <pc:sldMkLst>
          <pc:docMk/>
          <pc:sldMk cId="996559364" sldId="2147482740"/>
        </pc:sldMkLst>
        <pc:graphicFrameChg chg="modGraphic">
          <ac:chgData name="Kirtan Gadhiya" userId="113427f0-5d56-4e39-916b-f90a3a5adcd7" providerId="ADAL" clId="{5F324EF6-2AC8-40FD-9CB6-5573D5497BDB}" dt="2026-09-08T04:58:30.196" v="6393" actId="14734"/>
          <ac:graphicFrameMkLst>
            <pc:docMk/>
            <pc:sldMk cId="996559364" sldId="2147482740"/>
            <ac:graphicFrameMk id="3" creationId="{624AE05F-B8A5-33E5-882D-8CF4AAC3CE4B}"/>
          </ac:graphicFrameMkLst>
        </pc:graphicFrameChg>
        <pc:graphicFrameChg chg="add mod">
          <ac:chgData name="Kirtan Gadhiya" userId="113427f0-5d56-4e39-916b-f90a3a5adcd7" providerId="ADAL" clId="{5F324EF6-2AC8-40FD-9CB6-5573D5497BDB}" dt="2026-09-04T05:25:29.340" v="6380" actId="14100"/>
          <ac:graphicFrameMkLst>
            <pc:docMk/>
            <pc:sldMk cId="996559364" sldId="2147482740"/>
            <ac:graphicFrameMk id="4" creationId="{ACFB796B-58D4-280C-E035-1AA33B6BC81C}"/>
          </ac:graphicFrameMkLst>
        </pc:graphicFrameChg>
      </pc:sldChg>
      <pc:sldChg chg="modSp add mod">
        <pc:chgData name="Kirtan Gadhiya" userId="113427f0-5d56-4e39-916b-f90a3a5adcd7" providerId="ADAL" clId="{5F324EF6-2AC8-40FD-9CB6-5573D5497BDB}" dt="2026-09-08T09:24:26.931" v="6511" actId="6549"/>
        <pc:sldMkLst>
          <pc:docMk/>
          <pc:sldMk cId="2117892379" sldId="2147482748"/>
        </pc:sldMkLst>
        <pc:spChg chg="mod">
          <ac:chgData name="Kirtan Gadhiya" userId="113427f0-5d56-4e39-916b-f90a3a5adcd7" providerId="ADAL" clId="{5F324EF6-2AC8-40FD-9CB6-5573D5497BDB}" dt="2026-09-08T09:22:20.859" v="6500" actId="13926"/>
          <ac:spMkLst>
            <pc:docMk/>
            <pc:sldMk cId="2117892379" sldId="2147482748"/>
            <ac:spMk id="2" creationId="{91137688-FC03-A1E4-2B9F-6EFC819C6C89}"/>
          </ac:spMkLst>
        </pc:spChg>
        <pc:graphicFrameChg chg="mod modGraphic">
          <ac:chgData name="Kirtan Gadhiya" userId="113427f0-5d56-4e39-916b-f90a3a5adcd7" providerId="ADAL" clId="{5F324EF6-2AC8-40FD-9CB6-5573D5497BDB}" dt="2026-09-08T09:24:26.931" v="6511" actId="6549"/>
          <ac:graphicFrameMkLst>
            <pc:docMk/>
            <pc:sldMk cId="2117892379" sldId="2147482748"/>
            <ac:graphicFrameMk id="5" creationId="{1D9C20C9-1176-C8B7-97CB-E53A4FAEECA8}"/>
          </ac:graphicFrameMkLst>
        </pc:graphicFrameChg>
      </pc:sldChg>
      <pc:sldChg chg="modSp add">
        <pc:chgData name="Kirtan Gadhiya" userId="113427f0-5d56-4e39-916b-f90a3a5adcd7" providerId="ADAL" clId="{5F324EF6-2AC8-40FD-9CB6-5573D5497BDB}" dt="2026-09-10T05:14:39.225" v="6563"/>
        <pc:sldMkLst>
          <pc:docMk/>
          <pc:sldMk cId="1257860345" sldId="2147482749"/>
        </pc:sldMkLst>
        <pc:graphicFrameChg chg="mod">
          <ac:chgData name="Kirtan Gadhiya" userId="113427f0-5d56-4e39-916b-f90a3a5adcd7" providerId="ADAL" clId="{5F324EF6-2AC8-40FD-9CB6-5573D5497BDB}" dt="2026-09-10T05:14:39.225" v="6563"/>
          <ac:graphicFrameMkLst>
            <pc:docMk/>
            <pc:sldMk cId="1257860345" sldId="2147482749"/>
            <ac:graphicFrameMk id="3" creationId="{984CCA4A-4DC4-0DC6-746A-5012867A8713}"/>
          </ac:graphicFrameMkLst>
        </pc:graphicFrameChg>
      </pc:sldChg>
      <pc:sldChg chg="modSp add">
        <pc:chgData name="Kirtan Gadhiya" userId="113427f0-5d56-4e39-916b-f90a3a5adcd7" providerId="ADAL" clId="{5F324EF6-2AC8-40FD-9CB6-5573D5497BDB}" dt="2026-09-10T05:14:59.685" v="6564"/>
        <pc:sldMkLst>
          <pc:docMk/>
          <pc:sldMk cId="477025183" sldId="2147482750"/>
        </pc:sldMkLst>
        <pc:graphicFrameChg chg="mod">
          <ac:chgData name="Kirtan Gadhiya" userId="113427f0-5d56-4e39-916b-f90a3a5adcd7" providerId="ADAL" clId="{5F324EF6-2AC8-40FD-9CB6-5573D5497BDB}" dt="2026-09-10T05:14:59.685" v="6564"/>
          <ac:graphicFrameMkLst>
            <pc:docMk/>
            <pc:sldMk cId="477025183" sldId="2147482750"/>
            <ac:graphicFrameMk id="3" creationId="{A6001E6F-EF4D-2B16-B27C-4237D656043F}"/>
          </ac:graphicFrameMkLst>
        </pc:graphicFrameChg>
      </pc:sldChg>
    </pc:docChg>
  </pc:docChgLst>
  <pc:docChgLst>
    <pc:chgData name="Garima Vaishnav" userId="7a406e6c-6037-4113-9062-61d664ad346c" providerId="ADAL" clId="{2E0E82A5-C3E7-4281-98F4-09F7F172E575}"/>
    <pc:docChg chg="undo redo custSel modSld">
      <pc:chgData name="Garima Vaishnav" userId="7a406e6c-6037-4113-9062-61d664ad346c" providerId="ADAL" clId="{2E0E82A5-C3E7-4281-98F4-09F7F172E575}" dt="2026-09-08T11:02:53.131" v="2785" actId="2062"/>
      <pc:docMkLst>
        <pc:docMk/>
      </pc:docMkLst>
      <pc:sldChg chg="modSp mod">
        <pc:chgData name="Garima Vaishnav" userId="7a406e6c-6037-4113-9062-61d664ad346c" providerId="ADAL" clId="{2E0E82A5-C3E7-4281-98F4-09F7F172E575}" dt="2026-09-04T11:27:51.860" v="2701" actId="20577"/>
        <pc:sldMkLst>
          <pc:docMk/>
          <pc:sldMk cId="1569418973" sldId="2147482492"/>
        </pc:sldMkLst>
        <pc:graphicFrameChg chg="modGraphic">
          <ac:chgData name="Garima Vaishnav" userId="7a406e6c-6037-4113-9062-61d664ad346c" providerId="ADAL" clId="{2E0E82A5-C3E7-4281-98F4-09F7F172E575}" dt="2026-09-04T11:27:51.860" v="2701" actId="20577"/>
          <ac:graphicFrameMkLst>
            <pc:docMk/>
            <pc:sldMk cId="1569418973" sldId="2147482492"/>
            <ac:graphicFrameMk id="4" creationId="{1740CDD7-5123-453C-A996-1122038808C7}"/>
          </ac:graphicFrameMkLst>
        </pc:graphicFrameChg>
      </pc:sldChg>
      <pc:sldChg chg="modSp mod">
        <pc:chgData name="Garima Vaishnav" userId="7a406e6c-6037-4113-9062-61d664ad346c" providerId="ADAL" clId="{2E0E82A5-C3E7-4281-98F4-09F7F172E575}" dt="2026-09-04T11:28:40.281" v="2710" actId="20577"/>
        <pc:sldMkLst>
          <pc:docMk/>
          <pc:sldMk cId="646769686" sldId="2147482542"/>
        </pc:sldMkLst>
        <pc:graphicFrameChg chg="mod modGraphic">
          <ac:chgData name="Garima Vaishnav" userId="7a406e6c-6037-4113-9062-61d664ad346c" providerId="ADAL" clId="{2E0E82A5-C3E7-4281-98F4-09F7F172E575}" dt="2026-09-04T11:28:40.281" v="2710" actId="20577"/>
          <ac:graphicFrameMkLst>
            <pc:docMk/>
            <pc:sldMk cId="646769686" sldId="2147482542"/>
            <ac:graphicFrameMk id="4" creationId="{02B456FF-9401-6E90-16B4-5D8578B80C36}"/>
          </ac:graphicFrameMkLst>
        </pc:graphicFrameChg>
      </pc:sldChg>
      <pc:sldChg chg="modSp mod">
        <pc:chgData name="Garima Vaishnav" userId="7a406e6c-6037-4113-9062-61d664ad346c" providerId="ADAL" clId="{2E0E82A5-C3E7-4281-98F4-09F7F172E575}" dt="2026-09-08T11:02:53.131" v="2785" actId="2062"/>
        <pc:sldMkLst>
          <pc:docMk/>
          <pc:sldMk cId="855881795" sldId="2147482719"/>
        </pc:sldMkLst>
        <pc:graphicFrameChg chg="mod modGraphic">
          <ac:chgData name="Garima Vaishnav" userId="7a406e6c-6037-4113-9062-61d664ad346c" providerId="ADAL" clId="{2E0E82A5-C3E7-4281-98F4-09F7F172E575}" dt="2026-09-08T11:02:53.131" v="2785" actId="2062"/>
          <ac:graphicFrameMkLst>
            <pc:docMk/>
            <pc:sldMk cId="855881795" sldId="2147482719"/>
            <ac:graphicFrameMk id="6" creationId="{F7146D18-3533-0C4C-E0F6-49CFCFBA106A}"/>
          </ac:graphicFrameMkLst>
        </pc:graphicFrameChg>
      </pc:sldChg>
      <pc:sldChg chg="modSp mod">
        <pc:chgData name="Garima Vaishnav" userId="7a406e6c-6037-4113-9062-61d664ad346c" providerId="ADAL" clId="{2E0E82A5-C3E7-4281-98F4-09F7F172E575}" dt="2026-09-08T10:43:24.675" v="2714" actId="207"/>
        <pc:sldMkLst>
          <pc:docMk/>
          <pc:sldMk cId="1391536951" sldId="2147482727"/>
        </pc:sldMkLst>
        <pc:graphicFrameChg chg="mod modGraphic">
          <ac:chgData name="Garima Vaishnav" userId="7a406e6c-6037-4113-9062-61d664ad346c" providerId="ADAL" clId="{2E0E82A5-C3E7-4281-98F4-09F7F172E575}" dt="2026-09-08T10:43:24.675" v="2714" actId="207"/>
          <ac:graphicFrameMkLst>
            <pc:docMk/>
            <pc:sldMk cId="1391536951" sldId="2147482727"/>
            <ac:graphicFrameMk id="6" creationId="{3DFC72A6-9DF9-DC1B-8CBA-CB0ECD87C372}"/>
          </ac:graphicFrameMkLst>
        </pc:graphicFrameChg>
      </pc:sldChg>
      <pc:sldChg chg="modSp mod">
        <pc:chgData name="Garima Vaishnav" userId="7a406e6c-6037-4113-9062-61d664ad346c" providerId="ADAL" clId="{2E0E82A5-C3E7-4281-98F4-09F7F172E575}" dt="2026-09-04T06:48:52.554" v="2245" actId="122"/>
        <pc:sldMkLst>
          <pc:docMk/>
          <pc:sldMk cId="2107523173" sldId="2147482734"/>
        </pc:sldMkLst>
        <pc:graphicFrameChg chg="modGraphic">
          <ac:chgData name="Garima Vaishnav" userId="7a406e6c-6037-4113-9062-61d664ad346c" providerId="ADAL" clId="{2E0E82A5-C3E7-4281-98F4-09F7F172E575}" dt="2026-09-04T06:48:52.554" v="2245" actId="122"/>
          <ac:graphicFrameMkLst>
            <pc:docMk/>
            <pc:sldMk cId="2107523173" sldId="2147482734"/>
            <ac:graphicFrameMk id="4" creationId="{38C895D3-DCC2-3705-1201-AA74B67C6A5B}"/>
          </ac:graphicFrameMkLst>
        </pc:graphicFrameChg>
      </pc:sldChg>
      <pc:sldChg chg="modSp mod">
        <pc:chgData name="Garima Vaishnav" userId="7a406e6c-6037-4113-9062-61d664ad346c" providerId="ADAL" clId="{2E0E82A5-C3E7-4281-98F4-09F7F172E575}" dt="2026-09-08T10:44:20.062" v="2724" actId="20577"/>
        <pc:sldMkLst>
          <pc:docMk/>
          <pc:sldMk cId="3468070540" sldId="2147482736"/>
        </pc:sldMkLst>
        <pc:graphicFrameChg chg="mod modGraphic">
          <ac:chgData name="Garima Vaishnav" userId="7a406e6c-6037-4113-9062-61d664ad346c" providerId="ADAL" clId="{2E0E82A5-C3E7-4281-98F4-09F7F172E575}" dt="2026-09-08T10:44:20.062" v="2724" actId="20577"/>
          <ac:graphicFrameMkLst>
            <pc:docMk/>
            <pc:sldMk cId="3468070540" sldId="2147482736"/>
            <ac:graphicFrameMk id="4" creationId="{E463901D-AA82-7DFE-65AB-DE58641B8690}"/>
          </ac:graphicFrameMkLst>
        </pc:graphicFrameChg>
      </pc:sldChg>
      <pc:sldChg chg="modSp mod">
        <pc:chgData name="Garima Vaishnav" userId="7a406e6c-6037-4113-9062-61d664ad346c" providerId="ADAL" clId="{2E0E82A5-C3E7-4281-98F4-09F7F172E575}" dt="2026-09-08T10:45:00.291" v="2753" actId="20577"/>
        <pc:sldMkLst>
          <pc:docMk/>
          <pc:sldMk cId="910317578" sldId="2147482743"/>
        </pc:sldMkLst>
        <pc:graphicFrameChg chg="mod modGraphic">
          <ac:chgData name="Garima Vaishnav" userId="7a406e6c-6037-4113-9062-61d664ad346c" providerId="ADAL" clId="{2E0E82A5-C3E7-4281-98F4-09F7F172E575}" dt="2026-09-08T10:45:00.291" v="2753" actId="20577"/>
          <ac:graphicFrameMkLst>
            <pc:docMk/>
            <pc:sldMk cId="910317578" sldId="2147482743"/>
            <ac:graphicFrameMk id="4" creationId="{30F54908-4858-C09A-2B13-6B3CC1BC00DD}"/>
          </ac:graphicFrameMkLst>
        </pc:graphicFrameChg>
      </pc:sldChg>
      <pc:sldChg chg="modSp mod">
        <pc:chgData name="Garima Vaishnav" userId="7a406e6c-6037-4113-9062-61d664ad346c" providerId="ADAL" clId="{2E0E82A5-C3E7-4281-98F4-09F7F172E575}" dt="2026-09-08T10:44:48.208" v="2747" actId="20577"/>
        <pc:sldMkLst>
          <pc:docMk/>
          <pc:sldMk cId="1228494143" sldId="2147482744"/>
        </pc:sldMkLst>
        <pc:graphicFrameChg chg="mod modGraphic">
          <ac:chgData name="Garima Vaishnav" userId="7a406e6c-6037-4113-9062-61d664ad346c" providerId="ADAL" clId="{2E0E82A5-C3E7-4281-98F4-09F7F172E575}" dt="2026-09-08T10:44:48.208" v="2747" actId="20577"/>
          <ac:graphicFrameMkLst>
            <pc:docMk/>
            <pc:sldMk cId="1228494143" sldId="2147482744"/>
            <ac:graphicFrameMk id="4" creationId="{D7E491BD-456A-2DC5-AC26-175B2CA284BD}"/>
          </ac:graphicFrameMkLst>
        </pc:graphicFrameChg>
      </pc:sldChg>
      <pc:sldChg chg="modSp mod">
        <pc:chgData name="Garima Vaishnav" userId="7a406e6c-6037-4113-9062-61d664ad346c" providerId="ADAL" clId="{2E0E82A5-C3E7-4281-98F4-09F7F172E575}" dt="2026-09-08T10:44:28.758" v="2728" actId="20577"/>
        <pc:sldMkLst>
          <pc:docMk/>
          <pc:sldMk cId="2886194680" sldId="2147482745"/>
        </pc:sldMkLst>
        <pc:graphicFrameChg chg="mod modGraphic">
          <ac:chgData name="Garima Vaishnav" userId="7a406e6c-6037-4113-9062-61d664ad346c" providerId="ADAL" clId="{2E0E82A5-C3E7-4281-98F4-09F7F172E575}" dt="2026-09-08T10:44:28.758" v="2728" actId="20577"/>
          <ac:graphicFrameMkLst>
            <pc:docMk/>
            <pc:sldMk cId="2886194680" sldId="2147482745"/>
            <ac:graphicFrameMk id="4" creationId="{106623BE-1DFB-E116-191F-BB8BF04BC5F7}"/>
          </ac:graphicFrameMkLst>
        </pc:graphicFrameChg>
      </pc:sldChg>
      <pc:sldChg chg="modSp mod">
        <pc:chgData name="Garima Vaishnav" userId="7a406e6c-6037-4113-9062-61d664ad346c" providerId="ADAL" clId="{2E0E82A5-C3E7-4281-98F4-09F7F172E575}" dt="2026-09-08T10:42:54.418" v="2712" actId="207"/>
        <pc:sldMkLst>
          <pc:docMk/>
          <pc:sldMk cId="48900060" sldId="2147482746"/>
        </pc:sldMkLst>
        <pc:graphicFrameChg chg="mod modGraphic">
          <ac:chgData name="Garima Vaishnav" userId="7a406e6c-6037-4113-9062-61d664ad346c" providerId="ADAL" clId="{2E0E82A5-C3E7-4281-98F4-09F7F172E575}" dt="2026-09-08T10:42:54.418" v="2712" actId="207"/>
          <ac:graphicFrameMkLst>
            <pc:docMk/>
            <pc:sldMk cId="48900060" sldId="2147482746"/>
            <ac:graphicFrameMk id="6" creationId="{11DACD14-CCE4-1E0C-122B-4EE1E288AF9C}"/>
          </ac:graphicFrameMkLst>
        </pc:graphicFrameChg>
      </pc:sldChg>
      <pc:sldChg chg="modSp mod">
        <pc:chgData name="Garima Vaishnav" userId="7a406e6c-6037-4113-9062-61d664ad346c" providerId="ADAL" clId="{2E0E82A5-C3E7-4281-98F4-09F7F172E575}" dt="2026-09-08T10:43:48.549" v="2716" actId="207"/>
        <pc:sldMkLst>
          <pc:docMk/>
          <pc:sldMk cId="4246174608" sldId="2147482747"/>
        </pc:sldMkLst>
        <pc:graphicFrameChg chg="mod modGraphic">
          <ac:chgData name="Garima Vaishnav" userId="7a406e6c-6037-4113-9062-61d664ad346c" providerId="ADAL" clId="{2E0E82A5-C3E7-4281-98F4-09F7F172E575}" dt="2026-09-08T10:43:48.549" v="2716" actId="207"/>
          <ac:graphicFrameMkLst>
            <pc:docMk/>
            <pc:sldMk cId="4246174608" sldId="2147482747"/>
            <ac:graphicFrameMk id="6" creationId="{FE18E0AD-4584-294C-C25D-E73D83CBD9BB}"/>
          </ac:graphicFrameMkLst>
        </pc:graphicFrameChg>
      </pc:sldChg>
    </pc:docChg>
  </pc:docChgLst>
  <pc:docChgLst>
    <pc:chgData name="Sanidhya Dabhi" userId="1e732084-9d7f-4d7f-82ab-9e32cfb3eed0" providerId="ADAL" clId="{73E8861E-4C3C-4D00-9F91-49E94292A308}"/>
    <pc:docChg chg="undo custSel delSld modSld modSection">
      <pc:chgData name="Sanidhya Dabhi" userId="1e732084-9d7f-4d7f-82ab-9e32cfb3eed0" providerId="ADAL" clId="{73E8861E-4C3C-4D00-9F91-49E94292A308}" dt="2026-09-10T05:38:22.518" v="1486" actId="13926"/>
      <pc:docMkLst>
        <pc:docMk/>
      </pc:docMkLst>
      <pc:sldChg chg="modSp mod">
        <pc:chgData name="Sanidhya Dabhi" userId="1e732084-9d7f-4d7f-82ab-9e32cfb3eed0" providerId="ADAL" clId="{73E8861E-4C3C-4D00-9F91-49E94292A308}" dt="2026-09-10T05:17:11.400" v="1477" actId="20577"/>
        <pc:sldMkLst>
          <pc:docMk/>
          <pc:sldMk cId="3076393944" sldId="2147376654"/>
        </pc:sldMkLst>
        <pc:graphicFrameChg chg="mod modGraphic">
          <ac:chgData name="Sanidhya Dabhi" userId="1e732084-9d7f-4d7f-82ab-9e32cfb3eed0" providerId="ADAL" clId="{73E8861E-4C3C-4D00-9F91-49E94292A308}" dt="2026-09-10T05:17:11.400" v="1477" actId="20577"/>
          <ac:graphicFrameMkLst>
            <pc:docMk/>
            <pc:sldMk cId="3076393944" sldId="2147376654"/>
            <ac:graphicFrameMk id="5" creationId="{889C2B46-E8BF-19CE-C077-5E7370072DAD}"/>
          </ac:graphicFrameMkLst>
        </pc:graphicFrameChg>
      </pc:sldChg>
      <pc:sldChg chg="addSp modSp mod">
        <pc:chgData name="Sanidhya Dabhi" userId="1e732084-9d7f-4d7f-82ab-9e32cfb3eed0" providerId="ADAL" clId="{73E8861E-4C3C-4D00-9F91-49E94292A308}" dt="2026-09-05T06:27:21.951" v="1465" actId="20577"/>
        <pc:sldMkLst>
          <pc:docMk/>
          <pc:sldMk cId="2173694170" sldId="2147376772"/>
        </pc:sldMkLst>
        <pc:spChg chg="add mod">
          <ac:chgData name="Sanidhya Dabhi" userId="1e732084-9d7f-4d7f-82ab-9e32cfb3eed0" providerId="ADAL" clId="{73E8861E-4C3C-4D00-9F91-49E94292A308}" dt="2026-09-05T06:27:21.951" v="1465" actId="20577"/>
          <ac:spMkLst>
            <pc:docMk/>
            <pc:sldMk cId="2173694170" sldId="2147376772"/>
            <ac:spMk id="2" creationId="{52F3E49C-0468-1A72-57E9-A508E98F3B1D}"/>
          </ac:spMkLst>
        </pc:spChg>
        <pc:graphicFrameChg chg="mod modGraphic">
          <ac:chgData name="Sanidhya Dabhi" userId="1e732084-9d7f-4d7f-82ab-9e32cfb3eed0" providerId="ADAL" clId="{73E8861E-4C3C-4D00-9F91-49E94292A308}" dt="2026-09-05T06:22:54.213" v="1459" actId="20577"/>
          <ac:graphicFrameMkLst>
            <pc:docMk/>
            <pc:sldMk cId="2173694170" sldId="2147376772"/>
            <ac:graphicFrameMk id="8" creationId="{DC42EF3C-1FBD-A89B-101C-4678EAA41F45}"/>
          </ac:graphicFrameMkLst>
        </pc:graphicFrameChg>
      </pc:sldChg>
      <pc:sldChg chg="modSp mod">
        <pc:chgData name="Sanidhya Dabhi" userId="1e732084-9d7f-4d7f-82ab-9e32cfb3eed0" providerId="ADAL" clId="{73E8861E-4C3C-4D00-9F91-49E94292A308}" dt="2026-09-10T05:32:16.015" v="1482" actId="14100"/>
        <pc:sldMkLst>
          <pc:docMk/>
          <pc:sldMk cId="504395566" sldId="2147378518"/>
        </pc:sldMkLst>
        <pc:spChg chg="mod">
          <ac:chgData name="Sanidhya Dabhi" userId="1e732084-9d7f-4d7f-82ab-9e32cfb3eed0" providerId="ADAL" clId="{73E8861E-4C3C-4D00-9F91-49E94292A308}" dt="2026-09-10T05:32:16.015" v="1482" actId="14100"/>
          <ac:spMkLst>
            <pc:docMk/>
            <pc:sldMk cId="504395566" sldId="2147378518"/>
            <ac:spMk id="6" creationId="{915F3BA1-0F8E-7837-8016-7E58871C6C10}"/>
          </ac:spMkLst>
        </pc:spChg>
      </pc:sldChg>
      <pc:sldChg chg="modSp mod">
        <pc:chgData name="Sanidhya Dabhi" userId="1e732084-9d7f-4d7f-82ab-9e32cfb3eed0" providerId="ADAL" clId="{73E8861E-4C3C-4D00-9F91-49E94292A308}" dt="2026-09-08T10:27:13.095" v="1470" actId="20577"/>
        <pc:sldMkLst>
          <pc:docMk/>
          <pc:sldMk cId="281574430" sldId="2147378532"/>
        </pc:sldMkLst>
        <pc:graphicFrameChg chg="modGraphic">
          <ac:chgData name="Sanidhya Dabhi" userId="1e732084-9d7f-4d7f-82ab-9e32cfb3eed0" providerId="ADAL" clId="{73E8861E-4C3C-4D00-9F91-49E94292A308}" dt="2026-09-08T10:27:13.095" v="1470" actId="20577"/>
          <ac:graphicFrameMkLst>
            <pc:docMk/>
            <pc:sldMk cId="281574430" sldId="2147378532"/>
            <ac:graphicFrameMk id="11" creationId="{F97884D0-27D2-932F-9C20-A467221E5846}"/>
          </ac:graphicFrameMkLst>
        </pc:graphicFrameChg>
      </pc:sldChg>
      <pc:sldChg chg="addSp delSp modSp mod">
        <pc:chgData name="Sanidhya Dabhi" userId="1e732084-9d7f-4d7f-82ab-9e32cfb3eed0" providerId="ADAL" clId="{73E8861E-4C3C-4D00-9F91-49E94292A308}" dt="2026-09-10T05:38:22.518" v="1486" actId="13926"/>
        <pc:sldMkLst>
          <pc:docMk/>
          <pc:sldMk cId="3298201261" sldId="2147482487"/>
        </pc:sldMkLst>
        <pc:spChg chg="add del mod">
          <ac:chgData name="Sanidhya Dabhi" userId="1e732084-9d7f-4d7f-82ab-9e32cfb3eed0" providerId="ADAL" clId="{73E8861E-4C3C-4D00-9F91-49E94292A308}" dt="2026-09-08T10:30:46.109" v="1473" actId="1036"/>
          <ac:spMkLst>
            <pc:docMk/>
            <pc:sldMk cId="3298201261" sldId="2147482487"/>
            <ac:spMk id="2" creationId="{84104795-18B9-4803-F317-D3B2C594A07A}"/>
          </ac:spMkLst>
        </pc:spChg>
        <pc:graphicFrameChg chg="add del mod modGraphic">
          <ac:chgData name="Sanidhya Dabhi" userId="1e732084-9d7f-4d7f-82ab-9e32cfb3eed0" providerId="ADAL" clId="{73E8861E-4C3C-4D00-9F91-49E94292A308}" dt="2026-09-10T05:38:22.518" v="1486" actId="13926"/>
          <ac:graphicFrameMkLst>
            <pc:docMk/>
            <pc:sldMk cId="3298201261" sldId="2147482487"/>
            <ac:graphicFrameMk id="3" creationId="{E1997B06-51B3-7BDE-CA8F-0589BDDCB55A}"/>
          </ac:graphicFrameMkLst>
        </pc:graphicFrameChg>
        <pc:picChg chg="add del mod">
          <ac:chgData name="Sanidhya Dabhi" userId="1e732084-9d7f-4d7f-82ab-9e32cfb3eed0" providerId="ADAL" clId="{73E8861E-4C3C-4D00-9F91-49E94292A308}" dt="2026-09-08T10:30:46.109" v="1473" actId="1036"/>
          <ac:picMkLst>
            <pc:docMk/>
            <pc:sldMk cId="3298201261" sldId="2147482487"/>
            <ac:picMk id="11" creationId="{293025A2-2F93-795F-A1E2-2AC283580D4B}"/>
          </ac:picMkLst>
        </pc:picChg>
      </pc:sldChg>
      <pc:sldChg chg="modSp mod">
        <pc:chgData name="Sanidhya Dabhi" userId="1e732084-9d7f-4d7f-82ab-9e32cfb3eed0" providerId="ADAL" clId="{73E8861E-4C3C-4D00-9F91-49E94292A308}" dt="2026-09-10T05:22:46.083" v="1479" actId="255"/>
        <pc:sldMkLst>
          <pc:docMk/>
          <pc:sldMk cId="1127368190" sldId="2147482503"/>
        </pc:sldMkLst>
        <pc:graphicFrameChg chg="mod modGraphic">
          <ac:chgData name="Sanidhya Dabhi" userId="1e732084-9d7f-4d7f-82ab-9e32cfb3eed0" providerId="ADAL" clId="{73E8861E-4C3C-4D00-9F91-49E94292A308}" dt="2026-09-10T05:22:46.083" v="1479" actId="255"/>
          <ac:graphicFrameMkLst>
            <pc:docMk/>
            <pc:sldMk cId="1127368190" sldId="2147482503"/>
            <ac:graphicFrameMk id="4" creationId="{25AE350B-F3A1-FA24-6FCD-1DCFA5DF19B2}"/>
          </ac:graphicFrameMkLst>
        </pc:graphicFrameChg>
      </pc:sldChg>
      <pc:sldChg chg="addSp delSp modSp mod">
        <pc:chgData name="Sanidhya Dabhi" userId="1e732084-9d7f-4d7f-82ab-9e32cfb3eed0" providerId="ADAL" clId="{73E8861E-4C3C-4D00-9F91-49E94292A308}" dt="2026-09-04T12:24:35.954" v="1385"/>
        <pc:sldMkLst>
          <pc:docMk/>
          <pc:sldMk cId="489520611" sldId="2147482524"/>
        </pc:sldMkLst>
        <pc:graphicFrameChg chg="add mod">
          <ac:chgData name="Sanidhya Dabhi" userId="1e732084-9d7f-4d7f-82ab-9e32cfb3eed0" providerId="ADAL" clId="{73E8861E-4C3C-4D00-9F91-49E94292A308}" dt="2026-09-04T12:22:06.492" v="1384" actId="14100"/>
          <ac:graphicFrameMkLst>
            <pc:docMk/>
            <pc:sldMk cId="489520611" sldId="2147482524"/>
            <ac:graphicFrameMk id="3" creationId="{DC70ADFA-B2F3-4DAD-8D47-C96827C00FA0}"/>
          </ac:graphicFrameMkLst>
        </pc:graphicFrameChg>
        <pc:graphicFrameChg chg="mod modGraphic">
          <ac:chgData name="Sanidhya Dabhi" userId="1e732084-9d7f-4d7f-82ab-9e32cfb3eed0" providerId="ADAL" clId="{73E8861E-4C3C-4D00-9F91-49E94292A308}" dt="2026-09-04T12:24:35.954" v="1385"/>
          <ac:graphicFrameMkLst>
            <pc:docMk/>
            <pc:sldMk cId="489520611" sldId="2147482524"/>
            <ac:graphicFrameMk id="5" creationId="{DD971BFC-2F53-FBEC-74FF-D373076EB0F0}"/>
          </ac:graphicFrameMkLst>
        </pc:graphicFrameChg>
      </pc:sldChg>
    </pc:docChg>
  </pc:docChgLst>
  <pc:docChgLst>
    <pc:chgData name="Amol Mhatre" userId="1bad3e53-fadb-4fec-9f79-a7b7eee7dbb7" providerId="ADAL" clId="{37BF4FE6-889D-4CD8-B00D-20DB4DEE14B8}"/>
    <pc:docChg chg="modSld">
      <pc:chgData name="Amol Mhatre" userId="1bad3e53-fadb-4fec-9f79-a7b7eee7dbb7" providerId="ADAL" clId="{37BF4FE6-889D-4CD8-B00D-20DB4DEE14B8}" dt="2026-09-07T14:40:56.811" v="87"/>
      <pc:docMkLst>
        <pc:docMk/>
      </pc:docMkLst>
      <pc:sldChg chg="modSp mod">
        <pc:chgData name="Amol Mhatre" userId="1bad3e53-fadb-4fec-9f79-a7b7eee7dbb7" providerId="ADAL" clId="{37BF4FE6-889D-4CD8-B00D-20DB4DEE14B8}" dt="2026-08-11T05:17:37.115" v="79" actId="20577"/>
        <pc:sldMkLst>
          <pc:docMk/>
          <pc:sldMk cId="3817427944" sldId="2147376779"/>
        </pc:sldMkLst>
        <pc:graphicFrameChg chg="modGraphic">
          <ac:chgData name="Amol Mhatre" userId="1bad3e53-fadb-4fec-9f79-a7b7eee7dbb7" providerId="ADAL" clId="{37BF4FE6-889D-4CD8-B00D-20DB4DEE14B8}" dt="2026-08-11T05:17:37.115" v="79" actId="20577"/>
          <ac:graphicFrameMkLst>
            <pc:docMk/>
            <pc:sldMk cId="3817427944" sldId="2147376779"/>
            <ac:graphicFrameMk id="2" creationId="{70839C36-7A0D-1931-4D65-2F052630F6AA}"/>
          </ac:graphicFrameMkLst>
        </pc:graphicFrame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https://adaniltd.sharepoint.com/sites/AGEL_Project_Controls/Shared%20Documents/Project%20Services/Planning/3.%20Hybrid/2.%20Schedule/01.%20Khavda/03.%20FY%2026-27/S-curve/Sep-26/S%20Curve%20FY%2026-27%20Commissioning%20Plan_02-Sep-26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2"/>
          <c:order val="2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Apr-26</c:v>
                </c:pt>
                <c:pt idx="1">
                  <c:v>May-26</c:v>
                </c:pt>
                <c:pt idx="2">
                  <c:v>Jun-26</c:v>
                </c:pt>
                <c:pt idx="3">
                  <c:v>Jul-26</c:v>
                </c:pt>
                <c:pt idx="4">
                  <c:v>Aug-26</c:v>
                </c:pt>
                <c:pt idx="5">
                  <c:v>Sep-26</c:v>
                </c:pt>
                <c:pt idx="6">
                  <c:v>Oct-26</c:v>
                </c:pt>
                <c:pt idx="7">
                  <c:v>Nov-26</c:v>
                </c:pt>
                <c:pt idx="8">
                  <c:v>Dec-26</c:v>
                </c:pt>
                <c:pt idx="9">
                  <c:v>Jan-27</c:v>
                </c:pt>
                <c:pt idx="10">
                  <c:v>Feb-27</c:v>
                </c:pt>
                <c:pt idx="11">
                  <c:v>Mar-27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492.0</c:v>
                </c:pt>
                <c:pt idx="1">
                  <c:v>325.0</c:v>
                </c:pt>
                <c:pt idx="2">
                  <c:v>400.0</c:v>
                </c:pt>
                <c:pt idx="3">
                  <c:v>275.0</c:v>
                </c:pt>
                <c:pt idx="8">
                  <c:v>250.0</c:v>
                </c:pt>
                <c:pt idx="9">
                  <c:v>1509.0</c:v>
                </c:pt>
                <c:pt idx="10">
                  <c:v>863.0</c:v>
                </c:pt>
                <c:pt idx="11">
                  <c:v>525.0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54-4217-B353-E4FDDB1343CD}"/>
            </c:ext>
          </c:extLst>
        </c:ser>
        <c:ser>
          <c:idx val="3"/>
          <c:order val="3"/>
          <c:tx>
            <c:strRef>
              <c:f>Sheet1!$C$1</c:f>
              <c:strCache>
                <c:ptCount val="1"/>
                <c:pt idx="0">
                  <c:v>Actual / Fcst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454-4217-B353-E4FDDB1343CD}"/>
              </c:ext>
            </c:extLst>
          </c:dPt>
          <c:dPt>
            <c:idx val="1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454-4217-B353-E4FDDB1343CD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454-4217-B353-E4FDDB1343CD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F454-4217-B353-E4FDDB1343C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Apr-26</c:v>
                </c:pt>
                <c:pt idx="1">
                  <c:v>May-26</c:v>
                </c:pt>
                <c:pt idx="2">
                  <c:v>Jun-26</c:v>
                </c:pt>
                <c:pt idx="3">
                  <c:v>Jul-26</c:v>
                </c:pt>
                <c:pt idx="4">
                  <c:v>Aug-26</c:v>
                </c:pt>
                <c:pt idx="5">
                  <c:v>Sep-26</c:v>
                </c:pt>
                <c:pt idx="6">
                  <c:v>Oct-26</c:v>
                </c:pt>
                <c:pt idx="7">
                  <c:v>Nov-26</c:v>
                </c:pt>
                <c:pt idx="8">
                  <c:v>Dec-26</c:v>
                </c:pt>
                <c:pt idx="9">
                  <c:v>Jan-27</c:v>
                </c:pt>
                <c:pt idx="10">
                  <c:v>Feb-27</c:v>
                </c:pt>
                <c:pt idx="11">
                  <c:v>Mar-27</c:v>
                </c:pt>
              </c:strCache>
            </c:strRef>
          </c:cat>
          <c:val>
            <c:numRef>
              <c:f>Sheet1!$C$2:$C$13</c:f>
              <c:numCache>
                <c:formatCode>#,##0</c:formatCode>
                <c:ptCount val="12"/>
                <c:pt idx="0">
                  <c:v>342.0</c:v>
                </c:pt>
                <c:pt idx="1">
                  <c:v>325.0</c:v>
                </c:pt>
                <c:pt idx="2">
                  <c:v>150.0</c:v>
                </c:pt>
                <c:pt idx="4">
                  <c:v>100.0</c:v>
                </c:pt>
                <c:pt idx="5">
                  <c:v>150.0</c:v>
                </c:pt>
                <c:pt idx="6">
                  <c:v>113.0</c:v>
                </c:pt>
                <c:pt idx="7">
                  <c:v>313.0</c:v>
                </c:pt>
                <c:pt idx="8">
                  <c:v>50.0</c:v>
                </c:pt>
                <c:pt idx="9">
                  <c:v>1500.0</c:v>
                </c:pt>
                <c:pt idx="10">
                  <c:v>947.0</c:v>
                </c:pt>
                <c:pt idx="11">
                  <c:v>650.0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F454-4217-B353-E4FDDB1343C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393386031"/>
        <c:axId val="393366351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'[42. AGEL FY 26-27 Commissioning Plan_31-Aug-26.xlsx]Summary Linked'!$I$222</c15:sqref>
                        </c15:formulaRef>
                      </c:ext>
                    </c:extLst>
                    <c:strCache>
                      <c:ptCount val="1"/>
                      <c:pt idx="0">
                        <c:v>Solar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75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'[42. AGEL FY 26-27 Commissioning Plan_31-Aug-26.xlsx]Summary Linked'!$J$221:$V$221</c15:sqref>
                        </c15:formulaRef>
                      </c:ext>
                    </c:extLst>
                    <c:strCache>
                      <c:ptCount val="12"/>
                      <c:pt idx="0">
                        <c:v>Apr-26</c:v>
                      </c:pt>
                      <c:pt idx="1">
                        <c:v>May-26</c:v>
                      </c:pt>
                      <c:pt idx="2">
                        <c:v>Jun-26</c:v>
                      </c:pt>
                      <c:pt idx="3">
                        <c:v>Jul-26</c:v>
                      </c:pt>
                      <c:pt idx="4">
                        <c:v>Aug-26</c:v>
                      </c:pt>
                      <c:pt idx="5">
                        <c:v>Sep-26</c:v>
                      </c:pt>
                      <c:pt idx="6">
                        <c:v>Oct-26</c:v>
                      </c:pt>
                      <c:pt idx="7">
                        <c:v>Nov-26</c:v>
                      </c:pt>
                      <c:pt idx="8">
                        <c:v>Dec-26</c:v>
                      </c:pt>
                      <c:pt idx="9">
                        <c:v>Jan-27</c:v>
                      </c:pt>
                      <c:pt idx="10">
                        <c:v>Feb-27</c:v>
                      </c:pt>
                      <c:pt idx="11">
                        <c:v>Mar-27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'[42. AGEL FY 26-27 Commissioning Plan_31-Aug-26.xlsx]Summary Linked'!$J$222:$V$222</c15:sqref>
                        </c15:formulaRef>
                      </c:ext>
                    </c:extLst>
                    <c:numCache>
                      <c:formatCode>#,##0</c:formatCode>
                      <c:ptCount val="12"/>
                      <c:pt idx="0">
                        <c:v>492</c:v>
                      </c:pt>
                      <c:pt idx="1">
                        <c:v>325</c:v>
                      </c:pt>
                      <c:pt idx="2">
                        <c:v>400</c:v>
                      </c:pt>
                      <c:pt idx="3">
                        <c:v>275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250</c:v>
                      </c:pt>
                      <c:pt idx="9">
                        <c:v>1509</c:v>
                      </c:pt>
                      <c:pt idx="10">
                        <c:v>862.5</c:v>
                      </c:pt>
                      <c:pt idx="11">
                        <c:v>525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A-F454-4217-B353-E4FDDB1343CD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'[42. AGEL FY 26-27 Commissioning Plan_31-Aug-26.xlsx]Summary Linked'!$I$223</c15:sqref>
                        </c15:formulaRef>
                      </c:ext>
                    </c:extLst>
                    <c:strCache>
                      <c:ptCount val="1"/>
                      <c:pt idx="0">
                        <c:v>Wind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75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dani Regular" panose="02000503000000020004" pitchFamily="2" charset="0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'[42. AGEL FY 26-27 Commissioning Plan_31-Aug-26.xlsx]Summary Linked'!$J$221:$V$221</c15:sqref>
                        </c15:formulaRef>
                      </c:ext>
                    </c:extLst>
                    <c:strCache>
                      <c:ptCount val="12"/>
                      <c:pt idx="0">
                        <c:v>Apr-26</c:v>
                      </c:pt>
                      <c:pt idx="1">
                        <c:v>May-26</c:v>
                      </c:pt>
                      <c:pt idx="2">
                        <c:v>Jun-26</c:v>
                      </c:pt>
                      <c:pt idx="3">
                        <c:v>Jul-26</c:v>
                      </c:pt>
                      <c:pt idx="4">
                        <c:v>Aug-26</c:v>
                      </c:pt>
                      <c:pt idx="5">
                        <c:v>Sep-26</c:v>
                      </c:pt>
                      <c:pt idx="6">
                        <c:v>Oct-26</c:v>
                      </c:pt>
                      <c:pt idx="7">
                        <c:v>Nov-26</c:v>
                      </c:pt>
                      <c:pt idx="8">
                        <c:v>Dec-26</c:v>
                      </c:pt>
                      <c:pt idx="9">
                        <c:v>Jan-27</c:v>
                      </c:pt>
                      <c:pt idx="10">
                        <c:v>Feb-27</c:v>
                      </c:pt>
                      <c:pt idx="11">
                        <c:v>Mar-27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'[42. AGEL FY 26-27 Commissioning Plan_31-Aug-26.xlsx]Summary Linked'!$J$223:$V$223</c15:sqref>
                        </c15:formulaRef>
                      </c:ext>
                    </c:extLst>
                    <c:numCache>
                      <c:formatCode>#,##0</c:formatCode>
                      <c:ptCount val="12"/>
                      <c:pt idx="0">
                        <c:v>98.8</c:v>
                      </c:pt>
                      <c:pt idx="1">
                        <c:v>31.200000000000003</c:v>
                      </c:pt>
                      <c:pt idx="2">
                        <c:v>26</c:v>
                      </c:pt>
                      <c:pt idx="3">
                        <c:v>83.2</c:v>
                      </c:pt>
                      <c:pt idx="4">
                        <c:v>78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50</c:v>
                      </c:pt>
                      <c:pt idx="11">
                        <c:v>50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F454-4217-B353-E4FDDB1343CD}"/>
                  </c:ext>
                </c:extLst>
              </c15:ser>
            </c15:filteredBarSeries>
          </c:ext>
        </c:extLst>
      </c:barChart>
      <c:catAx>
        <c:axId val="39338603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ani Regular" panose="02000503000000020004" pitchFamily="2" charset="0"/>
                <a:ea typeface="+mn-ea"/>
                <a:cs typeface="+mn-cs"/>
              </a:defRPr>
            </a:pPr>
            <a:endParaRPr lang="en-US"/>
          </a:p>
        </c:txPr>
        <c:crossAx val="393366351"/>
        <c:crosses val="autoZero"/>
        <c:auto val="1"/>
        <c:lblAlgn val="ctr"/>
        <c:lblOffset val="100"/>
        <c:noMultiLvlLbl val="0"/>
      </c:catAx>
      <c:valAx>
        <c:axId val="393366351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933860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dani Regular" panose="02000503000000020004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750">
          <a:latin typeface="Adani Regular" panose="02000503000000020004" pitchFamily="2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36399728125446"/>
          <c:y val="8.7929989849355378E-2"/>
          <c:w val="0.87806098160896362"/>
          <c:h val="0.656038393144041"/>
        </c:manualLayout>
      </c:layout>
      <c:lineChart>
        <c:grouping val="standard"/>
        <c:varyColors val="0"/>
        <c:ser>
          <c:idx val="0"/>
          <c:order val="0"/>
          <c:tx>
            <c:v>Plan</c:v>
          </c:tx>
          <c:spPr>
            <a:ln w="28575" cap="rnd">
              <a:solidFill>
                <a:srgbClr val="2E75B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5"/>
              <c:layout>
                <c:manualLayout>
                  <c:x val="-8.3053116701205937E-2"/>
                  <c:y val="-0.11976050727533297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253-48EE-99F4-C5376E03B5A8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'S Curve'!$A$5:$A$17</c:f>
              <c:strCache>
                <c:ptCount val="13"/>
                <c:pt idx="0">
                  <c:v>Mar-26 (Base)</c:v>
                </c:pt>
                <c:pt idx="1">
                  <c:v>Apr-26</c:v>
                </c:pt>
                <c:pt idx="2">
                  <c:v>May-26</c:v>
                </c:pt>
                <c:pt idx="3">
                  <c:v>Jun-26</c:v>
                </c:pt>
                <c:pt idx="4">
                  <c:v>Jul-26</c:v>
                </c:pt>
                <c:pt idx="5">
                  <c:v>Aug-26</c:v>
                </c:pt>
                <c:pt idx="6">
                  <c:v>Sep-26</c:v>
                </c:pt>
                <c:pt idx="7">
                  <c:v>Oct-26</c:v>
                </c:pt>
                <c:pt idx="8">
                  <c:v>Nov-26</c:v>
                </c:pt>
                <c:pt idx="9">
                  <c:v>Dec-26</c:v>
                </c:pt>
                <c:pt idx="10">
                  <c:v>Jan-27</c:v>
                </c:pt>
                <c:pt idx="11">
                  <c:v>Feb-27</c:v>
                </c:pt>
                <c:pt idx="12">
                  <c:v>Mar-27</c:v>
                </c:pt>
              </c:strCache>
              <c:extLst/>
            </c:strRef>
          </c:cat>
          <c:val>
            <c:numRef>
              <c:f>'S Curve'!$B$5:$B$17</c:f>
              <c:numCache>
                <c:formatCode>0%</c:formatCode>
                <c:ptCount val="13"/>
                <c:pt idx="0">
                  <c:v>0.34112765226953401</c:v>
                </c:pt>
                <c:pt idx="1">
                  <c:v>0.39481317222983975</c:v>
                </c:pt>
                <c:pt idx="2">
                  <c:v>0.50930167480196842</c:v>
                </c:pt>
                <c:pt idx="3">
                  <c:v>0.62663014691476815</c:v>
                </c:pt>
                <c:pt idx="4">
                  <c:v>0.65040641067944394</c:v>
                </c:pt>
                <c:pt idx="5">
                  <c:v>0.67399886866509551</c:v>
                </c:pt>
                <c:pt idx="6">
                  <c:v>0.71031143358627313</c:v>
                </c:pt>
                <c:pt idx="7">
                  <c:v>0.79932687122152513</c:v>
                </c:pt>
                <c:pt idx="8">
                  <c:v>0.8767222308865219</c:v>
                </c:pt>
                <c:pt idx="9">
                  <c:v>0.9339387079159428</c:v>
                </c:pt>
                <c:pt idx="10">
                  <c:v>0.97459190488180436</c:v>
                </c:pt>
                <c:pt idx="11">
                  <c:v>0.98724860472864795</c:v>
                </c:pt>
                <c:pt idx="12">
                  <c:v>1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0-B253-48EE-99F4-C5376E03B5A8}"/>
            </c:ext>
          </c:extLst>
        </c:ser>
        <c:ser>
          <c:idx val="2"/>
          <c:order val="2"/>
          <c:tx>
            <c:v>Actual</c:v>
          </c:tx>
          <c:spPr>
            <a:ln w="28575" cap="rnd">
              <a:solidFill>
                <a:srgbClr val="70AD47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5"/>
              <c:layout>
                <c:manualLayout>
                  <c:x val="1.3468072978573923E-2"/>
                  <c:y val="8.3832355092733055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253-48EE-99F4-C5376E03B5A8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'S Curve'!$A$5:$A$17</c:f>
              <c:strCache>
                <c:ptCount val="13"/>
                <c:pt idx="0">
                  <c:v>Mar-26 (Base)</c:v>
                </c:pt>
                <c:pt idx="1">
                  <c:v>Apr-26</c:v>
                </c:pt>
                <c:pt idx="2">
                  <c:v>May-26</c:v>
                </c:pt>
                <c:pt idx="3">
                  <c:v>Jun-26</c:v>
                </c:pt>
                <c:pt idx="4">
                  <c:v>Jul-26</c:v>
                </c:pt>
                <c:pt idx="5">
                  <c:v>Aug-26</c:v>
                </c:pt>
                <c:pt idx="6">
                  <c:v>Sep-26</c:v>
                </c:pt>
                <c:pt idx="7">
                  <c:v>Oct-26</c:v>
                </c:pt>
                <c:pt idx="8">
                  <c:v>Nov-26</c:v>
                </c:pt>
                <c:pt idx="9">
                  <c:v>Dec-26</c:v>
                </c:pt>
                <c:pt idx="10">
                  <c:v>Jan-27</c:v>
                </c:pt>
                <c:pt idx="11">
                  <c:v>Feb-27</c:v>
                </c:pt>
                <c:pt idx="12">
                  <c:v>Mar-27</c:v>
                </c:pt>
              </c:strCache>
              <c:extLst/>
            </c:strRef>
          </c:cat>
          <c:val>
            <c:numRef>
              <c:f>'S Curve'!$D$5:$D$17</c:f>
              <c:numCache>
                <c:formatCode>0%</c:formatCode>
                <c:ptCount val="13"/>
                <c:pt idx="0">
                  <c:v>0.33599972115821308</c:v>
                </c:pt>
                <c:pt idx="1">
                  <c:v>0.37054044524025598</c:v>
                </c:pt>
                <c:pt idx="2">
                  <c:v>0.40037921054187658</c:v>
                </c:pt>
                <c:pt idx="3">
                  <c:v>0.43951743407962407</c:v>
                </c:pt>
                <c:pt idx="4">
                  <c:v>0.47684027409006591</c:v>
                </c:pt>
                <c:pt idx="5">
                  <c:v>0.50355634019831919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1-B253-48EE-99F4-C5376E03B5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54829248"/>
        <c:axId val="1354832128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spPr>
                  <a:ln w="28575" cap="rnd">
                    <a:solidFill>
                      <a:srgbClr val="ED7D31"/>
                    </a:solidFill>
                    <a:prstDash val="solid"/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</a:ln>
                    <a:effectLst/>
                  </c:spPr>
                </c:marker>
                <c:cat>
                  <c:strRef>
                    <c:extLst>
                      <c:ext uri="{02D57815-91ED-43cb-92C2-25804820EDAC}">
                        <c15:formulaRef>
                          <c15:sqref>'S Curve'!$A$5:$A$17</c15:sqref>
                        </c15:formulaRef>
                      </c:ext>
                    </c:extLst>
                    <c:strCache>
                      <c:ptCount val="13"/>
                      <c:pt idx="0">
                        <c:v>Mar-26 (Base)</c:v>
                      </c:pt>
                      <c:pt idx="1">
                        <c:v>Apr-26</c:v>
                      </c:pt>
                      <c:pt idx="2">
                        <c:v>May-26</c:v>
                      </c:pt>
                      <c:pt idx="3">
                        <c:v>Jun-26</c:v>
                      </c:pt>
                      <c:pt idx="4">
                        <c:v>Jul-26</c:v>
                      </c:pt>
                      <c:pt idx="5">
                        <c:v>Aug-26</c:v>
                      </c:pt>
                      <c:pt idx="6">
                        <c:v>Sep-26</c:v>
                      </c:pt>
                      <c:pt idx="7">
                        <c:v>Oct-26</c:v>
                      </c:pt>
                      <c:pt idx="8">
                        <c:v>Nov-26</c:v>
                      </c:pt>
                      <c:pt idx="9">
                        <c:v>Dec-26</c:v>
                      </c:pt>
                      <c:pt idx="10">
                        <c:v>Jan-27</c:v>
                      </c:pt>
                      <c:pt idx="11">
                        <c:v>Feb-27</c:v>
                      </c:pt>
                      <c:pt idx="12">
                        <c:v>Mar-27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'S Curve'!$C$5:$C$17</c15:sqref>
                        </c15:formulaRef>
                      </c:ext>
                    </c:extLst>
                    <c:numCache>
                      <c:formatCode>0%</c:formatCode>
                      <c:ptCount val="13"/>
                      <c:pt idx="0">
                        <c:v>0.39947563349719606</c:v>
                      </c:pt>
                      <c:pt idx="1">
                        <c:v>0.3997720655334146</c:v>
                      </c:pt>
                      <c:pt idx="2">
                        <c:v>0.3997720655334146</c:v>
                      </c:pt>
                      <c:pt idx="3">
                        <c:v>0.3997720655334146</c:v>
                      </c:pt>
                      <c:pt idx="4">
                        <c:v>0.46887309243228026</c:v>
                      </c:pt>
                      <c:pt idx="5">
                        <c:v>0.5217591328420359</c:v>
                      </c:pt>
                      <c:pt idx="6">
                        <c:v>0.58988532597707199</c:v>
                      </c:pt>
                      <c:pt idx="7">
                        <c:v>0.70743112904945837</c:v>
                      </c:pt>
                      <c:pt idx="8">
                        <c:v>0.80299405511527422</c:v>
                      </c:pt>
                      <c:pt idx="9">
                        <c:v>0.87896905181915208</c:v>
                      </c:pt>
                      <c:pt idx="10">
                        <c:v>0.93385030093481824</c:v>
                      </c:pt>
                      <c:pt idx="11">
                        <c:v>0.95334946128805154</c:v>
                      </c:pt>
                      <c:pt idx="12">
                        <c:v>0.9581595951683396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B253-48EE-99F4-C5376E03B5A8}"/>
                  </c:ext>
                </c:extLst>
              </c15:ser>
            </c15:filteredLineSeries>
          </c:ext>
        </c:extLst>
      </c:lineChart>
      <c:catAx>
        <c:axId val="13548292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ani Regular" panose="02000503000000020004" pitchFamily="2" charset="0"/>
                <a:ea typeface="+mn-ea"/>
                <a:cs typeface="+mn-cs"/>
              </a:defRPr>
            </a:pPr>
            <a:endParaRPr lang="en-US"/>
          </a:p>
        </c:txPr>
        <c:crossAx val="1354832128"/>
        <c:crosses val="autoZero"/>
        <c:auto val="1"/>
        <c:lblAlgn val="ctr"/>
        <c:lblOffset val="100"/>
        <c:noMultiLvlLbl val="0"/>
      </c:catAx>
      <c:valAx>
        <c:axId val="1354832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r>
                  <a:rPr lang="en-IN"/>
                  <a:t>Cumulative Progress (%)</a:t>
                </a:r>
              </a:p>
            </c:rich>
          </c:tx>
          <c:layout>
            <c:manualLayout>
              <c:xMode val="edge"/>
              <c:yMode val="edge"/>
              <c:x val="2.2888947809402701E-2"/>
              <c:y val="0.2150587508872273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dani Regular" panose="02000503000000020004" pitchFamily="2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ani Regular" panose="02000503000000020004" pitchFamily="2" charset="0"/>
                <a:ea typeface="+mn-ea"/>
                <a:cs typeface="+mn-cs"/>
              </a:defRPr>
            </a:pPr>
            <a:endParaRPr lang="en-US"/>
          </a:p>
        </c:txPr>
        <c:crossAx val="135482924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ani Regular" panose="02000503000000020004" pitchFamily="2" charset="0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0647415990926711"/>
          <c:y val="0.91410727874832187"/>
          <c:w val="0.26456864021217369"/>
          <c:h val="5.69624240007973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dani Regular" panose="02000503000000020004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dani Regular" panose="02000503000000020004" pitchFamily="2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FC32EF-7F26-FBF5-A4DB-863788E1EB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C12DA0-A275-7762-DFB4-275780D204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13A120-FA9F-4253-8750-ADEFC14124A8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EAD6E7-5E67-2263-9B48-8C92DBC772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28585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426CE1-A1EF-C59D-1EAF-966039A4BE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4" y="9428585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A9303-E99E-4461-883B-BF5028EA1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58300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400" cy="4968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9" y="1"/>
            <a:ext cx="2946400" cy="4968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09B9A-C4C1-4AD2-8C55-4EDBAF27EF72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43013"/>
            <a:ext cx="5946775" cy="3346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2" y="4776790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1"/>
            <a:ext cx="2946400" cy="4968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9" y="9429751"/>
            <a:ext cx="2946400" cy="4968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D3562-5CE4-49E3-A698-59ED55762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45750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983EE-5B72-0A42-9ABE-B7560AA50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28D8C6-8F24-9453-C860-6916C30268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CB548A-00BD-366D-659D-33EF541D7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4A9302-2315-0CD6-A21C-5933D852F57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96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A598F-E84F-1C05-4447-3D200C7ED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3A53DC-76A3-3A5B-557A-8027F6825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97E314-D64C-4FE6-9C8F-84D68D8EC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9C6A0-27B2-3303-2D83-576CEF6900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BD3562-5CE4-49E3-A698-59ED557625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230EA-1A35-EFF1-613B-36C8FBAA345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8526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BD3562-5CE4-49E3-A698-59ED557625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3092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2F817-8856-DF4C-5E5E-553C558BA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10C967-AC21-6BDA-35B2-7013B0118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2F0A91-799B-94FC-B807-D83239FB3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C9E40-00ED-3675-E650-5EC28B979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D3562-5CE4-49E3-A698-59ED55762543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EF795-615E-02D8-8152-C6D3B497DC6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08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461CC-41E7-F5B4-83AC-8350A07CE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17251-197A-1FA8-5BE8-24AD27AB58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73C6D-5A5A-2ECA-1C63-AD3E38B07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76FE0-2D75-CA44-97BC-85B4C0A51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D3562-5CE4-49E3-A698-59ED5576254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1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D3562-5CE4-49E3-A698-59ED55762543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B2169-1B4B-39C4-1574-CE77A2363D2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470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D3562-5CE4-49E3-A698-59ED5576254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8032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D3562-5CE4-49E3-A698-59ED5576254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6003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0FCD0-4A1E-4F03-8F18-59FBC7C66F2F}" type="slidenum">
              <a:rPr lang="en-US" smtClean="0"/>
              <a:t>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3EB3F-148D-EF2E-FF21-241FA11BF57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584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6B202-412B-0BB9-9A51-E4031C513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23EE8-956A-35ED-6CD6-F14366DA59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750E84-911A-3D9E-CEAF-5A2F9DFBD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F3751-EC29-3AEC-8884-1D267B03E5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D3562-5CE4-49E3-A698-59ED55762543}" type="slidenum">
              <a:rPr lang="en-US" smtClean="0"/>
              <a:t>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9B28D-69B8-D366-BF9A-7E9E533293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4769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E0320-3597-A340-47BC-A8B16C33D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6F607F-6A7C-5EA1-C565-DC72FEABE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CB2932-9909-1486-440F-2BA2683EC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4D232-C94F-C5A5-C78B-DC29BE7BBCB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defTabSz="912205">
              <a:defRPr/>
            </a:pPr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771098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D3562-5CE4-49E3-A698-59ED5576254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020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BAD34-B45B-407E-A1B8-52C038A48D05}" type="slidenum">
              <a:rPr lang="en-IN" smtClean="0"/>
              <a:t>35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2F6ED-A3B5-CDEC-18D8-CB141BEFC26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37308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A3673-ED7E-D140-BEB7-45A5D72802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971" y="107818"/>
            <a:ext cx="11498943" cy="424449"/>
          </a:xfrm>
          <a:prstGeom prst="rect">
            <a:avLst/>
          </a:prstGeom>
          <a:noFill/>
        </p:spPr>
        <p:txBody>
          <a:bodyPr vert="horz" wrap="square" lIns="91157" tIns="45580" rIns="91157" bIns="45580" rtlCol="0" anchor="b">
            <a:spAutoFit/>
          </a:bodyPr>
          <a:lstStyle>
            <a:lvl1pPr>
              <a:def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defRPr>
            </a:lvl1pPr>
          </a:lstStyle>
          <a:p>
            <a:pPr marL="109192" lvl="0" defTabSz="911377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C17888-9A6C-A7C3-9F88-C87B575D7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970" y="655637"/>
            <a:ext cx="11498943" cy="3651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rgbClr val="7030A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11FDC09-5BC8-B895-A291-B9A8024BBAD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8969" y="1144132"/>
            <a:ext cx="11498943" cy="506186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5FF0D2-0874-80AB-5E01-138E3F2780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97635" y="6352804"/>
            <a:ext cx="194366" cy="3869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5D8627-D436-1E78-A822-A706D2C392D4}"/>
              </a:ext>
            </a:extLst>
          </p:cNvPr>
          <p:cNvSpPr txBox="1"/>
          <p:nvPr userDrawn="1"/>
        </p:nvSpPr>
        <p:spPr>
          <a:xfrm>
            <a:off x="11676153" y="6428075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7F89D720-7EAF-A942-9DA7-171430440A11}" type="slidenum">
              <a:rPr lang="en-US" sz="800" b="0" i="0" smtClean="0">
                <a:solidFill>
                  <a:srgbClr val="2A69AF"/>
                </a:solidFill>
                <a:latin typeface="Adani Medium" charset="0"/>
                <a:ea typeface="Adani Medium" charset="0"/>
                <a:cs typeface="Adani Medium" charset="0"/>
              </a:rPr>
              <a:pPr algn="r"/>
              <a:t>‹#›</a:t>
            </a:fld>
            <a:endParaRPr lang="en-US" sz="800" b="0" i="0">
              <a:solidFill>
                <a:srgbClr val="2A69AF"/>
              </a:solidFill>
              <a:latin typeface="Adani Medium" charset="0"/>
              <a:ea typeface="Adani Medium" charset="0"/>
              <a:cs typeface="Adani Medium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0D8660E-D71A-5DE1-EB36-594448D56745}"/>
              </a:ext>
            </a:extLst>
          </p:cNvPr>
          <p:cNvCxnSpPr>
            <a:cxnSpLocks/>
          </p:cNvCxnSpPr>
          <p:nvPr userDrawn="1"/>
        </p:nvCxnSpPr>
        <p:spPr>
          <a:xfrm>
            <a:off x="418264" y="6342507"/>
            <a:ext cx="1096949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239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A3673-ED7E-D140-BEB7-45A5D72802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C17888-9A6C-A7C3-9F88-C87B575D7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6658EF-EED0-CB11-E9B3-42115C23E6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97635" y="6352804"/>
            <a:ext cx="194366" cy="3869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76149A-A0E6-67A4-64F8-B9B59BDB469B}"/>
              </a:ext>
            </a:extLst>
          </p:cNvPr>
          <p:cNvSpPr txBox="1"/>
          <p:nvPr userDrawn="1"/>
        </p:nvSpPr>
        <p:spPr>
          <a:xfrm>
            <a:off x="11662298" y="6428075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7F89D720-7EAF-A942-9DA7-171430440A11}" type="slidenum">
              <a:rPr lang="en-US" sz="800" b="0" i="0" smtClean="0">
                <a:solidFill>
                  <a:srgbClr val="2A69AF"/>
                </a:solidFill>
                <a:latin typeface="Adani Medium" charset="0"/>
                <a:ea typeface="Adani Medium" charset="0"/>
                <a:cs typeface="Adani Medium" charset="0"/>
              </a:rPr>
              <a:pPr algn="r"/>
              <a:t>‹#›</a:t>
            </a:fld>
            <a:endParaRPr lang="en-US" sz="800" b="0" i="0">
              <a:solidFill>
                <a:srgbClr val="2A69AF"/>
              </a:solidFill>
              <a:latin typeface="Adani Medium" charset="0"/>
              <a:ea typeface="Adani Medium" charset="0"/>
              <a:cs typeface="Adani Mediu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88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97635" y="6352804"/>
            <a:ext cx="194366" cy="386917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0D86267A-8FA6-4035-931E-6C1AAE836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771424"/>
            <a:ext cx="104040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algn="l" defTabSz="457206" rtl="0" eaLnBrk="1" latinLnBrk="0" hangingPunct="1">
              <a:defRPr lang="en-US" sz="2000" kern="1200" dirty="0">
                <a:solidFill>
                  <a:srgbClr val="912A82"/>
                </a:solidFill>
                <a:latin typeface="Adani Light" panose="02000503000000020004" pitchFamily="2" charset="0"/>
                <a:ea typeface="Adani" charset="0"/>
                <a:cs typeface="Adani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B1FEE5-F907-4692-A090-F903596527C5}"/>
              </a:ext>
            </a:extLst>
          </p:cNvPr>
          <p:cNvSpPr txBox="1"/>
          <p:nvPr userDrawn="1"/>
        </p:nvSpPr>
        <p:spPr>
          <a:xfrm>
            <a:off x="11703863" y="6428075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7F89D720-7EAF-A942-9DA7-171430440A11}" type="slidenum">
              <a:rPr lang="en-US" sz="800" b="0" i="0" smtClean="0">
                <a:solidFill>
                  <a:srgbClr val="2A69AF"/>
                </a:solidFill>
                <a:latin typeface="Adani Medium" charset="0"/>
                <a:ea typeface="Adani Medium" charset="0"/>
                <a:cs typeface="Adani Medium" charset="0"/>
              </a:rPr>
              <a:pPr algn="r"/>
              <a:t>‹#›</a:t>
            </a:fld>
            <a:endParaRPr lang="en-US" sz="800" b="0" i="0">
              <a:solidFill>
                <a:srgbClr val="2A69AF"/>
              </a:solidFill>
              <a:latin typeface="Adani Medium" charset="0"/>
              <a:ea typeface="Adani Medium" charset="0"/>
              <a:cs typeface="Adani Medium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DCD51E0-8331-4503-B577-41B5C26DFEB3}"/>
              </a:ext>
            </a:extLst>
          </p:cNvPr>
          <p:cNvCxnSpPr>
            <a:cxnSpLocks/>
          </p:cNvCxnSpPr>
          <p:nvPr userDrawn="1"/>
        </p:nvCxnSpPr>
        <p:spPr>
          <a:xfrm>
            <a:off x="418264" y="6342507"/>
            <a:ext cx="1096949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309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12E75-2C4D-7223-28D9-149598A36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93" y="150920"/>
            <a:ext cx="8172635" cy="460498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C7EBF4-A5FC-5E6C-4D86-C7B87D7604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8B1E0-A6C5-4A01-86A0-BE5B8CAA4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09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157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6000" y="518159"/>
            <a:ext cx="7076119" cy="5029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16000" y="561097"/>
            <a:ext cx="11160000" cy="0"/>
          </a:xfrm>
          <a:custGeom>
            <a:avLst/>
            <a:gdLst/>
            <a:ahLst/>
            <a:cxnLst/>
            <a:rect l="l" t="t" r="r" b="b"/>
            <a:pathLst>
              <a:path w="11376025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5D21C-D128-05A0-E723-2419FCDCC9D0}"/>
              </a:ext>
            </a:extLst>
          </p:cNvPr>
          <p:cNvCxnSpPr>
            <a:cxnSpLocks/>
          </p:cNvCxnSpPr>
          <p:nvPr userDrawn="1"/>
        </p:nvCxnSpPr>
        <p:spPr>
          <a:xfrm>
            <a:off x="516000" y="6342507"/>
            <a:ext cx="11412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8">
            <a:extLst>
              <a:ext uri="{FF2B5EF4-FFF2-40B4-BE49-F238E27FC236}">
                <a16:creationId xmlns:a16="http://schemas.microsoft.com/office/drawing/2014/main" id="{66FE04D8-B648-461C-B841-6C3CE38C22B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28291" y="163047"/>
            <a:ext cx="1051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lvl="0" indent="0" algn="l" defTabSz="911377" rtl="0" latinLnBrk="0"/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409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84798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2E60C1D-8229-FA0C-36AC-ECA4D03F91A5}"/>
              </a:ext>
            </a:extLst>
          </p:cNvPr>
          <p:cNvGrpSpPr/>
          <p:nvPr userDrawn="1"/>
        </p:nvGrpSpPr>
        <p:grpSpPr>
          <a:xfrm>
            <a:off x="590439" y="517436"/>
            <a:ext cx="11376000" cy="51953"/>
            <a:chOff x="521460" y="771510"/>
            <a:chExt cx="7921056" cy="47148"/>
          </a:xfrm>
        </p:grpSpPr>
        <p:pic>
          <p:nvPicPr>
            <p:cNvPr id="17" name="Picture 2" descr="D:\Corp Comm Department Work 2015\Brand Adani 2012\adani_gradient_master.jpg">
              <a:extLst>
                <a:ext uri="{FF2B5EF4-FFF2-40B4-BE49-F238E27FC236}">
                  <a16:creationId xmlns:a16="http://schemas.microsoft.com/office/drawing/2014/main" id="{6A70796F-80D4-567A-E9DA-429F9BF73A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460" y="771510"/>
              <a:ext cx="5022060" cy="457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87F551D-327A-450F-2D48-6D3CB54AF51F}"/>
                </a:ext>
              </a:extLst>
            </p:cNvPr>
            <p:cNvCxnSpPr/>
            <p:nvPr/>
          </p:nvCxnSpPr>
          <p:spPr>
            <a:xfrm>
              <a:off x="521460" y="818658"/>
              <a:ext cx="7921056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05690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5" r:id="rId3"/>
    <p:sldLayoutId id="2147483685" r:id="rId4"/>
    <p:sldLayoutId id="2147483687" r:id="rId5"/>
    <p:sldLayoutId id="2147483688" r:id="rId6"/>
    <p:sldLayoutId id="2147483689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dani Regular" panose="0200050300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1.bin"/><Relationship Id="rId6" Type="http://schemas.openxmlformats.org/officeDocument/2006/relationships/image" Target="../media/image7.emf"/><Relationship Id="rId7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emf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e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people sitting at a table&#10;&#10;Description generated with high confidence">
            <a:extLst>
              <a:ext uri="{FF2B5EF4-FFF2-40B4-BE49-F238E27FC236}">
                <a16:creationId xmlns:a16="http://schemas.microsoft.com/office/drawing/2014/main" id="{CD68E4D1-9FF4-C415-9C36-ACED6C1C98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2"/>
            <a:ext cx="12192718" cy="6857598"/>
          </a:xfrm>
          <a:prstGeom prst="rect">
            <a:avLst/>
          </a:prstGeom>
        </p:spPr>
      </p:pic>
      <p:pic>
        <p:nvPicPr>
          <p:cNvPr id="5" name="Picture 3" descr="D:\Logos 2018\Adani logo\PNG\Adani logo _Original.png">
            <a:extLst>
              <a:ext uri="{FF2B5EF4-FFF2-40B4-BE49-F238E27FC236}">
                <a16:creationId xmlns:a16="http://schemas.microsoft.com/office/drawing/2014/main" id="{0B52E213-219B-BE62-210F-7D3C953EC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88" y="48778"/>
            <a:ext cx="2496474" cy="1440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D:\Corp Comm Department Work 2015\Brand Adani 2012\adani_gradient_master.jpg">
            <a:extLst>
              <a:ext uri="{FF2B5EF4-FFF2-40B4-BE49-F238E27FC236}">
                <a16:creationId xmlns:a16="http://schemas.microsoft.com/office/drawing/2014/main" id="{13ACB4F0-A80D-A028-2E06-928C7BD25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897" y="1311582"/>
            <a:ext cx="502206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0E2271-56F6-9272-7B94-4FDE5F4C6155}"/>
              </a:ext>
            </a:extLst>
          </p:cNvPr>
          <p:cNvSpPr txBox="1"/>
          <p:nvPr/>
        </p:nvSpPr>
        <p:spPr>
          <a:xfrm>
            <a:off x="6863721" y="771874"/>
            <a:ext cx="5105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Adani Regular" panose="02000503000000020004" pitchFamily="2" charset="0"/>
              </a:rPr>
              <a:t>CPAG – Energy Cluster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18B459-F60D-9532-01A3-FBCDA45E76D7}"/>
              </a:ext>
            </a:extLst>
          </p:cNvPr>
          <p:cNvSpPr txBox="1"/>
          <p:nvPr/>
        </p:nvSpPr>
        <p:spPr>
          <a:xfrm>
            <a:off x="6875897" y="1391100"/>
            <a:ext cx="47245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Adani Regular" panose="02000503000000020004" pitchFamily="2" charset="0"/>
              </a:rPr>
              <a:t>Adani Green Energy Ltd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3FA834-7D73-60FF-8F4B-3D8C8B4EADA1}"/>
              </a:ext>
            </a:extLst>
          </p:cNvPr>
          <p:cNvSpPr txBox="1"/>
          <p:nvPr/>
        </p:nvSpPr>
        <p:spPr>
          <a:xfrm>
            <a:off x="9400097" y="1383391"/>
            <a:ext cx="24964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>
                <a:latin typeface="Adani Regular" panose="02000503000000020004" pitchFamily="2" charset="0"/>
              </a:rPr>
              <a:t>Aug-26</a:t>
            </a:r>
          </a:p>
        </p:txBody>
      </p:sp>
    </p:spTree>
    <p:extLst>
      <p:ext uri="{BB962C8B-B14F-4D97-AF65-F5344CB8AC3E}">
        <p14:creationId xmlns:p14="http://schemas.microsoft.com/office/powerpoint/2010/main" val="1160475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2F2549D-E6B1-2A5E-CF9D-9E55B7135E74}"/>
              </a:ext>
            </a:extLst>
          </p:cNvPr>
          <p:cNvSpPr txBox="1">
            <a:spLocks/>
          </p:cNvSpPr>
          <p:nvPr/>
        </p:nvSpPr>
        <p:spPr>
          <a:xfrm>
            <a:off x="310665" y="19604"/>
            <a:ext cx="11600267" cy="424449"/>
          </a:xfrm>
          <a:prstGeom prst="rect">
            <a:avLst/>
          </a:prstGeom>
          <a:noFill/>
        </p:spPr>
        <p:txBody>
          <a:bodyPr vert="horz" wrap="square" lIns="91157" tIns="45580" rIns="91157" bIns="4558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dani Regular" panose="02000503000000020004" pitchFamily="2" charset="0"/>
                <a:ea typeface="+mj-ea"/>
                <a:cs typeface="+mj-cs"/>
              </a:defRPr>
            </a:lvl1pPr>
          </a:lstStyle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Agenda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79B8A0-93B0-4F3C-1836-361A58C2AE3C}"/>
              </a:ext>
            </a:extLst>
          </p:cNvPr>
          <p:cNvSpPr txBox="1"/>
          <p:nvPr/>
        </p:nvSpPr>
        <p:spPr>
          <a:xfrm flipH="1">
            <a:off x="565182" y="674400"/>
            <a:ext cx="1134575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7030A0"/>
                </a:solidFill>
                <a:latin typeface="Adani Regular" panose="02000503000000020004" pitchFamily="2" charset="0"/>
              </a:rPr>
              <a:t>Executive Summary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7030A0"/>
                </a:solidFill>
                <a:latin typeface="Adani Regular" panose="02000503000000020004" pitchFamily="2" charset="0"/>
              </a:rPr>
              <a:t>Project Wise Update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7030A0"/>
                </a:solidFill>
                <a:latin typeface="Adani Regular" panose="02000503000000020004" pitchFamily="2" charset="0"/>
              </a:rPr>
              <a:t>Khavda Solar Ph – IV</a:t>
            </a:r>
          </a:p>
          <a:p>
            <a:pPr marL="1200150" lvl="6" indent="-285750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>
                <a:latin typeface="Adani Regular" panose="02000503000000020004" pitchFamily="2" charset="0"/>
              </a:rPr>
              <a:t>Project Information &amp; Salient Features</a:t>
            </a:r>
          </a:p>
          <a:p>
            <a:pPr marL="1200150" lvl="6" indent="-285750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>
                <a:latin typeface="Adani Regular" panose="02000503000000020004" pitchFamily="2" charset="0"/>
              </a:rPr>
              <a:t>Progress Update</a:t>
            </a:r>
          </a:p>
          <a:p>
            <a:pPr marL="1200150" lvl="6" indent="-285750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>
                <a:latin typeface="Adani Regular" panose="02000503000000020004" pitchFamily="2" charset="0"/>
              </a:rPr>
              <a:t>Major Milestone- Next 3 Months</a:t>
            </a:r>
          </a:p>
          <a:p>
            <a:pPr marL="1200150" lvl="7" indent="-285750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>
                <a:latin typeface="Adani Regular" panose="02000503000000020004" pitchFamily="2" charset="0"/>
              </a:rPr>
              <a:t>Major Critical Issues </a:t>
            </a:r>
          </a:p>
          <a:p>
            <a:pPr marL="1200150" lvl="7" indent="-285750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>
                <a:latin typeface="Adani Regular" panose="02000503000000020004" pitchFamily="2" charset="0"/>
              </a:rPr>
              <a:t>System Study &amp; PSS Progress Update</a:t>
            </a:r>
          </a:p>
        </p:txBody>
      </p:sp>
    </p:spTree>
    <p:extLst>
      <p:ext uri="{BB962C8B-B14F-4D97-AF65-F5344CB8AC3E}">
        <p14:creationId xmlns:p14="http://schemas.microsoft.com/office/powerpoint/2010/main" val="1503867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2F2549D-E6B1-2A5E-CF9D-9E55B7135E74}"/>
              </a:ext>
            </a:extLst>
          </p:cNvPr>
          <p:cNvSpPr txBox="1">
            <a:spLocks/>
          </p:cNvSpPr>
          <p:nvPr/>
        </p:nvSpPr>
        <p:spPr>
          <a:xfrm>
            <a:off x="343491" y="98572"/>
            <a:ext cx="11600267" cy="424449"/>
          </a:xfrm>
          <a:prstGeom prst="rect">
            <a:avLst/>
          </a:prstGeom>
          <a:noFill/>
        </p:spPr>
        <p:txBody>
          <a:bodyPr vert="horz" wrap="square" lIns="91157" tIns="45580" rIns="91157" bIns="4558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dani Regular" panose="02000503000000020004" pitchFamily="2" charset="0"/>
                <a:ea typeface="+mj-ea"/>
                <a:cs typeface="+mj-cs"/>
              </a:defRPr>
            </a:lvl1pPr>
          </a:lstStyle>
          <a:p>
            <a:pPr marL="109192" marR="0" lvl="0" indent="0" algn="l" defTabSz="911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Executive Summary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gradFill>
                <a:gsLst>
                  <a:gs pos="9735">
                    <a:srgbClr val="44546A"/>
                  </a:gs>
                  <a:gs pos="63000">
                    <a:srgbClr val="8E278F"/>
                  </a:gs>
                  <a:gs pos="38000">
                    <a:srgbClr val="57499E"/>
                  </a:gs>
                </a:gsLst>
                <a:lin ang="0" scaled="0"/>
              </a:gradFill>
              <a:effectLst/>
              <a:uLnTx/>
              <a:uFillTx/>
              <a:latin typeface="Adani Regular" panose="02000503000000020004" pitchFamily="2" charset="0"/>
              <a:ea typeface="+mj-ea"/>
              <a:cs typeface="+mj-c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97884D0-27D2-932F-9C20-A467221E5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406633"/>
              </p:ext>
            </p:extLst>
          </p:nvPr>
        </p:nvGraphicFramePr>
        <p:xfrm>
          <a:off x="587813" y="627796"/>
          <a:ext cx="11375592" cy="2280588"/>
        </p:xfrm>
        <a:graphic>
          <a:graphicData uri="http://schemas.openxmlformats.org/drawingml/2006/table">
            <a:tbl>
              <a:tblPr firstRow="1" bandRow="1"/>
              <a:tblGrid>
                <a:gridCol w="327621">
                  <a:extLst>
                    <a:ext uri="{9D8B030D-6E8A-4147-A177-3AD203B41FA5}">
                      <a16:colId xmlns:a16="http://schemas.microsoft.com/office/drawing/2014/main" val="2924237442"/>
                    </a:ext>
                  </a:extLst>
                </a:gridCol>
                <a:gridCol w="595026">
                  <a:extLst>
                    <a:ext uri="{9D8B030D-6E8A-4147-A177-3AD203B41FA5}">
                      <a16:colId xmlns:a16="http://schemas.microsoft.com/office/drawing/2014/main" val="520924265"/>
                    </a:ext>
                  </a:extLst>
                </a:gridCol>
                <a:gridCol w="1155102">
                  <a:extLst>
                    <a:ext uri="{9D8B030D-6E8A-4147-A177-3AD203B41FA5}">
                      <a16:colId xmlns:a16="http://schemas.microsoft.com/office/drawing/2014/main" val="2826271822"/>
                    </a:ext>
                  </a:extLst>
                </a:gridCol>
                <a:gridCol w="946801">
                  <a:extLst>
                    <a:ext uri="{9D8B030D-6E8A-4147-A177-3AD203B41FA5}">
                      <a16:colId xmlns:a16="http://schemas.microsoft.com/office/drawing/2014/main" val="1979045931"/>
                    </a:ext>
                  </a:extLst>
                </a:gridCol>
                <a:gridCol w="946801">
                  <a:extLst>
                    <a:ext uri="{9D8B030D-6E8A-4147-A177-3AD203B41FA5}">
                      <a16:colId xmlns:a16="http://schemas.microsoft.com/office/drawing/2014/main" val="3742937517"/>
                    </a:ext>
                  </a:extLst>
                </a:gridCol>
                <a:gridCol w="946801">
                  <a:extLst>
                    <a:ext uri="{9D8B030D-6E8A-4147-A177-3AD203B41FA5}">
                      <a16:colId xmlns:a16="http://schemas.microsoft.com/office/drawing/2014/main" val="2589940344"/>
                    </a:ext>
                  </a:extLst>
                </a:gridCol>
                <a:gridCol w="939702">
                  <a:extLst>
                    <a:ext uri="{9D8B030D-6E8A-4147-A177-3AD203B41FA5}">
                      <a16:colId xmlns:a16="http://schemas.microsoft.com/office/drawing/2014/main" val="3034237294"/>
                    </a:ext>
                  </a:extLst>
                </a:gridCol>
                <a:gridCol w="939702">
                  <a:extLst>
                    <a:ext uri="{9D8B030D-6E8A-4147-A177-3AD203B41FA5}">
                      <a16:colId xmlns:a16="http://schemas.microsoft.com/office/drawing/2014/main" val="2376360582"/>
                    </a:ext>
                  </a:extLst>
                </a:gridCol>
                <a:gridCol w="939702">
                  <a:extLst>
                    <a:ext uri="{9D8B030D-6E8A-4147-A177-3AD203B41FA5}">
                      <a16:colId xmlns:a16="http://schemas.microsoft.com/office/drawing/2014/main" val="2879489690"/>
                    </a:ext>
                  </a:extLst>
                </a:gridCol>
                <a:gridCol w="939702">
                  <a:extLst>
                    <a:ext uri="{9D8B030D-6E8A-4147-A177-3AD203B41FA5}">
                      <a16:colId xmlns:a16="http://schemas.microsoft.com/office/drawing/2014/main" val="1141108596"/>
                    </a:ext>
                  </a:extLst>
                </a:gridCol>
                <a:gridCol w="2698632">
                  <a:extLst>
                    <a:ext uri="{9D8B030D-6E8A-4147-A177-3AD203B41FA5}">
                      <a16:colId xmlns:a16="http://schemas.microsoft.com/office/drawing/2014/main" val="599360055"/>
                    </a:ext>
                  </a:extLst>
                </a:gridCol>
              </a:tblGrid>
              <a:tr h="292146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GB" sz="1100" b="1">
                          <a:latin typeface="Adani Regular" panose="02000503000000020004" pitchFamily="2" charset="0"/>
                        </a:rPr>
                        <a:t>SN</a:t>
                      </a:r>
                      <a:endParaRPr lang="en-US" sz="1100" b="1"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GB" sz="1100" b="1">
                          <a:latin typeface="Adani Regular" panose="02000503000000020004" pitchFamily="2" charset="0"/>
                        </a:rPr>
                        <a:t>Location </a:t>
                      </a:r>
                      <a:endParaRPr lang="en-US" sz="1100" b="1"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GB" sz="1100" b="1">
                          <a:latin typeface="Adani Regular" panose="02000503000000020004" pitchFamily="2" charset="0"/>
                        </a:rPr>
                        <a:t>Project Name</a:t>
                      </a:r>
                      <a:endParaRPr lang="en-US" sz="1100" b="1"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FY 27</a:t>
                      </a:r>
                    </a:p>
                    <a:p>
                      <a:pPr algn="ctr"/>
                      <a:r>
                        <a:rPr lang="en-US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Plan</a:t>
                      </a:r>
                    </a:p>
                    <a:p>
                      <a:pPr algn="ctr"/>
                      <a:r>
                        <a:rPr lang="en-US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(MW)</a:t>
                      </a: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Planned till Aug’26</a:t>
                      </a:r>
                    </a:p>
                    <a:p>
                      <a:pPr algn="ctr"/>
                      <a:r>
                        <a:rPr lang="en-US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(MW)</a:t>
                      </a: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US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Actual till Aug’26</a:t>
                      </a:r>
                    </a:p>
                    <a:p>
                      <a:pPr algn="ctr"/>
                      <a:r>
                        <a:rPr lang="en-US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(MW)</a:t>
                      </a: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GB" sz="1100" b="1">
                          <a:latin typeface="Adani Regular" panose="02000503000000020004" pitchFamily="2" charset="0"/>
                        </a:rPr>
                        <a:t>COD</a:t>
                      </a:r>
                      <a:endParaRPr lang="en-US" sz="1100" b="1"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Overall Project Progress</a:t>
                      </a:r>
                      <a:endParaRPr lang="en-US" sz="1100" b="1">
                        <a:solidFill>
                          <a:schemeClr val="bg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>
                        <a:solidFill>
                          <a:schemeClr val="bg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Remarks </a:t>
                      </a: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136535"/>
                  </a:ext>
                </a:extLst>
              </a:tr>
              <a:tr h="50110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GB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Plan</a:t>
                      </a:r>
                      <a:endParaRPr lang="en-US" sz="1100" b="1">
                        <a:solidFill>
                          <a:schemeClr val="bg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GB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Expected</a:t>
                      </a:r>
                      <a:endParaRPr lang="en-US" sz="1100" b="1">
                        <a:solidFill>
                          <a:schemeClr val="bg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Plan</a:t>
                      </a:r>
                      <a:endParaRPr lang="en-US" sz="1100" b="1">
                        <a:solidFill>
                          <a:schemeClr val="bg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Actual</a:t>
                      </a:r>
                      <a:endParaRPr lang="en-US" sz="1100" b="1">
                        <a:solidFill>
                          <a:schemeClr val="bg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444751"/>
                  </a:ext>
                </a:extLst>
              </a:tr>
              <a:tr h="50110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US" sz="1100"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GJ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Khavda-Solar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4,639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1,492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917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US" sz="1100">
                          <a:latin typeface="Adani Regular" panose="02000503000000020004" pitchFamily="2" charset="0"/>
                        </a:rPr>
                        <a:t>31-Mar-27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US" sz="1100">
                          <a:latin typeface="Adani Regular" panose="02000503000000020004" pitchFamily="2" charset="0"/>
                        </a:rPr>
                        <a:t>31-Mar-27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US" sz="1100">
                          <a:latin typeface="Adani Regular" panose="02000503000000020004" pitchFamily="2" charset="0"/>
                        </a:rPr>
                        <a:t>67%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US" sz="1100">
                          <a:latin typeface="Adani Regular" panose="02000503000000020004" pitchFamily="2" charset="0"/>
                        </a:rPr>
                        <a:t>50%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Due to manpower constraint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713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574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ABCF8-8E71-9501-9B2E-B8204B82B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505F065A-06BD-0A9B-3138-3E81AB1F03C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-1141809" y="858442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1" imgH="423" progId="TCLayout.ActiveDocument.1">
                  <p:embed/>
                </p:oleObj>
              </mc:Choice>
              <mc:Fallback>
                <p:oleObj name="think-cell Slide" r:id="rId5" imgW="421" imgH="42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505F065A-06BD-0A9B-3138-3E81AB1F03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-1141809" y="858442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DBAD08F9-5A91-7630-2C2C-87C0EF17476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-1143001" y="857251"/>
            <a:ext cx="119063" cy="119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750" b="1">
              <a:solidFill>
                <a:prstClr val="white"/>
              </a:solidFill>
              <a:sym typeface="Calibri" panose="020F0502020204030204" pitchFamily="34" charset="0"/>
            </a:endParaRPr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457308FB-4CED-B2A0-B05E-F88C39C3DD1D}"/>
              </a:ext>
            </a:extLst>
          </p:cNvPr>
          <p:cNvSpPr txBox="1">
            <a:spLocks/>
          </p:cNvSpPr>
          <p:nvPr/>
        </p:nvSpPr>
        <p:spPr>
          <a:xfrm>
            <a:off x="528291" y="163047"/>
            <a:ext cx="1051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eaLnBrk="1" hangingPunct="1">
              <a:defRPr lang="en-IN" sz="2400" b="1" kern="0" dirty="0" smtClean="0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9735">
                      <a:srgbClr val="1F497D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ffectLst/>
                <a:uLnTx/>
                <a:uFillTx/>
                <a:latin typeface="Adani Regular" panose="02000503000000020004" pitchFamily="2" charset="0"/>
                <a:ea typeface="+mn-ea"/>
                <a:cs typeface="+mn-cs"/>
              </a:rPr>
              <a:t>Commissioning: Plan vs. Forecast – Khavda Phase - IV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D9DD85-27AF-023F-05C2-E2CBA5A8870D}"/>
              </a:ext>
            </a:extLst>
          </p:cNvPr>
          <p:cNvSpPr txBox="1"/>
          <p:nvPr/>
        </p:nvSpPr>
        <p:spPr>
          <a:xfrm>
            <a:off x="8517661" y="4467036"/>
            <a:ext cx="1362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/>
              <a:t>All nos. are in MW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E765781-B716-5FEE-6679-25FA8B8DC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" y="377476"/>
            <a:ext cx="1399657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16C6700-4D1F-94AD-8041-2EA827EFF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503090"/>
              </p:ext>
            </p:extLst>
          </p:nvPr>
        </p:nvGraphicFramePr>
        <p:xfrm>
          <a:off x="459016" y="833629"/>
          <a:ext cx="9013122" cy="3573407"/>
        </p:xfrm>
        <a:graphic>
          <a:graphicData uri="http://schemas.openxmlformats.org/drawingml/2006/table">
            <a:tbl>
              <a:tblPr firstRow="1" bandRow="1"/>
              <a:tblGrid>
                <a:gridCol w="522613">
                  <a:extLst>
                    <a:ext uri="{9D8B030D-6E8A-4147-A177-3AD203B41FA5}">
                      <a16:colId xmlns:a16="http://schemas.microsoft.com/office/drawing/2014/main" val="1073391393"/>
                    </a:ext>
                  </a:extLst>
                </a:gridCol>
                <a:gridCol w="710659">
                  <a:extLst>
                    <a:ext uri="{9D8B030D-6E8A-4147-A177-3AD203B41FA5}">
                      <a16:colId xmlns:a16="http://schemas.microsoft.com/office/drawing/2014/main" val="3232662271"/>
                    </a:ext>
                  </a:extLst>
                </a:gridCol>
                <a:gridCol w="598450">
                  <a:extLst>
                    <a:ext uri="{9D8B030D-6E8A-4147-A177-3AD203B41FA5}">
                      <a16:colId xmlns:a16="http://schemas.microsoft.com/office/drawing/2014/main" val="3157420442"/>
                    </a:ext>
                  </a:extLst>
                </a:gridCol>
                <a:gridCol w="598450">
                  <a:extLst>
                    <a:ext uri="{9D8B030D-6E8A-4147-A177-3AD203B41FA5}">
                      <a16:colId xmlns:a16="http://schemas.microsoft.com/office/drawing/2014/main" val="2242754676"/>
                    </a:ext>
                  </a:extLst>
                </a:gridCol>
                <a:gridCol w="598450">
                  <a:extLst>
                    <a:ext uri="{9D8B030D-6E8A-4147-A177-3AD203B41FA5}">
                      <a16:colId xmlns:a16="http://schemas.microsoft.com/office/drawing/2014/main" val="3334437676"/>
                    </a:ext>
                  </a:extLst>
                </a:gridCol>
                <a:gridCol w="598450">
                  <a:extLst>
                    <a:ext uri="{9D8B030D-6E8A-4147-A177-3AD203B41FA5}">
                      <a16:colId xmlns:a16="http://schemas.microsoft.com/office/drawing/2014/main" val="2560159891"/>
                    </a:ext>
                  </a:extLst>
                </a:gridCol>
                <a:gridCol w="598450">
                  <a:extLst>
                    <a:ext uri="{9D8B030D-6E8A-4147-A177-3AD203B41FA5}">
                      <a16:colId xmlns:a16="http://schemas.microsoft.com/office/drawing/2014/main" val="1747620565"/>
                    </a:ext>
                  </a:extLst>
                </a:gridCol>
                <a:gridCol w="598450">
                  <a:extLst>
                    <a:ext uri="{9D8B030D-6E8A-4147-A177-3AD203B41FA5}">
                      <a16:colId xmlns:a16="http://schemas.microsoft.com/office/drawing/2014/main" val="3264838036"/>
                    </a:ext>
                  </a:extLst>
                </a:gridCol>
                <a:gridCol w="598450">
                  <a:extLst>
                    <a:ext uri="{9D8B030D-6E8A-4147-A177-3AD203B41FA5}">
                      <a16:colId xmlns:a16="http://schemas.microsoft.com/office/drawing/2014/main" val="2738353756"/>
                    </a:ext>
                  </a:extLst>
                </a:gridCol>
                <a:gridCol w="598450">
                  <a:extLst>
                    <a:ext uri="{9D8B030D-6E8A-4147-A177-3AD203B41FA5}">
                      <a16:colId xmlns:a16="http://schemas.microsoft.com/office/drawing/2014/main" val="2595451738"/>
                    </a:ext>
                  </a:extLst>
                </a:gridCol>
                <a:gridCol w="598450">
                  <a:extLst>
                    <a:ext uri="{9D8B030D-6E8A-4147-A177-3AD203B41FA5}">
                      <a16:colId xmlns:a16="http://schemas.microsoft.com/office/drawing/2014/main" val="3741431125"/>
                    </a:ext>
                  </a:extLst>
                </a:gridCol>
                <a:gridCol w="598450">
                  <a:extLst>
                    <a:ext uri="{9D8B030D-6E8A-4147-A177-3AD203B41FA5}">
                      <a16:colId xmlns:a16="http://schemas.microsoft.com/office/drawing/2014/main" val="3115830397"/>
                    </a:ext>
                  </a:extLst>
                </a:gridCol>
                <a:gridCol w="598450">
                  <a:extLst>
                    <a:ext uri="{9D8B030D-6E8A-4147-A177-3AD203B41FA5}">
                      <a16:colId xmlns:a16="http://schemas.microsoft.com/office/drawing/2014/main" val="2050708116"/>
                    </a:ext>
                  </a:extLst>
                </a:gridCol>
                <a:gridCol w="598450">
                  <a:extLst>
                    <a:ext uri="{9D8B030D-6E8A-4147-A177-3AD203B41FA5}">
                      <a16:colId xmlns:a16="http://schemas.microsoft.com/office/drawing/2014/main" val="3504221233"/>
                    </a:ext>
                  </a:extLst>
                </a:gridCol>
                <a:gridCol w="598450">
                  <a:extLst>
                    <a:ext uri="{9D8B030D-6E8A-4147-A177-3AD203B41FA5}">
                      <a16:colId xmlns:a16="http://schemas.microsoft.com/office/drawing/2014/main" val="1979499168"/>
                    </a:ext>
                  </a:extLst>
                </a:gridCol>
              </a:tblGrid>
              <a:tr h="55867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latin typeface="Adani Regular"/>
                        </a:rPr>
                        <a:t>COD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dani Regular"/>
                        </a:rPr>
                        <a:t>Apr-26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dani Regular"/>
                        </a:rPr>
                        <a:t>May-26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dani Regular"/>
                        </a:rPr>
                        <a:t>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dani Regular"/>
                        </a:rPr>
                        <a:t>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dani Regular"/>
                        </a:rPr>
                        <a:t>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dani Regular"/>
                        </a:rPr>
                        <a:t>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dani Regular"/>
                        </a:rPr>
                        <a:t>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dani Regular"/>
                        </a:rPr>
                        <a:t>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dani Regular"/>
                        </a:rPr>
                        <a:t>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dani Regular"/>
                        </a:rPr>
                        <a:t>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dani Regular"/>
                        </a:rPr>
                        <a:t>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dani Regular"/>
                        </a:rPr>
                        <a:t>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Adani Regular"/>
                        </a:rPr>
                        <a:t>Total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512206"/>
                  </a:ext>
                </a:extLst>
              </a:tr>
              <a:tr h="257364">
                <a:tc gridSpan="15"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00" b="0">
                        <a:latin typeface="Adani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00" b="0">
                        <a:latin typeface="Adani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225702"/>
                  </a:ext>
                </a:extLst>
              </a:tr>
              <a:tr h="1250000"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latin typeface="Adani Regular"/>
                        </a:rPr>
                        <a:t>BUDGET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2A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>
                          <a:latin typeface="Adani Regular"/>
                        </a:rPr>
                        <a:t>Solar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1,509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4,639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902582"/>
                  </a:ext>
                </a:extLst>
              </a:tr>
              <a:tr h="257364">
                <a:tc gridSpan="15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00" b="0">
                        <a:latin typeface="Adani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00" b="0">
                        <a:latin typeface="Adani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977895"/>
                  </a:ext>
                </a:extLst>
              </a:tr>
              <a:tr h="1250000"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latin typeface="Adani Regular"/>
                        </a:rPr>
                        <a:t>ACTUAL / FCST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>
                          <a:latin typeface="Adani Regular"/>
                        </a:rPr>
                        <a:t>Solar</a:t>
                      </a:r>
                      <a:endParaRPr lang="en-US" sz="1100" b="1">
                        <a:latin typeface="Adani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342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325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150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113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313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1,500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947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650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4,639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272661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CCB3544-6787-5DF7-B0B9-4358C0E1A969}"/>
              </a:ext>
            </a:extLst>
          </p:cNvPr>
          <p:cNvSpPr txBox="1"/>
          <p:nvPr/>
        </p:nvSpPr>
        <p:spPr>
          <a:xfrm>
            <a:off x="459016" y="4467036"/>
            <a:ext cx="76935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All the figures are revised as per Revised AOP plan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AF8D1BD-EDC0-4BDC-816D-268B0E8C6F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6173057"/>
              </p:ext>
            </p:extLst>
          </p:nvPr>
        </p:nvGraphicFramePr>
        <p:xfrm>
          <a:off x="9458326" y="638735"/>
          <a:ext cx="2666999" cy="5771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3164519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25A72E5-9621-1086-996E-287B979D5054}"/>
              </a:ext>
            </a:extLst>
          </p:cNvPr>
          <p:cNvSpPr txBox="1">
            <a:spLocks/>
          </p:cNvSpPr>
          <p:nvPr/>
        </p:nvSpPr>
        <p:spPr>
          <a:xfrm>
            <a:off x="2562726" y="3113927"/>
            <a:ext cx="6809874" cy="646048"/>
          </a:xfrm>
          <a:prstGeom prst="rect">
            <a:avLst/>
          </a:prstGeom>
          <a:noFill/>
        </p:spPr>
        <p:txBody>
          <a:bodyPr vert="horz" wrap="square" lIns="91157" tIns="45580" rIns="91157" bIns="4558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dani Regular" panose="02000503000000020004" pitchFamily="2" charset="0"/>
                <a:ea typeface="+mj-ea"/>
                <a:cs typeface="+mj-cs"/>
              </a:defRPr>
            </a:lvl1pPr>
          </a:lstStyle>
          <a:p>
            <a:pPr marL="109192" marR="0" lvl="0" indent="0" defTabSz="911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>
                <a:gradFill>
                  <a:gsLst>
                    <a:gs pos="9735">
                      <a:srgbClr val="44546A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</a:rPr>
              <a:t>Khavda Solar</a:t>
            </a:r>
            <a:endParaRPr kumimoji="0" lang="en-US" sz="4000" b="1" i="0" u="none" strike="noStrike" kern="1200" cap="none" spc="0" normalizeH="0" baseline="0" noProof="0">
              <a:ln>
                <a:noFill/>
              </a:ln>
              <a:gradFill>
                <a:gsLst>
                  <a:gs pos="9735">
                    <a:srgbClr val="44546A"/>
                  </a:gs>
                  <a:gs pos="63000">
                    <a:srgbClr val="8E278F"/>
                  </a:gs>
                  <a:gs pos="38000">
                    <a:srgbClr val="57499E"/>
                  </a:gs>
                </a:gsLst>
                <a:lin ang="0" scaled="0"/>
              </a:gradFill>
              <a:effectLst/>
              <a:uLnTx/>
              <a:uFillTx/>
              <a:latin typeface="Adani Regular" panose="02000503000000020004" pitchFamily="2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95499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DE5BA-AF53-7DBF-44B3-8C6D43835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79AFEC7-1B15-01E2-7F02-F299417A2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5" y="3419475"/>
            <a:ext cx="19050" cy="19050"/>
          </a:xfrm>
          <a:prstGeom prst="rect">
            <a:avLst/>
          </a:prstGeom>
        </p:spPr>
      </p:pic>
      <p:sp>
        <p:nvSpPr>
          <p:cNvPr id="15" name="Title 5">
            <a:extLst>
              <a:ext uri="{FF2B5EF4-FFF2-40B4-BE49-F238E27FC236}">
                <a16:creationId xmlns:a16="http://schemas.microsoft.com/office/drawing/2014/main" id="{DD7D7AAD-6CBD-5FDD-9DE9-E056ED47A214}"/>
              </a:ext>
            </a:extLst>
          </p:cNvPr>
          <p:cNvSpPr txBox="1">
            <a:spLocks/>
          </p:cNvSpPr>
          <p:nvPr/>
        </p:nvSpPr>
        <p:spPr>
          <a:xfrm>
            <a:off x="566102" y="41074"/>
            <a:ext cx="11168700" cy="461382"/>
          </a:xfrm>
          <a:prstGeom prst="rect">
            <a:avLst/>
          </a:prstGeom>
          <a:noFill/>
        </p:spPr>
        <p:txBody>
          <a:bodyPr vert="horz" wrap="square" lIns="0" tIns="45580" rIns="0" bIns="45580" rtlCol="0" anchor="b">
            <a:spAutoFit/>
          </a:bodyPr>
          <a:lstStyle>
            <a:lvl1pPr eaLnBrk="1" hangingPunct="1">
              <a:defRPr lang="en-IN" sz="2800" b="1" kern="0">
                <a:solidFill>
                  <a:srgbClr val="922682"/>
                </a:solidFill>
                <a:latin typeface="Adani Regular" panose="02000503000000020004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911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gradFill>
                  <a:gsLst>
                    <a:gs pos="9735">
                      <a:srgbClr val="1F497D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ffectLst/>
                <a:uLnTx/>
                <a:uFillTx/>
                <a:latin typeface="Adani Regular" panose="02000503000000020004" pitchFamily="2" charset="0"/>
                <a:ea typeface="+mn-ea"/>
                <a:cs typeface="+mn-cs"/>
              </a:rPr>
              <a:t>Khavda Solar - Salient Features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38E87D4-D267-D38A-9289-BEFE1FC307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844572"/>
              </p:ext>
            </p:extLst>
          </p:nvPr>
        </p:nvGraphicFramePr>
        <p:xfrm>
          <a:off x="528000" y="689495"/>
          <a:ext cx="11168702" cy="5547407"/>
        </p:xfrm>
        <a:graphic>
          <a:graphicData uri="http://schemas.openxmlformats.org/drawingml/2006/table">
            <a:tbl>
              <a:tblPr firstRow="1" bandRow="1"/>
              <a:tblGrid>
                <a:gridCol w="2820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9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9592">
                  <a:extLst>
                    <a:ext uri="{9D8B030D-6E8A-4147-A177-3AD203B41FA5}">
                      <a16:colId xmlns:a16="http://schemas.microsoft.com/office/drawing/2014/main" val="1807322475"/>
                    </a:ext>
                  </a:extLst>
                </a:gridCol>
                <a:gridCol w="1669592">
                  <a:extLst>
                    <a:ext uri="{9D8B030D-6E8A-4147-A177-3AD203B41FA5}">
                      <a16:colId xmlns:a16="http://schemas.microsoft.com/office/drawing/2014/main" val="3344889845"/>
                    </a:ext>
                  </a:extLst>
                </a:gridCol>
                <a:gridCol w="1669592">
                  <a:extLst>
                    <a:ext uri="{9D8B030D-6E8A-4147-A177-3AD203B41FA5}">
                      <a16:colId xmlns:a16="http://schemas.microsoft.com/office/drawing/2014/main" val="778979257"/>
                    </a:ext>
                  </a:extLst>
                </a:gridCol>
                <a:gridCol w="1669592">
                  <a:extLst>
                    <a:ext uri="{9D8B030D-6E8A-4147-A177-3AD203B41FA5}">
                      <a16:colId xmlns:a16="http://schemas.microsoft.com/office/drawing/2014/main" val="1833619939"/>
                    </a:ext>
                  </a:extLst>
                </a:gridCol>
              </a:tblGrid>
              <a:tr h="462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300" b="1" i="0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Project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8DDF">
                        <a:alpha val="20000"/>
                      </a:srgbClr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lvl="0" indent="0" algn="just" fontAlgn="ctr"/>
                      <a:r>
                        <a:rPr lang="en-US" sz="1300" b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Khavda Phase-IV Solar Projects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8DDF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 rtl="0" fontAlgn="ctr">
                        <a:buFontTx/>
                        <a:buNone/>
                      </a:pP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Project Scope / Capacity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lvl="0" indent="0" algn="just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4,639 MW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Owner/ Developer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lvl="0" indent="0" algn="just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Various SPV under AGEL and Group Project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Location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indent="0" algn="just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Khavda, Bhuj, </a:t>
                      </a:r>
                      <a:r>
                        <a:rPr lang="en-US" sz="1300" b="0" i="0" u="none" strike="noStrike" err="1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Kutchh</a:t>
                      </a:r>
                      <a:endParaRPr lang="en-US" sz="1300" b="0" i="0" u="none" strike="noStrike">
                        <a:solidFill>
                          <a:schemeClr val="tx1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943223"/>
                  </a:ext>
                </a:extLst>
              </a:tr>
              <a:tr h="462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300" b="1" i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Land Area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AGEL – 19000 Ha, SRPL – 9500 Ha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968567"/>
                  </a:ext>
                </a:extLst>
              </a:tr>
              <a:tr h="462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300" b="1" i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Project Commissioning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Progressively up to 31-Mar-27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805">
                <a:tc gridSpan="6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889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IN" sz="13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Calibri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008339"/>
                  </a:ext>
                </a:extLst>
              </a:tr>
              <a:tr h="462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Project Configuration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889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300" b="1" kern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ea typeface="+mn-ea"/>
                          <a:cs typeface="Calibri"/>
                        </a:rPr>
                        <a:t>Module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IN" sz="1300" b="1" kern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ea typeface="+mn-ea"/>
                          <a:cs typeface="Calibri"/>
                        </a:rPr>
                        <a:t>Inverter</a:t>
                      </a:r>
                      <a:endParaRPr lang="en-IN" sz="1300"/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IN" sz="1300" b="1" kern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ea typeface="+mn-ea"/>
                          <a:cs typeface="Calibri"/>
                        </a:rPr>
                        <a:t>Over Loading</a:t>
                      </a:r>
                      <a:endParaRPr lang="en-IN" sz="1300"/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IN" sz="1300" b="1" kern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ea typeface="+mn-ea"/>
                          <a:cs typeface="Calibri"/>
                        </a:rPr>
                        <a:t>MMS - Pitch</a:t>
                      </a:r>
                      <a:endParaRPr lang="en-IN" sz="1300"/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320645"/>
                  </a:ext>
                </a:extLst>
              </a:tr>
              <a:tr h="462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Parameters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889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300" b="0" kern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ea typeface="+mn-ea"/>
                          <a:cs typeface="Calibri"/>
                        </a:rPr>
                        <a:t>580 ~ 610 Wp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IN" sz="1300" b="0" kern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ea typeface="+mn-ea"/>
                          <a:cs typeface="Calibri"/>
                        </a:rPr>
                        <a:t>275 ~ 300 kW</a:t>
                      </a:r>
                      <a:endParaRPr lang="en-IN" sz="1300"/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IN" sz="1300" b="0" kern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ea typeface="+mn-ea"/>
                          <a:cs typeface="Calibri"/>
                        </a:rPr>
                        <a:t>1.32 ~ 1.5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IN" sz="1300">
                          <a:latin typeface="Adani Regular" panose="02000503000000020004" pitchFamily="2" charset="0"/>
                        </a:rPr>
                        <a:t>HSAT – 5.5m</a:t>
                      </a:r>
                    </a:p>
                    <a:p>
                      <a:pPr algn="l"/>
                      <a:r>
                        <a:rPr lang="en-IN" sz="1300">
                          <a:latin typeface="Adani Regular" panose="02000503000000020004" pitchFamily="2" charset="0"/>
                        </a:rPr>
                        <a:t>FT – 7.5m</a:t>
                      </a:r>
                    </a:p>
                  </a:txBody>
                  <a:tcPr marL="216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191664"/>
                  </a:ext>
                </a:extLst>
              </a:tr>
              <a:tr h="229805">
                <a:tc gridSpan="6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889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IN" sz="13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Calibri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803872"/>
                  </a:ext>
                </a:extLst>
              </a:tr>
              <a:tr h="462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Commissioning (FY 26-27)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89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Q1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889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Q2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889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Q3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889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Q4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Total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indent="0" algn="r" rtl="0" fontAlgn="ctr">
                        <a:buFontTx/>
                        <a:buNone/>
                      </a:pPr>
                      <a:r>
                        <a:rPr lang="en-US" sz="1300" b="0" i="1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Original Budget Plan (MW)</a:t>
                      </a:r>
                    </a:p>
                  </a:txBody>
                  <a:tcPr marL="36000" marR="108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1,217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275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250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2,897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4,639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5821387"/>
                  </a:ext>
                </a:extLst>
              </a:tr>
              <a:tr h="4625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 rtl="0" fontAlgn="ctr">
                        <a:buFontTx/>
                        <a:buNone/>
                      </a:pPr>
                      <a:r>
                        <a:rPr lang="en-US" sz="1300" b="0" i="1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Actual </a:t>
                      </a:r>
                      <a:r>
                        <a:rPr lang="en-US" sz="1300" b="0" i="1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/ </a:t>
                      </a:r>
                      <a:r>
                        <a:rPr lang="en-US" sz="1300" b="0" i="1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Expected </a:t>
                      </a:r>
                      <a:r>
                        <a:rPr lang="en-US" sz="1300" b="0" i="1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(MW)</a:t>
                      </a:r>
                    </a:p>
                  </a:txBody>
                  <a:tcPr marL="36000" marR="108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817</a:t>
                      </a:r>
                      <a:endParaRPr lang="en-US" sz="1300" b="0" i="0" u="none" strike="noStrike">
                        <a:solidFill>
                          <a:srgbClr val="0070C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100</a:t>
                      </a:r>
                      <a:r>
                        <a:rPr lang="en-US" sz="13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 / 250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475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3,097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4,639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148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6E0DD3-7223-1EE0-8B26-C9B148A1813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l="-665" t="4533" r="100000" b="26506"/>
          <a:stretch>
            <a:fillRect/>
          </a:stretch>
        </p:blipFill>
        <p:spPr>
          <a:xfrm>
            <a:off x="746761" y="922020"/>
            <a:ext cx="40831" cy="3802380"/>
          </a:xfrm>
          <a:custGeom>
            <a:avLst/>
            <a:gdLst>
              <a:gd name="connsiteX0" fmla="*/ 0 w 40831"/>
              <a:gd name="connsiteY0" fmla="*/ 0 h 3802380"/>
              <a:gd name="connsiteX1" fmla="*/ 40831 w 40831"/>
              <a:gd name="connsiteY1" fmla="*/ 907 h 3802380"/>
              <a:gd name="connsiteX2" fmla="*/ 40831 w 40831"/>
              <a:gd name="connsiteY2" fmla="*/ 3802380 h 3802380"/>
              <a:gd name="connsiteX3" fmla="*/ 0 w 40831"/>
              <a:gd name="connsiteY3" fmla="*/ 3802380 h 3802380"/>
              <a:gd name="connsiteX4" fmla="*/ 0 w 40831"/>
              <a:gd name="connsiteY4" fmla="*/ 0 h 3802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31" h="3802380">
                <a:moveTo>
                  <a:pt x="0" y="0"/>
                </a:moveTo>
                <a:lnTo>
                  <a:pt x="40831" y="907"/>
                </a:lnTo>
                <a:lnTo>
                  <a:pt x="40831" y="3802380"/>
                </a:lnTo>
                <a:lnTo>
                  <a:pt x="0" y="380238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F2F4380-2796-FFAB-5190-DA96D19C5199}"/>
              </a:ext>
            </a:extLst>
          </p:cNvPr>
          <p:cNvSpPr txBox="1">
            <a:spLocks/>
          </p:cNvSpPr>
          <p:nvPr/>
        </p:nvSpPr>
        <p:spPr>
          <a:xfrm>
            <a:off x="415449" y="59691"/>
            <a:ext cx="10384537" cy="424449"/>
          </a:xfrm>
          <a:prstGeom prst="rect">
            <a:avLst/>
          </a:prstGeom>
          <a:noFill/>
        </p:spPr>
        <p:txBody>
          <a:bodyPr vert="horz" wrap="square" lIns="91157" tIns="45580" rIns="91157" bIns="45580" rtlCol="0" anchor="b">
            <a:spAutoFit/>
          </a:bodyPr>
          <a:lstStyle>
            <a:lvl1pPr marL="109192" defTabSz="911377">
              <a:lnSpc>
                <a:spcPct val="90000"/>
              </a:lnSpc>
              <a:spcBef>
                <a:spcPct val="0"/>
              </a:spcBef>
              <a:buNone/>
              <a:defRPr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</a:defRPr>
            </a:lvl1pPr>
          </a:lstStyle>
          <a:p>
            <a:pPr marL="0" marR="0" lvl="0" indent="0" algn="l" defTabSz="911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9735">
                      <a:srgbClr val="1F497D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ffectLst/>
                <a:uLnTx/>
                <a:uFillTx/>
                <a:latin typeface="Adani Regular" panose="02000503000000020004" pitchFamily="2" charset="0"/>
                <a:ea typeface="+mn-ea"/>
                <a:cs typeface="+mn-cs"/>
              </a:rPr>
              <a:t>Khavda Phase-IV: Solar Plot wise Development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8F225D6-9FE5-87D8-21BE-4395DC73880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15449" y="3048000"/>
            <a:ext cx="765651" cy="2641600"/>
            <a:chOff x="415449" y="3048000"/>
            <a:chExt cx="765651" cy="264160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79D72CD-4233-CCC9-31F1-1FAB9467910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5449" y="3136900"/>
              <a:ext cx="664051" cy="25527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34A9445-2CDE-8DF0-1553-8EAAA9434EE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5449" y="3048000"/>
              <a:ext cx="76565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3C8B7EE-F970-4048-A626-BF394DCD297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46761" y="3048000"/>
              <a:ext cx="434339" cy="14478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7415EC98-A0BE-B73E-1F11-CAA818DDEC1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93523" y="3136900"/>
            <a:ext cx="352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`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6C83E6-963C-8B6B-E286-D9C8E5E1B91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9500" y="3136900"/>
            <a:ext cx="165100" cy="116840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B59573-8E66-FB2E-D7E9-4BEEDFDF7649}"/>
              </a:ext>
            </a:extLst>
          </p:cNvPr>
          <p:cNvSpPr txBox="1"/>
          <p:nvPr/>
        </p:nvSpPr>
        <p:spPr>
          <a:xfrm>
            <a:off x="86265" y="3247697"/>
            <a:ext cx="701328" cy="296625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-form: Shape 9">
            <a:extLst>
              <a:ext uri="{FF2B5EF4-FFF2-40B4-BE49-F238E27FC236}">
                <a16:creationId xmlns:a16="http://schemas.microsoft.com/office/drawing/2014/main" id="{11410521-0630-76E3-1FAC-FED3FA936021}"/>
              </a:ext>
            </a:extLst>
          </p:cNvPr>
          <p:cNvSpPr/>
          <p:nvPr/>
        </p:nvSpPr>
        <p:spPr>
          <a:xfrm>
            <a:off x="421278" y="2984741"/>
            <a:ext cx="1378692" cy="3317744"/>
          </a:xfrm>
          <a:custGeom>
            <a:avLst/>
            <a:gdLst>
              <a:gd name="connsiteX0" fmla="*/ 106435 w 1378692"/>
              <a:gd name="connsiteY0" fmla="*/ 136048 h 3516881"/>
              <a:gd name="connsiteX1" fmla="*/ 129182 w 1378692"/>
              <a:gd name="connsiteY1" fmla="*/ 154245 h 3516881"/>
              <a:gd name="connsiteX2" fmla="*/ 274758 w 1378692"/>
              <a:gd name="connsiteY2" fmla="*/ 208836 h 3516881"/>
              <a:gd name="connsiteX3" fmla="*/ 456728 w 1378692"/>
              <a:gd name="connsiteY3" fmla="*/ 213385 h 3516881"/>
              <a:gd name="connsiteX4" fmla="*/ 524967 w 1378692"/>
              <a:gd name="connsiteY4" fmla="*/ 231582 h 3516881"/>
              <a:gd name="connsiteX5" fmla="*/ 565910 w 1378692"/>
              <a:gd name="connsiteY5" fmla="*/ 240681 h 3516881"/>
              <a:gd name="connsiteX6" fmla="*/ 684191 w 1378692"/>
              <a:gd name="connsiteY6" fmla="*/ 281624 h 3516881"/>
              <a:gd name="connsiteX7" fmla="*/ 711486 w 1378692"/>
              <a:gd name="connsiteY7" fmla="*/ 290723 h 3516881"/>
              <a:gd name="connsiteX8" fmla="*/ 797922 w 1378692"/>
              <a:gd name="connsiteY8" fmla="*/ 336215 h 3516881"/>
              <a:gd name="connsiteX9" fmla="*/ 811570 w 1378692"/>
              <a:gd name="connsiteY9" fmla="*/ 340764 h 3516881"/>
              <a:gd name="connsiteX10" fmla="*/ 857062 w 1378692"/>
              <a:gd name="connsiteY10" fmla="*/ 345314 h 3516881"/>
              <a:gd name="connsiteX11" fmla="*/ 875259 w 1378692"/>
              <a:gd name="connsiteY11" fmla="*/ 358961 h 3516881"/>
              <a:gd name="connsiteX12" fmla="*/ 879809 w 1378692"/>
              <a:gd name="connsiteY12" fmla="*/ 372609 h 3516881"/>
              <a:gd name="connsiteX13" fmla="*/ 893456 w 1378692"/>
              <a:gd name="connsiteY13" fmla="*/ 395356 h 3516881"/>
              <a:gd name="connsiteX14" fmla="*/ 911653 w 1378692"/>
              <a:gd name="connsiteY14" fmla="*/ 404454 h 3516881"/>
              <a:gd name="connsiteX15" fmla="*/ 925301 w 1378692"/>
              <a:gd name="connsiteY15" fmla="*/ 418102 h 3516881"/>
              <a:gd name="connsiteX16" fmla="*/ 938949 w 1378692"/>
              <a:gd name="connsiteY16" fmla="*/ 436299 h 3516881"/>
              <a:gd name="connsiteX17" fmla="*/ 952597 w 1378692"/>
              <a:gd name="connsiteY17" fmla="*/ 440848 h 3516881"/>
              <a:gd name="connsiteX18" fmla="*/ 957146 w 1378692"/>
              <a:gd name="connsiteY18" fmla="*/ 454496 h 3516881"/>
              <a:gd name="connsiteX19" fmla="*/ 966244 w 1378692"/>
              <a:gd name="connsiteY19" fmla="*/ 490890 h 3516881"/>
              <a:gd name="connsiteX20" fmla="*/ 975343 w 1378692"/>
              <a:gd name="connsiteY20" fmla="*/ 513636 h 3516881"/>
              <a:gd name="connsiteX21" fmla="*/ 988991 w 1378692"/>
              <a:gd name="connsiteY21" fmla="*/ 818436 h 3516881"/>
              <a:gd name="connsiteX22" fmla="*/ 993540 w 1378692"/>
              <a:gd name="connsiteY22" fmla="*/ 1091391 h 3516881"/>
              <a:gd name="connsiteX23" fmla="*/ 998089 w 1378692"/>
              <a:gd name="connsiteY23" fmla="*/ 1205123 h 3516881"/>
              <a:gd name="connsiteX24" fmla="*/ 1084525 w 1378692"/>
              <a:gd name="connsiteY24" fmla="*/ 1459881 h 3516881"/>
              <a:gd name="connsiteX25" fmla="*/ 1252847 w 1378692"/>
              <a:gd name="connsiteY25" fmla="*/ 1951200 h 3516881"/>
              <a:gd name="connsiteX26" fmla="*/ 1275594 w 1378692"/>
              <a:gd name="connsiteY26" fmla="*/ 2137720 h 3516881"/>
              <a:gd name="connsiteX27" fmla="*/ 1311988 w 1378692"/>
              <a:gd name="connsiteY27" fmla="*/ 2278747 h 3516881"/>
              <a:gd name="connsiteX28" fmla="*/ 1339283 w 1378692"/>
              <a:gd name="connsiteY28" fmla="*/ 2397027 h 3516881"/>
              <a:gd name="connsiteX29" fmla="*/ 1352931 w 1378692"/>
              <a:gd name="connsiteY29" fmla="*/ 3111260 h 3516881"/>
              <a:gd name="connsiteX30" fmla="*/ 1321086 w 1378692"/>
              <a:gd name="connsiteY30" fmla="*/ 3447905 h 3516881"/>
              <a:gd name="connsiteX31" fmla="*/ 1221003 w 1378692"/>
              <a:gd name="connsiteY31" fmla="*/ 3493397 h 3516881"/>
              <a:gd name="connsiteX32" fmla="*/ 884358 w 1378692"/>
              <a:gd name="connsiteY32" fmla="*/ 3511594 h 3516881"/>
              <a:gd name="connsiteX33" fmla="*/ 283856 w 1378692"/>
              <a:gd name="connsiteY33" fmla="*/ 3447905 h 3516881"/>
              <a:gd name="connsiteX34" fmla="*/ 206519 w 1378692"/>
              <a:gd name="connsiteY34" fmla="*/ 3402412 h 3516881"/>
              <a:gd name="connsiteX35" fmla="*/ 29098 w 1378692"/>
              <a:gd name="connsiteY35" fmla="*/ 3024824 h 3516881"/>
              <a:gd name="connsiteX36" fmla="*/ 15450 w 1378692"/>
              <a:gd name="connsiteY36" fmla="*/ 2196860 h 3516881"/>
              <a:gd name="connsiteX37" fmla="*/ 42746 w 1378692"/>
              <a:gd name="connsiteY37" fmla="*/ 1905708 h 3516881"/>
              <a:gd name="connsiteX38" fmla="*/ 70041 w 1378692"/>
              <a:gd name="connsiteY38" fmla="*/ 1505373 h 3516881"/>
              <a:gd name="connsiteX39" fmla="*/ 88238 w 1378692"/>
              <a:gd name="connsiteY39" fmla="*/ 1264263 h 3516881"/>
              <a:gd name="connsiteX40" fmla="*/ 79140 w 1378692"/>
              <a:gd name="connsiteY40" fmla="*/ 900323 h 3516881"/>
              <a:gd name="connsiteX41" fmla="*/ 83689 w 1378692"/>
              <a:gd name="connsiteY41" fmla="*/ 4120 h 3516881"/>
              <a:gd name="connsiteX42" fmla="*/ 120083 w 1378692"/>
              <a:gd name="connsiteY42" fmla="*/ 22317 h 3516881"/>
              <a:gd name="connsiteX43" fmla="*/ 161026 w 1378692"/>
              <a:gd name="connsiteY43" fmla="*/ 63260 h 3516881"/>
              <a:gd name="connsiteX44" fmla="*/ 170125 w 1378692"/>
              <a:gd name="connsiteY44" fmla="*/ 90556 h 3516881"/>
              <a:gd name="connsiteX45" fmla="*/ 179223 w 1378692"/>
              <a:gd name="connsiteY45" fmla="*/ 213385 h 351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378692" h="3516881">
                <a:moveTo>
                  <a:pt x="106435" y="136048"/>
                </a:moveTo>
                <a:cubicBezTo>
                  <a:pt x="114017" y="142114"/>
                  <a:pt x="120948" y="149099"/>
                  <a:pt x="129182" y="154245"/>
                </a:cubicBezTo>
                <a:cubicBezTo>
                  <a:pt x="174092" y="182314"/>
                  <a:pt x="220578" y="202619"/>
                  <a:pt x="274758" y="208836"/>
                </a:cubicBezTo>
                <a:cubicBezTo>
                  <a:pt x="335038" y="215753"/>
                  <a:pt x="396071" y="211869"/>
                  <a:pt x="456728" y="213385"/>
                </a:cubicBezTo>
                <a:lnTo>
                  <a:pt x="524967" y="231582"/>
                </a:lnTo>
                <a:cubicBezTo>
                  <a:pt x="538530" y="234973"/>
                  <a:pt x="552573" y="236489"/>
                  <a:pt x="565910" y="240681"/>
                </a:cubicBezTo>
                <a:cubicBezTo>
                  <a:pt x="605713" y="253190"/>
                  <a:pt x="644735" y="268061"/>
                  <a:pt x="684191" y="281624"/>
                </a:cubicBezTo>
                <a:cubicBezTo>
                  <a:pt x="693261" y="284742"/>
                  <a:pt x="711486" y="290723"/>
                  <a:pt x="711486" y="290723"/>
                </a:cubicBezTo>
                <a:cubicBezTo>
                  <a:pt x="742503" y="313984"/>
                  <a:pt x="746853" y="319193"/>
                  <a:pt x="797922" y="336215"/>
                </a:cubicBezTo>
                <a:cubicBezTo>
                  <a:pt x="802471" y="337731"/>
                  <a:pt x="806830" y="340035"/>
                  <a:pt x="811570" y="340764"/>
                </a:cubicBezTo>
                <a:cubicBezTo>
                  <a:pt x="826632" y="343081"/>
                  <a:pt x="841898" y="343797"/>
                  <a:pt x="857062" y="345314"/>
                </a:cubicBezTo>
                <a:cubicBezTo>
                  <a:pt x="863128" y="349863"/>
                  <a:pt x="870405" y="353137"/>
                  <a:pt x="875259" y="358961"/>
                </a:cubicBezTo>
                <a:cubicBezTo>
                  <a:pt x="878329" y="362645"/>
                  <a:pt x="877664" y="368320"/>
                  <a:pt x="879809" y="372609"/>
                </a:cubicBezTo>
                <a:cubicBezTo>
                  <a:pt x="883763" y="380518"/>
                  <a:pt x="887204" y="389103"/>
                  <a:pt x="893456" y="395356"/>
                </a:cubicBezTo>
                <a:cubicBezTo>
                  <a:pt x="898251" y="400151"/>
                  <a:pt x="905587" y="401421"/>
                  <a:pt x="911653" y="404454"/>
                </a:cubicBezTo>
                <a:cubicBezTo>
                  <a:pt x="916202" y="409003"/>
                  <a:pt x="921114" y="413217"/>
                  <a:pt x="925301" y="418102"/>
                </a:cubicBezTo>
                <a:cubicBezTo>
                  <a:pt x="930235" y="423859"/>
                  <a:pt x="933124" y="431445"/>
                  <a:pt x="938949" y="436299"/>
                </a:cubicBezTo>
                <a:cubicBezTo>
                  <a:pt x="942633" y="439369"/>
                  <a:pt x="948048" y="439332"/>
                  <a:pt x="952597" y="440848"/>
                </a:cubicBezTo>
                <a:cubicBezTo>
                  <a:pt x="954113" y="445397"/>
                  <a:pt x="955884" y="449870"/>
                  <a:pt x="957146" y="454496"/>
                </a:cubicBezTo>
                <a:cubicBezTo>
                  <a:pt x="960436" y="466560"/>
                  <a:pt x="962567" y="478938"/>
                  <a:pt x="966244" y="490890"/>
                </a:cubicBezTo>
                <a:cubicBezTo>
                  <a:pt x="968646" y="498695"/>
                  <a:pt x="972310" y="506054"/>
                  <a:pt x="975343" y="513636"/>
                </a:cubicBezTo>
                <a:cubicBezTo>
                  <a:pt x="990578" y="635521"/>
                  <a:pt x="982532" y="562250"/>
                  <a:pt x="988991" y="818436"/>
                </a:cubicBezTo>
                <a:cubicBezTo>
                  <a:pt x="991284" y="909405"/>
                  <a:pt x="991400" y="1000419"/>
                  <a:pt x="993540" y="1091391"/>
                </a:cubicBezTo>
                <a:cubicBezTo>
                  <a:pt x="994432" y="1129321"/>
                  <a:pt x="992426" y="1167607"/>
                  <a:pt x="998089" y="1205123"/>
                </a:cubicBezTo>
                <a:cubicBezTo>
                  <a:pt x="1018228" y="1338541"/>
                  <a:pt x="1036875" y="1333202"/>
                  <a:pt x="1084525" y="1459881"/>
                </a:cubicBezTo>
                <a:cubicBezTo>
                  <a:pt x="1203365" y="1775820"/>
                  <a:pt x="1188385" y="1733640"/>
                  <a:pt x="1252847" y="1951200"/>
                </a:cubicBezTo>
                <a:cubicBezTo>
                  <a:pt x="1260429" y="2013373"/>
                  <a:pt x="1264465" y="2076083"/>
                  <a:pt x="1275594" y="2137720"/>
                </a:cubicBezTo>
                <a:cubicBezTo>
                  <a:pt x="1284220" y="2185497"/>
                  <a:pt x="1300408" y="2231599"/>
                  <a:pt x="1311988" y="2278747"/>
                </a:cubicBezTo>
                <a:cubicBezTo>
                  <a:pt x="1321639" y="2318042"/>
                  <a:pt x="1330185" y="2357600"/>
                  <a:pt x="1339283" y="2397027"/>
                </a:cubicBezTo>
                <a:cubicBezTo>
                  <a:pt x="1350426" y="2675629"/>
                  <a:pt x="1350677" y="2658337"/>
                  <a:pt x="1352931" y="3111260"/>
                </a:cubicBezTo>
                <a:cubicBezTo>
                  <a:pt x="1353130" y="3151211"/>
                  <a:pt x="1428216" y="3390515"/>
                  <a:pt x="1321086" y="3447905"/>
                </a:cubicBezTo>
                <a:cubicBezTo>
                  <a:pt x="1288784" y="3465210"/>
                  <a:pt x="1257265" y="3488109"/>
                  <a:pt x="1221003" y="3493397"/>
                </a:cubicBezTo>
                <a:cubicBezTo>
                  <a:pt x="1109800" y="3509614"/>
                  <a:pt x="996573" y="3505528"/>
                  <a:pt x="884358" y="3511594"/>
                </a:cubicBezTo>
                <a:cubicBezTo>
                  <a:pt x="487745" y="3497172"/>
                  <a:pt x="505065" y="3561345"/>
                  <a:pt x="283856" y="3447905"/>
                </a:cubicBezTo>
                <a:cubicBezTo>
                  <a:pt x="257243" y="3434257"/>
                  <a:pt x="232298" y="3417576"/>
                  <a:pt x="206519" y="3402412"/>
                </a:cubicBezTo>
                <a:cubicBezTo>
                  <a:pt x="48815" y="3203569"/>
                  <a:pt x="117831" y="3324299"/>
                  <a:pt x="29098" y="3024824"/>
                </a:cubicBezTo>
                <a:cubicBezTo>
                  <a:pt x="-18200" y="2627519"/>
                  <a:pt x="3625" y="2882680"/>
                  <a:pt x="15450" y="2196860"/>
                </a:cubicBezTo>
                <a:cubicBezTo>
                  <a:pt x="18630" y="2012444"/>
                  <a:pt x="13958" y="2078437"/>
                  <a:pt x="42746" y="1905708"/>
                </a:cubicBezTo>
                <a:cubicBezTo>
                  <a:pt x="77533" y="1453487"/>
                  <a:pt x="33405" y="2039225"/>
                  <a:pt x="70041" y="1505373"/>
                </a:cubicBezTo>
                <a:cubicBezTo>
                  <a:pt x="75559" y="1424964"/>
                  <a:pt x="82172" y="1344633"/>
                  <a:pt x="88238" y="1264263"/>
                </a:cubicBezTo>
                <a:cubicBezTo>
                  <a:pt x="85205" y="1142950"/>
                  <a:pt x="79578" y="1021673"/>
                  <a:pt x="79140" y="900323"/>
                </a:cubicBezTo>
                <a:cubicBezTo>
                  <a:pt x="78062" y="601587"/>
                  <a:pt x="69773" y="302534"/>
                  <a:pt x="83689" y="4120"/>
                </a:cubicBezTo>
                <a:cubicBezTo>
                  <a:pt x="84321" y="-9429"/>
                  <a:pt x="109309" y="14078"/>
                  <a:pt x="120083" y="22317"/>
                </a:cubicBezTo>
                <a:cubicBezTo>
                  <a:pt x="135415" y="34041"/>
                  <a:pt x="147378" y="49612"/>
                  <a:pt x="161026" y="63260"/>
                </a:cubicBezTo>
                <a:cubicBezTo>
                  <a:pt x="164059" y="72359"/>
                  <a:pt x="168898" y="81044"/>
                  <a:pt x="170125" y="90556"/>
                </a:cubicBezTo>
                <a:cubicBezTo>
                  <a:pt x="179465" y="162940"/>
                  <a:pt x="179223" y="169794"/>
                  <a:pt x="179223" y="213385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A1FAAB-043B-16D8-2E6B-572331677A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68"/>
          <a:stretch>
            <a:fillRect/>
          </a:stretch>
        </p:blipFill>
        <p:spPr>
          <a:xfrm>
            <a:off x="894128" y="586310"/>
            <a:ext cx="5557763" cy="5744317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138DC78-B9EC-5F59-B427-F6FC7837F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612073"/>
              </p:ext>
            </p:extLst>
          </p:nvPr>
        </p:nvGraphicFramePr>
        <p:xfrm>
          <a:off x="6558426" y="618549"/>
          <a:ext cx="5212297" cy="5595398"/>
        </p:xfrm>
        <a:graphic>
          <a:graphicData uri="http://schemas.openxmlformats.org/drawingml/2006/table">
            <a:tbl>
              <a:tblPr/>
              <a:tblGrid>
                <a:gridCol w="1446887">
                  <a:extLst>
                    <a:ext uri="{9D8B030D-6E8A-4147-A177-3AD203B41FA5}">
                      <a16:colId xmlns:a16="http://schemas.microsoft.com/office/drawing/2014/main" val="2792429933"/>
                    </a:ext>
                  </a:extLst>
                </a:gridCol>
                <a:gridCol w="1009291">
                  <a:extLst>
                    <a:ext uri="{9D8B030D-6E8A-4147-A177-3AD203B41FA5}">
                      <a16:colId xmlns:a16="http://schemas.microsoft.com/office/drawing/2014/main" val="1420487731"/>
                    </a:ext>
                  </a:extLst>
                </a:gridCol>
                <a:gridCol w="802256">
                  <a:extLst>
                    <a:ext uri="{9D8B030D-6E8A-4147-A177-3AD203B41FA5}">
                      <a16:colId xmlns:a16="http://schemas.microsoft.com/office/drawing/2014/main" val="774097558"/>
                    </a:ext>
                  </a:extLst>
                </a:gridCol>
                <a:gridCol w="1000665">
                  <a:extLst>
                    <a:ext uri="{9D8B030D-6E8A-4147-A177-3AD203B41FA5}">
                      <a16:colId xmlns:a16="http://schemas.microsoft.com/office/drawing/2014/main" val="3425320819"/>
                    </a:ext>
                  </a:extLst>
                </a:gridCol>
                <a:gridCol w="953198">
                  <a:extLst>
                    <a:ext uri="{9D8B030D-6E8A-4147-A177-3AD203B41FA5}">
                      <a16:colId xmlns:a16="http://schemas.microsoft.com/office/drawing/2014/main" val="919373939"/>
                    </a:ext>
                  </a:extLst>
                </a:gridCol>
              </a:tblGrid>
              <a:tr h="3314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Project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723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AGEL / EPC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723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Plot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723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Budgeted Capacity (MW)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723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Commissioned (MW)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72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315912"/>
                  </a:ext>
                </a:extLst>
              </a:tr>
              <a:tr h="1697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FY26 Carry forward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AGEL / KPI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A15a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50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50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373321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FY26 Carry forward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AGEL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S05a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50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50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189046"/>
                  </a:ext>
                </a:extLst>
              </a:tr>
              <a:tr h="1777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FY26 Carry forward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AGEL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A16b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50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50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8664118"/>
                  </a:ext>
                </a:extLst>
              </a:tr>
              <a:tr h="2060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FY26 Carry forward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AGEL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A16c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67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67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980818"/>
                  </a:ext>
                </a:extLst>
              </a:tr>
              <a:tr h="1697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FY26 Carry forward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AGEL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A16d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175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175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83406"/>
                  </a:ext>
                </a:extLst>
              </a:tr>
              <a:tr h="1818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FY26 Carry forward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AGEL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A06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150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150</a:t>
                      </a: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739295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FY27 Project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Bondada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A01c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25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232720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FY27 Project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Bondada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A01d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25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69542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FY27 Project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Bondada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A01e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25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606914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FY27 Project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AGEL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A12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350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098372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FY27 Project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Amaraja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A01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noProof="0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592147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FY27 Project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S&amp;W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A15b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i="0" u="none" strike="noStrike" kern="1200" noProof="0">
                        <a:solidFill>
                          <a:srgbClr val="00B05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649293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FY27 Project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Amaraja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A02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150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noProof="0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150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910780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FY27 Project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Amaraja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A01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150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i="0" u="none" strike="noStrike" kern="1200" noProof="0">
                        <a:solidFill>
                          <a:srgbClr val="00B05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535658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FY27 Project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Amaraja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A02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125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i="0" u="none" strike="noStrike" kern="1200" noProof="0">
                        <a:solidFill>
                          <a:srgbClr val="00B05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868037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FY27 Project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Bondada</a:t>
                      </a:r>
                      <a:endParaRPr 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A03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250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i="0" u="none" strike="noStrike" kern="1200" noProof="0">
                        <a:solidFill>
                          <a:srgbClr val="00B05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593215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FY27 Project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HILD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A03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250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i="0" u="none" strike="noStrike" kern="1200" noProof="0">
                        <a:solidFill>
                          <a:srgbClr val="00B05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567660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FY27 Project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Enrich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S07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300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i="0" u="none" strike="noStrike" kern="1200" noProof="0">
                        <a:solidFill>
                          <a:srgbClr val="00B05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107301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FY27 Project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KPI Green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S07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300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i="0" u="none" strike="noStrike" kern="1200" noProof="0">
                        <a:solidFill>
                          <a:srgbClr val="00B05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45274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FY27 Project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S&amp;W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S09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400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i="0" u="none" strike="noStrike" kern="1200" noProof="0">
                        <a:solidFill>
                          <a:srgbClr val="00B05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730476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FY27 Project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AGEL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NHPC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i="0" u="none" strike="noStrike" kern="1200" noProof="0">
                        <a:solidFill>
                          <a:srgbClr val="00B05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564689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FY27 Project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L&amp;T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S02a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175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i="0" u="none" strike="noStrike" kern="1200" noProof="0">
                        <a:solidFill>
                          <a:srgbClr val="00B05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68760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FY27 Project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KPI Green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S06a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234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i="0" u="none" strike="noStrike" kern="1200" noProof="0">
                        <a:solidFill>
                          <a:srgbClr val="00B05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028312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FY27 Project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L&amp;T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S01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i="0" u="none" strike="noStrike" kern="1200" noProof="0">
                        <a:solidFill>
                          <a:srgbClr val="00B05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281808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FY27 Project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L&amp;T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S02a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i="0" u="none" strike="noStrike" kern="1200" noProof="0">
                        <a:solidFill>
                          <a:srgbClr val="00B05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295027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FY27 Project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L&amp;T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S01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i="0" u="none" strike="noStrike" kern="1200" noProof="0">
                        <a:solidFill>
                          <a:srgbClr val="00B05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767563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FY27 Project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S&amp;W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A18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600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i="0" u="none" strike="noStrike" kern="1200" noProof="0">
                        <a:solidFill>
                          <a:srgbClr val="00B05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620137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FY27 Project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L&amp;T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S02b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112.5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i="0" u="none" strike="noStrike" kern="1200" noProof="0">
                        <a:solidFill>
                          <a:srgbClr val="00B05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465049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FY27 Project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L&amp;T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S01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i="0" u="none" strike="noStrike" kern="1200" noProof="0">
                        <a:solidFill>
                          <a:srgbClr val="00B05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200059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FY27 Project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S10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i="0" u="none" strike="noStrike" kern="1200" noProof="0">
                        <a:solidFill>
                          <a:srgbClr val="00B05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796225"/>
                  </a:ext>
                </a:extLst>
              </a:tr>
              <a:tr h="1676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4,639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917</a:t>
                      </a:r>
                    </a:p>
                  </a:txBody>
                  <a:tcPr marL="3575" marR="3575" marT="357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49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0639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2410E-078B-556E-4655-342974F4A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6BACB-66D7-390D-358A-88AF7EB02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783" y="74981"/>
            <a:ext cx="11577483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  <a:ea typeface="+mn-ea"/>
                <a:cs typeface="+mn-cs"/>
              </a:rPr>
              <a:t>Khavda Solar - Physical Progress: S Curve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A8CA9C-B3D8-237C-E2FF-4815EDF76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5" y="3419475"/>
            <a:ext cx="19050" cy="1905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24AE05F-B8A5-33E5-882D-8CF4AAC3CE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956586"/>
              </p:ext>
            </p:extLst>
          </p:nvPr>
        </p:nvGraphicFramePr>
        <p:xfrm>
          <a:off x="674709" y="4737100"/>
          <a:ext cx="11219557" cy="16255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53823">
                  <a:extLst>
                    <a:ext uri="{9D8B030D-6E8A-4147-A177-3AD203B41FA5}">
                      <a16:colId xmlns:a16="http://schemas.microsoft.com/office/drawing/2014/main" val="3839060429"/>
                    </a:ext>
                  </a:extLst>
                </a:gridCol>
                <a:gridCol w="1158405">
                  <a:extLst>
                    <a:ext uri="{9D8B030D-6E8A-4147-A177-3AD203B41FA5}">
                      <a16:colId xmlns:a16="http://schemas.microsoft.com/office/drawing/2014/main" val="840517721"/>
                    </a:ext>
                  </a:extLst>
                </a:gridCol>
                <a:gridCol w="1067905">
                  <a:extLst>
                    <a:ext uri="{9D8B030D-6E8A-4147-A177-3AD203B41FA5}">
                      <a16:colId xmlns:a16="http://schemas.microsoft.com/office/drawing/2014/main" val="3353606850"/>
                    </a:ext>
                  </a:extLst>
                </a:gridCol>
                <a:gridCol w="1321307">
                  <a:extLst>
                    <a:ext uri="{9D8B030D-6E8A-4147-A177-3AD203B41FA5}">
                      <a16:colId xmlns:a16="http://schemas.microsoft.com/office/drawing/2014/main" val="3074112078"/>
                    </a:ext>
                  </a:extLst>
                </a:gridCol>
                <a:gridCol w="959304">
                  <a:extLst>
                    <a:ext uri="{9D8B030D-6E8A-4147-A177-3AD203B41FA5}">
                      <a16:colId xmlns:a16="http://schemas.microsoft.com/office/drawing/2014/main" val="3746467726"/>
                    </a:ext>
                  </a:extLst>
                </a:gridCol>
                <a:gridCol w="5058813">
                  <a:extLst>
                    <a:ext uri="{9D8B030D-6E8A-4147-A177-3AD203B41FA5}">
                      <a16:colId xmlns:a16="http://schemas.microsoft.com/office/drawing/2014/main" val="396557569"/>
                    </a:ext>
                  </a:extLst>
                </a:gridCol>
              </a:tblGrid>
              <a:tr h="265419">
                <a:tc gridSpan="6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Gap Analysis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32943803"/>
                  </a:ext>
                </a:extLst>
              </a:tr>
              <a:tr h="24915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Progress Parameter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Weightage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Cumm. Plan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Cumm. Actual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Variance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Remarks for Variance</a:t>
                      </a:r>
                      <a:endParaRPr lang="en-US" sz="1100" b="1">
                        <a:solidFill>
                          <a:schemeClr val="tx1"/>
                        </a:solidFill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5303933"/>
                  </a:ext>
                </a:extLst>
              </a:tr>
              <a:tr h="27828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Engineering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15%</a:t>
                      </a:r>
                    </a:p>
                  </a:txBody>
                  <a:tcPr marL="9525" marR="9525" marT="9525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15%</a:t>
                      </a:r>
                    </a:p>
                  </a:txBody>
                  <a:tcPr marL="9525" marR="9525" marT="9525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14%</a:t>
                      </a:r>
                    </a:p>
                  </a:txBody>
                  <a:tcPr marL="9525" marR="9525" marT="9525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30120167"/>
                  </a:ext>
                </a:extLst>
              </a:tr>
              <a:tr h="31299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Procurement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25%</a:t>
                      </a:r>
                    </a:p>
                  </a:txBody>
                  <a:tcPr marL="9525" marR="9525" marT="9525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20%</a:t>
                      </a:r>
                    </a:p>
                  </a:txBody>
                  <a:tcPr marL="9525" marR="9525" marT="9525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en-US" sz="1100"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3827099"/>
                  </a:ext>
                </a:extLst>
              </a:tr>
              <a:tr h="27828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Construction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28%</a:t>
                      </a:r>
                    </a:p>
                  </a:txBody>
                  <a:tcPr marL="9525" marR="9525" marT="9525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16%</a:t>
                      </a:r>
                    </a:p>
                  </a:txBody>
                  <a:tcPr marL="9525" marR="9525" marT="9525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Due to manpower constraint 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9244542"/>
                  </a:ext>
                </a:extLst>
              </a:tr>
              <a:tr h="24147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Total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67%</a:t>
                      </a:r>
                    </a:p>
                  </a:txBody>
                  <a:tcPr marL="9525" marR="9525" marT="9525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50%</a:t>
                      </a:r>
                    </a:p>
                  </a:txBody>
                  <a:tcPr marL="9525" marR="9525" marT="9525" marB="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1"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06077143"/>
                  </a:ext>
                </a:extLst>
              </a:tr>
            </a:tbl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CFB796B-58D4-280C-E035-1AA33B6BC8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7087824"/>
              </p:ext>
            </p:extLst>
          </p:nvPr>
        </p:nvGraphicFramePr>
        <p:xfrm>
          <a:off x="578616" y="495301"/>
          <a:ext cx="11315650" cy="4241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996559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FB946-3C09-B14F-412D-88070EC94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532495E-6E02-1671-0347-9F6E56114843}"/>
              </a:ext>
            </a:extLst>
          </p:cNvPr>
          <p:cNvSpPr txBox="1"/>
          <p:nvPr/>
        </p:nvSpPr>
        <p:spPr>
          <a:xfrm>
            <a:off x="402564" y="140955"/>
            <a:ext cx="782460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192" defTabSz="911377">
              <a:lnSpc>
                <a:spcPct val="90000"/>
              </a:lnSpc>
              <a:spcBef>
                <a:spcPct val="0"/>
              </a:spcBef>
            </a:pPr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</a:rPr>
              <a:t>Khavda Solar - Engineering Progress </a:t>
            </a:r>
            <a:endParaRPr lang="en-US" sz="2400" b="1" kern="1200">
              <a:gradFill>
                <a:gsLst>
                  <a:gs pos="9735">
                    <a:schemeClr val="tx2"/>
                  </a:gs>
                  <a:gs pos="63000">
                    <a:srgbClr val="8E278F"/>
                  </a:gs>
                  <a:gs pos="38000">
                    <a:srgbClr val="57499E"/>
                  </a:gs>
                </a:gsLst>
                <a:lin ang="0" scaled="0"/>
              </a:gradFill>
              <a:latin typeface="Adani Regular" panose="02000503000000020004" pitchFamily="2" charset="0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52D4899-635E-46C2-AE41-4728EE765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786777"/>
              </p:ext>
            </p:extLst>
          </p:nvPr>
        </p:nvGraphicFramePr>
        <p:xfrm>
          <a:off x="564762" y="737380"/>
          <a:ext cx="10886210" cy="4183418"/>
        </p:xfrm>
        <a:graphic>
          <a:graphicData uri="http://schemas.openxmlformats.org/drawingml/2006/table">
            <a:tbl>
              <a:tblPr/>
              <a:tblGrid>
                <a:gridCol w="2302967">
                  <a:extLst>
                    <a:ext uri="{9D8B030D-6E8A-4147-A177-3AD203B41FA5}">
                      <a16:colId xmlns:a16="http://schemas.microsoft.com/office/drawing/2014/main" val="1769627287"/>
                    </a:ext>
                  </a:extLst>
                </a:gridCol>
                <a:gridCol w="3613512">
                  <a:extLst>
                    <a:ext uri="{9D8B030D-6E8A-4147-A177-3AD203B41FA5}">
                      <a16:colId xmlns:a16="http://schemas.microsoft.com/office/drawing/2014/main" val="1181378614"/>
                    </a:ext>
                  </a:extLst>
                </a:gridCol>
                <a:gridCol w="2763267">
                  <a:extLst>
                    <a:ext uri="{9D8B030D-6E8A-4147-A177-3AD203B41FA5}">
                      <a16:colId xmlns:a16="http://schemas.microsoft.com/office/drawing/2014/main" val="3177672365"/>
                    </a:ext>
                  </a:extLst>
                </a:gridCol>
                <a:gridCol w="2206464">
                  <a:extLst>
                    <a:ext uri="{9D8B030D-6E8A-4147-A177-3AD203B41FA5}">
                      <a16:colId xmlns:a16="http://schemas.microsoft.com/office/drawing/2014/main" val="3374669340"/>
                    </a:ext>
                  </a:extLst>
                </a:gridCol>
              </a:tblGrid>
              <a:tr h="46457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Sr. 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Description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No. of Drawings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%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351528"/>
                  </a:ext>
                </a:extLst>
              </a:tr>
              <a:tr h="46457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</a:t>
                      </a: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(B+C)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4130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8039783"/>
                  </a:ext>
                </a:extLst>
              </a:tr>
              <a:tr h="46457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 </a:t>
                      </a: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(RFC+b1+b2+b3)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Approved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3251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62945"/>
                  </a:ext>
                </a:extLst>
              </a:tr>
              <a:tr h="46457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RFC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RFC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483956"/>
                  </a:ext>
                </a:extLst>
              </a:tr>
              <a:tr h="4668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Cat. -I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1433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004815"/>
                  </a:ext>
                </a:extLst>
              </a:tr>
              <a:tr h="46457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Cat. -II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0768523"/>
                  </a:ext>
                </a:extLst>
              </a:tr>
              <a:tr h="46457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Cat. -III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688100"/>
                  </a:ext>
                </a:extLst>
              </a:tr>
              <a:tr h="46457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Cat. -IV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1120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731671"/>
                  </a:ext>
                </a:extLst>
              </a:tr>
              <a:tr h="46457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Pending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338736"/>
                  </a:ext>
                </a:extLst>
              </a:tr>
            </a:tbl>
          </a:graphicData>
        </a:graphic>
      </p:graphicFrame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4509747A-B4AF-3784-4F32-92F7F351E497}"/>
              </a:ext>
            </a:extLst>
          </p:cNvPr>
          <p:cNvSpPr txBox="1">
            <a:spLocks/>
          </p:cNvSpPr>
          <p:nvPr/>
        </p:nvSpPr>
        <p:spPr>
          <a:xfrm>
            <a:off x="11230428" y="6506482"/>
            <a:ext cx="96157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4F8B1E0-A6C5-4A01-86A0-BE5B8CAA4EE9}" type="slidenum">
              <a:rPr lang="en-US" sz="1200">
                <a:solidFill>
                  <a:schemeClr val="tx1">
                    <a:tint val="75000"/>
                  </a:schemeClr>
                </a:solidFill>
              </a:rPr>
              <a:pPr algn="r"/>
              <a:t>9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271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37688-FC03-A1E4-2B9F-6EFC819C6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291" y="107930"/>
            <a:ext cx="10515600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  <a:ea typeface="+mn-ea"/>
                <a:cs typeface="+mn-cs"/>
              </a:rPr>
              <a:t>Khavda Solar - Procurement &amp; Supply </a:t>
            </a:r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S</a:t>
            </a:r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  <a:ea typeface="+mn-ea"/>
                <a:cs typeface="+mn-cs"/>
              </a:rPr>
              <a:t>tatus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35D8F2-3E7C-C68F-BEF5-3DC22A31F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5" y="3419475"/>
            <a:ext cx="19050" cy="1905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D9C20C9-1176-C8B7-97CB-E53A4FAEE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772617"/>
              </p:ext>
            </p:extLst>
          </p:nvPr>
        </p:nvGraphicFramePr>
        <p:xfrm>
          <a:off x="575538" y="748864"/>
          <a:ext cx="11371589" cy="4963665"/>
        </p:xfrm>
        <a:graphic>
          <a:graphicData uri="http://schemas.openxmlformats.org/drawingml/2006/table">
            <a:tbl>
              <a:tblPr/>
              <a:tblGrid>
                <a:gridCol w="647294">
                  <a:extLst>
                    <a:ext uri="{9D8B030D-6E8A-4147-A177-3AD203B41FA5}">
                      <a16:colId xmlns:a16="http://schemas.microsoft.com/office/drawing/2014/main" val="439494316"/>
                    </a:ext>
                  </a:extLst>
                </a:gridCol>
                <a:gridCol w="2064459">
                  <a:extLst>
                    <a:ext uri="{9D8B030D-6E8A-4147-A177-3AD203B41FA5}">
                      <a16:colId xmlns:a16="http://schemas.microsoft.com/office/drawing/2014/main" val="3739027174"/>
                    </a:ext>
                  </a:extLst>
                </a:gridCol>
                <a:gridCol w="910645">
                  <a:extLst>
                    <a:ext uri="{9D8B030D-6E8A-4147-A177-3AD203B41FA5}">
                      <a16:colId xmlns:a16="http://schemas.microsoft.com/office/drawing/2014/main" val="3078379079"/>
                    </a:ext>
                  </a:extLst>
                </a:gridCol>
                <a:gridCol w="937965">
                  <a:extLst>
                    <a:ext uri="{9D8B030D-6E8A-4147-A177-3AD203B41FA5}">
                      <a16:colId xmlns:a16="http://schemas.microsoft.com/office/drawing/2014/main" val="375021072"/>
                    </a:ext>
                  </a:extLst>
                </a:gridCol>
                <a:gridCol w="1229371">
                  <a:extLst>
                    <a:ext uri="{9D8B030D-6E8A-4147-A177-3AD203B41FA5}">
                      <a16:colId xmlns:a16="http://schemas.microsoft.com/office/drawing/2014/main" val="819673741"/>
                    </a:ext>
                  </a:extLst>
                </a:gridCol>
                <a:gridCol w="1176587">
                  <a:extLst>
                    <a:ext uri="{9D8B030D-6E8A-4147-A177-3AD203B41FA5}">
                      <a16:colId xmlns:a16="http://schemas.microsoft.com/office/drawing/2014/main" val="3626542263"/>
                    </a:ext>
                  </a:extLst>
                </a:gridCol>
                <a:gridCol w="1101317">
                  <a:extLst>
                    <a:ext uri="{9D8B030D-6E8A-4147-A177-3AD203B41FA5}">
                      <a16:colId xmlns:a16="http://schemas.microsoft.com/office/drawing/2014/main" val="3795589225"/>
                    </a:ext>
                  </a:extLst>
                </a:gridCol>
                <a:gridCol w="1101317">
                  <a:extLst>
                    <a:ext uri="{9D8B030D-6E8A-4147-A177-3AD203B41FA5}">
                      <a16:colId xmlns:a16="http://schemas.microsoft.com/office/drawing/2014/main" val="573317730"/>
                    </a:ext>
                  </a:extLst>
                </a:gridCol>
                <a:gridCol w="1101317">
                  <a:extLst>
                    <a:ext uri="{9D8B030D-6E8A-4147-A177-3AD203B41FA5}">
                      <a16:colId xmlns:a16="http://schemas.microsoft.com/office/drawing/2014/main" val="3286292630"/>
                    </a:ext>
                  </a:extLst>
                </a:gridCol>
                <a:gridCol w="1101317">
                  <a:extLst>
                    <a:ext uri="{9D8B030D-6E8A-4147-A177-3AD203B41FA5}">
                      <a16:colId xmlns:a16="http://schemas.microsoft.com/office/drawing/2014/main" val="1214736752"/>
                    </a:ext>
                  </a:extLst>
                </a:gridCol>
              </a:tblGrid>
              <a:tr h="376449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Sr. No.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Packages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UOM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Ordering </a:t>
                      </a:r>
                    </a:p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Completed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Balance</a:t>
                      </a:r>
                    </a:p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Ordering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Delivered </a:t>
                      </a:r>
                      <a:b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at site up to Aug-26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3 Month Look a Head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IN" sz="1200" b="1" i="0" u="none" strike="noStrike">
                        <a:solidFill>
                          <a:srgbClr val="FFFFFF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IN" sz="1200" b="1" i="0" u="none" strike="noStrike">
                        <a:solidFill>
                          <a:srgbClr val="FFFFFF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995331"/>
                  </a:ext>
                </a:extLst>
              </a:tr>
              <a:tr h="37644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Sep-26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Oct-26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Nov-26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257110"/>
                  </a:ext>
                </a:extLst>
              </a:tr>
              <a:tr h="41706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Module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MWac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4,639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2,317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2,322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1,542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576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715304"/>
                  </a:ext>
                </a:extLst>
              </a:tr>
              <a:tr h="41706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MMS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MWac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4,639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4,589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1,542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200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683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492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586769"/>
                  </a:ext>
                </a:extLst>
              </a:tr>
              <a:tr h="41706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Inverter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MWac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4,639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4,639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2,566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794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979871"/>
                  </a:ext>
                </a:extLst>
              </a:tr>
              <a:tr h="41706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IDT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372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368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181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567857"/>
                  </a:ext>
                </a:extLst>
              </a:tr>
              <a:tr h="41706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HT Panel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Sets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372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368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132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974143"/>
                  </a:ext>
                </a:extLst>
              </a:tr>
              <a:tr h="41706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LT Panel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5,952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5,888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1,984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320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1,664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494343"/>
                  </a:ext>
                </a:extLst>
              </a:tr>
              <a:tr h="41706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HT Cable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MWac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4,639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4,589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2,564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1,013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689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594445"/>
                  </a:ext>
                </a:extLst>
              </a:tr>
              <a:tr h="41706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LT Cable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MWac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4,639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4,589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2,506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349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834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1458193"/>
                  </a:ext>
                </a:extLst>
              </a:tr>
              <a:tr h="41706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DC Cable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MWac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4,639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4,339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300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1,903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1,311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583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837330"/>
                  </a:ext>
                </a:extLst>
              </a:tr>
              <a:tr h="4360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Robotic Module Cleaning System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MWac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4,639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2,530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2,109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1,492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125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1,063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16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892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B5AA9-C74E-A382-67D4-67ECE7043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C7ECE-C360-A48A-AE1B-8AB529F0D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291" y="101775"/>
            <a:ext cx="10515600" cy="430604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algn="l" defTabSz="911377"/>
            <a:r>
              <a:rPr lang="en-US" sz="22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Khavda Solar - Construction Progress Update – Phase – IV (4,639 MW)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DA58C4-1B47-F8FE-279F-D98B6A51C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5" y="3419475"/>
            <a:ext cx="19050" cy="1905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84CCA4A-4DC4-0DC6-746A-5012867A8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068352"/>
              </p:ext>
            </p:extLst>
          </p:nvPr>
        </p:nvGraphicFramePr>
        <p:xfrm>
          <a:off x="404028" y="650145"/>
          <a:ext cx="11383944" cy="5498403"/>
        </p:xfrm>
        <a:graphic>
          <a:graphicData uri="http://schemas.openxmlformats.org/drawingml/2006/table">
            <a:tbl>
              <a:tblPr/>
              <a:tblGrid>
                <a:gridCol w="585532">
                  <a:extLst>
                    <a:ext uri="{9D8B030D-6E8A-4147-A177-3AD203B41FA5}">
                      <a16:colId xmlns:a16="http://schemas.microsoft.com/office/drawing/2014/main" val="4201365238"/>
                    </a:ext>
                  </a:extLst>
                </a:gridCol>
                <a:gridCol w="2767326">
                  <a:extLst>
                    <a:ext uri="{9D8B030D-6E8A-4147-A177-3AD203B41FA5}">
                      <a16:colId xmlns:a16="http://schemas.microsoft.com/office/drawing/2014/main" val="2033430703"/>
                    </a:ext>
                  </a:extLst>
                </a:gridCol>
                <a:gridCol w="597271">
                  <a:extLst>
                    <a:ext uri="{9D8B030D-6E8A-4147-A177-3AD203B41FA5}">
                      <a16:colId xmlns:a16="http://schemas.microsoft.com/office/drawing/2014/main" val="1412682776"/>
                    </a:ext>
                  </a:extLst>
                </a:gridCol>
                <a:gridCol w="885645">
                  <a:extLst>
                    <a:ext uri="{9D8B030D-6E8A-4147-A177-3AD203B41FA5}">
                      <a16:colId xmlns:a16="http://schemas.microsoft.com/office/drawing/2014/main" val="4109342186"/>
                    </a:ext>
                  </a:extLst>
                </a:gridCol>
                <a:gridCol w="885645">
                  <a:extLst>
                    <a:ext uri="{9D8B030D-6E8A-4147-A177-3AD203B41FA5}">
                      <a16:colId xmlns:a16="http://schemas.microsoft.com/office/drawing/2014/main" val="3110335726"/>
                    </a:ext>
                  </a:extLst>
                </a:gridCol>
                <a:gridCol w="885645">
                  <a:extLst>
                    <a:ext uri="{9D8B030D-6E8A-4147-A177-3AD203B41FA5}">
                      <a16:colId xmlns:a16="http://schemas.microsoft.com/office/drawing/2014/main" val="2557354324"/>
                    </a:ext>
                  </a:extLst>
                </a:gridCol>
                <a:gridCol w="757399">
                  <a:extLst>
                    <a:ext uri="{9D8B030D-6E8A-4147-A177-3AD203B41FA5}">
                      <a16:colId xmlns:a16="http://schemas.microsoft.com/office/drawing/2014/main" val="1572258250"/>
                    </a:ext>
                  </a:extLst>
                </a:gridCol>
                <a:gridCol w="757399">
                  <a:extLst>
                    <a:ext uri="{9D8B030D-6E8A-4147-A177-3AD203B41FA5}">
                      <a16:colId xmlns:a16="http://schemas.microsoft.com/office/drawing/2014/main" val="3232686596"/>
                    </a:ext>
                  </a:extLst>
                </a:gridCol>
                <a:gridCol w="757399">
                  <a:extLst>
                    <a:ext uri="{9D8B030D-6E8A-4147-A177-3AD203B41FA5}">
                      <a16:colId xmlns:a16="http://schemas.microsoft.com/office/drawing/2014/main" val="904027225"/>
                    </a:ext>
                  </a:extLst>
                </a:gridCol>
                <a:gridCol w="757399">
                  <a:extLst>
                    <a:ext uri="{9D8B030D-6E8A-4147-A177-3AD203B41FA5}">
                      <a16:colId xmlns:a16="http://schemas.microsoft.com/office/drawing/2014/main" val="987967580"/>
                    </a:ext>
                  </a:extLst>
                </a:gridCol>
                <a:gridCol w="757399">
                  <a:extLst>
                    <a:ext uri="{9D8B030D-6E8A-4147-A177-3AD203B41FA5}">
                      <a16:colId xmlns:a16="http://schemas.microsoft.com/office/drawing/2014/main" val="1249158566"/>
                    </a:ext>
                  </a:extLst>
                </a:gridCol>
                <a:gridCol w="989885">
                  <a:extLst>
                    <a:ext uri="{9D8B030D-6E8A-4147-A177-3AD203B41FA5}">
                      <a16:colId xmlns:a16="http://schemas.microsoft.com/office/drawing/2014/main" val="1512009491"/>
                    </a:ext>
                  </a:extLst>
                </a:gridCol>
              </a:tblGrid>
              <a:tr h="578820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Sr. No.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UOM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Scope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Completed up to Aug’26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Balance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For the Month Aug’26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Next 3 Month Rolling Plan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Completion Target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4970"/>
                  </a:ext>
                </a:extLst>
              </a:tr>
              <a:tr h="2981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C1D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C1D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Plan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Sep’26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Oct’26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Nov’26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259799"/>
                  </a:ext>
                </a:extLst>
              </a:tr>
              <a:tr h="2701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Piling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1574829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959277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615,552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62,263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13,321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219,831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266,296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114,493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20-Jan-27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902935"/>
                  </a:ext>
                </a:extLst>
              </a:tr>
              <a:tr h="2701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Tracker up to Torque Tube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Tables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119907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34590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85,317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12,296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3,986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14,821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22,720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19,843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30-Jan-27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239149"/>
                  </a:ext>
                </a:extLst>
              </a:tr>
              <a:tr h="2987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Tracker up to Transmission Shaft with Purlin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Tables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119907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28287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91,620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11,925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13,708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22,237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19,054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30-Jan-27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792062"/>
                  </a:ext>
                </a:extLst>
              </a:tr>
              <a:tr h="2701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Module erection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MWdc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6272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1188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5,084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3,692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3,826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20-Feb-27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835176"/>
                  </a:ext>
                </a:extLst>
              </a:tr>
              <a:tr h="2701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Transformer foundation up to rail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23-Jan-27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9600329"/>
                  </a:ext>
                </a:extLst>
              </a:tr>
              <a:tr h="2701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HT/LT Slab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17-Jan-27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431705"/>
                  </a:ext>
                </a:extLst>
              </a:tr>
              <a:tr h="2708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HT LT Panel Shed &amp; Sheeting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19-Jan-27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526207"/>
                  </a:ext>
                </a:extLst>
              </a:tr>
              <a:tr h="2701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Transformer foundation Completion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173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199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23-Jan-27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570410"/>
                  </a:ext>
                </a:extLst>
              </a:tr>
              <a:tr h="2701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IDT Erection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06-Feb-27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488472"/>
                  </a:ext>
                </a:extLst>
              </a:tr>
              <a:tr h="2701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HT Panel Erection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28-Jan-27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6906968"/>
                  </a:ext>
                </a:extLst>
              </a:tr>
              <a:tr h="2701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LT Panel Erection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5952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1144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4,808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1,062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04-Feb-27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293007"/>
                  </a:ext>
                </a:extLst>
              </a:tr>
              <a:tr h="2701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Inverter erection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14066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3669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10,397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478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1,470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4,221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09-Feb-27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703753"/>
                  </a:ext>
                </a:extLst>
              </a:tr>
              <a:tr h="2701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LT Cable Laying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Km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4421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1180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3,241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25-Jan-27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374172"/>
                  </a:ext>
                </a:extLst>
              </a:tr>
              <a:tr h="2701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HT Cable Laying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Km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1686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1,031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07-Feb-27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355867"/>
                  </a:ext>
                </a:extLst>
              </a:tr>
              <a:tr h="2701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DC Cable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Kms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35648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7708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27,940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2,729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2,369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5,159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6,024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19-Feb-27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900648"/>
                  </a:ext>
                </a:extLst>
              </a:tr>
              <a:tr h="2701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MC4 &amp; VOC testing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MWac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4639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3,907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26-Feb-27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914034"/>
                  </a:ext>
                </a:extLst>
              </a:tr>
              <a:tr h="2701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Robots Module Cleaning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MWac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4639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3,881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10-Mar-27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671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7860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ED739-A9C8-7044-3F98-E6946A5AB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FCA9C-6AE0-C45E-EF5F-0C906FAC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291" y="101775"/>
            <a:ext cx="10515600" cy="430604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algn="l" defTabSz="911377"/>
            <a:r>
              <a:rPr lang="en-US" sz="22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Khavda Solar - Construction Manpower – Phase – IV (4,639</a:t>
            </a:r>
            <a:r>
              <a:rPr lang="en-US" sz="22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</a:rPr>
              <a:t> </a:t>
            </a:r>
            <a:r>
              <a:rPr lang="en-US" sz="22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MW)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B695B9-6F4F-1D3C-7627-18CE0AB78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5" y="3419475"/>
            <a:ext cx="19050" cy="1905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001E6F-EF4D-2B16-B27C-4237D6560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022209"/>
              </p:ext>
            </p:extLst>
          </p:nvPr>
        </p:nvGraphicFramePr>
        <p:xfrm>
          <a:off x="388959" y="738873"/>
          <a:ext cx="11441094" cy="5344623"/>
        </p:xfrm>
        <a:graphic>
          <a:graphicData uri="http://schemas.openxmlformats.org/drawingml/2006/table">
            <a:tbl>
              <a:tblPr/>
              <a:tblGrid>
                <a:gridCol w="791989">
                  <a:extLst>
                    <a:ext uri="{9D8B030D-6E8A-4147-A177-3AD203B41FA5}">
                      <a16:colId xmlns:a16="http://schemas.microsoft.com/office/drawing/2014/main" val="4201365238"/>
                    </a:ext>
                  </a:extLst>
                </a:gridCol>
                <a:gridCol w="2716852">
                  <a:extLst>
                    <a:ext uri="{9D8B030D-6E8A-4147-A177-3AD203B41FA5}">
                      <a16:colId xmlns:a16="http://schemas.microsoft.com/office/drawing/2014/main" val="2033430703"/>
                    </a:ext>
                  </a:extLst>
                </a:gridCol>
                <a:gridCol w="1133179">
                  <a:extLst>
                    <a:ext uri="{9D8B030D-6E8A-4147-A177-3AD203B41FA5}">
                      <a16:colId xmlns:a16="http://schemas.microsoft.com/office/drawing/2014/main" val="3428942555"/>
                    </a:ext>
                  </a:extLst>
                </a:gridCol>
                <a:gridCol w="1133179">
                  <a:extLst>
                    <a:ext uri="{9D8B030D-6E8A-4147-A177-3AD203B41FA5}">
                      <a16:colId xmlns:a16="http://schemas.microsoft.com/office/drawing/2014/main" val="2867473947"/>
                    </a:ext>
                  </a:extLst>
                </a:gridCol>
                <a:gridCol w="1133179">
                  <a:extLst>
                    <a:ext uri="{9D8B030D-6E8A-4147-A177-3AD203B41FA5}">
                      <a16:colId xmlns:a16="http://schemas.microsoft.com/office/drawing/2014/main" val="4010994485"/>
                    </a:ext>
                  </a:extLst>
                </a:gridCol>
                <a:gridCol w="1133179">
                  <a:extLst>
                    <a:ext uri="{9D8B030D-6E8A-4147-A177-3AD203B41FA5}">
                      <a16:colId xmlns:a16="http://schemas.microsoft.com/office/drawing/2014/main" val="1412682776"/>
                    </a:ext>
                  </a:extLst>
                </a:gridCol>
                <a:gridCol w="1133179">
                  <a:extLst>
                    <a:ext uri="{9D8B030D-6E8A-4147-A177-3AD203B41FA5}">
                      <a16:colId xmlns:a16="http://schemas.microsoft.com/office/drawing/2014/main" val="904027225"/>
                    </a:ext>
                  </a:extLst>
                </a:gridCol>
                <a:gridCol w="1133179">
                  <a:extLst>
                    <a:ext uri="{9D8B030D-6E8A-4147-A177-3AD203B41FA5}">
                      <a16:colId xmlns:a16="http://schemas.microsoft.com/office/drawing/2014/main" val="987967580"/>
                    </a:ext>
                  </a:extLst>
                </a:gridCol>
                <a:gridCol w="1133179">
                  <a:extLst>
                    <a:ext uri="{9D8B030D-6E8A-4147-A177-3AD203B41FA5}">
                      <a16:colId xmlns:a16="http://schemas.microsoft.com/office/drawing/2014/main" val="1249158566"/>
                    </a:ext>
                  </a:extLst>
                </a:gridCol>
              </a:tblGrid>
              <a:tr h="311965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Sr. No.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UOM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Scope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Completed up to Aug’26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Balance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Next 3 Month Manpower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4970"/>
                  </a:ext>
                </a:extLst>
              </a:tr>
              <a:tr h="3119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Sep’26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Oct’26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Nov’26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259799"/>
                  </a:ext>
                </a:extLst>
              </a:tr>
              <a:tr h="27730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Piling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1,574,829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959,277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615,552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902935"/>
                  </a:ext>
                </a:extLst>
              </a:tr>
              <a:tr h="27730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Tracker up to Torque Tube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Tables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119,907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34,590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85,317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1,771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2,440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2,413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239149"/>
                  </a:ext>
                </a:extLst>
              </a:tr>
              <a:tr h="27730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Module erection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MWdc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6,272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1,188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5,084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882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1,042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1,538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835176"/>
                  </a:ext>
                </a:extLst>
              </a:tr>
              <a:tr h="27730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Transformer foundation up to rail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482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9600329"/>
                  </a:ext>
                </a:extLst>
              </a:tr>
              <a:tr h="27730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HT/LT Slab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431705"/>
                  </a:ext>
                </a:extLst>
              </a:tr>
              <a:tr h="27730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HT LT Panel Shed &amp; Sheeting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526207"/>
                  </a:ext>
                </a:extLst>
              </a:tr>
              <a:tr h="27730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Transformer foundation Completion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173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199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570410"/>
                  </a:ext>
                </a:extLst>
              </a:tr>
              <a:tr h="27730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IDT Erection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488472"/>
                  </a:ext>
                </a:extLst>
              </a:tr>
              <a:tr h="27730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HT Panel Erection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6906968"/>
                  </a:ext>
                </a:extLst>
              </a:tr>
              <a:tr h="27730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LT Panel Erection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5,952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1,144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4,808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293007"/>
                  </a:ext>
                </a:extLst>
              </a:tr>
              <a:tr h="27730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Inverter erection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14,066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3,669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10,397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703753"/>
                  </a:ext>
                </a:extLst>
              </a:tr>
              <a:tr h="27730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LT Cable Laying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Km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4,421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1,180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3,241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374172"/>
                  </a:ext>
                </a:extLst>
              </a:tr>
              <a:tr h="27730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HT Cable Laying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Km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1,686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1,031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355867"/>
                  </a:ext>
                </a:extLst>
              </a:tr>
              <a:tr h="27730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DC Cable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Kms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35,648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7,708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27,940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900648"/>
                  </a:ext>
                </a:extLst>
              </a:tr>
              <a:tr h="27730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MC4 &amp; VOC testing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MWac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4,639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3,907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914034"/>
                  </a:ext>
                </a:extLst>
              </a:tr>
              <a:tr h="27730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Robots Module Cleaning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MWac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4,639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3,881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671843"/>
                  </a:ext>
                </a:extLst>
              </a:tr>
              <a:tr h="27730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5,172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6,251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6,148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405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7025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2F2549D-E6B1-2A5E-CF9D-9E55B7135E74}"/>
              </a:ext>
            </a:extLst>
          </p:cNvPr>
          <p:cNvSpPr txBox="1">
            <a:spLocks/>
          </p:cNvSpPr>
          <p:nvPr/>
        </p:nvSpPr>
        <p:spPr>
          <a:xfrm>
            <a:off x="388191" y="67489"/>
            <a:ext cx="11600267" cy="424449"/>
          </a:xfrm>
          <a:prstGeom prst="rect">
            <a:avLst/>
          </a:prstGeom>
          <a:noFill/>
        </p:spPr>
        <p:txBody>
          <a:bodyPr vert="horz" wrap="square" lIns="91157" tIns="45580" rIns="91157" bIns="4558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dani Regular" panose="02000503000000020004" pitchFamily="2" charset="0"/>
                <a:ea typeface="+mj-ea"/>
                <a:cs typeface="+mj-cs"/>
              </a:defRPr>
            </a:lvl1pPr>
          </a:lstStyle>
          <a:p>
            <a:pPr marL="109192" marR="0" lvl="0" indent="0" algn="l" defTabSz="911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9735">
                      <a:srgbClr val="44546A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ffectLst/>
                <a:uLnTx/>
                <a:uFillTx/>
                <a:latin typeface="Adani Regular" panose="02000503000000020004" pitchFamily="2" charset="0"/>
                <a:ea typeface="+mj-ea"/>
                <a:cs typeface="+mj-cs"/>
              </a:rPr>
              <a:t>Khavda Solar - Major Critical Issues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0839C36-7A0D-1931-4D65-2F052630F6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411861"/>
              </p:ext>
            </p:extLst>
          </p:nvPr>
        </p:nvGraphicFramePr>
        <p:xfrm>
          <a:off x="532608" y="625871"/>
          <a:ext cx="11126784" cy="2465059"/>
        </p:xfrm>
        <a:graphic>
          <a:graphicData uri="http://schemas.openxmlformats.org/drawingml/2006/table">
            <a:tbl>
              <a:tblPr/>
              <a:tblGrid>
                <a:gridCol w="690885">
                  <a:extLst>
                    <a:ext uri="{9D8B030D-6E8A-4147-A177-3AD203B41FA5}">
                      <a16:colId xmlns:a16="http://schemas.microsoft.com/office/drawing/2014/main" val="1937269532"/>
                    </a:ext>
                  </a:extLst>
                </a:gridCol>
                <a:gridCol w="2433327">
                  <a:extLst>
                    <a:ext uri="{9D8B030D-6E8A-4147-A177-3AD203B41FA5}">
                      <a16:colId xmlns:a16="http://schemas.microsoft.com/office/drawing/2014/main" val="2780564658"/>
                    </a:ext>
                  </a:extLst>
                </a:gridCol>
                <a:gridCol w="2706393">
                  <a:extLst>
                    <a:ext uri="{9D8B030D-6E8A-4147-A177-3AD203B41FA5}">
                      <a16:colId xmlns:a16="http://schemas.microsoft.com/office/drawing/2014/main" val="2047575609"/>
                    </a:ext>
                  </a:extLst>
                </a:gridCol>
                <a:gridCol w="811095">
                  <a:extLst>
                    <a:ext uri="{9D8B030D-6E8A-4147-A177-3AD203B41FA5}">
                      <a16:colId xmlns:a16="http://schemas.microsoft.com/office/drawing/2014/main" val="1227767698"/>
                    </a:ext>
                  </a:extLst>
                </a:gridCol>
                <a:gridCol w="732049">
                  <a:extLst>
                    <a:ext uri="{9D8B030D-6E8A-4147-A177-3AD203B41FA5}">
                      <a16:colId xmlns:a16="http://schemas.microsoft.com/office/drawing/2014/main" val="3797749600"/>
                    </a:ext>
                  </a:extLst>
                </a:gridCol>
                <a:gridCol w="2418743">
                  <a:extLst>
                    <a:ext uri="{9D8B030D-6E8A-4147-A177-3AD203B41FA5}">
                      <a16:colId xmlns:a16="http://schemas.microsoft.com/office/drawing/2014/main" val="2918615442"/>
                    </a:ext>
                  </a:extLst>
                </a:gridCol>
                <a:gridCol w="1334292">
                  <a:extLst>
                    <a:ext uri="{9D8B030D-6E8A-4147-A177-3AD203B41FA5}">
                      <a16:colId xmlns:a16="http://schemas.microsoft.com/office/drawing/2014/main" val="3809812117"/>
                    </a:ext>
                  </a:extLst>
                </a:gridCol>
              </a:tblGrid>
              <a:tr h="448542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Sr. No.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Issues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Corrective </a:t>
                      </a:r>
                    </a:p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Action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Action By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Current </a:t>
                      </a:r>
                    </a:p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Status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Support </a:t>
                      </a:r>
                    </a:p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Required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056465"/>
                  </a:ext>
                </a:extLst>
              </a:tr>
              <a:tr h="448542">
                <a:tc vMerge="1">
                  <a:txBody>
                    <a:bodyPr/>
                    <a:lstStyle/>
                    <a:p>
                      <a:endParaRPr lang="k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Whom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794270"/>
                  </a:ext>
                </a:extLst>
              </a:tr>
              <a:tr h="1567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/>
                        </a:rPr>
                        <a:t>1</a:t>
                      </a:r>
                      <a:endParaRPr lang="kn-IN" sz="1200" b="0" i="0" u="none" strike="noStrike">
                        <a:solidFill>
                          <a:srgbClr val="000000"/>
                        </a:solidFill>
                        <a:effectLst/>
                        <a:latin typeface="Adani Regular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Adani Regular" panose="02000503000000020004" pitchFamily="2" charset="0"/>
                        </a:rPr>
                        <a:t>Insufficient workmen causing delay in construction work</a:t>
                      </a:r>
                      <a:endParaRPr lang="en-US" sz="1200">
                        <a:latin typeface="Adani Regular" panose="02000503000000020004" pitchFamily="2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prstClr val="black"/>
                          </a:solidFill>
                          <a:latin typeface="Adani Regular"/>
                        </a:rPr>
                        <a:t>Discussion with EPC partners is on going to increases the labor forces </a:t>
                      </a:r>
                    </a:p>
                  </a:txBody>
                  <a:tcPr marL="108000" marR="72000" marT="0" marB="0" anchor="ctr">
                    <a:lnL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Projects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Ongoing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Currently Average ~2174 Manpower is available in Solar for the Month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IN" sz="1200" b="0" i="0" u="none" strike="noStrike">
                        <a:solidFill>
                          <a:schemeClr val="tx1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Daily meetings at site being done with partners for expediting the job </a:t>
                      </a:r>
                    </a:p>
                  </a:txBody>
                  <a:tcPr marR="36000" marT="0" marB="0" anchor="ctr">
                    <a:lnL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  <a:endParaRPr lang="kn-IN" sz="1200" b="0" i="0" u="none" strike="noStrike">
                        <a:solidFill>
                          <a:schemeClr val="tx1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92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7427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A217C-E256-EF2F-38D5-7E74ADA27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6A6FA-76CE-CA02-721F-B6579FE66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8384" y="101600"/>
            <a:ext cx="11577483" cy="461382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  <a:ea typeface="+mn-ea"/>
                <a:cs typeface="+mn-cs"/>
              </a:rPr>
              <a:t>Khavda Solar - Major Milestone – Next 3 months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E38CD2-9EFA-3250-DD76-D6E3E5324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5" y="3419475"/>
            <a:ext cx="19050" cy="1905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B456FF-9401-6E90-16B4-5D8578B80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133307"/>
              </p:ext>
            </p:extLst>
          </p:nvPr>
        </p:nvGraphicFramePr>
        <p:xfrm>
          <a:off x="327474" y="672875"/>
          <a:ext cx="11556102" cy="568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6017">
                  <a:extLst>
                    <a:ext uri="{9D8B030D-6E8A-4147-A177-3AD203B41FA5}">
                      <a16:colId xmlns:a16="http://schemas.microsoft.com/office/drawing/2014/main" val="391744361"/>
                    </a:ext>
                  </a:extLst>
                </a:gridCol>
                <a:gridCol w="1926017">
                  <a:extLst>
                    <a:ext uri="{9D8B030D-6E8A-4147-A177-3AD203B41FA5}">
                      <a16:colId xmlns:a16="http://schemas.microsoft.com/office/drawing/2014/main" val="2000205779"/>
                    </a:ext>
                  </a:extLst>
                </a:gridCol>
                <a:gridCol w="1926017">
                  <a:extLst>
                    <a:ext uri="{9D8B030D-6E8A-4147-A177-3AD203B41FA5}">
                      <a16:colId xmlns:a16="http://schemas.microsoft.com/office/drawing/2014/main" val="1044031235"/>
                    </a:ext>
                  </a:extLst>
                </a:gridCol>
                <a:gridCol w="1926017">
                  <a:extLst>
                    <a:ext uri="{9D8B030D-6E8A-4147-A177-3AD203B41FA5}">
                      <a16:colId xmlns:a16="http://schemas.microsoft.com/office/drawing/2014/main" val="3707204395"/>
                    </a:ext>
                  </a:extLst>
                </a:gridCol>
                <a:gridCol w="1926017">
                  <a:extLst>
                    <a:ext uri="{9D8B030D-6E8A-4147-A177-3AD203B41FA5}">
                      <a16:colId xmlns:a16="http://schemas.microsoft.com/office/drawing/2014/main" val="3226430816"/>
                    </a:ext>
                  </a:extLst>
                </a:gridCol>
                <a:gridCol w="1926017">
                  <a:extLst>
                    <a:ext uri="{9D8B030D-6E8A-4147-A177-3AD203B41FA5}">
                      <a16:colId xmlns:a16="http://schemas.microsoft.com/office/drawing/2014/main" val="3492093341"/>
                    </a:ext>
                  </a:extLst>
                </a:gridCol>
              </a:tblGrid>
              <a:tr h="29636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Sep-26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Oct-26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Nov-26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64186"/>
                  </a:ext>
                </a:extLst>
              </a:tr>
              <a:tr h="391832"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Charging of following plots: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Charging of following plots: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Charging of following plots: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174906"/>
                  </a:ext>
                </a:extLst>
              </a:tr>
              <a:tr h="294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Plot No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Capacity (MW)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Plot No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Capacity (MW)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Plot No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Capacity (MW)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472921"/>
                  </a:ext>
                </a:extLst>
              </a:tr>
              <a:tr h="294088">
                <a:tc>
                  <a:txBody>
                    <a:bodyPr/>
                    <a:lstStyle/>
                    <a:p>
                      <a:pPr marL="628650" lvl="1" indent="-1714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lvl="1" indent="-1714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62.5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lvl="1" indent="-1714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37.5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265376"/>
                  </a:ext>
                </a:extLst>
              </a:tr>
              <a:tr h="294088">
                <a:tc>
                  <a:txBody>
                    <a:bodyPr/>
                    <a:lstStyle/>
                    <a:p>
                      <a:pPr marL="628650" lvl="1" indent="-1714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A15b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lvl="1" indent="-1714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NHPC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marR="0" lvl="1" indent="-17145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150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105580"/>
                  </a:ext>
                </a:extLst>
              </a:tr>
              <a:tr h="294088">
                <a:tc>
                  <a:txBody>
                    <a:bodyPr/>
                    <a:lstStyle/>
                    <a:p>
                      <a:pPr marL="628650" lvl="1" indent="-171450" algn="l" fontAlgn="ctr">
                        <a:buFont typeface="Wingdings" panose="05000000000000000000" pitchFamily="2" charset="2"/>
                        <a:buChar char="Ø"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lvl="1" indent="-171450" algn="l" fontAlgn="ctr">
                        <a:buFont typeface="Wingdings" panose="05000000000000000000" pitchFamily="2" charset="2"/>
                        <a:buChar char="Ø"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marR="0" lvl="1" indent="-17145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125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731229"/>
                  </a:ext>
                </a:extLst>
              </a:tr>
              <a:tr h="294088">
                <a:tc>
                  <a:txBody>
                    <a:bodyPr/>
                    <a:lstStyle/>
                    <a:p>
                      <a:pPr marL="628650" lvl="1" indent="-171450" algn="l" fontAlgn="ctr">
                        <a:buFont typeface="Wingdings" panose="05000000000000000000" pitchFamily="2" charset="2"/>
                        <a:buChar char="Ø"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lvl="1" indent="-171450" algn="l" fontAlgn="ctr">
                        <a:buFont typeface="Wingdings" panose="05000000000000000000" pitchFamily="2" charset="2"/>
                        <a:buChar char="Ø"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marR="0" lvl="1" indent="-17145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45125"/>
                  </a:ext>
                </a:extLst>
              </a:tr>
              <a:tr h="294088">
                <a:tc>
                  <a:txBody>
                    <a:bodyPr/>
                    <a:lstStyle/>
                    <a:p>
                      <a:pPr marL="628650" lvl="1" indent="-171450" algn="l" fontAlgn="ctr">
                        <a:buFont typeface="Wingdings" panose="05000000000000000000" pitchFamily="2" charset="2"/>
                        <a:buChar char="Ø"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lvl="1" indent="-171450" algn="l" fontAlgn="ctr">
                        <a:buFont typeface="Wingdings" panose="05000000000000000000" pitchFamily="2" charset="2"/>
                        <a:buChar char="Ø"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marR="0" lvl="1" indent="-17145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312326"/>
                  </a:ext>
                </a:extLst>
              </a:tr>
              <a:tr h="294088">
                <a:tc>
                  <a:txBody>
                    <a:bodyPr/>
                    <a:lstStyle/>
                    <a:p>
                      <a:pPr marL="628650" marR="0" lvl="1" indent="-17145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lvl="1" indent="-171450" algn="l" fontAlgn="ctr">
                        <a:buFont typeface="Wingdings" panose="05000000000000000000" pitchFamily="2" charset="2"/>
                        <a:buChar char="Ø"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marR="0" lvl="1" indent="-17145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591326"/>
                  </a:ext>
                </a:extLst>
              </a:tr>
              <a:tr h="294088">
                <a:tc>
                  <a:txBody>
                    <a:bodyPr/>
                    <a:lstStyle/>
                    <a:p>
                      <a:pPr marL="628650" lvl="1" indent="-171450" algn="l" fontAlgn="ctr">
                        <a:buFont typeface="Wingdings" panose="05000000000000000000" pitchFamily="2" charset="2"/>
                        <a:buChar char="Ø"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lvl="1" indent="-171450" algn="l" fontAlgn="ctr">
                        <a:buFont typeface="Wingdings" panose="05000000000000000000" pitchFamily="2" charset="2"/>
                        <a:buChar char="Ø"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marR="0" lvl="1" indent="-17145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636161"/>
                  </a:ext>
                </a:extLst>
              </a:tr>
              <a:tr h="294088">
                <a:tc>
                  <a:txBody>
                    <a:bodyPr/>
                    <a:lstStyle/>
                    <a:p>
                      <a:pPr lvl="1" algn="l" fontAlgn="ctr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lvl="1" indent="-171450" algn="l">
                        <a:buFont typeface="Wingdings" panose="05000000000000000000" pitchFamily="2" charset="2"/>
                        <a:buChar char="Ø"/>
                      </a:pPr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360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marR="0" lvl="1" indent="-17145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302535"/>
                  </a:ext>
                </a:extLst>
              </a:tr>
              <a:tr h="294088">
                <a:tc>
                  <a:txBody>
                    <a:bodyPr/>
                    <a:lstStyle/>
                    <a:p>
                      <a:pPr marL="628650" lvl="1" indent="-171450" algn="l">
                        <a:buFont typeface="Wingdings" panose="05000000000000000000" pitchFamily="2" charset="2"/>
                        <a:buChar char="Ø"/>
                      </a:pPr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36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lvl="1" indent="-171450" algn="l">
                        <a:buFont typeface="Wingdings" panose="05000000000000000000" pitchFamily="2" charset="2"/>
                        <a:buChar char="Ø"/>
                      </a:pPr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360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lvl="1" indent="-171450" algn="l">
                        <a:buFont typeface="Wingdings" panose="05000000000000000000" pitchFamily="2" charset="2"/>
                        <a:buChar char="Ø"/>
                      </a:pPr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360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864213"/>
                  </a:ext>
                </a:extLst>
              </a:tr>
              <a:tr h="294088">
                <a:tc>
                  <a:txBody>
                    <a:bodyPr/>
                    <a:lstStyle/>
                    <a:p>
                      <a:pPr marL="628650" lvl="1" indent="-171450" algn="l">
                        <a:buFont typeface="Wingdings" panose="05000000000000000000" pitchFamily="2" charset="2"/>
                        <a:buChar char="Ø"/>
                      </a:pPr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360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lvl="1" indent="-171450" algn="l">
                        <a:buFont typeface="Wingdings" panose="05000000000000000000" pitchFamily="2" charset="2"/>
                        <a:buChar char="Ø"/>
                      </a:pPr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360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28650" lvl="1" indent="-171450" algn="l">
                        <a:buFont typeface="Wingdings" panose="05000000000000000000" pitchFamily="2" charset="2"/>
                        <a:buChar char="Ø"/>
                      </a:pPr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360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73296"/>
                  </a:ext>
                </a:extLst>
              </a:tr>
              <a:tr h="391832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150</a:t>
                      </a:r>
                    </a:p>
                  </a:txBody>
                  <a:tcPr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113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313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8250315"/>
                  </a:ext>
                </a:extLst>
              </a:tr>
              <a:tr h="1027102">
                <a:tc gridSpan="2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b="1" u="none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chemeClr val="bg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1" u="none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PSS-07(P1)  </a:t>
                      </a:r>
                      <a:r>
                        <a:rPr lang="en-US" sz="1200" b="0" u="none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Forecast charging by </a:t>
                      </a:r>
                      <a:r>
                        <a:rPr lang="en-US" sz="1200" b="1" u="none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30-Sep-26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chemeClr val="bg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1" u="none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PSS-14(P2)  </a:t>
                      </a:r>
                      <a:r>
                        <a:rPr lang="en-US" sz="1200" b="0" u="none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Forecast charging by </a:t>
                      </a:r>
                      <a:r>
                        <a:rPr lang="en-US" sz="1200" b="1" u="none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21-Oct-26.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1" u="none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NHPC (P1) </a:t>
                      </a:r>
                      <a:r>
                        <a:rPr lang="en-US" sz="1200" b="0" u="none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Forecast Charging by </a:t>
                      </a:r>
                      <a:r>
                        <a:rPr lang="en-US" sz="1200" b="1" u="none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30-Sep-26.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1" u="none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NHPC (P2)   </a:t>
                      </a:r>
                      <a:r>
                        <a:rPr lang="en-US" sz="1200" b="0" u="none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Forecast Charging by  </a:t>
                      </a:r>
                      <a:r>
                        <a:rPr lang="en-US" sz="1200" b="1" u="none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</a:rPr>
                        <a:t>25-Oct-26.</a:t>
                      </a: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00" b="1" u="none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  <a:p>
                      <a:pPr marL="171450" marR="0" lvl="0" indent="-1714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00" b="1" u="none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b="1" u="none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sz="1200" b="1" u="none">
                        <a:solidFill>
                          <a:schemeClr val="tx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chemeClr val="bg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384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6769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AE3F3-44A4-0827-4F8A-E679817B2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8D9C45-D9C9-088C-24CA-E7FCD6BD0F29}"/>
              </a:ext>
            </a:extLst>
          </p:cNvPr>
          <p:cNvSpPr txBox="1"/>
          <p:nvPr/>
        </p:nvSpPr>
        <p:spPr>
          <a:xfrm>
            <a:off x="512366" y="83127"/>
            <a:ext cx="7164783" cy="4247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09192" defTabSz="911377">
              <a:lnSpc>
                <a:spcPct val="90000"/>
              </a:lnSpc>
              <a:spcBef>
                <a:spcPct val="0"/>
              </a:spcBef>
              <a:defRPr/>
            </a:pPr>
            <a:r>
              <a:rPr lang="en-IN" sz="2400" b="1">
                <a:gradFill>
                  <a:gsLst>
                    <a:gs pos="9735">
                      <a:srgbClr val="44546A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  <a:ea typeface="+mj-ea"/>
                <a:cs typeface="+mj-cs"/>
              </a:rPr>
              <a:t>Khavda PSS Status</a:t>
            </a:r>
            <a:endParaRPr lang="en-US" sz="2400" b="1">
              <a:gradFill>
                <a:gsLst>
                  <a:gs pos="9735">
                    <a:srgbClr val="44546A"/>
                  </a:gs>
                  <a:gs pos="63000">
                    <a:srgbClr val="8E278F"/>
                  </a:gs>
                  <a:gs pos="38000">
                    <a:srgbClr val="57499E"/>
                  </a:gs>
                </a:gsLst>
                <a:lin ang="0" scaled="0"/>
              </a:gradFill>
              <a:latin typeface="Adani Regular" panose="02000503000000020004" pitchFamily="2" charset="0"/>
              <a:ea typeface="+mj-ea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40CDD7-5123-453C-A996-1122038808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877161"/>
              </p:ext>
            </p:extLst>
          </p:nvPr>
        </p:nvGraphicFramePr>
        <p:xfrm>
          <a:off x="512366" y="790833"/>
          <a:ext cx="11265650" cy="3583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3130">
                  <a:extLst>
                    <a:ext uri="{9D8B030D-6E8A-4147-A177-3AD203B41FA5}">
                      <a16:colId xmlns:a16="http://schemas.microsoft.com/office/drawing/2014/main" val="2124995684"/>
                    </a:ext>
                  </a:extLst>
                </a:gridCol>
                <a:gridCol w="2253130">
                  <a:extLst>
                    <a:ext uri="{9D8B030D-6E8A-4147-A177-3AD203B41FA5}">
                      <a16:colId xmlns:a16="http://schemas.microsoft.com/office/drawing/2014/main" val="4145592720"/>
                    </a:ext>
                  </a:extLst>
                </a:gridCol>
                <a:gridCol w="2253130">
                  <a:extLst>
                    <a:ext uri="{9D8B030D-6E8A-4147-A177-3AD203B41FA5}">
                      <a16:colId xmlns:a16="http://schemas.microsoft.com/office/drawing/2014/main" val="3789293026"/>
                    </a:ext>
                  </a:extLst>
                </a:gridCol>
                <a:gridCol w="2253130">
                  <a:extLst>
                    <a:ext uri="{9D8B030D-6E8A-4147-A177-3AD203B41FA5}">
                      <a16:colId xmlns:a16="http://schemas.microsoft.com/office/drawing/2014/main" val="2234049667"/>
                    </a:ext>
                  </a:extLst>
                </a:gridCol>
                <a:gridCol w="2253130">
                  <a:extLst>
                    <a:ext uri="{9D8B030D-6E8A-4147-A177-3AD203B41FA5}">
                      <a16:colId xmlns:a16="http://schemas.microsoft.com/office/drawing/2014/main" val="221651732"/>
                    </a:ext>
                  </a:extLst>
                </a:gridCol>
              </a:tblGrid>
              <a:tr h="51192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1" u="none" strike="noStrike" kern="1200">
                          <a:solidFill>
                            <a:schemeClr val="lt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PSS No.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1" u="none" strike="noStrike" kern="1200">
                          <a:solidFill>
                            <a:schemeClr val="lt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Base Line Date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1" u="none" strike="noStrike" kern="1200">
                          <a:solidFill>
                            <a:schemeClr val="lt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Charging Date (P1)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1" u="none" strike="noStrike" kern="1200">
                          <a:solidFill>
                            <a:schemeClr val="lt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Charging Date (P2)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strike="noStrike" kern="1200">
                          <a:solidFill>
                            <a:schemeClr val="lt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Charging Date (P3)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512341"/>
                  </a:ext>
                </a:extLst>
              </a:tr>
              <a:tr h="5119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PSS-11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31-Jul-25</a:t>
                      </a:r>
                      <a:endParaRPr lang="en-IN" sz="1100"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03-Feb-26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solidFill>
                            <a:srgbClr val="33CC33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23-May-26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-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047036"/>
                  </a:ext>
                </a:extLst>
              </a:tr>
              <a:tr h="5119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PSS-12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31-Aug-25</a:t>
                      </a:r>
                      <a:endParaRPr lang="en-IN" sz="1100"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11-Mar-26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10-Jun-26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-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209522"/>
                  </a:ext>
                </a:extLst>
              </a:tr>
              <a:tr h="5119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PSS-14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30-Oct-25</a:t>
                      </a:r>
                      <a:endParaRPr lang="en-IN" sz="1100"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24-Mar-26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20-Jul-26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21-Oct-26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751665"/>
                  </a:ext>
                </a:extLst>
              </a:tr>
              <a:tr h="511923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PSS-07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15-Apr-26</a:t>
                      </a:r>
                      <a:endParaRPr lang="en-IN" sz="1100"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30-Sep-26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30-Oct-26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-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237779"/>
                  </a:ext>
                </a:extLst>
              </a:tr>
              <a:tr h="5119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NHPC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15-Jun-26</a:t>
                      </a:r>
                      <a:endParaRPr lang="en-IN" sz="1100"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14-Oct-26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25-Oct-26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-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37402"/>
                  </a:ext>
                </a:extLst>
              </a:tr>
              <a:tr h="5119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PSS-18</a:t>
                      </a:r>
                    </a:p>
                  </a:txBody>
                  <a:tcPr marL="5872" marR="5872" marT="587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30-Apr-26</a:t>
                      </a:r>
                      <a:endParaRPr lang="en-IN" sz="1100"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29-Nov-26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22-Mar-27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26-Apr-27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107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9418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E268F-A0F6-F2A6-B8F0-A1F472B61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CABBC-A76E-7F01-758F-B3B54DAB0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451" y="140840"/>
            <a:ext cx="11577483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algn="l" defTabSz="911377">
              <a:defRPr/>
            </a:pPr>
            <a:r>
              <a:rPr lang="en-IN" sz="2400" b="1">
                <a:gradFill>
                  <a:gsLst>
                    <a:gs pos="9735">
                      <a:srgbClr val="1F497D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System Study Progress</a:t>
            </a:r>
            <a:endParaRPr lang="en-US" sz="1000" b="1">
              <a:gradFill>
                <a:gsLst>
                  <a:gs pos="9735">
                    <a:srgbClr val="1F497D"/>
                  </a:gs>
                  <a:gs pos="63000">
                    <a:srgbClr val="8E278F"/>
                  </a:gs>
                  <a:gs pos="38000">
                    <a:srgbClr val="57499E"/>
                  </a:gs>
                </a:gsLst>
                <a:lin ang="0" scaled="0"/>
              </a:gradFill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9B5B26E-92A1-AF1D-FA32-763DB69D4D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756687"/>
              </p:ext>
            </p:extLst>
          </p:nvPr>
        </p:nvGraphicFramePr>
        <p:xfrm>
          <a:off x="619744" y="682171"/>
          <a:ext cx="10974158" cy="5715980"/>
        </p:xfrm>
        <a:graphic>
          <a:graphicData uri="http://schemas.openxmlformats.org/drawingml/2006/table">
            <a:tbl>
              <a:tblPr/>
              <a:tblGrid>
                <a:gridCol w="584942">
                  <a:extLst>
                    <a:ext uri="{9D8B030D-6E8A-4147-A177-3AD203B41FA5}">
                      <a16:colId xmlns:a16="http://schemas.microsoft.com/office/drawing/2014/main" val="4074063447"/>
                    </a:ext>
                  </a:extLst>
                </a:gridCol>
                <a:gridCol w="3512266">
                  <a:extLst>
                    <a:ext uri="{9D8B030D-6E8A-4147-A177-3AD203B41FA5}">
                      <a16:colId xmlns:a16="http://schemas.microsoft.com/office/drawing/2014/main" val="2422081875"/>
                    </a:ext>
                  </a:extLst>
                </a:gridCol>
                <a:gridCol w="5034009">
                  <a:extLst>
                    <a:ext uri="{9D8B030D-6E8A-4147-A177-3AD203B41FA5}">
                      <a16:colId xmlns:a16="http://schemas.microsoft.com/office/drawing/2014/main" val="4100073813"/>
                    </a:ext>
                  </a:extLst>
                </a:gridCol>
                <a:gridCol w="1842941">
                  <a:extLst>
                    <a:ext uri="{9D8B030D-6E8A-4147-A177-3AD203B41FA5}">
                      <a16:colId xmlns:a16="http://schemas.microsoft.com/office/drawing/2014/main" val="2097772311"/>
                    </a:ext>
                  </a:extLst>
                </a:gridCol>
              </a:tblGrid>
              <a:tr h="345228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Status for CON 4/5/6 &amp; System Study of Renewable Projects - Khavda Location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743" marR="3743" marT="374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983623"/>
                  </a:ext>
                </a:extLst>
              </a:tr>
              <a:tr h="4563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Sl. No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Project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587438"/>
                  </a:ext>
                </a:extLst>
              </a:tr>
              <a:tr h="3452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Khavda Projects : FY 2025-26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223086"/>
                  </a:ext>
                </a:extLst>
              </a:tr>
              <a:tr h="304612">
                <a:tc rowSpan="1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PSS-11 -1250MW  (KPS-3)</a:t>
                      </a:r>
                      <a:b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(1065MW Solar  + 187.2MW Wind)</a:t>
                      </a:r>
                      <a:b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b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Connectivity Application No   230700013                        [Sarjan Realties Pvt. Ltd.  (SRPL)] </a:t>
                      </a:r>
                      <a:b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b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FY 25-26 : 300 MW Solar + 187.2 MW Wind</a:t>
                      </a:r>
                      <a:b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(36 / 36 nos. WTG)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Harmonic Filters Finalisation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20-Feb-25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78548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PSS/E Submission –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23-Apr-25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794535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PSCAD Submission –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23-Apr-25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67197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Con-4 submission-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23-Apr-25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06196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Initial CTU Comments : +3 weeks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28-May-25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46019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Addressing CTU comments &amp; resubmission Rev-1: + 3weeks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09-Sep-25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716090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CTU Comments: +4 weeks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23-Sep-25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7300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Addressing CTU comments: +2weeks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18-Oct-25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472636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Initial RLDC Comments: +3 weeks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415809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Addressing RLDC comments &amp; resubmission Rev1: + 3weeks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02542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RLDC Comments: +2weeks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481140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Addressing RLDC comments  +2weeks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33483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CON-5 Approval + 1week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06-Jan-26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33833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CON-6 (CAT-2) Agreement +2days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08-Jan-26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449527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First Time Charging - Form 4 approval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08-Jan-26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152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7285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E0CCF-1519-F767-0388-DAE64AD89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6FB84-AE36-31CD-7251-C6D0101609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451" y="140840"/>
            <a:ext cx="11577483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algn="l" defTabSz="911377">
              <a:defRPr/>
            </a:pPr>
            <a:r>
              <a:rPr lang="en-IN" sz="2400" b="1">
                <a:gradFill>
                  <a:gsLst>
                    <a:gs pos="9735">
                      <a:srgbClr val="1F497D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System Study Progress</a:t>
            </a:r>
            <a:endParaRPr lang="en-US" sz="1000" b="1">
              <a:gradFill>
                <a:gsLst>
                  <a:gs pos="9735">
                    <a:srgbClr val="1F497D"/>
                  </a:gs>
                  <a:gs pos="63000">
                    <a:srgbClr val="8E278F"/>
                  </a:gs>
                  <a:gs pos="38000">
                    <a:srgbClr val="57499E"/>
                  </a:gs>
                </a:gsLst>
                <a:lin ang="0" scaled="0"/>
              </a:gradFill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BCDF93-2708-9A5C-17C8-1B80CCB44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165055"/>
              </p:ext>
            </p:extLst>
          </p:nvPr>
        </p:nvGraphicFramePr>
        <p:xfrm>
          <a:off x="619744" y="682171"/>
          <a:ext cx="10974158" cy="5715980"/>
        </p:xfrm>
        <a:graphic>
          <a:graphicData uri="http://schemas.openxmlformats.org/drawingml/2006/table">
            <a:tbl>
              <a:tblPr/>
              <a:tblGrid>
                <a:gridCol w="584942">
                  <a:extLst>
                    <a:ext uri="{9D8B030D-6E8A-4147-A177-3AD203B41FA5}">
                      <a16:colId xmlns:a16="http://schemas.microsoft.com/office/drawing/2014/main" val="4074063447"/>
                    </a:ext>
                  </a:extLst>
                </a:gridCol>
                <a:gridCol w="3512266">
                  <a:extLst>
                    <a:ext uri="{9D8B030D-6E8A-4147-A177-3AD203B41FA5}">
                      <a16:colId xmlns:a16="http://schemas.microsoft.com/office/drawing/2014/main" val="2422081875"/>
                    </a:ext>
                  </a:extLst>
                </a:gridCol>
                <a:gridCol w="5034009">
                  <a:extLst>
                    <a:ext uri="{9D8B030D-6E8A-4147-A177-3AD203B41FA5}">
                      <a16:colId xmlns:a16="http://schemas.microsoft.com/office/drawing/2014/main" val="4100073813"/>
                    </a:ext>
                  </a:extLst>
                </a:gridCol>
                <a:gridCol w="1842941">
                  <a:extLst>
                    <a:ext uri="{9D8B030D-6E8A-4147-A177-3AD203B41FA5}">
                      <a16:colId xmlns:a16="http://schemas.microsoft.com/office/drawing/2014/main" val="2097772311"/>
                    </a:ext>
                  </a:extLst>
                </a:gridCol>
              </a:tblGrid>
              <a:tr h="345228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Status for CON 4/5/6 &amp; System Study of Renewable Projects - Khavda Location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743" marR="3743" marT="374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983623"/>
                  </a:ext>
                </a:extLst>
              </a:tr>
              <a:tr h="45634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Sl. No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Project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587438"/>
                  </a:ext>
                </a:extLst>
              </a:tr>
              <a:tr h="34522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Khavda Projects : FY 2025-26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223086"/>
                  </a:ext>
                </a:extLst>
              </a:tr>
              <a:tr h="304612">
                <a:tc rowSpan="1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3)</a:t>
                      </a:r>
                    </a:p>
                  </a:txBody>
                  <a:tcPr marL="3775" marR="3775" marT="37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PSS-12 - 1100MW  (KPS-3)</a:t>
                      </a:r>
                      <a:b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(1075MW Solar  + 88.4MW Wind)</a:t>
                      </a:r>
                      <a:b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b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Connectivity Application No   0230700014                       [Sarjan Realties Pvt. Ltd.  (SRPL)]  </a:t>
                      </a:r>
                      <a:b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b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FY 25-26 : 300 MW Solar + 140.4 MW Wind</a:t>
                      </a:r>
                      <a:b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(27 / 27 nos. WTG)</a:t>
                      </a:r>
                    </a:p>
                  </a:txBody>
                  <a:tcPr marL="3775" marR="3775" marT="37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Harmonic Filters Finalisation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20-Feb-25</a:t>
                      </a:r>
                    </a:p>
                  </a:txBody>
                  <a:tcPr marL="3775" marR="3775" marT="37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78548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PSS/E Submission –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12-May-25</a:t>
                      </a:r>
                    </a:p>
                  </a:txBody>
                  <a:tcPr marL="3775" marR="3775" marT="37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794535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PSCAD Submission –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12-May-25</a:t>
                      </a:r>
                    </a:p>
                  </a:txBody>
                  <a:tcPr marL="3775" marR="3775" marT="37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67197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Con-4 submission-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12-May-25</a:t>
                      </a:r>
                    </a:p>
                  </a:txBody>
                  <a:tcPr marL="3775" marR="3775" marT="37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06196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Initial CTU Comments : +4weeks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03-Jul-25</a:t>
                      </a:r>
                    </a:p>
                  </a:txBody>
                  <a:tcPr marL="3775" marR="3775" marT="37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46019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Addressing CTU comments &amp; resubmission Rev-1: + 3weeks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20-Sep-25</a:t>
                      </a:r>
                    </a:p>
                  </a:txBody>
                  <a:tcPr marL="3775" marR="3775" marT="37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716090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CTU Comments: +2weeks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04-Oct-25</a:t>
                      </a:r>
                    </a:p>
                  </a:txBody>
                  <a:tcPr marL="3775" marR="3775" marT="37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7300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Addressing CTU comments: +2weeks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19-Dec-25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472636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Initial RLDC Comments: +4weeks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415809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Addressing RLDC comments &amp; resubmission Rev1: + 3weeks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02542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RLDC Comments: +2weeks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481140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Addressing RLDC comments  +2weeks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33483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CON-5 Approval + 1week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05-Feb-26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33833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CON-6 (CAT-2) Agreement +2days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10-Feb-26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449527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First Time Charging - Form 4 approval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As per plant readiness</a:t>
                      </a:r>
                    </a:p>
                  </a:txBody>
                  <a:tcPr marL="3775" marR="3775" marT="37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152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1910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D1CE1-5B18-B1CE-E842-4724807D1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7855F-F0C6-AD52-DCC7-E372ACB5A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451" y="140840"/>
            <a:ext cx="11577483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algn="l" defTabSz="911377">
              <a:defRPr/>
            </a:pPr>
            <a:r>
              <a:rPr lang="en-IN" sz="2400" b="1">
                <a:gradFill>
                  <a:gsLst>
                    <a:gs pos="9735">
                      <a:srgbClr val="1F497D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System Study Progress</a:t>
            </a:r>
            <a:endParaRPr lang="en-US" sz="1000" b="1">
              <a:gradFill>
                <a:gsLst>
                  <a:gs pos="9735">
                    <a:srgbClr val="1F497D"/>
                  </a:gs>
                  <a:gs pos="63000">
                    <a:srgbClr val="8E278F"/>
                  </a:gs>
                  <a:gs pos="38000">
                    <a:srgbClr val="57499E"/>
                  </a:gs>
                </a:gsLst>
                <a:lin ang="0" scaled="0"/>
              </a:gradFill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D422C46-3344-6597-A7D6-82C8058E7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31930"/>
              </p:ext>
            </p:extLst>
          </p:nvPr>
        </p:nvGraphicFramePr>
        <p:xfrm>
          <a:off x="619744" y="682171"/>
          <a:ext cx="10974158" cy="5715980"/>
        </p:xfrm>
        <a:graphic>
          <a:graphicData uri="http://schemas.openxmlformats.org/drawingml/2006/table">
            <a:tbl>
              <a:tblPr/>
              <a:tblGrid>
                <a:gridCol w="584942">
                  <a:extLst>
                    <a:ext uri="{9D8B030D-6E8A-4147-A177-3AD203B41FA5}">
                      <a16:colId xmlns:a16="http://schemas.microsoft.com/office/drawing/2014/main" val="4074063447"/>
                    </a:ext>
                  </a:extLst>
                </a:gridCol>
                <a:gridCol w="3512266">
                  <a:extLst>
                    <a:ext uri="{9D8B030D-6E8A-4147-A177-3AD203B41FA5}">
                      <a16:colId xmlns:a16="http://schemas.microsoft.com/office/drawing/2014/main" val="2422081875"/>
                    </a:ext>
                  </a:extLst>
                </a:gridCol>
                <a:gridCol w="5034009">
                  <a:extLst>
                    <a:ext uri="{9D8B030D-6E8A-4147-A177-3AD203B41FA5}">
                      <a16:colId xmlns:a16="http://schemas.microsoft.com/office/drawing/2014/main" val="4100073813"/>
                    </a:ext>
                  </a:extLst>
                </a:gridCol>
                <a:gridCol w="1842941">
                  <a:extLst>
                    <a:ext uri="{9D8B030D-6E8A-4147-A177-3AD203B41FA5}">
                      <a16:colId xmlns:a16="http://schemas.microsoft.com/office/drawing/2014/main" val="2097772311"/>
                    </a:ext>
                  </a:extLst>
                </a:gridCol>
              </a:tblGrid>
              <a:tr h="345228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Status for CON 4/5/6 &amp; System Study of Renewable Projects - Khavda Location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743" marR="3743" marT="374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983623"/>
                  </a:ext>
                </a:extLst>
              </a:tr>
              <a:tr h="4563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Sl. No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Project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587438"/>
                  </a:ext>
                </a:extLst>
              </a:tr>
              <a:tr h="3452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Khavda Projects : FY 2025-26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223086"/>
                  </a:ext>
                </a:extLst>
              </a:tr>
              <a:tr h="304612">
                <a:tc rowSpan="1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4)</a:t>
                      </a:r>
                    </a:p>
                  </a:txBody>
                  <a:tcPr marL="3775" marR="3775" marT="37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PSS-14- 1970MW  (KPS-3)</a:t>
                      </a:r>
                      <a:b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(1650MW Solar  + 312MW Wind)</a:t>
                      </a:r>
                      <a:b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b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Connectivity Application No   2200000953(1530 MW), 2200000477(75 MW), 2200000786(195 MW), 2200000602 (65 MW), 2200000785 (100 MW)        [Adani Green Energy Ltd. (AGEL)] </a:t>
                      </a:r>
                      <a:b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b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FY 25-26 : 379.6 MW Wind</a:t>
                      </a:r>
                      <a:b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(73 / 73 nos. WTG)</a:t>
                      </a:r>
                    </a:p>
                  </a:txBody>
                  <a:tcPr marL="3775" marR="3775" marT="37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Harmonic Filters Finalisation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27-May-25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78548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PSS/E Submission –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29-Aug-25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794535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PSCAD Submission –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29-Aug-25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67197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Con-4 submission-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19-Sep-25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06196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Initial CTU Comments : +4weeks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15-Dec-25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46019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Addressing CTU comments &amp; resubmission Rev-1: + 4weeks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06-Jan-26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716090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CTU Comments: +2weeks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19-Mar-26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7300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Addressing CTU comments: +2weeks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19-Mar-26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472636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Initial RLDC Comments: +4weeks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03-Nov-25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415809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Addressing RLDC comments &amp; resubmission Rev1: + 4weeks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08-Dec-25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02542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RLDC Comments: +2weeks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481140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Addressing RLDC comments  +2weeks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33483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CON-5 Approval + 1week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20-Mar-26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33833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CON-6 (CAT-2) Agreement +2days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21-Mar-26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449527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First Time Charging - Form 4 approval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As per plant readiness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152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07089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DFD6A-5C40-737B-02A5-910BC2C0D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9F94E-A7FA-6792-A0DB-8D9F5909A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451" y="140840"/>
            <a:ext cx="11577483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algn="l" defTabSz="911377">
              <a:defRPr/>
            </a:pPr>
            <a:r>
              <a:rPr lang="en-IN" sz="2400" b="1">
                <a:gradFill>
                  <a:gsLst>
                    <a:gs pos="9735">
                      <a:srgbClr val="1F497D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System Study Progress</a:t>
            </a:r>
            <a:endParaRPr lang="en-US" sz="1000" b="1">
              <a:gradFill>
                <a:gsLst>
                  <a:gs pos="9735">
                    <a:srgbClr val="1F497D"/>
                  </a:gs>
                  <a:gs pos="63000">
                    <a:srgbClr val="8E278F"/>
                  </a:gs>
                  <a:gs pos="38000">
                    <a:srgbClr val="57499E"/>
                  </a:gs>
                </a:gsLst>
                <a:lin ang="0" scaled="0"/>
              </a:gradFill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E18E0AD-4584-294C-C25D-E73D83CBD9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942480"/>
              </p:ext>
            </p:extLst>
          </p:nvPr>
        </p:nvGraphicFramePr>
        <p:xfrm>
          <a:off x="619744" y="682171"/>
          <a:ext cx="10974158" cy="5715980"/>
        </p:xfrm>
        <a:graphic>
          <a:graphicData uri="http://schemas.openxmlformats.org/drawingml/2006/table">
            <a:tbl>
              <a:tblPr/>
              <a:tblGrid>
                <a:gridCol w="584942">
                  <a:extLst>
                    <a:ext uri="{9D8B030D-6E8A-4147-A177-3AD203B41FA5}">
                      <a16:colId xmlns:a16="http://schemas.microsoft.com/office/drawing/2014/main" val="4074063447"/>
                    </a:ext>
                  </a:extLst>
                </a:gridCol>
                <a:gridCol w="3512266">
                  <a:extLst>
                    <a:ext uri="{9D8B030D-6E8A-4147-A177-3AD203B41FA5}">
                      <a16:colId xmlns:a16="http://schemas.microsoft.com/office/drawing/2014/main" val="2422081875"/>
                    </a:ext>
                  </a:extLst>
                </a:gridCol>
                <a:gridCol w="5034009">
                  <a:extLst>
                    <a:ext uri="{9D8B030D-6E8A-4147-A177-3AD203B41FA5}">
                      <a16:colId xmlns:a16="http://schemas.microsoft.com/office/drawing/2014/main" val="4100073813"/>
                    </a:ext>
                  </a:extLst>
                </a:gridCol>
                <a:gridCol w="1842941">
                  <a:extLst>
                    <a:ext uri="{9D8B030D-6E8A-4147-A177-3AD203B41FA5}">
                      <a16:colId xmlns:a16="http://schemas.microsoft.com/office/drawing/2014/main" val="2097772311"/>
                    </a:ext>
                  </a:extLst>
                </a:gridCol>
              </a:tblGrid>
              <a:tr h="345228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Status for CON 4/5/6 &amp; System Study of Renewable Projects - Khavda Location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743" marR="3743" marT="374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983623"/>
                  </a:ext>
                </a:extLst>
              </a:tr>
              <a:tr h="4563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Sl. No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Project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587438"/>
                  </a:ext>
                </a:extLst>
              </a:tr>
              <a:tr h="3452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Khavda Projects : FY 2025-26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223086"/>
                  </a:ext>
                </a:extLst>
              </a:tr>
              <a:tr h="304612">
                <a:tc rowSpan="1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4)</a:t>
                      </a:r>
                    </a:p>
                  </a:txBody>
                  <a:tcPr marL="3775" marR="3775" marT="37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PSS-7 1050MW  (KPS-1)</a:t>
                      </a:r>
                      <a:br>
                        <a:rPr lang="en-IN" sz="1100" b="1" i="0" u="none" strike="sngStrike">
                          <a:solidFill>
                            <a:srgbClr val="FF0000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r>
                        <a:rPr lang="en-IN" sz="11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1050MW Solar</a:t>
                      </a:r>
                      <a:b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Connectivity Application No </a:t>
                      </a:r>
                      <a:b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1670426092248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[Adani Green Energy Limited (AGEL)]      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Harmonic Filters Finalisation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17-Sep-25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78548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PSS/E Submission –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18-Oct-25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794535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PSCAD Submission –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18-Oct-25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67197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Con-4 submission-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04-Nov-25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06196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Initial CTU Comments : +4weeks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04-Dec-25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46019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Addressing CTU comments &amp; resubmission Rev-1: + 4weeks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28-Jan-26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716090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CTU Comments: +2weeks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04-Dec-25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7300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Addressing CTU comments: +2weeks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18-Feb-26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472636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Initial RLDC Comments: +4weeks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415809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Addressing RLDC comments &amp; resubmission Rev1: + 4weeks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14-Apr-26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02542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RLDC Comments: +2weeks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481140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Addressing RLDC comments  +2weeks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33483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CON-5 Approval + 1week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02-Oct-26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33833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CON-6 (CAT-2) Agreement +2days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09-Oct-26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449527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First Time Charging - Form 4 approval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As per plant readiness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152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6174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985F3-738A-E2DD-AD4A-3515D0CC6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04C39-C8A0-0D86-7634-0919F7CBEE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451" y="140840"/>
            <a:ext cx="11577483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algn="l" defTabSz="911377">
              <a:defRPr/>
            </a:pPr>
            <a:r>
              <a:rPr lang="en-IN" sz="2400" b="1">
                <a:gradFill>
                  <a:gsLst>
                    <a:gs pos="9735">
                      <a:srgbClr val="1F497D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System Study Progress</a:t>
            </a:r>
            <a:endParaRPr lang="en-US" sz="1000" b="1">
              <a:gradFill>
                <a:gsLst>
                  <a:gs pos="9735">
                    <a:srgbClr val="1F497D"/>
                  </a:gs>
                  <a:gs pos="63000">
                    <a:srgbClr val="8E278F"/>
                  </a:gs>
                  <a:gs pos="38000">
                    <a:srgbClr val="57499E"/>
                  </a:gs>
                </a:gsLst>
                <a:lin ang="0" scaled="0"/>
              </a:gradFill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DACD14-CCE4-1E0C-122B-4EE1E288A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202408"/>
              </p:ext>
            </p:extLst>
          </p:nvPr>
        </p:nvGraphicFramePr>
        <p:xfrm>
          <a:off x="619744" y="682171"/>
          <a:ext cx="10974158" cy="5715980"/>
        </p:xfrm>
        <a:graphic>
          <a:graphicData uri="http://schemas.openxmlformats.org/drawingml/2006/table">
            <a:tbl>
              <a:tblPr/>
              <a:tblGrid>
                <a:gridCol w="584942">
                  <a:extLst>
                    <a:ext uri="{9D8B030D-6E8A-4147-A177-3AD203B41FA5}">
                      <a16:colId xmlns:a16="http://schemas.microsoft.com/office/drawing/2014/main" val="4074063447"/>
                    </a:ext>
                  </a:extLst>
                </a:gridCol>
                <a:gridCol w="3512266">
                  <a:extLst>
                    <a:ext uri="{9D8B030D-6E8A-4147-A177-3AD203B41FA5}">
                      <a16:colId xmlns:a16="http://schemas.microsoft.com/office/drawing/2014/main" val="2422081875"/>
                    </a:ext>
                  </a:extLst>
                </a:gridCol>
                <a:gridCol w="5034009">
                  <a:extLst>
                    <a:ext uri="{9D8B030D-6E8A-4147-A177-3AD203B41FA5}">
                      <a16:colId xmlns:a16="http://schemas.microsoft.com/office/drawing/2014/main" val="4100073813"/>
                    </a:ext>
                  </a:extLst>
                </a:gridCol>
                <a:gridCol w="1842941">
                  <a:extLst>
                    <a:ext uri="{9D8B030D-6E8A-4147-A177-3AD203B41FA5}">
                      <a16:colId xmlns:a16="http://schemas.microsoft.com/office/drawing/2014/main" val="2097772311"/>
                    </a:ext>
                  </a:extLst>
                </a:gridCol>
              </a:tblGrid>
              <a:tr h="345228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Status for CON 4/5/6 &amp; System Study of Renewable Projects - Khavda Location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743" marR="3743" marT="374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983623"/>
                  </a:ext>
                </a:extLst>
              </a:tr>
              <a:tr h="4563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Sl. No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Project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587438"/>
                  </a:ext>
                </a:extLst>
              </a:tr>
              <a:tr h="3452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Khavda Projects : FY 2025-26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223086"/>
                  </a:ext>
                </a:extLst>
              </a:tr>
              <a:tr h="304612">
                <a:tc rowSpan="1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4)</a:t>
                      </a:r>
                    </a:p>
                  </a:txBody>
                  <a:tcPr marL="3775" marR="3775" marT="37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NHPC -600MW  (KPS-3)</a:t>
                      </a:r>
                      <a:b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(600MW Solar)</a:t>
                      </a:r>
                      <a:b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Connectivity Application No   1200002635                                      [ Adani Solar Energy Barmer One Private Limited]</a:t>
                      </a:r>
                      <a:b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FY 25-26 : 600 MW Solar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Harmonic Filters Finalisation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23-Jun-25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78548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PSS/E Submission –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30-Jul-25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794535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PSCAD Submission –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30-Jul-25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67197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Con-4 submission-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09-Oct-25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06196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Initial CTU Comments : +4weeks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24-Nov-25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46019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Addressing CTU comments &amp; resubmission Rev-1: + 4weeks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29-Jan-26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716090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CTU Comments: +2weeks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08-Apr-26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7300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Addressing CTU comments: +2weeks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29-Apr-26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472636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Initial RLDC Comments: +4weeks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415809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Addressing RLDC comments &amp; resubmission Rev1: + 4weeks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29-Apr-26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02542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RLDC Comments: +2weeks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481140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Addressing RLDC comments  +2weeks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33483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CON-5 Approval + 1week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09-Sep-26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33833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CON-6 (CAT-2) Agreement +2days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11-Sep-26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449527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First Time Charging - Form 4 approval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As per plant readiness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152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900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9535B-67B4-4687-28D7-610708277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7B81D-E2CD-1CE4-2C67-DEF1598F1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451" y="140840"/>
            <a:ext cx="11577483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algn="l" defTabSz="911377">
              <a:defRPr/>
            </a:pPr>
            <a:r>
              <a:rPr lang="en-IN" sz="2400" b="1">
                <a:gradFill>
                  <a:gsLst>
                    <a:gs pos="9735">
                      <a:srgbClr val="1F497D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System Study Progress</a:t>
            </a:r>
            <a:endParaRPr lang="en-US" sz="1000" b="1">
              <a:gradFill>
                <a:gsLst>
                  <a:gs pos="9735">
                    <a:srgbClr val="1F497D"/>
                  </a:gs>
                  <a:gs pos="63000">
                    <a:srgbClr val="8E278F"/>
                  </a:gs>
                  <a:gs pos="38000">
                    <a:srgbClr val="57499E"/>
                  </a:gs>
                </a:gsLst>
                <a:lin ang="0" scaled="0"/>
              </a:gradFill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DFC72A6-9DF9-DC1B-8CBA-CB0ECD87C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366523"/>
              </p:ext>
            </p:extLst>
          </p:nvPr>
        </p:nvGraphicFramePr>
        <p:xfrm>
          <a:off x="619744" y="682171"/>
          <a:ext cx="10974158" cy="5715980"/>
        </p:xfrm>
        <a:graphic>
          <a:graphicData uri="http://schemas.openxmlformats.org/drawingml/2006/table">
            <a:tbl>
              <a:tblPr/>
              <a:tblGrid>
                <a:gridCol w="584942">
                  <a:extLst>
                    <a:ext uri="{9D8B030D-6E8A-4147-A177-3AD203B41FA5}">
                      <a16:colId xmlns:a16="http://schemas.microsoft.com/office/drawing/2014/main" val="4074063447"/>
                    </a:ext>
                  </a:extLst>
                </a:gridCol>
                <a:gridCol w="3512266">
                  <a:extLst>
                    <a:ext uri="{9D8B030D-6E8A-4147-A177-3AD203B41FA5}">
                      <a16:colId xmlns:a16="http://schemas.microsoft.com/office/drawing/2014/main" val="2422081875"/>
                    </a:ext>
                  </a:extLst>
                </a:gridCol>
                <a:gridCol w="5034009">
                  <a:extLst>
                    <a:ext uri="{9D8B030D-6E8A-4147-A177-3AD203B41FA5}">
                      <a16:colId xmlns:a16="http://schemas.microsoft.com/office/drawing/2014/main" val="4100073813"/>
                    </a:ext>
                  </a:extLst>
                </a:gridCol>
                <a:gridCol w="1842941">
                  <a:extLst>
                    <a:ext uri="{9D8B030D-6E8A-4147-A177-3AD203B41FA5}">
                      <a16:colId xmlns:a16="http://schemas.microsoft.com/office/drawing/2014/main" val="2097772311"/>
                    </a:ext>
                  </a:extLst>
                </a:gridCol>
              </a:tblGrid>
              <a:tr h="345228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Status for CON 4/5/6 &amp; System Study of Renewable Projects - Khavda Location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743" marR="3743" marT="374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983623"/>
                  </a:ext>
                </a:extLst>
              </a:tr>
              <a:tr h="4563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Sl. No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Project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587438"/>
                  </a:ext>
                </a:extLst>
              </a:tr>
              <a:tr h="3452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Khavda Projects : FY 2025-26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223086"/>
                  </a:ext>
                </a:extLst>
              </a:tr>
              <a:tr h="304612">
                <a:tc rowSpan="1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4)</a:t>
                      </a:r>
                    </a:p>
                  </a:txBody>
                  <a:tcPr marL="3775" marR="3775" marT="37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PSS-18 1875MW (KPS-1 - Temporary Connection)</a:t>
                      </a:r>
                      <a:b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FY 26-27 : 1000 MW Solar + 254.8MW Wind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Harmonic Filters Finalisation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31-Aug-26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78548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PSS/E Submission –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30-Sep-26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794535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PSCAD Submission –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30-Sep-26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67197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Con-4 submission-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30-Sep-26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06196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Initial CTU Comments : +4weeks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07-Oct-26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46019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Addressing CTU comments &amp; resubmission Rev-1: + 4weeks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30-Sep-26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716090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CTU Comments: +2weeks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07-Oct-26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7300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Addressing CTU comments: +2weeks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15-Oct-26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472636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Initial RLDC Comments: +4weeks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07-Oct-26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415809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Addressing RLDC comments &amp; resubmission Rev1: + 4weeks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22-Oct-26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02542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RLDC Comments: +2weeks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07-Oct-26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481140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Addressing RLDC comments  +2weeks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15-Oct-26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334834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CON-5 Approval + 1week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30-Oct-26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33833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CON-6 (CAT-2) Agreement +2days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06-Nov-26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449527"/>
                  </a:ext>
                </a:extLst>
              </a:tr>
              <a:tr h="30461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First Time Charging - Form 4 approval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As per plant readiness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152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5369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CD041B-FE2A-9837-9697-150FEACB3F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442844"/>
              </p:ext>
            </p:extLst>
          </p:nvPr>
        </p:nvGraphicFramePr>
        <p:xfrm>
          <a:off x="345056" y="654788"/>
          <a:ext cx="11577484" cy="5890719"/>
        </p:xfrm>
        <a:graphic>
          <a:graphicData uri="http://schemas.openxmlformats.org/drawingml/2006/table">
            <a:tbl>
              <a:tblPr/>
              <a:tblGrid>
                <a:gridCol w="2768734">
                  <a:extLst>
                    <a:ext uri="{9D8B030D-6E8A-4147-A177-3AD203B41FA5}">
                      <a16:colId xmlns:a16="http://schemas.microsoft.com/office/drawing/2014/main" val="1260295718"/>
                    </a:ext>
                  </a:extLst>
                </a:gridCol>
                <a:gridCol w="715230">
                  <a:extLst>
                    <a:ext uri="{9D8B030D-6E8A-4147-A177-3AD203B41FA5}">
                      <a16:colId xmlns:a16="http://schemas.microsoft.com/office/drawing/2014/main" val="3225633936"/>
                    </a:ext>
                  </a:extLst>
                </a:gridCol>
                <a:gridCol w="926466">
                  <a:extLst>
                    <a:ext uri="{9D8B030D-6E8A-4147-A177-3AD203B41FA5}">
                      <a16:colId xmlns:a16="http://schemas.microsoft.com/office/drawing/2014/main" val="4104106608"/>
                    </a:ext>
                  </a:extLst>
                </a:gridCol>
                <a:gridCol w="926466">
                  <a:extLst>
                    <a:ext uri="{9D8B030D-6E8A-4147-A177-3AD203B41FA5}">
                      <a16:colId xmlns:a16="http://schemas.microsoft.com/office/drawing/2014/main" val="1009128860"/>
                    </a:ext>
                  </a:extLst>
                </a:gridCol>
                <a:gridCol w="477423">
                  <a:extLst>
                    <a:ext uri="{9D8B030D-6E8A-4147-A177-3AD203B41FA5}">
                      <a16:colId xmlns:a16="http://schemas.microsoft.com/office/drawing/2014/main" val="3099158441"/>
                    </a:ext>
                  </a:extLst>
                </a:gridCol>
                <a:gridCol w="596777">
                  <a:extLst>
                    <a:ext uri="{9D8B030D-6E8A-4147-A177-3AD203B41FA5}">
                      <a16:colId xmlns:a16="http://schemas.microsoft.com/office/drawing/2014/main" val="2655262212"/>
                    </a:ext>
                  </a:extLst>
                </a:gridCol>
                <a:gridCol w="664980">
                  <a:extLst>
                    <a:ext uri="{9D8B030D-6E8A-4147-A177-3AD203B41FA5}">
                      <a16:colId xmlns:a16="http://schemas.microsoft.com/office/drawing/2014/main" val="2417681028"/>
                    </a:ext>
                  </a:extLst>
                </a:gridCol>
                <a:gridCol w="711469">
                  <a:extLst>
                    <a:ext uri="{9D8B030D-6E8A-4147-A177-3AD203B41FA5}">
                      <a16:colId xmlns:a16="http://schemas.microsoft.com/office/drawing/2014/main" val="1627647887"/>
                    </a:ext>
                  </a:extLst>
                </a:gridCol>
                <a:gridCol w="1256083">
                  <a:extLst>
                    <a:ext uri="{9D8B030D-6E8A-4147-A177-3AD203B41FA5}">
                      <a16:colId xmlns:a16="http://schemas.microsoft.com/office/drawing/2014/main" val="272716697"/>
                    </a:ext>
                  </a:extLst>
                </a:gridCol>
                <a:gridCol w="1302572">
                  <a:extLst>
                    <a:ext uri="{9D8B030D-6E8A-4147-A177-3AD203B41FA5}">
                      <a16:colId xmlns:a16="http://schemas.microsoft.com/office/drawing/2014/main" val="396181544"/>
                    </a:ext>
                  </a:extLst>
                </a:gridCol>
                <a:gridCol w="1231284">
                  <a:extLst>
                    <a:ext uri="{9D8B030D-6E8A-4147-A177-3AD203B41FA5}">
                      <a16:colId xmlns:a16="http://schemas.microsoft.com/office/drawing/2014/main" val="1135783919"/>
                    </a:ext>
                  </a:extLst>
                </a:gridCol>
              </a:tblGrid>
              <a:tr h="42539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Activity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Duration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Schedule Start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Schedule Finish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UOM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Scope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Actual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Balance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Actual/ Forecast Start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Actual/ Forecast Finish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Remarks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095509"/>
                  </a:ext>
                </a:extLst>
              </a:tr>
              <a:tr h="2711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PSS-11 Priority 2 Progress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463122"/>
                  </a:ext>
                </a:extLst>
              </a:tr>
              <a:tr h="271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GIS Building Civil Work-Upto Slab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46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06-Mar-25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20-Apr-25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27-Mar-25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20-May-25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Completed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983715"/>
                  </a:ext>
                </a:extLst>
              </a:tr>
              <a:tr h="271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MCR Building Civil Work-Upto Slab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43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27-Feb-25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10-Apr-25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08-Mar-25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20-Jun-25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Completed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076569"/>
                  </a:ext>
                </a:extLst>
              </a:tr>
              <a:tr h="271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SGR - 01 Civil Work-Upto Slab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38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14-Mar-25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20-Apr-25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16-Mar-25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15-Sep-25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Completed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605299"/>
                  </a:ext>
                </a:extLst>
              </a:tr>
              <a:tr h="4519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Power Transformer - 01 &amp; 02 Civil Work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87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31-Mar-25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15-May-25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23-Mar-25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05-Oct-25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Completed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131955"/>
                  </a:ext>
                </a:extLst>
              </a:tr>
              <a:tr h="271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SVG Civil Work – Foundation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07-Mar-25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30-Apr-25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19-Jun-25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22-Aug-25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Completed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460796"/>
                  </a:ext>
                </a:extLst>
              </a:tr>
              <a:tr h="2802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Harmonic Filter Civil Work – Foundation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52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10-Mar-25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30-Apr-25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15-Jun-25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24-Jul-25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Completed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46365"/>
                  </a:ext>
                </a:extLst>
              </a:tr>
              <a:tr h="271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GIS &amp; MCR PEB Erection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38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24-Apr-25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31-May-25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26-May-25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25-Jul-25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Completed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282305"/>
                  </a:ext>
                </a:extLst>
              </a:tr>
              <a:tr h="271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SGR - 01 PEB Erection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29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28-Apr-25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05-Jun-25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21-Sep-25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29-Dec-25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Completed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1311971"/>
                  </a:ext>
                </a:extLst>
              </a:tr>
              <a:tr h="271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Power Transformer – 01&amp;02 Erection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21-Dec-25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04-Feb-26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18-Jul-25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33CC33"/>
                          </a:solidFill>
                          <a:effectLst/>
                          <a:latin typeface="+mj-lt"/>
                        </a:rPr>
                        <a:t>28-Feb-26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058181"/>
                  </a:ext>
                </a:extLst>
              </a:tr>
              <a:tr h="271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SGR - 01 Panel Erection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32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21-Jul-25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21-Aug-25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30-Oct-25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29-Dec-25</a:t>
                      </a: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61418"/>
                  </a:ext>
                </a:extLst>
              </a:tr>
              <a:tr h="42539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GIS Main Bay Area (Inside Building) – Erection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06-Jun-25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10-Jul-25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Bay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23-Jul-25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19-Sep-25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309547"/>
                  </a:ext>
                </a:extLst>
              </a:tr>
              <a:tr h="271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MCR Erection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57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14-May-25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09-Jul-25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17-Jul-25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06-Oct-25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Completed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278107"/>
                  </a:ext>
                </a:extLst>
              </a:tr>
              <a:tr h="38053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SVG - Erection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22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1-Jul-25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22-Jul-25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04-Jan-26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22-Mar-26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Completed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6670397"/>
                  </a:ext>
                </a:extLst>
              </a:tr>
              <a:tr h="271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Harmonic Filter - Erection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16-Jun-25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15-Jul-25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10-Jun-25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28-Jul-25</a:t>
                      </a: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Completed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945198"/>
                  </a:ext>
                </a:extLst>
              </a:tr>
              <a:tr h="27116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Gantry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28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04-Jun-25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01-Jul-25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Nos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10-Jun-25</a:t>
                      </a:r>
                      <a:endParaRPr lang="en-US" sz="1000" b="0" i="0" u="none" strike="sngStrike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17-Oct-26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Completed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819633"/>
                  </a:ext>
                </a:extLst>
              </a:tr>
              <a:tr h="67325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Testing &amp; ready for charging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21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11-Jul-25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31-Jul-25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Lot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74F6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13-Oct-25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03-Feb-26(P1)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23-May-26(P2)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808576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87035617-8C83-F8BA-E2E2-FDECDC4068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451" y="140840"/>
            <a:ext cx="11577483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algn="l" defTabSz="911377">
              <a:defRPr/>
            </a:pPr>
            <a:r>
              <a:rPr lang="en-IN" sz="2400" b="1">
                <a:gradFill>
                  <a:gsLst>
                    <a:gs pos="9735">
                      <a:srgbClr val="1F497D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</a:rPr>
              <a:t>Summary : PSS – 11</a:t>
            </a:r>
            <a:endParaRPr lang="en-US" sz="1000" b="1">
              <a:gradFill>
                <a:gsLst>
                  <a:gs pos="9735">
                    <a:srgbClr val="1F497D"/>
                  </a:gs>
                  <a:gs pos="63000">
                    <a:srgbClr val="8E278F"/>
                  </a:gs>
                  <a:gs pos="38000">
                    <a:srgbClr val="57499E"/>
                  </a:gs>
                </a:gsLst>
                <a:lin ang="0" scaled="0"/>
              </a:gra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5572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DC7F9-7750-0060-231B-70E6F11E2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C895D3-DCC2-3705-1201-AA74B67C6A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145735"/>
              </p:ext>
            </p:extLst>
          </p:nvPr>
        </p:nvGraphicFramePr>
        <p:xfrm>
          <a:off x="359046" y="634297"/>
          <a:ext cx="11473907" cy="5775128"/>
        </p:xfrm>
        <a:graphic>
          <a:graphicData uri="http://schemas.openxmlformats.org/drawingml/2006/table">
            <a:tbl>
              <a:tblPr/>
              <a:tblGrid>
                <a:gridCol w="2689454">
                  <a:extLst>
                    <a:ext uri="{9D8B030D-6E8A-4147-A177-3AD203B41FA5}">
                      <a16:colId xmlns:a16="http://schemas.microsoft.com/office/drawing/2014/main" val="1260295718"/>
                    </a:ext>
                  </a:extLst>
                </a:gridCol>
                <a:gridCol w="711920">
                  <a:extLst>
                    <a:ext uri="{9D8B030D-6E8A-4147-A177-3AD203B41FA5}">
                      <a16:colId xmlns:a16="http://schemas.microsoft.com/office/drawing/2014/main" val="3225633936"/>
                    </a:ext>
                  </a:extLst>
                </a:gridCol>
                <a:gridCol w="943062">
                  <a:extLst>
                    <a:ext uri="{9D8B030D-6E8A-4147-A177-3AD203B41FA5}">
                      <a16:colId xmlns:a16="http://schemas.microsoft.com/office/drawing/2014/main" val="4104106608"/>
                    </a:ext>
                  </a:extLst>
                </a:gridCol>
                <a:gridCol w="933816">
                  <a:extLst>
                    <a:ext uri="{9D8B030D-6E8A-4147-A177-3AD203B41FA5}">
                      <a16:colId xmlns:a16="http://schemas.microsoft.com/office/drawing/2014/main" val="1009128860"/>
                    </a:ext>
                  </a:extLst>
                </a:gridCol>
                <a:gridCol w="462286">
                  <a:extLst>
                    <a:ext uri="{9D8B030D-6E8A-4147-A177-3AD203B41FA5}">
                      <a16:colId xmlns:a16="http://schemas.microsoft.com/office/drawing/2014/main" val="3099158441"/>
                    </a:ext>
                  </a:extLst>
                </a:gridCol>
                <a:gridCol w="619462">
                  <a:extLst>
                    <a:ext uri="{9D8B030D-6E8A-4147-A177-3AD203B41FA5}">
                      <a16:colId xmlns:a16="http://schemas.microsoft.com/office/drawing/2014/main" val="2655262212"/>
                    </a:ext>
                  </a:extLst>
                </a:gridCol>
                <a:gridCol w="647199">
                  <a:extLst>
                    <a:ext uri="{9D8B030D-6E8A-4147-A177-3AD203B41FA5}">
                      <a16:colId xmlns:a16="http://schemas.microsoft.com/office/drawing/2014/main" val="2417681028"/>
                    </a:ext>
                  </a:extLst>
                </a:gridCol>
                <a:gridCol w="795131">
                  <a:extLst>
                    <a:ext uri="{9D8B030D-6E8A-4147-A177-3AD203B41FA5}">
                      <a16:colId xmlns:a16="http://schemas.microsoft.com/office/drawing/2014/main" val="1627647887"/>
                    </a:ext>
                  </a:extLst>
                </a:gridCol>
                <a:gridCol w="1266662">
                  <a:extLst>
                    <a:ext uri="{9D8B030D-6E8A-4147-A177-3AD203B41FA5}">
                      <a16:colId xmlns:a16="http://schemas.microsoft.com/office/drawing/2014/main" val="272716697"/>
                    </a:ext>
                  </a:extLst>
                </a:gridCol>
                <a:gridCol w="1266662">
                  <a:extLst>
                    <a:ext uri="{9D8B030D-6E8A-4147-A177-3AD203B41FA5}">
                      <a16:colId xmlns:a16="http://schemas.microsoft.com/office/drawing/2014/main" val="396181544"/>
                    </a:ext>
                  </a:extLst>
                </a:gridCol>
                <a:gridCol w="1138253">
                  <a:extLst>
                    <a:ext uri="{9D8B030D-6E8A-4147-A177-3AD203B41FA5}">
                      <a16:colId xmlns:a16="http://schemas.microsoft.com/office/drawing/2014/main" val="1135783919"/>
                    </a:ext>
                  </a:extLst>
                </a:gridCol>
              </a:tblGrid>
              <a:tr h="43013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Activity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Duration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Schedule Start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Schedule Finish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UOM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Scope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Actual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Balance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Actual/ Forecast Start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Actual/ Forecast Finish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Remarks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095509"/>
                  </a:ext>
                </a:extLst>
              </a:tr>
              <a:tr h="3074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PSS-11 Priority 2 Progress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463122"/>
                  </a:ext>
                </a:extLst>
              </a:tr>
              <a:tr h="29760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GIS Building Civil Work-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Upto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Slab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07-Mar-25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30-Apr-25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Lot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11-Apr-25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24-Jun-25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Completed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983715"/>
                  </a:ext>
                </a:extLst>
              </a:tr>
              <a:tr h="29760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MCR Building Civil Work-Upto Slab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01-Mar-25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17-Apr-25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Lot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12-Mar-25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28-Jul-25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Completed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076569"/>
                  </a:ext>
                </a:extLst>
              </a:tr>
              <a:tr h="29760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SGR - 02 Civil Work-Upto Slab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16-Mar-25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30-Apr-25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Lot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04-Apr-25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16-Oct-25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Completed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605299"/>
                  </a:ext>
                </a:extLst>
              </a:tr>
              <a:tr h="29760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Power Transformer – 03&amp;04 Civil Work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07-Apr-25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22-May-25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31-Mar-25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31-Oct-25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Completed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131955"/>
                  </a:ext>
                </a:extLst>
              </a:tr>
              <a:tr h="29760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SVG Civil Work – Foundation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11-Mar-25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04-May-25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10-Aug-25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29-Dec-25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Completed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460796"/>
                  </a:ext>
                </a:extLst>
              </a:tr>
              <a:tr h="29760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Harmonic Filter Civil Work – Foundation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14-Mar-25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04-May-25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28-Jul-25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16-Oct-25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Completed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46365"/>
                  </a:ext>
                </a:extLst>
              </a:tr>
              <a:tr h="29760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Firewall-02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01-Apr-25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16-May-25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01-Apr-25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11-Oct-25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Completed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285668"/>
                  </a:ext>
                </a:extLst>
              </a:tr>
              <a:tr h="29760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GIS &amp; MCR PEB Erection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07-May-25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21-Jun-25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Lot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29-Jul-25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15-Dec-25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282305"/>
                  </a:ext>
                </a:extLst>
              </a:tr>
              <a:tr h="29760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Power Transformer –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03&amp;04 </a:t>
                      </a: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Erection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25-Jun-25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29-Jul-25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06-Sep-25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 baseline="0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29-May-26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Completed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058181"/>
                  </a:ext>
                </a:extLst>
              </a:tr>
              <a:tr h="29760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GIS Main Bay Area (Inside Building) – Erection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07-Jul-25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08-Aug-25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Bays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06-Nov-25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04-Dec-25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8028739"/>
                  </a:ext>
                </a:extLst>
              </a:tr>
              <a:tr h="29760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MCR Erection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18-Jun-25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23-Jul-25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Lot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14-Oct-25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28-Dec-25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220742"/>
                  </a:ext>
                </a:extLst>
              </a:tr>
              <a:tr h="44013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SVG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01-Aug-25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22-Aug-25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15-Jan-26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06-Mar-26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Completed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22048"/>
                  </a:ext>
                </a:extLst>
              </a:tr>
              <a:tr h="59601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Harmonic Filter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16-Jul-25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15-Aug-25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23-Aug-25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09-Jun-26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IN" sz="1000" b="0" i="0" kern="1200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Completed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186524"/>
                  </a:ext>
                </a:extLst>
              </a:tr>
              <a:tr h="29760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Gantry- Erection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03-Jun-25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23-Jun-25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05-Nov-25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baseline="0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17-Dec-25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5092127"/>
                  </a:ext>
                </a:extLst>
              </a:tr>
              <a:tr h="43013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Testing &amp; ready for charging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09-Aug-25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31-Aug-25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Lot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0.5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17-Dec-25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11-Mar-26(P1)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10-Jun-26(P2)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Completed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218074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40327937-AB9D-FFCE-237F-3F5736B86C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451" y="140840"/>
            <a:ext cx="11577483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algn="l" defTabSz="911377">
              <a:defRPr/>
            </a:pPr>
            <a:r>
              <a:rPr lang="en-IN" sz="2400" b="1">
                <a:gradFill>
                  <a:gsLst>
                    <a:gs pos="9735">
                      <a:srgbClr val="1F497D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</a:rPr>
              <a:t>Summary : PSS – 12</a:t>
            </a:r>
            <a:endParaRPr lang="en-US" sz="1000" b="1">
              <a:gradFill>
                <a:gsLst>
                  <a:gs pos="9735">
                    <a:srgbClr val="1F497D"/>
                  </a:gs>
                  <a:gs pos="63000">
                    <a:srgbClr val="8E278F"/>
                  </a:gs>
                  <a:gs pos="38000">
                    <a:srgbClr val="57499E"/>
                  </a:gs>
                </a:gsLst>
                <a:lin ang="0" scaled="0"/>
              </a:gra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75231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75505-DC46-53E8-E114-30B317D44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63901D-AA82-7DFE-65AB-DE58641B8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653338"/>
              </p:ext>
            </p:extLst>
          </p:nvPr>
        </p:nvGraphicFramePr>
        <p:xfrm>
          <a:off x="345056" y="654789"/>
          <a:ext cx="11381507" cy="6077504"/>
        </p:xfrm>
        <a:graphic>
          <a:graphicData uri="http://schemas.openxmlformats.org/drawingml/2006/table">
            <a:tbl>
              <a:tblPr/>
              <a:tblGrid>
                <a:gridCol w="2702277">
                  <a:extLst>
                    <a:ext uri="{9D8B030D-6E8A-4147-A177-3AD203B41FA5}">
                      <a16:colId xmlns:a16="http://schemas.microsoft.com/office/drawing/2014/main" val="1260295718"/>
                    </a:ext>
                  </a:extLst>
                </a:gridCol>
                <a:gridCol w="662534">
                  <a:extLst>
                    <a:ext uri="{9D8B030D-6E8A-4147-A177-3AD203B41FA5}">
                      <a16:colId xmlns:a16="http://schemas.microsoft.com/office/drawing/2014/main" val="3225633936"/>
                    </a:ext>
                  </a:extLst>
                </a:gridCol>
                <a:gridCol w="953811">
                  <a:extLst>
                    <a:ext uri="{9D8B030D-6E8A-4147-A177-3AD203B41FA5}">
                      <a16:colId xmlns:a16="http://schemas.microsoft.com/office/drawing/2014/main" val="4104106608"/>
                    </a:ext>
                  </a:extLst>
                </a:gridCol>
                <a:gridCol w="926296">
                  <a:extLst>
                    <a:ext uri="{9D8B030D-6E8A-4147-A177-3AD203B41FA5}">
                      <a16:colId xmlns:a16="http://schemas.microsoft.com/office/drawing/2014/main" val="1009128860"/>
                    </a:ext>
                  </a:extLst>
                </a:gridCol>
                <a:gridCol w="513590">
                  <a:extLst>
                    <a:ext uri="{9D8B030D-6E8A-4147-A177-3AD203B41FA5}">
                      <a16:colId xmlns:a16="http://schemas.microsoft.com/office/drawing/2014/main" val="3099158441"/>
                    </a:ext>
                  </a:extLst>
                </a:gridCol>
                <a:gridCol w="614474">
                  <a:extLst>
                    <a:ext uri="{9D8B030D-6E8A-4147-A177-3AD203B41FA5}">
                      <a16:colId xmlns:a16="http://schemas.microsoft.com/office/drawing/2014/main" val="2655262212"/>
                    </a:ext>
                  </a:extLst>
                </a:gridCol>
                <a:gridCol w="632816">
                  <a:extLst>
                    <a:ext uri="{9D8B030D-6E8A-4147-A177-3AD203B41FA5}">
                      <a16:colId xmlns:a16="http://schemas.microsoft.com/office/drawing/2014/main" val="2417681028"/>
                    </a:ext>
                  </a:extLst>
                </a:gridCol>
                <a:gridCol w="797899">
                  <a:extLst>
                    <a:ext uri="{9D8B030D-6E8A-4147-A177-3AD203B41FA5}">
                      <a16:colId xmlns:a16="http://schemas.microsoft.com/office/drawing/2014/main" val="1627647887"/>
                    </a:ext>
                  </a:extLst>
                </a:gridCol>
                <a:gridCol w="1238119">
                  <a:extLst>
                    <a:ext uri="{9D8B030D-6E8A-4147-A177-3AD203B41FA5}">
                      <a16:colId xmlns:a16="http://schemas.microsoft.com/office/drawing/2014/main" val="272716697"/>
                    </a:ext>
                  </a:extLst>
                </a:gridCol>
                <a:gridCol w="1228947">
                  <a:extLst>
                    <a:ext uri="{9D8B030D-6E8A-4147-A177-3AD203B41FA5}">
                      <a16:colId xmlns:a16="http://schemas.microsoft.com/office/drawing/2014/main" val="396181544"/>
                    </a:ext>
                  </a:extLst>
                </a:gridCol>
                <a:gridCol w="1110744">
                  <a:extLst>
                    <a:ext uri="{9D8B030D-6E8A-4147-A177-3AD203B41FA5}">
                      <a16:colId xmlns:a16="http://schemas.microsoft.com/office/drawing/2014/main" val="1135783919"/>
                    </a:ext>
                  </a:extLst>
                </a:gridCol>
              </a:tblGrid>
              <a:tr h="46618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Activity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Duration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Schedule Start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Schedule Finish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UOM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Scope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Actual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Balance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Actual/ Forecast Start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Actual/ Forecast Finish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Remarks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095509"/>
                  </a:ext>
                </a:extLst>
              </a:tr>
              <a:tr h="3332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PSS-14 Priority 3 Progress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463122"/>
                  </a:ext>
                </a:extLst>
              </a:tr>
              <a:tr h="29715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GIS Building Civil Work-Upto Slab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07-Apr-25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30-May-25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01-Jun-25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07-Nov-25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983715"/>
                  </a:ext>
                </a:extLst>
              </a:tr>
              <a:tr h="29715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MCR Building Civil Work-Upto Slab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05-Apr-25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08-Jun-25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02-Apr-25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11-Oct-25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076569"/>
                  </a:ext>
                </a:extLst>
              </a:tr>
              <a:tr h="29715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SGR - 03 Civil Work-Upto Slab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>
                          <a:latin typeface="Adani Regular" panose="02000503000000020004" pitchFamily="2" charset="0"/>
                        </a:rPr>
                        <a:t>22-Apr-25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>
                          <a:latin typeface="Adani Regular" panose="02000503000000020004" pitchFamily="2" charset="0"/>
                        </a:rPr>
                        <a:t>15-Jun-25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6-Aug-25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Adani Regular"/>
                        </a:rPr>
                        <a:t>29-Apr-26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605299"/>
                  </a:ext>
                </a:extLst>
              </a:tr>
              <a:tr h="36506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Power Transformer – 05&amp;06 Civil Work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15-Sep-25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14-Nov-25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16-Jul-25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21-Feb-26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131955"/>
                  </a:ext>
                </a:extLst>
              </a:tr>
              <a:tr h="29715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SVG Civil Work (Exc. Fencing)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29-Jul-25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05-Dec-25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25-May-26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14-Jul-26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  <a:endParaRPr lang="en-US" sz="1000" b="0" i="0" u="none" strike="noStrike" kern="1200">
                        <a:solidFill>
                          <a:srgbClr val="00B05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460796"/>
                  </a:ext>
                </a:extLst>
              </a:tr>
              <a:tr h="36077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Harmonic Filter Civil Work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01-Aug-25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06-Jan-26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70C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70C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23-Sep-26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 </a:t>
                      </a: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46365"/>
                  </a:ext>
                </a:extLst>
              </a:tr>
              <a:tr h="2971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Firewall-03</a:t>
                      </a:r>
                    </a:p>
                  </a:txBody>
                  <a:tcPr marL="45720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26-Oct-25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10-Jan-26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16-Oct-25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29-Apr-26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314508"/>
                  </a:ext>
                </a:extLst>
              </a:tr>
              <a:tr h="29715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GIS &amp; MCR PEB Erection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06-Jun-25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15-Jul-25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03-Nov-25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17-Jan-26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282305"/>
                  </a:ext>
                </a:extLst>
              </a:tr>
              <a:tr h="29715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SGR - 03 PEB Erection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22-Jun-25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26-Jul-25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Adani Regular"/>
                        </a:rPr>
                        <a:t>09-May-26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24-Jun-26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058181"/>
                  </a:ext>
                </a:extLst>
              </a:tr>
              <a:tr h="29715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Power Transformer – </a:t>
                      </a: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05&amp;06 </a:t>
                      </a: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Erection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16-Feb-25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22-Mar-25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31-Jan-26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20-Aug-26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325337"/>
                  </a:ext>
                </a:extLst>
              </a:tr>
              <a:tr h="29715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SGR - 03 Panel Erection</a:t>
                      </a:r>
                    </a:p>
                  </a:txBody>
                  <a:tcPr marL="45720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17-dec-25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29-Jan-26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Sets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26-May-26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70C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10-Sep-26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Testing WIP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937204"/>
                  </a:ext>
                </a:extLst>
              </a:tr>
              <a:tr h="32050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GIS Main Bay Area (Inside Building) – Erection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01-Aug-25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14-Sep-25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Bays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28-Dec-25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28-Jan-26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2380391"/>
                  </a:ext>
                </a:extLst>
              </a:tr>
              <a:tr h="29715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MCR Panel Erection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13-Aug-25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24-Sep-25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05-Dec-25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33CC33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10-Feb-26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921211"/>
                  </a:ext>
                </a:extLst>
              </a:tr>
              <a:tr h="32050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SVG</a:t>
                      </a:r>
                    </a:p>
                  </a:txBody>
                  <a:tcPr marL="45720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11-Nov-25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01-Dec-25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70C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20-Sep-26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70C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10-Oct-26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 kern="1200">
                        <a:solidFill>
                          <a:srgbClr val="00B05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720572"/>
                  </a:ext>
                </a:extLst>
              </a:tr>
              <a:tr h="32050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Harmonic Filter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8-Dec-25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5-Jan-26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17-Sep-26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18-Oct-26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US" sz="1000" b="0" i="0" u="none" strike="noStrike" kern="1200">
                        <a:solidFill>
                          <a:srgbClr val="00B05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266965"/>
                  </a:ext>
                </a:extLst>
              </a:tr>
              <a:tr h="60399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Testing &amp; ready for charging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22-Mar-26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31-Mar-26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Lot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33CC33"/>
                          </a:solidFill>
                          <a:effectLst/>
                          <a:latin typeface="+mj-lt"/>
                        </a:rPr>
                        <a:t>01-Mar-26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24-Mar-26(P1)</a:t>
                      </a:r>
                    </a:p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20-Jul-26(P2)</a:t>
                      </a:r>
                    </a:p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21-Oct-26(P3)</a:t>
                      </a:r>
                    </a:p>
                    <a:p>
                      <a:pPr algn="ctr" rtl="0" fontAlgn="ctr"/>
                      <a:endParaRPr lang="en-US" sz="10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P1 Charged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P2 Charged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750445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F32CA41A-FD5A-353F-6F14-AC4C63A93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451" y="140840"/>
            <a:ext cx="11577483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algn="l" defTabSz="911377">
              <a:defRPr/>
            </a:pPr>
            <a:r>
              <a:rPr lang="en-IN" sz="2400" b="1">
                <a:gradFill>
                  <a:gsLst>
                    <a:gs pos="9735">
                      <a:srgbClr val="1F497D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</a:rPr>
              <a:t>Summary : PSS – 14</a:t>
            </a:r>
            <a:endParaRPr lang="en-US" sz="1000" b="1">
              <a:gradFill>
                <a:gsLst>
                  <a:gs pos="9735">
                    <a:srgbClr val="1F497D"/>
                  </a:gs>
                  <a:gs pos="63000">
                    <a:srgbClr val="8E278F"/>
                  </a:gs>
                  <a:gs pos="38000">
                    <a:srgbClr val="57499E"/>
                  </a:gs>
                </a:gsLst>
                <a:lin ang="0" scaled="0"/>
              </a:gra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80705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6481E-306C-E8BA-CE05-0E588F31B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6623BE-1DFB-E116-191F-BB8BF04BC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209602"/>
              </p:ext>
            </p:extLst>
          </p:nvPr>
        </p:nvGraphicFramePr>
        <p:xfrm>
          <a:off x="345056" y="654788"/>
          <a:ext cx="11577482" cy="5344890"/>
        </p:xfrm>
        <a:graphic>
          <a:graphicData uri="http://schemas.openxmlformats.org/drawingml/2006/table">
            <a:tbl>
              <a:tblPr/>
              <a:tblGrid>
                <a:gridCol w="2748807">
                  <a:extLst>
                    <a:ext uri="{9D8B030D-6E8A-4147-A177-3AD203B41FA5}">
                      <a16:colId xmlns:a16="http://schemas.microsoft.com/office/drawing/2014/main" val="1260295718"/>
                    </a:ext>
                  </a:extLst>
                </a:gridCol>
                <a:gridCol w="673942">
                  <a:extLst>
                    <a:ext uri="{9D8B030D-6E8A-4147-A177-3AD203B41FA5}">
                      <a16:colId xmlns:a16="http://schemas.microsoft.com/office/drawing/2014/main" val="3225633936"/>
                    </a:ext>
                  </a:extLst>
                </a:gridCol>
                <a:gridCol w="970234">
                  <a:extLst>
                    <a:ext uri="{9D8B030D-6E8A-4147-A177-3AD203B41FA5}">
                      <a16:colId xmlns:a16="http://schemas.microsoft.com/office/drawing/2014/main" val="4104106608"/>
                    </a:ext>
                  </a:extLst>
                </a:gridCol>
                <a:gridCol w="942246">
                  <a:extLst>
                    <a:ext uri="{9D8B030D-6E8A-4147-A177-3AD203B41FA5}">
                      <a16:colId xmlns:a16="http://schemas.microsoft.com/office/drawing/2014/main" val="1009128860"/>
                    </a:ext>
                  </a:extLst>
                </a:gridCol>
                <a:gridCol w="522433">
                  <a:extLst>
                    <a:ext uri="{9D8B030D-6E8A-4147-A177-3AD203B41FA5}">
                      <a16:colId xmlns:a16="http://schemas.microsoft.com/office/drawing/2014/main" val="3099158441"/>
                    </a:ext>
                  </a:extLst>
                </a:gridCol>
                <a:gridCol w="625054">
                  <a:extLst>
                    <a:ext uri="{9D8B030D-6E8A-4147-A177-3AD203B41FA5}">
                      <a16:colId xmlns:a16="http://schemas.microsoft.com/office/drawing/2014/main" val="2655262212"/>
                    </a:ext>
                  </a:extLst>
                </a:gridCol>
                <a:gridCol w="643712">
                  <a:extLst>
                    <a:ext uri="{9D8B030D-6E8A-4147-A177-3AD203B41FA5}">
                      <a16:colId xmlns:a16="http://schemas.microsoft.com/office/drawing/2014/main" val="2417681028"/>
                    </a:ext>
                  </a:extLst>
                </a:gridCol>
                <a:gridCol w="811638">
                  <a:extLst>
                    <a:ext uri="{9D8B030D-6E8A-4147-A177-3AD203B41FA5}">
                      <a16:colId xmlns:a16="http://schemas.microsoft.com/office/drawing/2014/main" val="1627647887"/>
                    </a:ext>
                  </a:extLst>
                </a:gridCol>
                <a:gridCol w="1259438">
                  <a:extLst>
                    <a:ext uri="{9D8B030D-6E8A-4147-A177-3AD203B41FA5}">
                      <a16:colId xmlns:a16="http://schemas.microsoft.com/office/drawing/2014/main" val="272716697"/>
                    </a:ext>
                  </a:extLst>
                </a:gridCol>
                <a:gridCol w="1250108">
                  <a:extLst>
                    <a:ext uri="{9D8B030D-6E8A-4147-A177-3AD203B41FA5}">
                      <a16:colId xmlns:a16="http://schemas.microsoft.com/office/drawing/2014/main" val="396181544"/>
                    </a:ext>
                  </a:extLst>
                </a:gridCol>
                <a:gridCol w="1129870">
                  <a:extLst>
                    <a:ext uri="{9D8B030D-6E8A-4147-A177-3AD203B41FA5}">
                      <a16:colId xmlns:a16="http://schemas.microsoft.com/office/drawing/2014/main" val="113578391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Activity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Duration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Schedule Start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Schedule Finish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UOM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Scope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Actual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Balance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Actual/ Forecast Start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Actual/ Forecast Finish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Remarks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0955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PSS-07 Priority 1 Progress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46312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GIS Building Civil Work-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Upto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Slab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15-Oct-25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01-Dec-25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24-Jun-25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10-Feb-26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9837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MCR Building Civil Work-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Upto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Slab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19-Oct-25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30-Nov-25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28-Mar-25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28-Jan-26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07656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SGR Civil Work-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Upto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Slab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01-Oct-25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14-Nov-25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6-Apr-25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05-Jan-26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60529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Power Transformer – 03&amp;04 Civil Work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18-Oct-26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18-Nov-26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08-Aug-26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12-Mar-26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13195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SVG Civil Work (Exc. Fencing)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09-Oct-25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09-Nov-25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01-Apr-26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17-Jun-26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46079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Harmonic Filter Civil Work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05-Nov-25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04-Dec-25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16-Feb-26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30-May-26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 </a:t>
                      </a: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4636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Firewall-02</a:t>
                      </a:r>
                    </a:p>
                  </a:txBody>
                  <a:tcPr marL="45720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28-Oct-25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12-Dec-25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09-Aug-25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05-Jun-26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  <a:endParaRPr lang="en-US" sz="1000" b="0" i="0" u="none" strike="noStrike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3145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GIS &amp; MCR PEB Erection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04-Dec-25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07-Jan-26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09-Feb-26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30-Jun-26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 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  <a:endParaRPr lang="en-US" sz="1000" b="0" i="0" u="none" strike="noStrike" kern="120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2823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SGR - 02 PEB Erection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21-Nov-25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06-Jan-26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02-Feb-26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23-May-26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05818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Power Transformer – </a:t>
                      </a: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03&amp;04 </a:t>
                      </a: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Erection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29-Jan-26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11-Mar-26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10-Feb-26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21-Aug-26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32533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SGR - 02 Panel Erection</a:t>
                      </a:r>
                    </a:p>
                  </a:txBody>
                  <a:tcPr marL="45720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2-Jan-26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06-Feb-26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Sets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09-Apr-26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12-Aug-26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9372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GIS Main Bay Area (Inside Building) – Erection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27-Jan-26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11-Mar-26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Bays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07-May-26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19-Jun-26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238039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MCR Panel Erection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25-Jan-26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08-Apr-26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22-Feb-26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70C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Erection Completed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Testing WIP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9212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SVG</a:t>
                      </a:r>
                    </a:p>
                  </a:txBody>
                  <a:tcPr marL="45720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17-feb-26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14-apr-26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12-May-26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70C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21-Sep-26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Erection Completed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Testing WIP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72057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Harmonic Filter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10-Mar-26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10-Apr-26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03-Jun-26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70C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12-Sep-26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US" sz="1000" b="0" i="0" u="none" strike="noStrike" kern="1200">
                        <a:solidFill>
                          <a:srgbClr val="00B05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26696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Testing &amp; ready for charging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18-Mar-26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15-Apr-26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22-Jun-26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IN" sz="1000" b="0" i="0" u="none" strike="noStrike" kern="1200">
                          <a:solidFill>
                            <a:srgbClr val="0070C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25-Sep-26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0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750445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80029AD2-C5BB-9BF3-08D7-38CEE0401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451" y="140840"/>
            <a:ext cx="11577483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algn="l" defTabSz="911377">
              <a:defRPr/>
            </a:pPr>
            <a:r>
              <a:rPr lang="en-IN" sz="2400" b="1">
                <a:gradFill>
                  <a:gsLst>
                    <a:gs pos="9735">
                      <a:srgbClr val="1F497D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</a:rPr>
              <a:t>Summary : PSS – 07</a:t>
            </a:r>
            <a:endParaRPr lang="en-US" sz="1000" b="1">
              <a:gradFill>
                <a:gsLst>
                  <a:gs pos="9735">
                    <a:srgbClr val="1F497D"/>
                  </a:gs>
                  <a:gs pos="63000">
                    <a:srgbClr val="8E278F"/>
                  </a:gs>
                  <a:gs pos="38000">
                    <a:srgbClr val="57499E"/>
                  </a:gs>
                </a:gsLst>
                <a:lin ang="0" scaled="0"/>
              </a:gra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6194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17E70-21FC-98A9-E910-6BDDA05AB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E491BD-456A-2DC5-AC26-175B2CA28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363799"/>
              </p:ext>
            </p:extLst>
          </p:nvPr>
        </p:nvGraphicFramePr>
        <p:xfrm>
          <a:off x="345055" y="654788"/>
          <a:ext cx="11393864" cy="6047156"/>
        </p:xfrm>
        <a:graphic>
          <a:graphicData uri="http://schemas.openxmlformats.org/drawingml/2006/table">
            <a:tbl>
              <a:tblPr/>
              <a:tblGrid>
                <a:gridCol w="2705211">
                  <a:extLst>
                    <a:ext uri="{9D8B030D-6E8A-4147-A177-3AD203B41FA5}">
                      <a16:colId xmlns:a16="http://schemas.microsoft.com/office/drawing/2014/main" val="1260295718"/>
                    </a:ext>
                  </a:extLst>
                </a:gridCol>
                <a:gridCol w="663253">
                  <a:extLst>
                    <a:ext uri="{9D8B030D-6E8A-4147-A177-3AD203B41FA5}">
                      <a16:colId xmlns:a16="http://schemas.microsoft.com/office/drawing/2014/main" val="3225633936"/>
                    </a:ext>
                  </a:extLst>
                </a:gridCol>
                <a:gridCol w="954846">
                  <a:extLst>
                    <a:ext uri="{9D8B030D-6E8A-4147-A177-3AD203B41FA5}">
                      <a16:colId xmlns:a16="http://schemas.microsoft.com/office/drawing/2014/main" val="4104106608"/>
                    </a:ext>
                  </a:extLst>
                </a:gridCol>
                <a:gridCol w="927302">
                  <a:extLst>
                    <a:ext uri="{9D8B030D-6E8A-4147-A177-3AD203B41FA5}">
                      <a16:colId xmlns:a16="http://schemas.microsoft.com/office/drawing/2014/main" val="1009128860"/>
                    </a:ext>
                  </a:extLst>
                </a:gridCol>
                <a:gridCol w="514148">
                  <a:extLst>
                    <a:ext uri="{9D8B030D-6E8A-4147-A177-3AD203B41FA5}">
                      <a16:colId xmlns:a16="http://schemas.microsoft.com/office/drawing/2014/main" val="3099158441"/>
                    </a:ext>
                  </a:extLst>
                </a:gridCol>
                <a:gridCol w="615141">
                  <a:extLst>
                    <a:ext uri="{9D8B030D-6E8A-4147-A177-3AD203B41FA5}">
                      <a16:colId xmlns:a16="http://schemas.microsoft.com/office/drawing/2014/main" val="2655262212"/>
                    </a:ext>
                  </a:extLst>
                </a:gridCol>
                <a:gridCol w="633503">
                  <a:extLst>
                    <a:ext uri="{9D8B030D-6E8A-4147-A177-3AD203B41FA5}">
                      <a16:colId xmlns:a16="http://schemas.microsoft.com/office/drawing/2014/main" val="2417681028"/>
                    </a:ext>
                  </a:extLst>
                </a:gridCol>
                <a:gridCol w="798766">
                  <a:extLst>
                    <a:ext uri="{9D8B030D-6E8A-4147-A177-3AD203B41FA5}">
                      <a16:colId xmlns:a16="http://schemas.microsoft.com/office/drawing/2014/main" val="1627647887"/>
                    </a:ext>
                  </a:extLst>
                </a:gridCol>
                <a:gridCol w="1239463">
                  <a:extLst>
                    <a:ext uri="{9D8B030D-6E8A-4147-A177-3AD203B41FA5}">
                      <a16:colId xmlns:a16="http://schemas.microsoft.com/office/drawing/2014/main" val="272716697"/>
                    </a:ext>
                  </a:extLst>
                </a:gridCol>
                <a:gridCol w="1224822">
                  <a:extLst>
                    <a:ext uri="{9D8B030D-6E8A-4147-A177-3AD203B41FA5}">
                      <a16:colId xmlns:a16="http://schemas.microsoft.com/office/drawing/2014/main" val="396181544"/>
                    </a:ext>
                  </a:extLst>
                </a:gridCol>
                <a:gridCol w="1117409">
                  <a:extLst>
                    <a:ext uri="{9D8B030D-6E8A-4147-A177-3AD203B41FA5}">
                      <a16:colId xmlns:a16="http://schemas.microsoft.com/office/drawing/2014/main" val="1135783919"/>
                    </a:ext>
                  </a:extLst>
                </a:gridCol>
              </a:tblGrid>
              <a:tr h="4865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Activity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Duration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Schedule Start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Schedule Finish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UOM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Scope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Actual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Balance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Actual/ Forecast Start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Actual/ Forecast Finish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Remarks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095509"/>
                  </a:ext>
                </a:extLst>
              </a:tr>
              <a:tr h="3477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NHPC PSS Progress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463122"/>
                  </a:ext>
                </a:extLst>
              </a:tr>
              <a:tr h="31010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GIS Building Civil Work-Upto Slab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15-Jan-26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27-Feb-26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27-Dec-25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23-Mar-26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983715"/>
                  </a:ext>
                </a:extLst>
              </a:tr>
              <a:tr h="31010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MCR Building Civil Work-Upto Slab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24-Jan-26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12-Mar-26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27-Dec-25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24-Apr-26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076569"/>
                  </a:ext>
                </a:extLst>
              </a:tr>
              <a:tr h="31010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SGR Civil Work-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Upto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Slab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24-Jan-26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06-Mar-26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28-Dec-25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11-Jun-26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605299"/>
                  </a:ext>
                </a:extLst>
              </a:tr>
              <a:tr h="38097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Power Transformer – 01&amp;02 Civil Work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26-Jan-26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18-Feb-26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30-Dec-25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25-Jul-26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131955"/>
                  </a:ext>
                </a:extLst>
              </a:tr>
              <a:tr h="32654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SVG Civil Work (Exc. Fencing)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14-Jan-26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07-Feb-26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20-Feb-26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31-Jul-26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460796"/>
                  </a:ext>
                </a:extLst>
              </a:tr>
              <a:tr h="37649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Harmonic Filter Civil Work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24-Jan-26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18-Feb-26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22-Feb-26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18-May-26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 </a:t>
                      </a: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46365"/>
                  </a:ext>
                </a:extLst>
              </a:tr>
              <a:tr h="31010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GIS &amp; MCR PEB Erection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02-Mar-26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26-Apr-26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1.89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28-Apr-26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282305"/>
                  </a:ext>
                </a:extLst>
              </a:tr>
              <a:tr h="31010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SGR -  PEB Erection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17-Mar-26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16-Apr-26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0.92</a:t>
                      </a:r>
                      <a:endParaRPr lang="en-IN" sz="1000" b="0" i="0" u="none" strike="noStrike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11-Jun-26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10-Sep-26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058181"/>
                  </a:ext>
                </a:extLst>
              </a:tr>
              <a:tr h="31010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Power Transformer – </a:t>
                      </a: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01</a:t>
                      </a: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Erection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16-May-26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05-Jun-26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27-Jul-26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16-Sep-26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325337"/>
                  </a:ext>
                </a:extLst>
              </a:tr>
              <a:tr h="31010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Power Transformer – </a:t>
                      </a: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02</a:t>
                      </a: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Erection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26-May-26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10-Jun-26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29-Aug-26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02-Oct-26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987818"/>
                  </a:ext>
                </a:extLst>
              </a:tr>
              <a:tr h="31010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SGR - Panel Erection</a:t>
                      </a:r>
                    </a:p>
                  </a:txBody>
                  <a:tcPr marL="45720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13-Mar-26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20-Apr-26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14-Jul-26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10-Sep-26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937204"/>
                  </a:ext>
                </a:extLst>
              </a:tr>
              <a:tr h="33446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GIS Main Bay Area (Inside Building) – Erection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05-Apr-26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10-May-26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Bays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24-Jun-26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21-Aug-26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  <a:endParaRPr lang="en-US" sz="1000" b="0" i="0" u="none" strike="noStrike" kern="1200">
                        <a:solidFill>
                          <a:srgbClr val="0070C0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2380391"/>
                  </a:ext>
                </a:extLst>
              </a:tr>
              <a:tr h="31010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MCR Panel Erection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10-Apr-26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01-Jun-26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0.13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25-Jul-26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70C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26-Sep-26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i="0" u="none" strike="noStrike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921211"/>
                  </a:ext>
                </a:extLst>
              </a:tr>
              <a:tr h="33446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SVG</a:t>
                      </a:r>
                    </a:p>
                  </a:txBody>
                  <a:tcPr marL="45720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27-May-26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09-Jun-26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70C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70C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07-Oct-26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 kern="1200">
                        <a:solidFill>
                          <a:srgbClr val="00B05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720572"/>
                  </a:ext>
                </a:extLst>
              </a:tr>
              <a:tr h="33446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Harmonic Filter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01-May-26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31-May-26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16-Apr-26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28-Sep-26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Testing yet to be started</a:t>
                      </a:r>
                      <a:endParaRPr lang="en-US" sz="1000" b="0" i="0" u="none" strike="noStrike" kern="1200">
                        <a:solidFill>
                          <a:srgbClr val="0070C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266965"/>
                  </a:ext>
                </a:extLst>
              </a:tr>
              <a:tr h="33446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Testing &amp; ready for charging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03-Jun-26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15-Jun-26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28-Sep-26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14-Oct-26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P1(14-Oct-26)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P2(25-Oct-26)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750445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2FA70E1B-C3DC-6D57-8C88-8D56FEAA5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451" y="140840"/>
            <a:ext cx="11577483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algn="l" defTabSz="911377">
              <a:defRPr/>
            </a:pPr>
            <a:r>
              <a:rPr lang="en-IN" sz="2400" b="1">
                <a:gradFill>
                  <a:gsLst>
                    <a:gs pos="9735">
                      <a:srgbClr val="1F497D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</a:rPr>
              <a:t>Summary : NHPC PSS</a:t>
            </a:r>
            <a:endParaRPr lang="en-US" sz="1000" b="1">
              <a:gradFill>
                <a:gsLst>
                  <a:gs pos="9735">
                    <a:srgbClr val="1F497D"/>
                  </a:gs>
                  <a:gs pos="63000">
                    <a:srgbClr val="8E278F"/>
                  </a:gs>
                  <a:gs pos="38000">
                    <a:srgbClr val="57499E"/>
                  </a:gs>
                </a:gsLst>
                <a:lin ang="0" scaled="0"/>
              </a:gra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84941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A5FC5-099D-6F0F-94CC-1030393CF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F54908-4858-C09A-2B13-6B3CC1BC0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921608"/>
              </p:ext>
            </p:extLst>
          </p:nvPr>
        </p:nvGraphicFramePr>
        <p:xfrm>
          <a:off x="345056" y="654788"/>
          <a:ext cx="11235336" cy="6030722"/>
        </p:xfrm>
        <a:graphic>
          <a:graphicData uri="http://schemas.openxmlformats.org/drawingml/2006/table">
            <a:tbl>
              <a:tblPr/>
              <a:tblGrid>
                <a:gridCol w="2667572">
                  <a:extLst>
                    <a:ext uri="{9D8B030D-6E8A-4147-A177-3AD203B41FA5}">
                      <a16:colId xmlns:a16="http://schemas.microsoft.com/office/drawing/2014/main" val="1260295718"/>
                    </a:ext>
                  </a:extLst>
                </a:gridCol>
                <a:gridCol w="654025">
                  <a:extLst>
                    <a:ext uri="{9D8B030D-6E8A-4147-A177-3AD203B41FA5}">
                      <a16:colId xmlns:a16="http://schemas.microsoft.com/office/drawing/2014/main" val="3225633936"/>
                    </a:ext>
                  </a:extLst>
                </a:gridCol>
                <a:gridCol w="941561">
                  <a:extLst>
                    <a:ext uri="{9D8B030D-6E8A-4147-A177-3AD203B41FA5}">
                      <a16:colId xmlns:a16="http://schemas.microsoft.com/office/drawing/2014/main" val="410410660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009128860"/>
                    </a:ext>
                  </a:extLst>
                </a:gridCol>
                <a:gridCol w="506994">
                  <a:extLst>
                    <a:ext uri="{9D8B030D-6E8A-4147-A177-3AD203B41FA5}">
                      <a16:colId xmlns:a16="http://schemas.microsoft.com/office/drawing/2014/main" val="3099158441"/>
                    </a:ext>
                  </a:extLst>
                </a:gridCol>
                <a:gridCol w="606582">
                  <a:extLst>
                    <a:ext uri="{9D8B030D-6E8A-4147-A177-3AD203B41FA5}">
                      <a16:colId xmlns:a16="http://schemas.microsoft.com/office/drawing/2014/main" val="2655262212"/>
                    </a:ext>
                  </a:extLst>
                </a:gridCol>
                <a:gridCol w="624689">
                  <a:extLst>
                    <a:ext uri="{9D8B030D-6E8A-4147-A177-3AD203B41FA5}">
                      <a16:colId xmlns:a16="http://schemas.microsoft.com/office/drawing/2014/main" val="2417681028"/>
                    </a:ext>
                  </a:extLst>
                </a:gridCol>
                <a:gridCol w="787652">
                  <a:extLst>
                    <a:ext uri="{9D8B030D-6E8A-4147-A177-3AD203B41FA5}">
                      <a16:colId xmlns:a16="http://schemas.microsoft.com/office/drawing/2014/main" val="1627647887"/>
                    </a:ext>
                  </a:extLst>
                </a:gridCol>
                <a:gridCol w="1222218">
                  <a:extLst>
                    <a:ext uri="{9D8B030D-6E8A-4147-A177-3AD203B41FA5}">
                      <a16:colId xmlns:a16="http://schemas.microsoft.com/office/drawing/2014/main" val="272716697"/>
                    </a:ext>
                  </a:extLst>
                </a:gridCol>
                <a:gridCol w="1213164">
                  <a:extLst>
                    <a:ext uri="{9D8B030D-6E8A-4147-A177-3AD203B41FA5}">
                      <a16:colId xmlns:a16="http://schemas.microsoft.com/office/drawing/2014/main" val="396181544"/>
                    </a:ext>
                  </a:extLst>
                </a:gridCol>
                <a:gridCol w="1096479">
                  <a:extLst>
                    <a:ext uri="{9D8B030D-6E8A-4147-A177-3AD203B41FA5}">
                      <a16:colId xmlns:a16="http://schemas.microsoft.com/office/drawing/2014/main" val="1135783919"/>
                    </a:ext>
                  </a:extLst>
                </a:gridCol>
              </a:tblGrid>
              <a:tr h="4865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Activity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Duration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Schedule Start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Schedule Finish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UOM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Scope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Actual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Balance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Actual/ Forecast Start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Actual/ Forecast Finish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Remarks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095509"/>
                  </a:ext>
                </a:extLst>
              </a:tr>
              <a:tr h="3477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PSS-18 Priority 1 Progress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463122"/>
                  </a:ext>
                </a:extLst>
              </a:tr>
              <a:tr h="31010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GIS Building Civil Work-Upto Slab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30-Dec-25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5-Mar-26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25-Dec-25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18-May-26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983715"/>
                  </a:ext>
                </a:extLst>
              </a:tr>
              <a:tr h="31010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MCR Building Civil Work-Upto Slab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6-Jan-26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16-Mar-26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 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27-Dec-25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02-Jun-26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076569"/>
                  </a:ext>
                </a:extLst>
              </a:tr>
              <a:tr h="31010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SGR - 01 Civil Work-Upto Slab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6-Jan-26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14-Mar-26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 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29-Dec-25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05-Apr-26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605299"/>
                  </a:ext>
                </a:extLst>
              </a:tr>
              <a:tr h="38097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Power Transformer – 01&amp;02 Civil Work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20-Jan-26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24-Feb-26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09-Feb-26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22-Jul-26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131955"/>
                  </a:ext>
                </a:extLst>
              </a:tr>
              <a:tr h="31010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SVG Civil Work (Exc. Fencing)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07-Jan-26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5-Mar-26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10-Jul-26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19-Sep-26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 kern="1200">
                        <a:solidFill>
                          <a:srgbClr val="00B05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460796"/>
                  </a:ext>
                </a:extLst>
              </a:tr>
              <a:tr h="37649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Harmonic Filter Civil Work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31-Jan-26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25-Feb-26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en-IN" sz="1000" b="0" i="0" u="none" strike="noStrike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17-Aug-26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70C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06-Oct-26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 </a:t>
                      </a: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46365"/>
                  </a:ext>
                </a:extLst>
              </a:tr>
              <a:tr h="3101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Firewall-01</a:t>
                      </a:r>
                    </a:p>
                  </a:txBody>
                  <a:tcPr marL="45720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11-Jan-26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22-Feb-26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0.90</a:t>
                      </a:r>
                      <a:endParaRPr lang="en-IN" sz="1000" b="0" i="0" u="none" strike="noStrike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06-Feb-26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10-Sep-26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314508"/>
                  </a:ext>
                </a:extLst>
              </a:tr>
              <a:tr h="31010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GIS &amp; MCR PEB Erection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13-Mar-26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18-Apr-26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1.96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25-May-26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10-Sep-26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282305"/>
                  </a:ext>
                </a:extLst>
              </a:tr>
              <a:tr h="31010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SGR - 01 PEB Erection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17-Mar-26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16-Apr-26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0.90</a:t>
                      </a:r>
                      <a:endParaRPr lang="en-IN" sz="1000" b="0" i="0" u="none" strike="noStrike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28-May-26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10-Sep-26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058181"/>
                  </a:ext>
                </a:extLst>
              </a:tr>
              <a:tr h="31010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Power Transformer – </a:t>
                      </a: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01&amp;02 </a:t>
                      </a: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Erection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20-Mar-26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30-Apr-26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0.34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1.66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09-Jun-26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26-Sep-26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325337"/>
                  </a:ext>
                </a:extLst>
              </a:tr>
              <a:tr h="31010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SGR - 01 Panel Erection</a:t>
                      </a:r>
                    </a:p>
                  </a:txBody>
                  <a:tcPr marL="45720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20-Apr-26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23-May-26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3.5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22-Jul-26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70C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12-Sep-26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937204"/>
                  </a:ext>
                </a:extLst>
              </a:tr>
              <a:tr h="33446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GIS Main Bay Area (Inside Building) – Erection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13-Apr-26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21-May-26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Bays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B05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17-Aug-26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70C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09-Oct-26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2380391"/>
                  </a:ext>
                </a:extLst>
              </a:tr>
              <a:tr h="31010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MCR Panel Erection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29-Apr-26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18-May-26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0.11</a:t>
                      </a:r>
                      <a:endParaRPr lang="en-IN" sz="1000" b="0" i="0" u="none" strike="noStrike">
                        <a:solidFill>
                          <a:srgbClr val="00B05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0</a:t>
                      </a: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.89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17-Aug-26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/>
                      <a:r>
                        <a:rPr lang="en-US" sz="1000" b="0" i="0" u="none" strike="noStrike" kern="120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13-Oct-26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0" i="0" u="none" strike="noStrike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921211"/>
                  </a:ext>
                </a:extLst>
              </a:tr>
              <a:tr h="33446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SVG</a:t>
                      </a:r>
                    </a:p>
                  </a:txBody>
                  <a:tcPr marL="45720" marR="7252" marT="72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26-Apr-26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26-May-26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70C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20-Sep-26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70C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05-Nov-26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 kern="1200">
                        <a:solidFill>
                          <a:srgbClr val="00B05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720572"/>
                  </a:ext>
                </a:extLst>
              </a:tr>
              <a:tr h="33446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Harmonic Filter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17-Apr-26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21-May-26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07-Oct-26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10-Nov-26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US" sz="1000" b="0" i="0" u="none" strike="noStrike" kern="1200">
                        <a:solidFill>
                          <a:srgbClr val="00B05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266965"/>
                  </a:ext>
                </a:extLst>
              </a:tr>
              <a:tr h="33446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Testing &amp; ready for charging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16-May-26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30-May-26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I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endParaRPr lang="en-IN" sz="1000" b="0" i="0" u="none" strike="noStrike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10-Oct-26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29-Nov-26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0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750445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2C9656B3-4E44-9F7F-4AD9-5F84B1ACC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451" y="140840"/>
            <a:ext cx="11577483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algn="l" defTabSz="911377">
              <a:defRPr/>
            </a:pPr>
            <a:r>
              <a:rPr lang="en-IN" sz="2400" b="1">
                <a:gradFill>
                  <a:gsLst>
                    <a:gs pos="9735">
                      <a:srgbClr val="1F497D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</a:rPr>
              <a:t>Summary : PSS – 18</a:t>
            </a:r>
            <a:endParaRPr lang="en-US" sz="1000" b="1">
              <a:gradFill>
                <a:gsLst>
                  <a:gs pos="9735">
                    <a:srgbClr val="1F497D"/>
                  </a:gs>
                  <a:gs pos="63000">
                    <a:srgbClr val="8E278F"/>
                  </a:gs>
                  <a:gs pos="38000">
                    <a:srgbClr val="57499E"/>
                  </a:gs>
                </a:gsLst>
                <a:lin ang="0" scaled="0"/>
              </a:gra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03175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571376A-649B-EF15-52C4-CD2D8EA9D2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3290887"/>
            <a:ext cx="10404475" cy="2762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>
                <a:latin typeface="Adani Regular" panose="02000503000000020004" pitchFamily="2" charset="0"/>
              </a:rPr>
              <a:t>Thank You</a:t>
            </a:r>
          </a:p>
        </p:txBody>
      </p:sp>
      <p:grpSp>
        <p:nvGrpSpPr>
          <p:cNvPr id="2" name="object 4">
            <a:extLst>
              <a:ext uri="{FF2B5EF4-FFF2-40B4-BE49-F238E27FC236}">
                <a16:creationId xmlns:a16="http://schemas.microsoft.com/office/drawing/2014/main" id="{43EC949C-14E3-86D0-298B-D249DEF74BE0}"/>
              </a:ext>
            </a:extLst>
          </p:cNvPr>
          <p:cNvGrpSpPr/>
          <p:nvPr/>
        </p:nvGrpSpPr>
        <p:grpSpPr>
          <a:xfrm>
            <a:off x="521208" y="543305"/>
            <a:ext cx="7921625" cy="52705"/>
            <a:chOff x="521208" y="543305"/>
            <a:chExt cx="7921625" cy="52705"/>
          </a:xfrm>
        </p:grpSpPr>
        <p:pic>
          <p:nvPicPr>
            <p:cNvPr id="3" name="object 5">
              <a:extLst>
                <a:ext uri="{FF2B5EF4-FFF2-40B4-BE49-F238E27FC236}">
                  <a16:creationId xmlns:a16="http://schemas.microsoft.com/office/drawing/2014/main" id="{591908A6-ACD6-2086-C295-4DA207BDC8D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1208" y="543305"/>
              <a:ext cx="5022342" cy="45720"/>
            </a:xfrm>
            <a:prstGeom prst="rect">
              <a:avLst/>
            </a:prstGeom>
          </p:spPr>
        </p:pic>
        <p:sp>
          <p:nvSpPr>
            <p:cNvPr id="4" name="object 6">
              <a:extLst>
                <a:ext uri="{FF2B5EF4-FFF2-40B4-BE49-F238E27FC236}">
                  <a16:creationId xmlns:a16="http://schemas.microsoft.com/office/drawing/2014/main" id="{EC56DCF2-5BDA-B1A0-8207-9A8493E929A9}"/>
                </a:ext>
              </a:extLst>
            </p:cNvPr>
            <p:cNvSpPr/>
            <p:nvPr/>
          </p:nvSpPr>
          <p:spPr>
            <a:xfrm>
              <a:off x="521589" y="590930"/>
              <a:ext cx="7921625" cy="0"/>
            </a:xfrm>
            <a:custGeom>
              <a:avLst/>
              <a:gdLst/>
              <a:ahLst/>
              <a:cxnLst/>
              <a:rect l="l" t="t" r="r" b="b"/>
              <a:pathLst>
                <a:path w="7921625">
                  <a:moveTo>
                    <a:pt x="0" y="0"/>
                  </a:moveTo>
                  <a:lnTo>
                    <a:pt x="7921116" y="0"/>
                  </a:lnTo>
                </a:path>
              </a:pathLst>
            </a:custGeom>
            <a:ln w="952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9638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17D5E-4FC1-07E7-D38E-05874B75F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1A7A1-07F7-BD8B-952D-1CF4268F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013" y="103775"/>
            <a:ext cx="9144000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algn="l" defTabSz="911377">
              <a:defRPr/>
            </a:pPr>
            <a:r>
              <a:rPr lang="en-US" sz="2400" b="1">
                <a:gradFill>
                  <a:gsLst>
                    <a:gs pos="9735">
                      <a:srgbClr val="1F497D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Khavda Tracker &amp; Robot Installation Status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56DC0F-92A3-844E-B4F0-4E4B3FBD5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475" y="3419475"/>
            <a:ext cx="19050" cy="1905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7146D18-3533-0C4C-E0F6-49CFCFBA1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481743"/>
              </p:ext>
            </p:extLst>
          </p:nvPr>
        </p:nvGraphicFramePr>
        <p:xfrm>
          <a:off x="542603" y="665006"/>
          <a:ext cx="11087744" cy="4331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6762">
                  <a:extLst>
                    <a:ext uri="{9D8B030D-6E8A-4147-A177-3AD203B41FA5}">
                      <a16:colId xmlns:a16="http://schemas.microsoft.com/office/drawing/2014/main" val="2701036710"/>
                    </a:ext>
                  </a:extLst>
                </a:gridCol>
                <a:gridCol w="1110209">
                  <a:extLst>
                    <a:ext uri="{9D8B030D-6E8A-4147-A177-3AD203B41FA5}">
                      <a16:colId xmlns:a16="http://schemas.microsoft.com/office/drawing/2014/main" val="1232206713"/>
                    </a:ext>
                  </a:extLst>
                </a:gridCol>
                <a:gridCol w="1131539">
                  <a:extLst>
                    <a:ext uri="{9D8B030D-6E8A-4147-A177-3AD203B41FA5}">
                      <a16:colId xmlns:a16="http://schemas.microsoft.com/office/drawing/2014/main" val="425703190"/>
                    </a:ext>
                  </a:extLst>
                </a:gridCol>
                <a:gridCol w="1131539">
                  <a:extLst>
                    <a:ext uri="{9D8B030D-6E8A-4147-A177-3AD203B41FA5}">
                      <a16:colId xmlns:a16="http://schemas.microsoft.com/office/drawing/2014/main" val="1807035621"/>
                    </a:ext>
                  </a:extLst>
                </a:gridCol>
                <a:gridCol w="1131539">
                  <a:extLst>
                    <a:ext uri="{9D8B030D-6E8A-4147-A177-3AD203B41FA5}">
                      <a16:colId xmlns:a16="http://schemas.microsoft.com/office/drawing/2014/main" val="3191509894"/>
                    </a:ext>
                  </a:extLst>
                </a:gridCol>
                <a:gridCol w="1131539">
                  <a:extLst>
                    <a:ext uri="{9D8B030D-6E8A-4147-A177-3AD203B41FA5}">
                      <a16:colId xmlns:a16="http://schemas.microsoft.com/office/drawing/2014/main" val="1496149109"/>
                    </a:ext>
                  </a:extLst>
                </a:gridCol>
                <a:gridCol w="1131539">
                  <a:extLst>
                    <a:ext uri="{9D8B030D-6E8A-4147-A177-3AD203B41FA5}">
                      <a16:colId xmlns:a16="http://schemas.microsoft.com/office/drawing/2014/main" val="3538649483"/>
                    </a:ext>
                  </a:extLst>
                </a:gridCol>
                <a:gridCol w="1131539">
                  <a:extLst>
                    <a:ext uri="{9D8B030D-6E8A-4147-A177-3AD203B41FA5}">
                      <a16:colId xmlns:a16="http://schemas.microsoft.com/office/drawing/2014/main" val="2762516817"/>
                    </a:ext>
                  </a:extLst>
                </a:gridCol>
                <a:gridCol w="1131539">
                  <a:extLst>
                    <a:ext uri="{9D8B030D-6E8A-4147-A177-3AD203B41FA5}">
                      <a16:colId xmlns:a16="http://schemas.microsoft.com/office/drawing/2014/main" val="2504950723"/>
                    </a:ext>
                  </a:extLst>
                </a:gridCol>
              </a:tblGrid>
              <a:tr h="4230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Summary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Tracker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Robot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636355"/>
                  </a:ext>
                </a:extLst>
              </a:tr>
              <a:tr h="53749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Total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Auto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Non-Operational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Total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Installation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Online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RFI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Completed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</a:rPr>
                        <a:t>Auto Run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126975"/>
                  </a:ext>
                </a:extLst>
              </a:tr>
              <a:tr h="306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Up to 28-Feb-26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139464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137629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1835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23884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23884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23197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23884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21728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2620666"/>
                  </a:ext>
                </a:extLst>
              </a:tr>
              <a:tr h="306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Up to 28-Feb-26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99%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1.32%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4701292"/>
                  </a:ext>
                </a:extLst>
              </a:tr>
              <a:tr h="306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047355"/>
                  </a:ext>
                </a:extLst>
              </a:tr>
              <a:tr h="306426">
                <a:tc>
                  <a:txBody>
                    <a:bodyPr/>
                    <a:lstStyle/>
                    <a:p>
                      <a:pPr marL="0" algn="l" eaLnBrk="1" fontAlgn="ctr" hangingPunct="1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01-Mar-26 to 31-Mar-26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7458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7151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2085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2079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1694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1196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167690"/>
                  </a:ext>
                </a:extLst>
              </a:tr>
              <a:tr h="306426">
                <a:tc>
                  <a:txBody>
                    <a:bodyPr/>
                    <a:lstStyle/>
                    <a:p>
                      <a:pPr marL="0" marR="0" lvl="0" indent="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01-Mar-26 to 31-Mar-26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96%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980031"/>
                  </a:ext>
                </a:extLst>
              </a:tr>
              <a:tr h="306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000" b="0" i="0" u="none" strike="noStrike" kern="120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000" b="0" i="0" u="none" strike="noStrike" kern="120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000" b="0" i="0" u="none" strike="noStrike" kern="120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000" b="0" i="0" u="none" strike="noStrike" kern="120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000" b="0" i="0" u="none" strike="noStrike" kern="120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000" b="0" i="0" u="none" strike="noStrike" kern="120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000" b="0" i="0" u="none" strike="noStrike" kern="120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000" b="0" i="0" u="none" strike="noStrike" kern="120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5331765"/>
                  </a:ext>
                </a:extLst>
              </a:tr>
              <a:tr h="306426">
                <a:tc>
                  <a:txBody>
                    <a:bodyPr/>
                    <a:lstStyle/>
                    <a:p>
                      <a:pPr marL="0" algn="l" eaLnBrk="1" fontAlgn="ctr" hangingPunct="1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01-Apr-26 to till date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1143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2024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176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2116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2099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1788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123531"/>
                  </a:ext>
                </a:extLst>
              </a:tr>
              <a:tr h="306426">
                <a:tc>
                  <a:txBody>
                    <a:bodyPr/>
                    <a:lstStyle/>
                    <a:p>
                      <a:pPr marL="0" marR="0" lvl="0" indent="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01-Apr-26 to till date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92%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555686"/>
                  </a:ext>
                </a:extLst>
              </a:tr>
              <a:tr h="306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000" b="0" i="0" u="none" strike="noStrike" kern="120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000" b="0" i="0" u="none" strike="noStrike" kern="120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000" b="0" i="0" u="none" strike="noStrike" kern="120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000" b="0" i="0" u="none" strike="noStrike" kern="120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000" b="0" i="0" u="none" strike="noStrike" kern="120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000" b="0" i="0" u="none" strike="noStrike" kern="120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000" b="0" i="0" u="none" strike="noStrike" kern="120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000" b="0" i="0" u="none" strike="noStrike" kern="120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037039"/>
                  </a:ext>
                </a:extLst>
              </a:tr>
              <a:tr h="306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Adani Regular" panose="02000503000000020004" pitchFamily="2" charset="0"/>
                        </a:rPr>
                        <a:t>Grand Total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149122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146804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2318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28085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28062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26990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25649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22941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7187842"/>
                  </a:ext>
                </a:extLst>
              </a:tr>
              <a:tr h="306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u="none" strike="noStrike">
                          <a:effectLst/>
                          <a:latin typeface="Adani Regular" panose="02000503000000020004" pitchFamily="2" charset="0"/>
                        </a:rPr>
                        <a:t>Grand Total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0922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58817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zbNU5UQYqX_ukejadiJQ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dani Regular"/>
        <a:ea typeface=""/>
        <a:cs typeface=""/>
      </a:majorFont>
      <a:minorFont>
        <a:latin typeface="Adani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Time xmlns="4b0af4b3-07bf-413a-aea0-81de99942a5f" xsi:nil="true"/>
    <lcf76f155ced4ddcb4097134ff3c332f xmlns="4b0af4b3-07bf-413a-aea0-81de99942a5f">
      <Terms xmlns="http://schemas.microsoft.com/office/infopath/2007/PartnerControls"/>
    </lcf76f155ced4ddcb4097134ff3c332f>
    <History xmlns="4b0af4b3-07bf-413a-aea0-81de99942a5f" xsi:nil="true"/>
    <TaxCatchAll xmlns="ffe3c74f-61e8-4c5b-bf2f-f596927c8ff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92E9080220D84BBED9FCDBEF1B5C47" ma:contentTypeVersion="16" ma:contentTypeDescription="Create a new document." ma:contentTypeScope="" ma:versionID="9cae68be07acca408ecef65a74970196">
  <xsd:schema xmlns:xsd="http://www.w3.org/2001/XMLSchema" xmlns:xs="http://www.w3.org/2001/XMLSchema" xmlns:p="http://schemas.microsoft.com/office/2006/metadata/properties" xmlns:ns2="4b0af4b3-07bf-413a-aea0-81de99942a5f" xmlns:ns3="ffe3c74f-61e8-4c5b-bf2f-f596927c8ffb" targetNamespace="http://schemas.microsoft.com/office/2006/metadata/properties" ma:root="true" ma:fieldsID="2122b5f6738d9bc9e4a485c0d0ca3f61" ns2:_="" ns3:_="">
    <xsd:import namespace="4b0af4b3-07bf-413a-aea0-81de99942a5f"/>
    <xsd:import namespace="ffe3c74f-61e8-4c5b-bf2f-f596927c8f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DateTime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Histo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0af4b3-07bf-413a-aea0-81de99942a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ateTime" ma:index="12" nillable="true" ma:displayName="Date &amp; Time" ma:format="DateTime" ma:internalName="DateTime">
      <xsd:simpleType>
        <xsd:restriction base="dms:DateTime"/>
      </xsd:simpleType>
    </xsd:element>
    <xsd:element name="MediaServiceBillingMetadata" ma:index="1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fb514443-b7a3-4086-9c59-89a49c0c91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8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History" ma:index="23" nillable="true" ma:displayName="History " ma:format="Dropdown" ma:internalName="History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e3c74f-61e8-4c5b-bf2f-f596927c8ff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8f27ac6-ee86-42f7-a42c-69380e9f4440}" ma:internalName="TaxCatchAll" ma:showField="CatchAllData" ma:web="ffe3c74f-61e8-4c5b-bf2f-f596927c8f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C332241-4656-4B80-B723-D7E11E1AB91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771A47D-5BA3-408A-9E5A-BC21C09C8B1E}">
  <ds:schemaRefs>
    <ds:schemaRef ds:uri="4b0af4b3-07bf-413a-aea0-81de99942a5f"/>
    <ds:schemaRef ds:uri="ffe3c74f-61e8-4c5b-bf2f-f596927c8ff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9C417E1-AEBC-47B5-A186-3E8EDC1C9031}">
  <ds:schemaRefs>
    <ds:schemaRef ds:uri="4b0af4b3-07bf-413a-aea0-81de99942a5f"/>
    <ds:schemaRef ds:uri="ffe3c74f-61e8-4c5b-bf2f-f596927c8ff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4923</Words>
  <Application>Microsoft Office PowerPoint</Application>
  <PresentationFormat>Widescreen</PresentationFormat>
  <Paragraphs>2797</Paragraphs>
  <Slides>36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8" baseType="lpstr">
      <vt:lpstr>Adani Light</vt:lpstr>
      <vt:lpstr>Adani Medium</vt:lpstr>
      <vt:lpstr>Adani Ragular</vt:lpstr>
      <vt:lpstr>Adani Regular</vt:lpstr>
      <vt:lpstr>Aptos</vt:lpstr>
      <vt:lpstr>Arial</vt:lpstr>
      <vt:lpstr>Calibri</vt:lpstr>
      <vt:lpstr>Courier New</vt:lpstr>
      <vt:lpstr>Times New Roman</vt:lpstr>
      <vt:lpstr>Wingdings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Khavda Solar - Physical Progress: S Curve</vt:lpstr>
      <vt:lpstr>PowerPoint Presentation</vt:lpstr>
      <vt:lpstr>Khavda Solar - Procurement &amp; Supply Status</vt:lpstr>
      <vt:lpstr>Khavda Solar - Construction Progress Update – Phase – IV (4,639 MW)</vt:lpstr>
      <vt:lpstr>Khavda Solar - Construction Manpower – Phase – IV (4,639 MW)</vt:lpstr>
      <vt:lpstr>PowerPoint Presentation</vt:lpstr>
      <vt:lpstr>Khavda Solar - Major Milestone – Next 3 months</vt:lpstr>
      <vt:lpstr>PowerPoint Presentation</vt:lpstr>
      <vt:lpstr>System Study Progress</vt:lpstr>
      <vt:lpstr>System Study Progress</vt:lpstr>
      <vt:lpstr>System Study Progress</vt:lpstr>
      <vt:lpstr>System Study Progress</vt:lpstr>
      <vt:lpstr>System Study Progress</vt:lpstr>
      <vt:lpstr>System Study Progress</vt:lpstr>
      <vt:lpstr>Summary : PSS – 11</vt:lpstr>
      <vt:lpstr>Summary : PSS – 12</vt:lpstr>
      <vt:lpstr>Summary : PSS – 14</vt:lpstr>
      <vt:lpstr>Summary : PSS – 07</vt:lpstr>
      <vt:lpstr>Summary : NHPC PSS</vt:lpstr>
      <vt:lpstr>Summary : PSS – 18</vt:lpstr>
      <vt:lpstr>PowerPoint Presentation</vt:lpstr>
      <vt:lpstr>Khavda Wind - Salient Features</vt:lpstr>
      <vt:lpstr>Khavda Wind - Physical Progress: S Curve</vt:lpstr>
      <vt:lpstr>Khavda Wind - Procurement &amp; 3 month rolling plan for Supply Status</vt:lpstr>
      <vt:lpstr>Khavda Wind - Construction Progress Update</vt:lpstr>
      <vt:lpstr>Khavda Wind - Machinery Summary </vt:lpstr>
      <vt:lpstr>PowerPoint Presentation</vt:lpstr>
      <vt:lpstr>Thank You</vt:lpstr>
      <vt:lpstr>Khavda Tracker &amp; Robot Installation Status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Rahulsingh Tomar</dc:creator>
  <cp:lastModifiedBy>Kirtan Gadhiya</cp:lastModifiedBy>
  <cp:revision>1</cp:revision>
  <cp:lastPrinted>2025-09-16T08:33:34Z</cp:lastPrinted>
  <dcterms:created xsi:type="dcterms:W3CDTF">2023-08-27T05:23:05Z</dcterms:created>
  <dcterms:modified xsi:type="dcterms:W3CDTF">2026-09-10T10:27:49Z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0x010100A992E9080220D84BBED9FCDBEF1B5C47</vt:lpwstr>
  </property>
  <property fmtid="{D5CDD505-2E9C-101B-9397-08002B2CF9AE}" pid="3" name="Order">
    <vt:r8>256305100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activity">
    <vt:lpwstr>{"FileActivityType":"9","FileActivityTimeStamp":"2026-02-10T12:32:45.797Z","FileActivityUsersOnPage":[{"DisplayName":"Kirtan Gadhiya","Id":"30106856@adani.com"},{"DisplayName":"Sanidhya Dabhi","Id":"30106826@adani.com"}],"FileActivityNavigationId":null}</vt:lpwstr>
  </property>
  <property fmtid="{D5CDD505-2E9C-101B-9397-08002B2CF9AE}" pid="7" name="_ExtendedDescription">
    <vt:lpwstr/>
  </property>
  <property fmtid="{D5CDD505-2E9C-101B-9397-08002B2CF9AE}" pid="8" name="MediaServiceImageTags">
    <vt:lpwstr/>
  </property>
</Properties>
</file>