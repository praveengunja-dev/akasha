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</p:sldMasterIdLst>
  <p:notesMasterIdLst>
    <p:notesMasterId r:id="rId13"/>
  </p:notesMasterIdLst>
  <p:sldIdLst>
    <p:sldId id="292" r:id="rId3"/>
    <p:sldId id="268" r:id="rId4"/>
    <p:sldId id="279" r:id="rId5"/>
    <p:sldId id="286" r:id="rId6"/>
    <p:sldId id="2147482095" r:id="rId7"/>
    <p:sldId id="2147482094" r:id="rId8"/>
    <p:sldId id="294" r:id="rId9"/>
    <p:sldId id="2147482096" r:id="rId10"/>
    <p:sldId id="2147482098" r:id="rId11"/>
    <p:sldId id="2147482099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F34"/>
    <a:srgbClr val="F69116"/>
    <a:srgbClr val="6511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shti Soni" userId="887bad25-eecf-4adc-ad2b-23b91bdd52a6" providerId="ADAL" clId="{5DE86E85-44A0-4199-ACBF-4CCB795F2525}"/>
    <pc:docChg chg="delSld">
      <pc:chgData name="Srashti Soni" userId="887bad25-eecf-4adc-ad2b-23b91bdd52a6" providerId="ADAL" clId="{5DE86E85-44A0-4199-ACBF-4CCB795F2525}" dt="2026-05-19T12:38:27.706" v="3" actId="47"/>
      <pc:docMkLst>
        <pc:docMk/>
      </pc:docMkLst>
      <pc:sldChg chg="del">
        <pc:chgData name="Srashti Soni" userId="887bad25-eecf-4adc-ad2b-23b91bdd52a6" providerId="ADAL" clId="{5DE86E85-44A0-4199-ACBF-4CCB795F2525}" dt="2026-05-19T12:38:26.606" v="1" actId="47"/>
        <pc:sldMkLst>
          <pc:docMk/>
          <pc:sldMk cId="0" sldId="256"/>
        </pc:sldMkLst>
      </pc:sldChg>
      <pc:sldChg chg="del">
        <pc:chgData name="Srashti Soni" userId="887bad25-eecf-4adc-ad2b-23b91bdd52a6" providerId="ADAL" clId="{5DE86E85-44A0-4199-ACBF-4CCB795F2525}" dt="2026-05-19T12:38:27.706" v="3" actId="47"/>
        <pc:sldMkLst>
          <pc:docMk/>
          <pc:sldMk cId="2740865006" sldId="285"/>
        </pc:sldMkLst>
      </pc:sldChg>
      <pc:sldChg chg="del">
        <pc:chgData name="Srashti Soni" userId="887bad25-eecf-4adc-ad2b-23b91bdd52a6" providerId="ADAL" clId="{5DE86E85-44A0-4199-ACBF-4CCB795F2525}" dt="2026-05-19T12:38:27.091" v="2" actId="47"/>
        <pc:sldMkLst>
          <pc:docMk/>
          <pc:sldMk cId="1483695736" sldId="296"/>
        </pc:sldMkLst>
      </pc:sldChg>
      <pc:sldChg chg="del">
        <pc:chgData name="Srashti Soni" userId="887bad25-eecf-4adc-ad2b-23b91bdd52a6" providerId="ADAL" clId="{5DE86E85-44A0-4199-ACBF-4CCB795F2525}" dt="2026-05-19T12:38:25.556" v="0" actId="47"/>
        <pc:sldMkLst>
          <pc:docMk/>
          <pc:sldMk cId="1485533038" sldId="2147378653"/>
        </pc:sldMkLst>
      </pc:sldChg>
      <pc:sldMasterChg chg="delSldLayout">
        <pc:chgData name="Srashti Soni" userId="887bad25-eecf-4adc-ad2b-23b91bdd52a6" providerId="ADAL" clId="{5DE86E85-44A0-4199-ACBF-4CCB795F2525}" dt="2026-05-19T12:38:27.091" v="2" actId="47"/>
        <pc:sldMasterMkLst>
          <pc:docMk/>
          <pc:sldMasterMk cId="4020682566" sldId="2147483665"/>
        </pc:sldMasterMkLst>
        <pc:sldLayoutChg chg="del">
          <pc:chgData name="Srashti Soni" userId="887bad25-eecf-4adc-ad2b-23b91bdd52a6" providerId="ADAL" clId="{5DE86E85-44A0-4199-ACBF-4CCB795F2525}" dt="2026-05-19T12:38:27.091" v="2" actId="47"/>
          <pc:sldLayoutMkLst>
            <pc:docMk/>
            <pc:sldMasterMk cId="4020682566" sldId="2147483665"/>
            <pc:sldLayoutMk cId="576727349" sldId="2147483672"/>
          </pc:sldLayoutMkLst>
        </pc:sldLayoutChg>
        <pc:sldLayoutChg chg="del">
          <pc:chgData name="Srashti Soni" userId="887bad25-eecf-4adc-ad2b-23b91bdd52a6" providerId="ADAL" clId="{5DE86E85-44A0-4199-ACBF-4CCB795F2525}" dt="2026-05-19T12:38:25.556" v="0" actId="47"/>
          <pc:sldLayoutMkLst>
            <pc:docMk/>
            <pc:sldMasterMk cId="4020682566" sldId="2147483665"/>
            <pc:sldLayoutMk cId="515272683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9025-F064-4BCF-ADDC-67E22FCDA2F4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422C-92ED-4875-8BD6-4EC407C23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91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6BAD34-B45B-407E-A1B8-52C038A48D05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9339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B1EC-57E0-B6F3-AFB3-E5424641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F2CF3-C554-D6EC-9B8E-FB3A6EFB6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00F63-4B75-10CE-E047-F582BFFC4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C95A1-DE4F-EE22-933A-99C68C7551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796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50A1-BFBC-EDF6-96B7-5C1CC375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8A686-7864-DA4D-9212-D7BFE4835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9DE24-EDDB-0201-B9BC-E36766A5C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C91C2-97BA-B841-9E09-9B4F40656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7979CE-2666-4BF0-B1D1-A1565B169E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882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6630-5C86-4332-B99B-36F5470D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91A3D-A8C3-7AEE-F5DD-F741F3B73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47FC7-5531-9E0B-B685-BAA700DBE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br>
              <a:rPr lang="en-US"/>
            </a:br>
            <a:r>
              <a:rPr lang="en-US"/>
              <a:t>We will go ahead with deck under four major sections starting how does India as a country and AGEL as a company position themselves. Subsequently we will dive into AI use cases which are helping AGEL to create sustainable value in RE sector.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C0B9F-0800-1FEA-761C-CBD37800B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7979CE-2666-4BF0-B1D1-A1565B169E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27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818D6-A84C-7FEE-8119-8AA42412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EAD40-853D-C54F-2D06-DFCFAD89F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7F5E6-C746-AEBD-A159-39B99DD7B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br>
              <a:rPr lang="en-US"/>
            </a:br>
            <a:r>
              <a:rPr lang="en-US"/>
              <a:t>We will go ahead with deck under four major sections starting how does India as a country and AGEL as a company position themselves. Subsequently we will dive into AI use cases which are helping AGEL to create sustainable value in RE sector.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9E668-B2B0-DDE0-7968-799E16C3D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7979CE-2666-4BF0-B1D1-A1565B169E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934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6CB4B-1244-DEE2-EA11-2F7E8DC3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0C40C-E6E6-7DD2-8DD2-7F7D281C6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6A57C-D357-9881-31E3-F2F254663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51970-E1DF-50C5-6A14-9BE8EA20C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37C68-C092-4D2D-AC6C-40AA50FBB57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469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2388-5AAE-B645-0CDF-FA5EFB012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AA810-CE06-8548-3C34-9CAC0085E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A8468-B1EF-14D1-7741-CE86F7EAF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	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51C73-9125-4E39-8DDD-70E1059CF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4581F-A6E4-4E27-A271-B7A3F9493A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10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CBBBC-097D-EFE7-4F66-B33D3E7A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13FB8-5150-2E68-749A-AA0703031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0C539-57C1-3A4B-5070-C60A42599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8AA75-910E-3FF1-DF68-7094162F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4581F-A6E4-4E27-A271-B7A3F9493A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660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5681-3C39-171F-8AF5-57EBF58D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15CB0-DF4D-2BB4-7E90-9E88C55D9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A15D3-D79A-9578-A8C8-CCF535854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BB09D-7B85-553C-2E75-6F71295C5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4581F-A6E4-4E27-A271-B7A3F9493A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032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87B2-1124-6BD9-32AF-8907A564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D40BE-64F0-FA5B-2336-B562149D8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D6E17-D003-02BE-1CB3-CF1A19060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31C41-3171-823F-997F-ACBB3E4B8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B4581F-A6E4-4E27-A271-B7A3F9493A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77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emf"/><Relationship Id="rId4" Type="http://schemas.openxmlformats.org/officeDocument/2006/relationships/image" Target="../media/image7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F740108-957C-43E6-8FF5-B7D579A83F7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3"/>
            <a:ext cx="12192000" cy="657648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33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background image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6D6F73-61F7-40D0-B7F3-7209E4D80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0704" y="381001"/>
            <a:ext cx="4652433" cy="11176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200" b="1">
                <a:solidFill>
                  <a:schemeClr val="tx2"/>
                </a:solidFill>
              </a:defRPr>
            </a:lvl1pPr>
            <a:lvl2pPr marL="609555" indent="0">
              <a:buFontTx/>
              <a:buNone/>
              <a:defRPr/>
            </a:lvl2pPr>
            <a:lvl3pPr marL="1219110" indent="0">
              <a:buFontTx/>
              <a:buNone/>
              <a:defRPr/>
            </a:lvl3pPr>
            <a:lvl4pPr marL="1828664" indent="0">
              <a:buFontTx/>
              <a:buNone/>
              <a:defRPr/>
            </a:lvl4pPr>
            <a:lvl5pPr marL="2438218" indent="0">
              <a:buFontTx/>
              <a:buNone/>
              <a:defRPr/>
            </a:lvl5pPr>
          </a:lstStyle>
          <a:p>
            <a:pPr lvl="0"/>
            <a:r>
              <a:rPr lang="en-US"/>
              <a:t>Title text here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A926441-46CB-4309-9B9B-404B1B3167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0700" y="1701800"/>
            <a:ext cx="4652432" cy="1353157"/>
          </a:xfrm>
          <a:prstGeom prst="rect">
            <a:avLst/>
          </a:prstGeom>
        </p:spPr>
        <p:txBody>
          <a:bodyPr lIns="0"/>
          <a:lstStyle>
            <a:lvl1pPr marL="0" indent="0" algn="l" defTabSz="243821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2438218" rtl="0" eaLnBrk="1" latinLnBrk="0" hangingPunct="1">
              <a:lnSpc>
                <a:spcPct val="90000"/>
              </a:lnSpc>
              <a:spcBef>
                <a:spcPts val="2667"/>
              </a:spcBef>
              <a:buFont typeface="Arial" panose="020B0604020202020204" pitchFamily="34" charset="0"/>
              <a:buNone/>
              <a:defRPr lang="en-US" sz="2133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2438218" rtl="0" eaLnBrk="1" latinLnBrk="0" hangingPunct="1">
              <a:lnSpc>
                <a:spcPct val="90000"/>
              </a:lnSpc>
              <a:spcBef>
                <a:spcPts val="2667"/>
              </a:spcBef>
              <a:buFont typeface="Arial" panose="020B0604020202020204" pitchFamily="34" charset="0"/>
              <a:buNone/>
              <a:defRPr lang="en-US" sz="2133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2438218" rtl="0" eaLnBrk="1" latinLnBrk="0" hangingPunct="1">
              <a:lnSpc>
                <a:spcPct val="90000"/>
              </a:lnSpc>
              <a:spcBef>
                <a:spcPts val="2667"/>
              </a:spcBef>
              <a:buFont typeface="Arial" panose="020B0604020202020204" pitchFamily="34" charset="0"/>
              <a:buNone/>
              <a:defRPr lang="en-US" sz="2133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2438218" rtl="0" eaLnBrk="1" latinLnBrk="0" hangingPunct="1">
              <a:lnSpc>
                <a:spcPct val="90000"/>
              </a:lnSpc>
              <a:spcBef>
                <a:spcPts val="2667"/>
              </a:spcBef>
              <a:buFont typeface="Arial" panose="020B0604020202020204" pitchFamily="34" charset="0"/>
              <a:buNone/>
              <a:defRPr lang="en-US" sz="2133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23793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orient="horz" pos="180">
          <p15:clr>
            <a:srgbClr val="FBAE40"/>
          </p15:clr>
        </p15:guide>
        <p15:guide id="3" pos="5520">
          <p15:clr>
            <a:srgbClr val="FBAE40"/>
          </p15:clr>
        </p15:guide>
        <p15:guide id="4" orient="horz" pos="612">
          <p15:clr>
            <a:srgbClr val="FBAE40"/>
          </p15:clr>
        </p15:guide>
        <p15:guide id="5" orient="horz" pos="708">
          <p15:clr>
            <a:srgbClr val="FBAE40"/>
          </p15:clr>
        </p15:guide>
        <p15:guide id="6" orient="horz" pos="310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1775"/>
            <a:ext cx="10296000" cy="672000"/>
          </a:xfrm>
        </p:spPr>
        <p:txBody>
          <a:bodyPr anchor="b">
            <a:normAutofit/>
          </a:bodyPr>
          <a:lstStyle>
            <a:lvl1pPr>
              <a:defRPr sz="3200">
                <a:latin typeface="Adani Regular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16360" y="6576976"/>
            <a:ext cx="838200" cy="822960"/>
          </a:xfrm>
        </p:spPr>
        <p:txBody>
          <a:bodyPr wrap="none" lIns="0" tIns="0" rIns="0" bIns="0">
            <a:spAutoFit/>
          </a:bodyPr>
          <a:lstStyle>
            <a:lvl1pPr algn="ctr">
              <a:defRPr sz="900"/>
            </a:lvl1pPr>
          </a:lstStyle>
          <a:p>
            <a:fld id="{98B285C1-D8A8-4E98-B28C-1FD972D8EC54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575264" y="908664"/>
            <a:ext cx="10296000" cy="62864"/>
            <a:chOff x="521460" y="771510"/>
            <a:chExt cx="7386262" cy="47148"/>
          </a:xfrm>
        </p:grpSpPr>
        <p:pic>
          <p:nvPicPr>
            <p:cNvPr id="9" name="Picture 2" descr="D:\Corp Comm Department Work 2015\Brand Adani 2012\adani_gradient_master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60" y="771510"/>
              <a:ext cx="502206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Straight Connector 9"/>
            <p:cNvCxnSpPr/>
            <p:nvPr/>
          </p:nvCxnSpPr>
          <p:spPr>
            <a:xfrm>
              <a:off x="521460" y="818658"/>
              <a:ext cx="73862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BB304A-FED9-4B2E-A58C-5C7D77B96694}"/>
              </a:ext>
            </a:extLst>
          </p:cNvPr>
          <p:cNvCxnSpPr/>
          <p:nvPr userDrawn="1"/>
        </p:nvCxnSpPr>
        <p:spPr>
          <a:xfrm>
            <a:off x="11707665" y="6538224"/>
            <a:ext cx="0" cy="21600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80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B42D52-24FF-D173-876D-0BD92519E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1" y="0"/>
            <a:ext cx="121539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341507" y="1296556"/>
            <a:ext cx="6973336" cy="1440192"/>
          </a:xfrm>
        </p:spPr>
        <p:txBody>
          <a:bodyPr>
            <a:normAutofit/>
          </a:bodyPr>
          <a:lstStyle>
            <a:lvl1pPr marL="0" indent="0">
              <a:buNone/>
              <a:defRPr baseline="0">
                <a:latin typeface="Adani Medium" pitchFamily="2" charset="0"/>
              </a:defRPr>
            </a:lvl1pPr>
          </a:lstStyle>
          <a:p>
            <a:pPr algn="l"/>
            <a:r>
              <a:rPr lang="en-IN">
                <a:solidFill>
                  <a:srgbClr val="000000"/>
                </a:solidFill>
              </a:rPr>
              <a:t>Investor Relations</a:t>
            </a:r>
          </a:p>
          <a:p>
            <a:pPr algn="l"/>
            <a:r>
              <a:rPr lang="en-IN">
                <a:solidFill>
                  <a:srgbClr val="000000"/>
                </a:solidFill>
              </a:rPr>
              <a:t>Presentation </a:t>
            </a:r>
          </a:p>
        </p:txBody>
      </p:sp>
      <p:pic>
        <p:nvPicPr>
          <p:cNvPr id="7" name="Picture 2" descr="D:\Corp Comm Department Work 2015\Brand Adani 2012\adani_gradient_master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07" y="2854485"/>
            <a:ext cx="5264815" cy="5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76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bg object 16">
            <a:extLst>
              <a:ext uri="{FF2B5EF4-FFF2-40B4-BE49-F238E27FC236}">
                <a16:creationId xmlns:a16="http://schemas.microsoft.com/office/drawing/2014/main" id="{2E6A3868-3C51-D74F-3ADD-3B77B2C4D7B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" y="1521"/>
            <a:ext cx="12191999" cy="6856475"/>
          </a:xfrm>
          <a:prstGeom prst="rect">
            <a:avLst/>
          </a:prstGeom>
        </p:spPr>
      </p:pic>
      <p:pic>
        <p:nvPicPr>
          <p:cNvPr id="9" name="bg object 17">
            <a:extLst>
              <a:ext uri="{FF2B5EF4-FFF2-40B4-BE49-F238E27FC236}">
                <a16:creationId xmlns:a16="http://schemas.microsoft.com/office/drawing/2014/main" id="{DC632761-225B-F37C-E30A-9BBA63840D60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1779" y="224262"/>
            <a:ext cx="1604009" cy="976884"/>
          </a:xfrm>
          <a:prstGeom prst="rect">
            <a:avLst/>
          </a:prstGeom>
        </p:spPr>
      </p:pic>
      <p:sp>
        <p:nvSpPr>
          <p:cNvPr id="10" name="Holder 3">
            <a:extLst>
              <a:ext uri="{FF2B5EF4-FFF2-40B4-BE49-F238E27FC236}">
                <a16:creationId xmlns:a16="http://schemas.microsoft.com/office/drawing/2014/main" id="{5E03EED2-BA2A-C130-6181-FBF5509AB28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0" cy="0"/>
          </a:xfr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 sz="1800" smtClean="0">
                <a:latin typeface="Arial" panose="020B0604020202020204" pitchFamily="34" charset="0"/>
              </a:rPr>
              <a:pPr/>
              <a:t>5/19/2026</a:t>
            </a:fld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E83E8437-7B3A-2F40-DABB-4A46AC74417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0" cy="0"/>
          </a:xfr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IN" sz="1800" smtClean="0">
                <a:latin typeface="Arial" panose="020B0604020202020204" pitchFamily="34" charset="0"/>
              </a:rPr>
              <a:pPr/>
              <a:t>‹#›</a:t>
            </a:fld>
            <a:endParaRPr lang="en-IN" sz="1800">
              <a:latin typeface="Arial" panose="020B0604020202020204" pitchFamily="34" charset="0"/>
            </a:endParaRPr>
          </a:p>
        </p:txBody>
      </p:sp>
      <p:pic>
        <p:nvPicPr>
          <p:cNvPr id="12" name="Picture 2" descr="D:\Corp Comm Department Work 2015\Brand Adani 2012\adani_gradient_master.jpg">
            <a:extLst>
              <a:ext uri="{FF2B5EF4-FFF2-40B4-BE49-F238E27FC236}">
                <a16:creationId xmlns:a16="http://schemas.microsoft.com/office/drawing/2014/main" id="{2920D735-4ADD-D766-5B40-913DDA4C76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2682"/>
            <a:ext cx="5523891" cy="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F6AF65FB-278D-22B3-E5F9-1EFA38763FB3}"/>
              </a:ext>
            </a:extLst>
          </p:cNvPr>
          <p:cNvSpPr/>
          <p:nvPr userDrawn="1"/>
        </p:nvSpPr>
        <p:spPr>
          <a:xfrm>
            <a:off x="1763063" y="443629"/>
            <a:ext cx="0" cy="655320"/>
          </a:xfrm>
          <a:custGeom>
            <a:avLst/>
            <a:gdLst/>
            <a:ahLst/>
            <a:cxnLst/>
            <a:rect l="l" t="t" r="r" b="b"/>
            <a:pathLst>
              <a:path h="655319">
                <a:moveTo>
                  <a:pt x="0" y="0"/>
                </a:moveTo>
                <a:lnTo>
                  <a:pt x="0" y="65493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106200-D0ED-9421-A4ED-B16EA7539E6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46073" y="522230"/>
            <a:ext cx="1165569" cy="58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7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8676-4792-1D77-1FCC-289B5FBA3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06D7B-E59C-4F9E-61C2-E7795612A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F2FBF-C542-F629-A991-08C0959B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B4B8E-8E34-27A8-9046-DE1392D95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77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B42D52-24FF-D173-876D-0BD92519E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0"/>
            <a:ext cx="121539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758193" y="6308726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341507" y="1296556"/>
            <a:ext cx="6973336" cy="1440192"/>
          </a:xfrm>
        </p:spPr>
        <p:txBody>
          <a:bodyPr>
            <a:normAutofit/>
          </a:bodyPr>
          <a:lstStyle>
            <a:lvl1pPr marL="0" indent="0">
              <a:buNone/>
              <a:defRPr baseline="0">
                <a:latin typeface="Adani Medium" pitchFamily="2" charset="0"/>
              </a:defRPr>
            </a:lvl1pPr>
          </a:lstStyle>
          <a:p>
            <a:pPr algn="l"/>
            <a:r>
              <a:rPr lang="en-IN">
                <a:solidFill>
                  <a:srgbClr val="000000"/>
                </a:solidFill>
              </a:rPr>
              <a:t>Investor Relations</a:t>
            </a:r>
          </a:p>
          <a:p>
            <a:pPr algn="l"/>
            <a:r>
              <a:rPr lang="en-IN">
                <a:solidFill>
                  <a:srgbClr val="000000"/>
                </a:solidFill>
              </a:rPr>
              <a:t>Presentation </a:t>
            </a:r>
          </a:p>
        </p:txBody>
      </p:sp>
      <p:pic>
        <p:nvPicPr>
          <p:cNvPr id="7" name="Picture 2" descr="D:\Corp Comm Department Work 2015\Brand Adani 2012\adani_gradient_master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07" y="2854485"/>
            <a:ext cx="5264814" cy="5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52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11775"/>
            <a:ext cx="10296000" cy="672000"/>
          </a:xfrm>
        </p:spPr>
        <p:txBody>
          <a:bodyPr anchor="b">
            <a:normAutofit/>
          </a:bodyPr>
          <a:lstStyle>
            <a:lvl1pPr>
              <a:defRPr sz="3200">
                <a:latin typeface="Adani Regular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56912" y="6576975"/>
            <a:ext cx="157094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ctr">
              <a:defRPr sz="900"/>
            </a:lvl1pPr>
          </a:lstStyle>
          <a:p>
            <a:fld id="{98B285C1-D8A8-4E98-B28C-1FD972D8EC54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575264" y="908664"/>
            <a:ext cx="10296000" cy="62864"/>
            <a:chOff x="521460" y="771510"/>
            <a:chExt cx="7386262" cy="47148"/>
          </a:xfrm>
        </p:grpSpPr>
        <p:pic>
          <p:nvPicPr>
            <p:cNvPr id="9" name="Picture 2" descr="D:\Corp Comm Department Work 2015\Brand Adani 2012\adani_gradient_master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60" y="771510"/>
              <a:ext cx="502206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Straight Connector 9"/>
            <p:cNvCxnSpPr/>
            <p:nvPr/>
          </p:nvCxnSpPr>
          <p:spPr>
            <a:xfrm>
              <a:off x="521460" y="818658"/>
              <a:ext cx="738626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BB304A-FED9-4B2E-A58C-5C7D77B96694}"/>
              </a:ext>
            </a:extLst>
          </p:cNvPr>
          <p:cNvCxnSpPr/>
          <p:nvPr userDrawn="1"/>
        </p:nvCxnSpPr>
        <p:spPr>
          <a:xfrm>
            <a:off x="11707665" y="6538224"/>
            <a:ext cx="0" cy="21600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30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8676-4792-1D77-1FCC-289B5FBA3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06D7B-E59C-4F9E-61C2-E7795612A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F2FBF-C542-F629-A991-08C0959B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B4B8E-8E34-27A8-9046-DE1392D95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7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8DA499-4DF1-4AA2-E08D-3628656EAB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614"/>
          <a:stretch/>
        </p:blipFill>
        <p:spPr>
          <a:xfrm>
            <a:off x="-5237" y="-3933"/>
            <a:ext cx="12192001" cy="6972769"/>
          </a:xfrm>
          <a:prstGeom prst="rect">
            <a:avLst/>
          </a:prstGeom>
        </p:spPr>
      </p:pic>
      <p:sp>
        <p:nvSpPr>
          <p:cNvPr id="9" name="Shape 257">
            <a:extLst>
              <a:ext uri="{FF2B5EF4-FFF2-40B4-BE49-F238E27FC236}">
                <a16:creationId xmlns:a16="http://schemas.microsoft.com/office/drawing/2014/main" id="{0D060878-D169-41BB-B749-44FEB20360B7}"/>
              </a:ext>
            </a:extLst>
          </p:cNvPr>
          <p:cNvSpPr txBox="1">
            <a:spLocks/>
          </p:cNvSpPr>
          <p:nvPr userDrawn="1"/>
        </p:nvSpPr>
        <p:spPr>
          <a:xfrm>
            <a:off x="11826625" y="6574323"/>
            <a:ext cx="346283" cy="259900"/>
          </a:xfrm>
          <a:prstGeom prst="rect">
            <a:avLst/>
          </a:prstGeom>
          <a:noFill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0" tIns="60960" rIns="0" bIns="60960" rtlCol="0" anchor="ctr"/>
          <a:lstStyle>
            <a:defPPr>
              <a:defRPr lang="en-US"/>
            </a:defPPr>
            <a:lvl1pPr algn="ctr">
              <a:defRPr sz="600" b="0" u="none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6463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64636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9EB399B-FCD7-4B72-8368-C57AA9E5AF4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03" y="1975521"/>
            <a:ext cx="5778500" cy="945481"/>
          </a:xfrm>
          <a:prstGeom prst="rect">
            <a:avLst/>
          </a:prstGeom>
          <a:noFill/>
        </p:spPr>
        <p:txBody>
          <a:bodyPr wrap="square" lIns="0" rtlCol="0" anchor="t" anchorCtr="0">
            <a:noAutofit/>
          </a:bodyPr>
          <a:lstStyle>
            <a:lvl1pPr marL="0" algn="l">
              <a:lnSpc>
                <a:spcPct val="100000"/>
              </a:lnSpc>
              <a:spcBef>
                <a:spcPts val="0"/>
              </a:spcBef>
              <a:tabLst>
                <a:tab pos="609555" algn="l"/>
              </a:tabLst>
              <a:defRPr lang="en-US" sz="3200" u="none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algn="l"/>
            <a:r>
              <a:rPr lang="en-US"/>
              <a:t>Section breaker text</a:t>
            </a:r>
          </a:p>
        </p:txBody>
      </p:sp>
    </p:spTree>
    <p:extLst>
      <p:ext uri="{BB962C8B-B14F-4D97-AF65-F5344CB8AC3E}">
        <p14:creationId xmlns:p14="http://schemas.microsoft.com/office/powerpoint/2010/main" val="908422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40">
          <p15:clr>
            <a:srgbClr val="FBAE40"/>
          </p15:clr>
        </p15:guide>
        <p15:guide id="2" orient="horz" pos="180">
          <p15:clr>
            <a:srgbClr val="FBAE40"/>
          </p15:clr>
        </p15:guide>
        <p15:guide id="3" pos="5520">
          <p15:clr>
            <a:srgbClr val="FBAE40"/>
          </p15:clr>
        </p15:guide>
        <p15:guide id="4" orient="horz" pos="612">
          <p15:clr>
            <a:srgbClr val="FBAE40"/>
          </p15:clr>
        </p15:guide>
        <p15:guide id="5" orient="horz" pos="708">
          <p15:clr>
            <a:srgbClr val="FBAE40"/>
          </p15:clr>
        </p15:guide>
        <p15:guide id="6" orient="horz" pos="30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2D0C250-406F-A130-3255-B5D04737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8C9C633-E59F-6522-6934-E77B69A3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E415D71-DAA6-81CF-3190-6DE34F52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13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7DB7-37CB-29E5-36E7-938A9B9E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1CF1F-7511-7483-80BC-DBE268AEF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8F3B-A18B-449A-8817-B5958A2FD403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F1CF9-EAD5-828E-5D42-933F1722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E50CE-833D-9756-A3EC-4DE6D1B9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52A6-3792-4AA5-8CC4-CD8963AF7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5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11.jp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9.emf"/><Relationship Id="rId5" Type="http://schemas.openxmlformats.org/officeDocument/2006/relationships/slideLayout" Target="../slideLayouts/slideLayout10.xml"/><Relationship Id="rId10" Type="http://schemas.openxmlformats.org/officeDocument/2006/relationships/oleObject" Target="../embeddings/oleObject2.bin"/><Relationship Id="rId4" Type="http://schemas.openxmlformats.org/officeDocument/2006/relationships/slideLayout" Target="../slideLayouts/slideLayout9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1620049-CC1F-E753-7A53-E8ABF01F49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846980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6" imgH="428" progId="TCLayout.ActiveDocument.1">
                  <p:embed/>
                </p:oleObj>
              </mc:Choice>
              <mc:Fallback>
                <p:oleObj name="think-cell Slide" r:id="rId8" imgW="426" imgH="42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620049-CC1F-E753-7A53-E8ABF01F49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359" y="341376"/>
            <a:ext cx="4267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0" eaLnBrk="0" hangingPunct="0">
              <a:spcBef>
                <a:spcPct val="20000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54B42DF9-61F4-47A2-888A-00F196B7D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360" y="1665252"/>
            <a:ext cx="11503741" cy="4646073"/>
          </a:xfrm>
          <a:prstGeom prst="rect">
            <a:avLst/>
          </a:prstGeom>
        </p:spPr>
        <p:txBody>
          <a:bodyPr lIns="45720" tIns="45720" rIns="45720" bIns="4572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325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4" r:id="rId5"/>
  </p:sldLayoutIdLst>
  <p:hf hdr="0"/>
  <p:txStyles>
    <p:titleStyle>
      <a:lvl1pPr marL="0" algn="l" defTabSz="609570" rtl="0" eaLnBrk="1" latinLnBrk="0" hangingPunct="1">
        <a:lnSpc>
          <a:spcPct val="98000"/>
        </a:lnSpc>
        <a:spcBef>
          <a:spcPct val="0"/>
        </a:spcBef>
        <a:buNone/>
        <a:tabLst>
          <a:tab pos="609570" algn="l"/>
        </a:tabLst>
        <a:defRPr lang="en-US" sz="3200" b="1" u="none" kern="1200" dirty="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309019" indent="-309019" algn="l" defTabSz="609570" rtl="0" eaLnBrk="1" latinLnBrk="0" hangingPunct="1">
        <a:spcBef>
          <a:spcPts val="800"/>
        </a:spcBef>
        <a:buClr>
          <a:srgbClr val="00B0F0"/>
        </a:buClr>
        <a:buFont typeface="Arial" panose="020B0604020202020204" pitchFamily="34" charset="0"/>
        <a:buChar char="•"/>
        <a:defRPr kumimoji="0" lang="en-US" sz="2667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50" indent="-380981" algn="l" defTabSz="609570" rtl="0" eaLnBrk="1" latinLnBrk="0" hangingPunct="1">
        <a:spcBef>
          <a:spcPts val="800"/>
        </a:spcBef>
        <a:buClr>
          <a:srgbClr val="00B0F0"/>
        </a:buClr>
        <a:buFont typeface="Arial" charset="0"/>
        <a:buChar char="•"/>
        <a:defRPr kumimoji="0" lang="en-US" sz="2400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447728" indent="-228589" algn="l" defTabSz="609570" rtl="0" eaLnBrk="1" latinLnBrk="0" hangingPunct="1">
        <a:spcBef>
          <a:spcPts val="800"/>
        </a:spcBef>
        <a:buClr>
          <a:srgbClr val="00B0F0"/>
        </a:buClr>
        <a:buFont typeface="Arial" charset="0"/>
        <a:buChar char="•"/>
        <a:defRPr kumimoji="0" lang="en-US" sz="1600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057298" indent="-228589" algn="l" defTabSz="609570" rtl="0" eaLnBrk="1" latinLnBrk="0" hangingPunct="1">
        <a:spcBef>
          <a:spcPts val="800"/>
        </a:spcBef>
        <a:buClr>
          <a:srgbClr val="00B0F0"/>
        </a:buClr>
        <a:buFont typeface="Arial" charset="0"/>
        <a:buChar char="•"/>
        <a:defRPr kumimoji="0" lang="en-US" sz="1467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666867" indent="-228589" algn="l" defTabSz="609570" rtl="0" eaLnBrk="1" latinLnBrk="0" hangingPunct="1">
        <a:spcBef>
          <a:spcPts val="800"/>
        </a:spcBef>
        <a:buClr>
          <a:srgbClr val="00B0F0"/>
        </a:buClr>
        <a:buFont typeface="Arial" charset="0"/>
        <a:buChar char="•"/>
        <a:defRPr kumimoji="0" lang="en-US" sz="1400" b="0" i="0" u="none" strike="noStrike" kern="1200" cap="none" spc="0" normalizeH="0" baseline="0" noProof="0" dirty="0">
          <a:ln>
            <a:noFill/>
          </a:ln>
          <a:solidFill>
            <a:schemeClr val="accent2"/>
          </a:solidFill>
          <a:effectLst/>
          <a:uLnTx/>
          <a:uFillTx/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65F5D2E9-39AA-4824-B7C0-8D997D5182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952940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82" imgH="481" progId="TCLayout.ActiveDocument.1">
                  <p:embed/>
                </p:oleObj>
              </mc:Choice>
              <mc:Fallback>
                <p:oleObj name="think-cell Slide" r:id="rId10" imgW="482" imgH="48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65F5D2E9-39AA-4824-B7C0-8D997D5182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74AED534-3D83-4893-A6AD-47B1D49683F7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800" b="0" i="0" baseline="0">
              <a:latin typeface="Adani Medium" panose="02000503000000020004" pitchFamily="2" charset="0"/>
              <a:ea typeface="+mj-ea"/>
              <a:cs typeface="+mj-cs"/>
              <a:sym typeface="Adani Medium" panose="02000503000000020004" pitchFamily="2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0" name="bg object 18">
            <a:extLst>
              <a:ext uri="{FF2B5EF4-FFF2-40B4-BE49-F238E27FC236}">
                <a16:creationId xmlns:a16="http://schemas.microsoft.com/office/drawing/2014/main" id="{839AEC59-EA1A-4351-4CBC-DB08EFB34D6D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11234801" y="261092"/>
            <a:ext cx="736384" cy="453155"/>
          </a:xfrm>
          <a:prstGeom prst="rect">
            <a:avLst/>
          </a:prstGeom>
        </p:spPr>
      </p:pic>
      <p:sp>
        <p:nvSpPr>
          <p:cNvPr id="11" name="bg object 19">
            <a:extLst>
              <a:ext uri="{FF2B5EF4-FFF2-40B4-BE49-F238E27FC236}">
                <a16:creationId xmlns:a16="http://schemas.microsoft.com/office/drawing/2014/main" id="{9B32910A-1E6E-4AED-9276-8521C93EFA4A}"/>
              </a:ext>
            </a:extLst>
          </p:cNvPr>
          <p:cNvSpPr/>
          <p:nvPr userDrawn="1"/>
        </p:nvSpPr>
        <p:spPr>
          <a:xfrm>
            <a:off x="391845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>
                <a:moveTo>
                  <a:pt x="0" y="0"/>
                </a:moveTo>
                <a:lnTo>
                  <a:pt x="10744149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12" name="bg object 20">
            <a:extLst>
              <a:ext uri="{FF2B5EF4-FFF2-40B4-BE49-F238E27FC236}">
                <a16:creationId xmlns:a16="http://schemas.microsoft.com/office/drawing/2014/main" id="{0CF0F3D2-AE96-0724-B9E5-CA35FD29917B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391846" y="746762"/>
            <a:ext cx="7305167" cy="60959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D5C5E81-89DD-43E2-923E-B9BAE30174E8}"/>
              </a:ext>
            </a:extLst>
          </p:cNvPr>
          <p:cNvSpPr txBox="1">
            <a:spLocks/>
          </p:cNvSpPr>
          <p:nvPr userDrawn="1"/>
        </p:nvSpPr>
        <p:spPr>
          <a:xfrm>
            <a:off x="9429750" y="64897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fld id="{90CAAFA2-4386-4F96-98F0-1BC769244D96}" type="slidenum">
              <a:rPr lang="en-US" smtClean="0">
                <a:solidFill>
                  <a:prstClr val="black">
                    <a:tint val="82000"/>
                  </a:prstClr>
                </a:solidFill>
                <a:latin typeface="Aptos" panose="02110004020202020204"/>
              </a:rPr>
              <a:pPr defTabSz="914400"/>
              <a:t>‹#›</a:t>
            </a:fld>
            <a:endParaRPr lang="en-US">
              <a:solidFill>
                <a:prstClr val="black">
                  <a:tint val="82000"/>
                </a:prst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2068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Adani Medium" pitchFamily="2" charset="0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Adani Regular" pitchFamily="2" charset="0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Adani Regular" pitchFamily="2" charset="0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dani Regular" pitchFamily="2" charset="0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Adani Regular" pitchFamily="2" charset="0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Adani Regular" pitchFamily="2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5B8D6AD-16C0-7325-9891-DD565C3133E4}"/>
              </a:ext>
            </a:extLst>
          </p:cNvPr>
          <p:cNvSpPr/>
          <p:nvPr/>
        </p:nvSpPr>
        <p:spPr>
          <a:xfrm>
            <a:off x="1763063" y="443629"/>
            <a:ext cx="0" cy="655320"/>
          </a:xfrm>
          <a:custGeom>
            <a:avLst/>
            <a:gdLst/>
            <a:ahLst/>
            <a:cxnLst/>
            <a:rect l="l" t="t" r="r" b="b"/>
            <a:pathLst>
              <a:path h="655319">
                <a:moveTo>
                  <a:pt x="0" y="0"/>
                </a:moveTo>
                <a:lnTo>
                  <a:pt x="0" y="65493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D823C3-2EB9-CB50-E03B-DAB1C9585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073" y="522230"/>
            <a:ext cx="1165569" cy="58088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ADB688BC-AA68-E4F0-0873-4FFE7388CB51}"/>
              </a:ext>
            </a:extLst>
          </p:cNvPr>
          <p:cNvSpPr txBox="1">
            <a:spLocks/>
          </p:cNvSpPr>
          <p:nvPr/>
        </p:nvSpPr>
        <p:spPr>
          <a:xfrm>
            <a:off x="5600700" y="1508022"/>
            <a:ext cx="6764594" cy="4141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4267" kern="1200" baseline="0">
                <a:solidFill>
                  <a:schemeClr val="tx1"/>
                </a:solidFill>
                <a:latin typeface="Adani Medium" pitchFamily="2" charset="0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Adani Regular" pitchFamily="2" charset="0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dani Regular" pitchFamily="2" charset="0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Adani Regular" pitchFamily="2" charset="0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Adani Regular" pitchFamily="2" charset="0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2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AGEL Cross Functional Platform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3AA0F-9FDA-0215-18E5-B8C95EE045B7}"/>
              </a:ext>
            </a:extLst>
          </p:cNvPr>
          <p:cNvSpPr txBox="1"/>
          <p:nvPr/>
        </p:nvSpPr>
        <p:spPr>
          <a:xfrm>
            <a:off x="5811854" y="2143648"/>
            <a:ext cx="617701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ffectLst/>
                <a:latin typeface="Adani Medium"/>
              </a:rPr>
              <a:t>Transitioning from isolated single applications </a:t>
            </a:r>
            <a:r>
              <a:rPr lang="en-US" sz="1600">
                <a:latin typeface="Adani Medium"/>
              </a:rPr>
              <a:t>to integrated</a:t>
            </a:r>
            <a:r>
              <a:rPr lang="en-US" sz="1600">
                <a:effectLst/>
                <a:latin typeface="Adani Medium"/>
              </a:rPr>
              <a:t> cross-functional intelligence with </a:t>
            </a:r>
            <a:endParaRPr lang="en-US" sz="1600">
              <a:latin typeface="Adani Medium"/>
              <a:cs typeface="Arial"/>
            </a:endParaRPr>
          </a:p>
          <a:p>
            <a:r>
              <a:rPr lang="en-US" sz="1600">
                <a:effectLst/>
                <a:latin typeface="Adani Medium"/>
              </a:rPr>
              <a:t>practical, actionable insights</a:t>
            </a:r>
            <a:endParaRPr lang="en-US" sz="1600">
              <a:latin typeface="Adani Medium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842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E4E2-64C7-DF0F-B6C5-D81AAA4BB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6CB2E306-EDB6-E577-9791-957BCF26DC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-1141809" y="85844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1" imgH="423" progId="TCLayout.ActiveDocument.1">
                  <p:embed/>
                </p:oleObj>
              </mc:Choice>
              <mc:Fallback>
                <p:oleObj name="think-cell Slide" r:id="rId5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6CB2E306-EDB6-E577-9791-957BCF26D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141809" y="85844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5533B752-7AA4-1303-2E86-6620A9EF4EF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143001" y="857251"/>
            <a:ext cx="119063" cy="119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dani Regular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AB50F2-BE74-8B9B-4C88-54B36173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0428" y="6492875"/>
            <a:ext cx="9615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8B1E0-A6C5-4A01-86A0-BE5B8CAA4EE9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dani Regular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5E96B7A-A82A-8738-DD42-586230EFE601}"/>
              </a:ext>
            </a:extLst>
          </p:cNvPr>
          <p:cNvSpPr txBox="1">
            <a:spLocks/>
          </p:cNvSpPr>
          <p:nvPr/>
        </p:nvSpPr>
        <p:spPr>
          <a:xfrm>
            <a:off x="313929" y="344695"/>
            <a:ext cx="10896445" cy="4788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gradFill>
                  <a:gsLst>
                    <a:gs pos="9735">
                      <a:schemeClr val="tx2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Primavera P6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8A1D0D2-143A-6572-1493-0C999A19E06F}"/>
              </a:ext>
            </a:extLst>
          </p:cNvPr>
          <p:cNvCxnSpPr>
            <a:cxnSpLocks/>
          </p:cNvCxnSpPr>
          <p:nvPr/>
        </p:nvCxnSpPr>
        <p:spPr>
          <a:xfrm>
            <a:off x="313929" y="823554"/>
            <a:ext cx="11490118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15A421E-F945-CFE2-507A-AA44790BD5DF}"/>
              </a:ext>
            </a:extLst>
          </p:cNvPr>
          <p:cNvCxnSpPr>
            <a:cxnSpLocks/>
          </p:cNvCxnSpPr>
          <p:nvPr/>
        </p:nvCxnSpPr>
        <p:spPr>
          <a:xfrm>
            <a:off x="226187" y="1834114"/>
            <a:ext cx="3960000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98C8741-940C-0303-F609-5172B0071174}"/>
              </a:ext>
            </a:extLst>
          </p:cNvPr>
          <p:cNvSpPr txBox="1">
            <a:spLocks/>
          </p:cNvSpPr>
          <p:nvPr/>
        </p:nvSpPr>
        <p:spPr>
          <a:xfrm>
            <a:off x="415530" y="1446459"/>
            <a:ext cx="1990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Solution Snapshot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260226A-597D-B76C-8C36-2342F45BE614}"/>
              </a:ext>
            </a:extLst>
          </p:cNvPr>
          <p:cNvCxnSpPr>
            <a:cxnSpLocks/>
          </p:cNvCxnSpPr>
          <p:nvPr/>
        </p:nvCxnSpPr>
        <p:spPr>
          <a:xfrm>
            <a:off x="7240869" y="1761774"/>
            <a:ext cx="3816000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4EC7243-9CF6-A79A-A4A3-9F1AFF08A359}"/>
              </a:ext>
            </a:extLst>
          </p:cNvPr>
          <p:cNvSpPr txBox="1">
            <a:spLocks/>
          </p:cNvSpPr>
          <p:nvPr/>
        </p:nvSpPr>
        <p:spPr>
          <a:xfrm>
            <a:off x="7240640" y="1423220"/>
            <a:ext cx="1635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Current Status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9AE2BF-9354-0DAD-D288-20511C43F3D1}"/>
              </a:ext>
            </a:extLst>
          </p:cNvPr>
          <p:cNvSpPr txBox="1">
            <a:spLocks/>
          </p:cNvSpPr>
          <p:nvPr/>
        </p:nvSpPr>
        <p:spPr>
          <a:xfrm>
            <a:off x="7240640" y="1944154"/>
            <a:ext cx="3998050" cy="29674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dani Medium"/>
              </a:rPr>
              <a:t>All 33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/>
              </a:rPr>
              <a:t> Projects ( Solar, Wind &amp; PSS ) are onboarded to P6 and being updated.</a:t>
            </a:r>
            <a:endParaRPr lang="en-US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ani Medium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/>
              </a:rPr>
              <a:t>Progress updates are being released weekly to every key stakeholders.</a:t>
            </a:r>
            <a:endParaRPr lang="en-US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ani Medium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Adani Medium"/>
              </a:rPr>
              <a:t>All EPC Projects are onboarded &amp; managed on P6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/>
              </a:rPr>
              <a:t>Digital DPR platform for automated daily data entry to P6 platform is under development.</a:t>
            </a:r>
            <a:endParaRPr lang="en-US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ani Medium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/>
              </a:rPr>
              <a:t>P6 training sessions dedicated for AGEL have been conducted for </a:t>
            </a:r>
            <a:r>
              <a:rPr lang="en-US" sz="1400">
                <a:solidFill>
                  <a:prstClr val="black"/>
                </a:solidFill>
                <a:latin typeface="Adani Medium"/>
              </a:rPr>
              <a:t>all Sites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/>
              </a:rPr>
              <a:t> &amp; HO</a:t>
            </a:r>
            <a:endParaRPr lang="en-US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ani Medium"/>
            </a:endParaRP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363B27-24B3-7080-87EA-51686E1A7E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29" y="1925317"/>
            <a:ext cx="6561729" cy="46669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B09FC8-B795-8FE6-930D-EECDACD3E8B7}"/>
              </a:ext>
            </a:extLst>
          </p:cNvPr>
          <p:cNvSpPr txBox="1">
            <a:spLocks/>
          </p:cNvSpPr>
          <p:nvPr/>
        </p:nvSpPr>
        <p:spPr>
          <a:xfrm>
            <a:off x="351402" y="849559"/>
            <a:ext cx="623936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/>
              </a:rPr>
              <a:t>For Scheduling, Planning &amp; Resource Allocation to </a:t>
            </a:r>
            <a:r>
              <a:rPr lang="en-IN" sz="1600" b="1">
                <a:solidFill>
                  <a:srgbClr val="156082"/>
                </a:solidFill>
                <a:latin typeface="Adani Regular"/>
              </a:rPr>
              <a:t>activities</a:t>
            </a:r>
            <a:endParaRPr kumimoji="0" lang="en-IN" sz="1600" b="1" i="0" u="none" strike="noStrike" kern="1200" cap="none" spc="0" normalizeH="0" baseline="0" noProof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4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2E146-F862-F190-A005-78CEF7DC2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7A935F-5C46-157E-DF47-1E2757986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97" y="320802"/>
            <a:ext cx="10542981" cy="662360"/>
          </a:xfrm>
          <a:prstGeom prst="rect">
            <a:avLst/>
          </a:prstGeom>
        </p:spPr>
        <p:txBody>
          <a:bodyPr vert="horz" wrap="square" lIns="0" tIns="83438" rIns="0" bIns="0" rtlCol="0" anchor="t">
            <a:spAutoFit/>
          </a:bodyPr>
          <a:lstStyle/>
          <a:p>
            <a:pPr marL="96520" algn="l" defTabSz="1219170" rtl="0">
              <a:lnSpc>
                <a:spcPct val="90000"/>
              </a:lnSpc>
              <a:spcBef>
                <a:spcPct val="0"/>
              </a:spcBef>
            </a:pPr>
            <a:r>
              <a:rPr lang="en-US" sz="2100" b="1" kern="1200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Transmission Connectivity Dashboard</a:t>
            </a:r>
          </a:p>
          <a:p>
            <a:pPr marL="96520">
              <a:spcBef>
                <a:spcPts val="805"/>
              </a:spcBef>
            </a:pPr>
            <a:endParaRPr lang="en-US" sz="1200" b="1">
              <a:solidFill>
                <a:srgbClr val="C55A11"/>
              </a:solidFill>
              <a:latin typeface="Adani Regular" panose="02000503000000020004" pitchFamily="2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0A8D179-2D09-BB5B-7C21-011CA9B8C934}"/>
              </a:ext>
            </a:extLst>
          </p:cNvPr>
          <p:cNvCxnSpPr>
            <a:cxnSpLocks/>
          </p:cNvCxnSpPr>
          <p:nvPr/>
        </p:nvCxnSpPr>
        <p:spPr>
          <a:xfrm>
            <a:off x="8240619" y="1898040"/>
            <a:ext cx="3171481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531CEEE-D195-081B-EEA8-2295753D1148}"/>
              </a:ext>
            </a:extLst>
          </p:cNvPr>
          <p:cNvSpPr txBox="1"/>
          <p:nvPr/>
        </p:nvSpPr>
        <p:spPr>
          <a:xfrm>
            <a:off x="8292448" y="1524238"/>
            <a:ext cx="1635512" cy="422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 panose="02000503000000020004" pitchFamily="2" charset="0"/>
              </a:rPr>
              <a:t>Current Status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6F10B80-BE7B-4483-E68E-3A1C339E3156}"/>
              </a:ext>
            </a:extLst>
          </p:cNvPr>
          <p:cNvSpPr txBox="1"/>
          <p:nvPr/>
        </p:nvSpPr>
        <p:spPr>
          <a:xfrm>
            <a:off x="8292448" y="2084291"/>
            <a:ext cx="3455205" cy="32905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 panose="02000503000000020004" pitchFamily="2" charset="0"/>
              </a:defRPr>
            </a:lvl1pPr>
          </a:lstStyle>
          <a:p>
            <a:pPr>
              <a:defRPr/>
            </a:pPr>
            <a:r>
              <a:rPr lang="en-US" sz="1400">
                <a:latin typeface="Adani Medium"/>
              </a:rPr>
              <a:t>Tracks Upstream Connectivity &amp; Evacuation Readiness that affects project completion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Currently Excel based inputs, automated channels in progress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Tracks Grid connectivity, Line &amp; Project Progress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Live for </a:t>
            </a:r>
            <a:r>
              <a:rPr lang="en-US" sz="1400" err="1">
                <a:latin typeface="Adani Medium"/>
              </a:rPr>
              <a:t>Khavda</a:t>
            </a:r>
            <a:r>
              <a:rPr lang="en-US" sz="1400">
                <a:latin typeface="Adani Medium"/>
              </a:rPr>
              <a:t> &amp; Rajasthan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Spiderweb Visualization for Network</a:t>
            </a:r>
            <a:br>
              <a:rPr lang="en-US" sz="1400">
                <a:latin typeface="Adani Medium"/>
              </a:rPr>
            </a:br>
            <a:endParaRPr lang="en-US" sz="1400">
              <a:latin typeface="Adani Medium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D8A490-C564-7664-327F-F3FA72922029}"/>
              </a:ext>
            </a:extLst>
          </p:cNvPr>
          <p:cNvSpPr txBox="1"/>
          <p:nvPr/>
        </p:nvSpPr>
        <p:spPr>
          <a:xfrm>
            <a:off x="314476" y="3879245"/>
            <a:ext cx="6096000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endParaRPr lang="en-US" sz="1100">
              <a:latin typeface="Adani Regular" panose="02000503000000020004" pitchFamily="2" charset="0"/>
              <a:ea typeface="Segoe UI"/>
              <a:cs typeface="Segoe UI"/>
            </a:endParaRPr>
          </a:p>
          <a:p>
            <a:endParaRPr lang="en-US">
              <a:latin typeface="Adani Regular" panose="02000503000000020004" pitchFamily="2" charset="0"/>
              <a:ea typeface="Segoe UI"/>
              <a:cs typeface="Segoe UI"/>
            </a:endParaRPr>
          </a:p>
          <a:p>
            <a:pPr algn="ctr"/>
            <a:endParaRPr lang="en-US">
              <a:latin typeface="Adani Regular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B359E-A9A7-30EB-4725-20D1A5BAB959}"/>
              </a:ext>
            </a:extLst>
          </p:cNvPr>
          <p:cNvSpPr txBox="1"/>
          <p:nvPr/>
        </p:nvSpPr>
        <p:spPr>
          <a:xfrm>
            <a:off x="493236" y="1470475"/>
            <a:ext cx="60949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rgbClr val="156082"/>
                </a:solidFill>
                <a:latin typeface="+mj-lt"/>
              </a:rPr>
              <a:t>Solution Snapshots</a:t>
            </a:r>
            <a:endParaRPr lang="en-US" sz="1600"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2A4BD3-C12C-B7E5-AF51-0E01DF2F7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7" y="2086725"/>
            <a:ext cx="7763737" cy="420913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275B3F-765D-376D-5676-998E2A4A9BFE}"/>
              </a:ext>
            </a:extLst>
          </p:cNvPr>
          <p:cNvSpPr txBox="1">
            <a:spLocks/>
          </p:cNvSpPr>
          <p:nvPr/>
        </p:nvSpPr>
        <p:spPr>
          <a:xfrm>
            <a:off x="485380" y="849559"/>
            <a:ext cx="4112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>
                <a:solidFill>
                  <a:srgbClr val="156082"/>
                </a:solidFill>
                <a:latin typeface="Adani Regular" panose="02000503000000020004" pitchFamily="2" charset="0"/>
              </a:rPr>
              <a:t>To track Grid connectivity &amp; Evacuation</a:t>
            </a:r>
            <a:endParaRPr kumimoji="0" lang="en-IN" sz="1600" b="1" i="0" u="none" strike="noStrike" kern="1200" cap="none" spc="0" normalizeH="0" baseline="0" noProof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BBB58C-EA76-2865-EE56-CA67715BE45C}"/>
              </a:ext>
            </a:extLst>
          </p:cNvPr>
          <p:cNvCxnSpPr>
            <a:cxnSpLocks/>
          </p:cNvCxnSpPr>
          <p:nvPr/>
        </p:nvCxnSpPr>
        <p:spPr>
          <a:xfrm>
            <a:off x="366618" y="1876268"/>
            <a:ext cx="3171481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15585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0049A-ABE8-FE49-2E8B-00472CCC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6940D2-46B8-3300-5F0E-C4B3DB9A8C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97" y="320802"/>
            <a:ext cx="10542981" cy="375102"/>
          </a:xfrm>
          <a:prstGeom prst="rect">
            <a:avLst/>
          </a:prstGeom>
        </p:spPr>
        <p:txBody>
          <a:bodyPr vert="horz" wrap="square" lIns="0" tIns="83438" rIns="0" bIns="0" rtlCol="0" anchor="t">
            <a:spAutoFit/>
          </a:bodyPr>
          <a:lstStyle/>
          <a:p>
            <a:pPr marL="96520" algn="l" defTabSz="1219170" rtl="0">
              <a:lnSpc>
                <a:spcPct val="90000"/>
              </a:lnSpc>
              <a:spcBef>
                <a:spcPct val="0"/>
              </a:spcBef>
            </a:pPr>
            <a:r>
              <a:rPr lang="en-US" sz="2100" b="1" kern="1200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  <a:ea typeface="+mn-ea"/>
                <a:cs typeface="+mn-cs"/>
              </a:rPr>
              <a:t>Digitalized DPR</a:t>
            </a:r>
            <a:endParaRPr lang="en-US" sz="1200" b="1">
              <a:solidFill>
                <a:srgbClr val="C55A11"/>
              </a:solidFill>
              <a:latin typeface="Adani Regular" panose="02000503000000020004" pitchFamily="2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4096B4B-9C51-BA54-BB71-B39032AFD7F8}"/>
              </a:ext>
            </a:extLst>
          </p:cNvPr>
          <p:cNvCxnSpPr>
            <a:cxnSpLocks/>
          </p:cNvCxnSpPr>
          <p:nvPr/>
        </p:nvCxnSpPr>
        <p:spPr>
          <a:xfrm>
            <a:off x="7656693" y="2189676"/>
            <a:ext cx="3305559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00E53D36-4E55-962A-B05A-DAA836DD52B4}"/>
              </a:ext>
            </a:extLst>
          </p:cNvPr>
          <p:cNvSpPr txBox="1"/>
          <p:nvPr/>
        </p:nvSpPr>
        <p:spPr>
          <a:xfrm>
            <a:off x="7673961" y="1851122"/>
            <a:ext cx="1635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 panose="02000503000000020004" pitchFamily="2" charset="0"/>
              </a:rPr>
              <a:t>Current Status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46636C-FF4A-C1FF-A692-C4FD5E7264FA}"/>
              </a:ext>
            </a:extLst>
          </p:cNvPr>
          <p:cNvSpPr txBox="1"/>
          <p:nvPr/>
        </p:nvSpPr>
        <p:spPr>
          <a:xfrm>
            <a:off x="7656693" y="2359676"/>
            <a:ext cx="3834278" cy="22797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 panose="02000503000000020004" pitchFamily="2" charset="0"/>
              </a:defRPr>
            </a:lvl1pPr>
          </a:lstStyle>
          <a:p>
            <a:pPr>
              <a:defRPr/>
            </a:pPr>
            <a:r>
              <a:rPr lang="en-US" sz="1400">
                <a:latin typeface="Adani Medium"/>
              </a:rPr>
              <a:t>Shift from Excel based tracking to Digitalized version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Upstream &amp; Downstream P6 integration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Human in Loop Approval Workflow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Compute Vision (Camera/Drone) integration possible for 33/48 construction activities</a:t>
            </a:r>
            <a:br>
              <a:rPr lang="en-US"/>
            </a:b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60571-5D55-AB18-EB17-795CB7761500}"/>
              </a:ext>
            </a:extLst>
          </p:cNvPr>
          <p:cNvSpPr txBox="1"/>
          <p:nvPr/>
        </p:nvSpPr>
        <p:spPr>
          <a:xfrm>
            <a:off x="314476" y="4203095"/>
            <a:ext cx="6096000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endParaRPr lang="en-US" sz="1100">
              <a:latin typeface="Adani Regular" panose="02000503000000020004" pitchFamily="2" charset="0"/>
              <a:ea typeface="Segoe UI"/>
              <a:cs typeface="Segoe UI"/>
            </a:endParaRPr>
          </a:p>
          <a:p>
            <a:endParaRPr lang="en-US">
              <a:latin typeface="Adani Regular" panose="02000503000000020004" pitchFamily="2" charset="0"/>
              <a:ea typeface="Segoe UI"/>
              <a:cs typeface="Segoe UI"/>
            </a:endParaRPr>
          </a:p>
          <a:p>
            <a:pPr algn="ctr"/>
            <a:endParaRPr lang="en-US">
              <a:latin typeface="Adani Regular" panose="02000503000000020004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5D633B-ED46-DB44-CAB2-3ACAA0C8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50" y="2359676"/>
            <a:ext cx="7090200" cy="403476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B8D6A4-6A4D-BC93-6865-318DC6B893AF}"/>
              </a:ext>
            </a:extLst>
          </p:cNvPr>
          <p:cNvCxnSpPr>
            <a:cxnSpLocks/>
          </p:cNvCxnSpPr>
          <p:nvPr/>
        </p:nvCxnSpPr>
        <p:spPr>
          <a:xfrm>
            <a:off x="406247" y="2189676"/>
            <a:ext cx="3275565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5A0C283-1049-4B10-4C90-3550C6538876}"/>
              </a:ext>
            </a:extLst>
          </p:cNvPr>
          <p:cNvSpPr txBox="1"/>
          <p:nvPr/>
        </p:nvSpPr>
        <p:spPr>
          <a:xfrm>
            <a:off x="421850" y="1851122"/>
            <a:ext cx="242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 panose="02000503000000020004" pitchFamily="2" charset="0"/>
              </a:rPr>
              <a:t>Solution</a:t>
            </a:r>
            <a:r>
              <a:rPr lang="en-IN" sz="1600" b="1">
                <a:solidFill>
                  <a:srgbClr val="156082"/>
                </a:solidFill>
                <a:latin typeface="Adani Regular" panose="02000503000000020004" pitchFamily="2" charset="0"/>
              </a:rPr>
              <a:t> Snapshot</a:t>
            </a:r>
            <a:endParaRPr kumimoji="0" lang="en-IN" sz="1600" b="1" i="0" u="none" strike="noStrike" kern="1200" cap="none" spc="0" normalizeH="0" baseline="0" noProof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Adani Regular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B648F1-3DCA-456E-CC8C-95E9FA97BD40}"/>
              </a:ext>
            </a:extLst>
          </p:cNvPr>
          <p:cNvSpPr txBox="1">
            <a:spLocks/>
          </p:cNvSpPr>
          <p:nvPr/>
        </p:nvSpPr>
        <p:spPr>
          <a:xfrm>
            <a:off x="485380" y="849559"/>
            <a:ext cx="66272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To emphasize sync between P6 &amp; Real-time construction updates</a:t>
            </a:r>
          </a:p>
        </p:txBody>
      </p:sp>
    </p:spTree>
    <p:extLst>
      <p:ext uri="{BB962C8B-B14F-4D97-AF65-F5344CB8AC3E}">
        <p14:creationId xmlns:p14="http://schemas.microsoft.com/office/powerpoint/2010/main" val="181230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25B3D-4152-6908-5CF4-F2A2ECE0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D123E2-EFB8-E74E-DAB0-DF6526AEA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0997" y="320802"/>
            <a:ext cx="10542981" cy="375102"/>
          </a:xfrm>
          <a:prstGeom prst="rect">
            <a:avLst/>
          </a:prstGeom>
        </p:spPr>
        <p:txBody>
          <a:bodyPr vert="horz" wrap="square" lIns="0" tIns="83438" rIns="0" bIns="0" rtlCol="0" anchor="t">
            <a:spAutoFit/>
          </a:bodyPr>
          <a:lstStyle/>
          <a:p>
            <a:pPr marL="96520">
              <a:lnSpc>
                <a:spcPct val="90000"/>
              </a:lnSpc>
            </a:pPr>
            <a:r>
              <a:rPr lang="en-US" sz="2100" b="1">
                <a:gradFill>
                  <a:gsLst>
                    <a:gs pos="9735">
                      <a:srgbClr val="44546A"/>
                    </a:gs>
                    <a:gs pos="38000">
                      <a:srgbClr val="57499E"/>
                    </a:gs>
                    <a:gs pos="63000">
                      <a:srgbClr val="8E278F"/>
                    </a:gs>
                  </a:gsLst>
                  <a:lin ang="0" scaled="0"/>
                </a:gradFill>
                <a:latin typeface="Adani Regular"/>
                <a:ea typeface="+mn-ea"/>
                <a:cs typeface="+mn-cs"/>
              </a:rPr>
              <a:t>Module Tracker</a:t>
            </a:r>
            <a:endParaRPr lang="en-US" sz="1200" b="1">
              <a:solidFill>
                <a:srgbClr val="C55A11"/>
              </a:solidFill>
              <a:latin typeface="Adani Regular" panose="02000503000000020004" pitchFamily="2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B2FF19E-BCE0-FF69-4E82-7E8C1F609FCD}"/>
              </a:ext>
            </a:extLst>
          </p:cNvPr>
          <p:cNvCxnSpPr>
            <a:cxnSpLocks/>
          </p:cNvCxnSpPr>
          <p:nvPr/>
        </p:nvCxnSpPr>
        <p:spPr>
          <a:xfrm>
            <a:off x="6728041" y="2023828"/>
            <a:ext cx="3305559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62E8DE7-8491-3FC4-A925-EFDA194FAB42}"/>
              </a:ext>
            </a:extLst>
          </p:cNvPr>
          <p:cNvSpPr txBox="1"/>
          <p:nvPr/>
        </p:nvSpPr>
        <p:spPr>
          <a:xfrm>
            <a:off x="6745309" y="1679684"/>
            <a:ext cx="1635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+mj-lt"/>
              </a:rPr>
              <a:t>Current Status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6A2A07F-D82D-72B0-A2C3-F06D00CE8681}"/>
              </a:ext>
            </a:extLst>
          </p:cNvPr>
          <p:cNvSpPr txBox="1"/>
          <p:nvPr/>
        </p:nvSpPr>
        <p:spPr>
          <a:xfrm>
            <a:off x="6728041" y="2220689"/>
            <a:ext cx="3834278" cy="26028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171450" marR="0" lvl="0" indent="-1714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120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ani Medium" panose="02000503000000020004" pitchFamily="2" charset="0"/>
              </a:defRPr>
            </a:lvl1pPr>
          </a:lstStyle>
          <a:p>
            <a:pPr>
              <a:defRPr/>
            </a:pPr>
            <a:r>
              <a:rPr lang="en-US" sz="1400">
                <a:latin typeface="Adani Medium"/>
              </a:rPr>
              <a:t>Single Dashboard combining planning (P6) &amp; Actuals (SAP)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Early identification of delays, shortages &amp; Cost overruns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Real-time visibility of material flow from order to site</a:t>
            </a:r>
          </a:p>
          <a:p>
            <a:pPr>
              <a:defRPr/>
            </a:pPr>
            <a:r>
              <a:rPr lang="en-US" sz="1400">
                <a:latin typeface="Adani Medium"/>
              </a:rPr>
              <a:t>Clear tracking of CAPEX by Project stage</a:t>
            </a:r>
            <a:br>
              <a:rPr lang="en-US"/>
            </a:b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952F7A-825E-590B-3A58-0135A1B2E3CF}"/>
              </a:ext>
            </a:extLst>
          </p:cNvPr>
          <p:cNvSpPr txBox="1"/>
          <p:nvPr/>
        </p:nvSpPr>
        <p:spPr>
          <a:xfrm>
            <a:off x="314476" y="4203095"/>
            <a:ext cx="6096000" cy="815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endParaRPr lang="en-US" sz="1100">
              <a:latin typeface="+mj-lt"/>
              <a:ea typeface="Segoe UI"/>
              <a:cs typeface="Segoe UI"/>
            </a:endParaRPr>
          </a:p>
          <a:p>
            <a:endParaRPr lang="en-US">
              <a:latin typeface="+mj-lt"/>
              <a:ea typeface="Segoe UI"/>
              <a:cs typeface="Segoe UI"/>
            </a:endParaRPr>
          </a:p>
          <a:p>
            <a:pPr algn="ctr"/>
            <a:endParaRPr lang="en-US">
              <a:latin typeface="+mj-lt"/>
            </a:endParaRPr>
          </a:p>
        </p:txBody>
      </p:sp>
      <p:pic>
        <p:nvPicPr>
          <p:cNvPr id="1268" name="Picture 1267" descr="A screenshot of a computer">
            <a:extLst>
              <a:ext uri="{FF2B5EF4-FFF2-40B4-BE49-F238E27FC236}">
                <a16:creationId xmlns:a16="http://schemas.microsoft.com/office/drawing/2014/main" id="{34695FE0-A261-C6DE-5D98-3A7109D4E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79" y="4072952"/>
            <a:ext cx="3953270" cy="2263359"/>
          </a:xfrm>
          <a:prstGeom prst="rect">
            <a:avLst/>
          </a:prstGeom>
        </p:spPr>
      </p:pic>
      <p:pic>
        <p:nvPicPr>
          <p:cNvPr id="1269" name="Picture 126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875F0-BA47-F69C-E797-1D9046473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71" y="1990796"/>
            <a:ext cx="3936278" cy="2082156"/>
          </a:xfrm>
          <a:prstGeom prst="rect">
            <a:avLst/>
          </a:prstGeom>
        </p:spPr>
      </p:pic>
      <p:sp>
        <p:nvSpPr>
          <p:cNvPr id="1270" name="TextBox 1269">
            <a:extLst>
              <a:ext uri="{FF2B5EF4-FFF2-40B4-BE49-F238E27FC236}">
                <a16:creationId xmlns:a16="http://schemas.microsoft.com/office/drawing/2014/main" id="{3E826CA3-DEE1-BD1B-F94D-1020D094EB6E}"/>
              </a:ext>
            </a:extLst>
          </p:cNvPr>
          <p:cNvSpPr txBox="1"/>
          <p:nvPr/>
        </p:nvSpPr>
        <p:spPr>
          <a:xfrm>
            <a:off x="430179" y="1588913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600" b="1">
                <a:solidFill>
                  <a:srgbClr val="156082"/>
                </a:solidFill>
                <a:latin typeface="+mj-lt"/>
              </a:rPr>
              <a:t>Solution Snapshots</a:t>
            </a:r>
            <a:endParaRPr lang="en-US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89FEF9-4F01-ADFD-E58A-4EEDD0435AE9}"/>
              </a:ext>
            </a:extLst>
          </p:cNvPr>
          <p:cNvSpPr txBox="1">
            <a:spLocks/>
          </p:cNvSpPr>
          <p:nvPr/>
        </p:nvSpPr>
        <p:spPr>
          <a:xfrm>
            <a:off x="426765" y="849559"/>
            <a:ext cx="456403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156082"/>
                </a:solidFill>
                <a:latin typeface="Adani Regular"/>
              </a:rPr>
              <a:t>To</a:t>
            </a: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/>
              </a:rPr>
              <a:t> track </a:t>
            </a:r>
            <a:r>
              <a:rPr lang="en-IN" sz="1600" b="1">
                <a:solidFill>
                  <a:srgbClr val="156082"/>
                </a:solidFill>
                <a:latin typeface="Adani Regular"/>
              </a:rPr>
              <a:t>live module</a:t>
            </a:r>
            <a:r>
              <a: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dani Regular"/>
              </a:rPr>
              <a:t> </a:t>
            </a:r>
            <a:r>
              <a:rPr lang="en-IN" sz="1600" b="1">
                <a:solidFill>
                  <a:srgbClr val="156082"/>
                </a:solidFill>
                <a:latin typeface="Adani Regular"/>
              </a:rPr>
              <a:t>planning &amp; Updates </a:t>
            </a:r>
            <a:endParaRPr lang="en-IN" sz="1600" b="1" i="0" u="none" strike="noStrike" kern="1200" cap="none" spc="0" normalizeH="0" baseline="0" noProof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Adani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88652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75C1-07A6-753C-49F4-54D8E735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224">
            <a:extLst>
              <a:ext uri="{FF2B5EF4-FFF2-40B4-BE49-F238E27FC236}">
                <a16:creationId xmlns:a16="http://schemas.microsoft.com/office/drawing/2014/main" id="{95E4700A-6E90-318D-3817-6E3138D8392B}"/>
              </a:ext>
            </a:extLst>
          </p:cNvPr>
          <p:cNvSpPr/>
          <p:nvPr/>
        </p:nvSpPr>
        <p:spPr>
          <a:xfrm>
            <a:off x="6548458" y="6050280"/>
            <a:ext cx="1472046" cy="3842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Notification Layer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07FD3FF2-9F0D-A34C-FAFA-96A5CA2867C3}"/>
              </a:ext>
            </a:extLst>
          </p:cNvPr>
          <p:cNvSpPr/>
          <p:nvPr/>
        </p:nvSpPr>
        <p:spPr>
          <a:xfrm>
            <a:off x="5123928" y="4623301"/>
            <a:ext cx="4559822" cy="1454691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DC420FE4-5210-7753-77D7-F1D4CFFE747F}"/>
              </a:ext>
            </a:extLst>
          </p:cNvPr>
          <p:cNvSpPr/>
          <p:nvPr/>
        </p:nvSpPr>
        <p:spPr>
          <a:xfrm>
            <a:off x="4044428" y="1006797"/>
            <a:ext cx="7544322" cy="3088651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endParaRPr lang="en-US" sz="1200" kern="0">
              <a:solidFill>
                <a:schemeClr val="tx1"/>
              </a:solidFill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4" name="Picture 10" descr="47,881 Data Transmission Icon Royalty-Free Images, Stock Photos &amp; Pictures  | Shutterstock">
            <a:extLst>
              <a:ext uri="{FF2B5EF4-FFF2-40B4-BE49-F238E27FC236}">
                <a16:creationId xmlns:a16="http://schemas.microsoft.com/office/drawing/2014/main" id="{D6779A0D-C9DC-BEDF-ADDB-7D6A30A84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449" y="1749070"/>
            <a:ext cx="431545" cy="43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ap icon symbol on white background ...">
            <a:extLst>
              <a:ext uri="{FF2B5EF4-FFF2-40B4-BE49-F238E27FC236}">
                <a16:creationId xmlns:a16="http://schemas.microsoft.com/office/drawing/2014/main" id="{B7ECFA2A-5F1E-3F7F-2461-B110363E9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971" y="1065576"/>
            <a:ext cx="534574" cy="53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0" name="think-cell data - do not delete" hidden="1">
            <a:extLst>
              <a:ext uri="{FF2B5EF4-FFF2-40B4-BE49-F238E27FC236}">
                <a16:creationId xmlns:a16="http://schemas.microsoft.com/office/drawing/2014/main" id="{E5FFCBE4-B27A-2A76-8941-C1906CAFB3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6" imgH="428" progId="TCLayout.ActiveDocument.1">
                  <p:embed/>
                </p:oleObj>
              </mc:Choice>
              <mc:Fallback>
                <p:oleObj name="think-cell Slide" r:id="rId6" imgW="426" imgH="428" progId="TCLayout.ActiveDocument.1">
                  <p:embed/>
                  <p:pic>
                    <p:nvPicPr>
                      <p:cNvPr id="5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FCBE4-B27A-2A76-8941-C1906CAFB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object 5">
            <a:extLst>
              <a:ext uri="{FF2B5EF4-FFF2-40B4-BE49-F238E27FC236}">
                <a16:creationId xmlns:a16="http://schemas.microsoft.com/office/drawing/2014/main" id="{4DAF4973-6FFE-71E4-60E2-61635021395E}"/>
              </a:ext>
            </a:extLst>
          </p:cNvPr>
          <p:cNvGrpSpPr/>
          <p:nvPr/>
        </p:nvGrpSpPr>
        <p:grpSpPr>
          <a:xfrm>
            <a:off x="391845" y="746762"/>
            <a:ext cx="10744200" cy="64135"/>
            <a:chOff x="391845" y="746761"/>
            <a:chExt cx="10744200" cy="64135"/>
          </a:xfrm>
        </p:grpSpPr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5F1953F3-8C3C-A8B9-1408-B99C507231C7}"/>
                </a:ext>
              </a:extLst>
            </p:cNvPr>
            <p:cNvSpPr/>
            <p:nvPr/>
          </p:nvSpPr>
          <p:spPr>
            <a:xfrm>
              <a:off x="391845" y="807719"/>
              <a:ext cx="10744200" cy="0"/>
            </a:xfrm>
            <a:custGeom>
              <a:avLst/>
              <a:gdLst/>
              <a:ahLst/>
              <a:cxnLst/>
              <a:rect l="l" t="t" r="r" b="b"/>
              <a:pathLst>
                <a:path w="10744200">
                  <a:moveTo>
                    <a:pt x="0" y="0"/>
                  </a:moveTo>
                  <a:lnTo>
                    <a:pt x="10744149" y="0"/>
                  </a:lnTo>
                </a:path>
              </a:pathLst>
            </a:custGeom>
            <a:ln w="635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pPr defTabSz="914377">
                <a:defRPr/>
              </a:pPr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7" name="object 7">
              <a:extLst>
                <a:ext uri="{FF2B5EF4-FFF2-40B4-BE49-F238E27FC236}">
                  <a16:creationId xmlns:a16="http://schemas.microsoft.com/office/drawing/2014/main" id="{ADCE1D1B-A74E-7A06-25FF-CF890AADA03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845" y="746761"/>
              <a:ext cx="7305167" cy="60958"/>
            </a:xfrm>
            <a:prstGeom prst="rect">
              <a:avLst/>
            </a:prstGeom>
          </p:spPr>
        </p:pic>
      </p:grp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02F711C9-5E53-ACE3-3476-30F77022BD42}"/>
              </a:ext>
            </a:extLst>
          </p:cNvPr>
          <p:cNvCxnSpPr>
            <a:cxnSpLocks/>
          </p:cNvCxnSpPr>
          <p:nvPr/>
        </p:nvCxnSpPr>
        <p:spPr>
          <a:xfrm>
            <a:off x="0" y="2375776"/>
            <a:ext cx="1654434" cy="166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4FAA3939-ADB9-38BF-9B36-0247AAF83E8B}"/>
              </a:ext>
            </a:extLst>
          </p:cNvPr>
          <p:cNvSpPr/>
          <p:nvPr/>
        </p:nvSpPr>
        <p:spPr>
          <a:xfrm>
            <a:off x="1654434" y="1928968"/>
            <a:ext cx="1366088" cy="1024582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>
              <a:defRPr/>
            </a:pPr>
            <a:r>
              <a:rPr lang="en-US" sz="12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Transmission Connectivity Tracker</a:t>
            </a:r>
            <a:endParaRPr lang="en-IN" sz="1200" kern="0"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44E44CCD-176F-4B1D-7BDE-F53227043A22}"/>
              </a:ext>
            </a:extLst>
          </p:cNvPr>
          <p:cNvSpPr/>
          <p:nvPr/>
        </p:nvSpPr>
        <p:spPr>
          <a:xfrm>
            <a:off x="5332379" y="1559590"/>
            <a:ext cx="1329925" cy="527849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r>
              <a:rPr lang="en-US" sz="12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SAP – PO/SO Amendment</a:t>
            </a:r>
            <a:endParaRPr lang="en-IN" sz="1200" kern="0"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C47741B9-C193-5BD7-CD7B-04CD84C703F3}"/>
              </a:ext>
            </a:extLst>
          </p:cNvPr>
          <p:cNvSpPr/>
          <p:nvPr/>
        </p:nvSpPr>
        <p:spPr>
          <a:xfrm>
            <a:off x="9358931" y="2475873"/>
            <a:ext cx="1227399" cy="600953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r>
              <a:rPr lang="en-US" sz="12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Digitalized DPR</a:t>
            </a:r>
            <a:endParaRPr lang="en-IN" sz="1200" kern="0"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4F8AC26-9B1D-2E7E-CC77-4214326F7AA6}"/>
              </a:ext>
            </a:extLst>
          </p:cNvPr>
          <p:cNvSpPr/>
          <p:nvPr/>
        </p:nvSpPr>
        <p:spPr>
          <a:xfrm>
            <a:off x="5182189" y="2314070"/>
            <a:ext cx="1630305" cy="1584861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defTabSz="1219140"/>
            <a:r>
              <a:rPr lang="en-US" sz="1200" b="1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Primavera P6</a:t>
            </a:r>
            <a:endParaRPr lang="en-IN" sz="1200" b="1" kern="0"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: Rounded Corners 10">
            <a:extLst>
              <a:ext uri="{FF2B5EF4-FFF2-40B4-BE49-F238E27FC236}">
                <a16:creationId xmlns:a16="http://schemas.microsoft.com/office/drawing/2014/main" id="{8F0E1ADE-CDF4-31D9-E616-863582343C88}"/>
              </a:ext>
            </a:extLst>
          </p:cNvPr>
          <p:cNvSpPr/>
          <p:nvPr/>
        </p:nvSpPr>
        <p:spPr>
          <a:xfrm>
            <a:off x="9266881" y="3178498"/>
            <a:ext cx="1644323" cy="153233"/>
          </a:xfrm>
          <a:prstGeom prst="round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s-ES" sz="9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Site </a:t>
            </a:r>
            <a:r>
              <a:rPr lang="es-ES" sz="900" kern="0" err="1">
                <a:latin typeface="Adani Regular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Construction</a:t>
            </a:r>
            <a:r>
              <a:rPr lang="es-ES" sz="9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s-ES" sz="900" kern="0" err="1">
                <a:latin typeface="Adani Regular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Progress</a:t>
            </a:r>
            <a:endParaRPr lang="en-SG" sz="900" kern="0">
              <a:latin typeface="Adani Regular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FB1228F-561C-B50A-F1A1-A4476E64906F}"/>
              </a:ext>
            </a:extLst>
          </p:cNvPr>
          <p:cNvCxnSpPr>
            <a:cxnSpLocks/>
            <a:stCxn id="163" idx="1"/>
          </p:cNvCxnSpPr>
          <p:nvPr/>
        </p:nvCxnSpPr>
        <p:spPr>
          <a:xfrm flipH="1">
            <a:off x="6812494" y="2776350"/>
            <a:ext cx="254643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48">
            <a:extLst>
              <a:ext uri="{FF2B5EF4-FFF2-40B4-BE49-F238E27FC236}">
                <a16:creationId xmlns:a16="http://schemas.microsoft.com/office/drawing/2014/main" id="{64EE587C-E86D-F2AD-B24D-12F54900F881}"/>
              </a:ext>
            </a:extLst>
          </p:cNvPr>
          <p:cNvSpPr txBox="1"/>
          <p:nvPr/>
        </p:nvSpPr>
        <p:spPr>
          <a:xfrm>
            <a:off x="120840" y="2518940"/>
            <a:ext cx="1533594" cy="1313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90510" indent="-190510" fontAlgn="t">
              <a:buFont typeface="Arial" panose="020B0604020202020204" pitchFamily="34" charset="0"/>
              <a:buChar char="•"/>
              <a:defRPr sz="9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Excel upload in Transmission connectivity dashboard (temporary) </a:t>
            </a:r>
          </a:p>
          <a:p>
            <a:r>
              <a:rPr lang="en-US"/>
              <a:t>Phase‑2: Direct source integration (API / DB)</a:t>
            </a:r>
          </a:p>
        </p:txBody>
      </p:sp>
      <p:sp>
        <p:nvSpPr>
          <p:cNvPr id="139" name="TextBox 48">
            <a:extLst>
              <a:ext uri="{FF2B5EF4-FFF2-40B4-BE49-F238E27FC236}">
                <a16:creationId xmlns:a16="http://schemas.microsoft.com/office/drawing/2014/main" id="{23FE645E-0FA5-99E1-0619-C387E7EA5B79}"/>
              </a:ext>
            </a:extLst>
          </p:cNvPr>
          <p:cNvSpPr txBox="1"/>
          <p:nvPr/>
        </p:nvSpPr>
        <p:spPr>
          <a:xfrm>
            <a:off x="6739846" y="2903091"/>
            <a:ext cx="1685459" cy="9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90510" indent="-190510" fontAlgn="t">
              <a:buFont typeface="Arial" panose="020B0604020202020204" pitchFamily="34" charset="0"/>
              <a:buChar char="•"/>
              <a:defRPr sz="1000" ker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900">
                <a:latin typeface="Adani Regular"/>
              </a:rPr>
              <a:t>Daily Construction Program @L4/L5 level</a:t>
            </a:r>
          </a:p>
          <a:p>
            <a:r>
              <a:rPr lang="en-US" sz="900">
                <a:latin typeface="Adani Regular"/>
              </a:rPr>
              <a:t>Manpower tracking</a:t>
            </a:r>
          </a:p>
          <a:p>
            <a:r>
              <a:rPr lang="en-US" sz="900">
                <a:latin typeface="Adani Regular"/>
              </a:rPr>
              <a:t>Machinery Data </a:t>
            </a:r>
          </a:p>
          <a:p>
            <a:r>
              <a:rPr lang="en-US" sz="900">
                <a:latin typeface="Adani Regular"/>
              </a:rPr>
              <a:t>Add one more activity named as Connectivity status</a:t>
            </a:r>
          </a:p>
        </p:txBody>
      </p:sp>
      <p:sp>
        <p:nvSpPr>
          <p:cNvPr id="140" name="TextBox 48">
            <a:extLst>
              <a:ext uri="{FF2B5EF4-FFF2-40B4-BE49-F238E27FC236}">
                <a16:creationId xmlns:a16="http://schemas.microsoft.com/office/drawing/2014/main" id="{304A2F96-87A5-544C-A16D-BC9CC2035E87}"/>
              </a:ext>
            </a:extLst>
          </p:cNvPr>
          <p:cNvSpPr txBox="1"/>
          <p:nvPr/>
        </p:nvSpPr>
        <p:spPr>
          <a:xfrm>
            <a:off x="1716329" y="3013501"/>
            <a:ext cx="1419014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190510" indent="-190510" fontAlgn="t">
              <a:buFont typeface="Arial" panose="020B0604020202020204" pitchFamily="34" charset="0"/>
              <a:buChar char="•"/>
              <a:defRPr sz="9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indent="0">
              <a:buNone/>
            </a:pPr>
            <a:r>
              <a:rPr lang="en-US"/>
              <a:t>Enables centralized, phase‑wise and project‑wise monitoring of transmission connectivity for Rajasthan and </a:t>
            </a:r>
            <a:r>
              <a:rPr lang="en-US" err="1"/>
              <a:t>Khavda</a:t>
            </a:r>
            <a:r>
              <a:rPr lang="en-US"/>
              <a:t>.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DEA4C602-3EA2-A58E-0F85-1DC541A1077D}"/>
              </a:ext>
            </a:extLst>
          </p:cNvPr>
          <p:cNvSpPr txBox="1"/>
          <p:nvPr/>
        </p:nvSpPr>
        <p:spPr>
          <a:xfrm>
            <a:off x="320513" y="249049"/>
            <a:ext cx="1035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rPr>
              <a:t>Immediate Plan – Drop 1 Projects (8 weeks)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sp>
        <p:nvSpPr>
          <p:cNvPr id="160" name="AutoShape 16" descr="DPR Digital Label Finishing Equipment in UAE &amp; Dubai | Al Majid Digital  Solutions">
            <a:extLst>
              <a:ext uri="{FF2B5EF4-FFF2-40B4-BE49-F238E27FC236}">
                <a16:creationId xmlns:a16="http://schemas.microsoft.com/office/drawing/2014/main" id="{A3C2DD87-E956-21C0-D164-11AB5D4B1C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54650" y="33727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" name="AutoShape 18" descr="DPR Digital Label Finishing Equipment in UAE &amp; Dubai | Al Majid Digital  Solutions">
            <a:extLst>
              <a:ext uri="{FF2B5EF4-FFF2-40B4-BE49-F238E27FC236}">
                <a16:creationId xmlns:a16="http://schemas.microsoft.com/office/drawing/2014/main" id="{F1E88415-9778-38F5-E79C-76BB11F747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7050" y="35251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" name="TextBox 61">
            <a:extLst>
              <a:ext uri="{FF2B5EF4-FFF2-40B4-BE49-F238E27FC236}">
                <a16:creationId xmlns:a16="http://schemas.microsoft.com/office/drawing/2014/main" id="{78C2345E-E78E-0744-14DF-562C0DD79506}"/>
              </a:ext>
            </a:extLst>
          </p:cNvPr>
          <p:cNvSpPr txBox="1"/>
          <p:nvPr/>
        </p:nvSpPr>
        <p:spPr>
          <a:xfrm>
            <a:off x="495301" y="4771379"/>
            <a:ext cx="4003726" cy="1838801"/>
          </a:xfrm>
          <a:prstGeom prst="roundRect">
            <a:avLst>
              <a:gd name="adj" fmla="val 1079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fontAlgn="t">
              <a:lnSpc>
                <a:spcPct val="150000"/>
              </a:lnSpc>
            </a:pPr>
            <a:r>
              <a:rPr lang="en-US" sz="1200" b="1">
                <a:latin typeface="Adani Regular" panose="02000503000000020004"/>
              </a:rPr>
              <a:t>     Use Cases</a:t>
            </a:r>
            <a:endParaRPr lang="en-US" sz="1200">
              <a:latin typeface="Adani Regular" panose="02000503000000020004"/>
            </a:endParaRP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Adani Regular" panose="02000503000000020004"/>
              </a:rPr>
              <a:t>Detect delays in evacuation capacity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Adani Regular" panose="02000503000000020004"/>
              </a:rPr>
              <a:t>Delay Vendor PO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Adani Regular" panose="02000503000000020004"/>
              </a:rPr>
              <a:t>Delay or Reroute Shipping &amp; Container booking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Adani Regular" panose="02000503000000020004"/>
              </a:rPr>
              <a:t>Change schedule dates/Re-Baseline</a:t>
            </a:r>
          </a:p>
          <a:p>
            <a:pPr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Adani Regular" panose="02000503000000020004"/>
              </a:rPr>
              <a:t>LC/BG/WC Decisions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7DD75906-E093-4905-5D1F-D348CF587A3D}"/>
              </a:ext>
            </a:extLst>
          </p:cNvPr>
          <p:cNvSpPr/>
          <p:nvPr/>
        </p:nvSpPr>
        <p:spPr>
          <a:xfrm>
            <a:off x="5394846" y="4919384"/>
            <a:ext cx="1227399" cy="600953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r>
              <a:rPr lang="en-US" sz="11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Module Tracker</a:t>
            </a:r>
            <a:endParaRPr lang="en-IN" sz="1100" kern="0"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1" name="Rectangle: Rounded Corners 1060">
            <a:extLst>
              <a:ext uri="{FF2B5EF4-FFF2-40B4-BE49-F238E27FC236}">
                <a16:creationId xmlns:a16="http://schemas.microsoft.com/office/drawing/2014/main" id="{5818C864-B5BB-2F6B-7A0A-5F55B8DDBBD1}"/>
              </a:ext>
            </a:extLst>
          </p:cNvPr>
          <p:cNvSpPr/>
          <p:nvPr/>
        </p:nvSpPr>
        <p:spPr>
          <a:xfrm>
            <a:off x="7335572" y="1573359"/>
            <a:ext cx="646158" cy="527850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r>
              <a:rPr lang="en-US" sz="12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Human in Loop</a:t>
            </a:r>
            <a:endParaRPr lang="en-IN" sz="1200" kern="0"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D09457AC-72E7-8AE3-6886-95B34A47BB08}"/>
              </a:ext>
            </a:extLst>
          </p:cNvPr>
          <p:cNvSpPr/>
          <p:nvPr/>
        </p:nvSpPr>
        <p:spPr>
          <a:xfrm>
            <a:off x="7582574" y="4955935"/>
            <a:ext cx="1594353" cy="52785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defTabSz="1219140"/>
            <a:r>
              <a:rPr lang="en-US" sz="11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Vendor Notification</a:t>
            </a:r>
            <a:endParaRPr lang="en-IN" sz="1100" kern="0">
              <a:latin typeface="Adani Regular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4C47DAEB-6901-FC1F-BEF3-2FA34FD968EA}"/>
              </a:ext>
            </a:extLst>
          </p:cNvPr>
          <p:cNvCxnSpPr>
            <a:cxnSpLocks/>
            <a:endCxn id="1061" idx="1"/>
          </p:cNvCxnSpPr>
          <p:nvPr/>
        </p:nvCxnSpPr>
        <p:spPr>
          <a:xfrm>
            <a:off x="6670608" y="1837284"/>
            <a:ext cx="66496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825437F7-B41B-DF41-BBCD-D55A6B3B19AF}"/>
              </a:ext>
            </a:extLst>
          </p:cNvPr>
          <p:cNvCxnSpPr>
            <a:cxnSpLocks/>
          </p:cNvCxnSpPr>
          <p:nvPr/>
        </p:nvCxnSpPr>
        <p:spPr>
          <a:xfrm>
            <a:off x="3013919" y="2604899"/>
            <a:ext cx="216827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A64E1B70-198B-F3D4-DEB1-868117D88BF0}"/>
              </a:ext>
            </a:extLst>
          </p:cNvPr>
          <p:cNvCxnSpPr>
            <a:cxnSpLocks/>
            <a:stCxn id="1061" idx="3"/>
            <a:endCxn id="1064" idx="0"/>
          </p:cNvCxnSpPr>
          <p:nvPr/>
        </p:nvCxnSpPr>
        <p:spPr>
          <a:xfrm>
            <a:off x="7981730" y="1837284"/>
            <a:ext cx="398021" cy="311865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6E3271A5-58E8-E136-8638-30AE37F23D8A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5997342" y="3898931"/>
            <a:ext cx="0" cy="10204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1634FDC1-0003-D8B2-F83E-777D24F4974A}"/>
              </a:ext>
            </a:extLst>
          </p:cNvPr>
          <p:cNvSpPr/>
          <p:nvPr/>
        </p:nvSpPr>
        <p:spPr>
          <a:xfrm>
            <a:off x="8646694" y="1204145"/>
            <a:ext cx="2489351" cy="426573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r>
              <a:rPr lang="en-US" sz="1100" kern="0">
                <a:solidFill>
                  <a:schemeClr val="tx1"/>
                </a:solidFill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TC/SCM – Push Ordering/Dispatch Dates</a:t>
            </a:r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C3462563-1282-8B7A-3AD2-2D69D22CBD40}"/>
              </a:ext>
            </a:extLst>
          </p:cNvPr>
          <p:cNvSpPr/>
          <p:nvPr/>
        </p:nvSpPr>
        <p:spPr>
          <a:xfrm>
            <a:off x="8665744" y="1572445"/>
            <a:ext cx="2489351" cy="426573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r>
              <a:rPr lang="en-US" sz="1100" kern="0">
                <a:solidFill>
                  <a:schemeClr val="tx1"/>
                </a:solidFill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Projects Head – Site Readiness</a:t>
            </a:r>
          </a:p>
        </p:txBody>
      </p:sp>
      <p:sp>
        <p:nvSpPr>
          <p:cNvPr id="240" name="Rectangle: Rounded Corners 239">
            <a:extLst>
              <a:ext uri="{FF2B5EF4-FFF2-40B4-BE49-F238E27FC236}">
                <a16:creationId xmlns:a16="http://schemas.microsoft.com/office/drawing/2014/main" id="{154FF958-2C50-3012-CB15-EC27EC77C063}"/>
              </a:ext>
            </a:extLst>
          </p:cNvPr>
          <p:cNvSpPr/>
          <p:nvPr/>
        </p:nvSpPr>
        <p:spPr>
          <a:xfrm>
            <a:off x="8697494" y="1947095"/>
            <a:ext cx="2489351" cy="426573"/>
          </a:xfrm>
          <a:prstGeom prst="roundRect">
            <a:avLst/>
          </a:prstGeom>
          <a:noFill/>
          <a:ln w="19050" cap="flat" cmpd="sng" algn="ctr">
            <a:solidFill>
              <a:srgbClr val="4E95D9"/>
            </a:solidFill>
            <a:prstDash val="solid"/>
          </a:ln>
          <a:effectLst/>
        </p:spPr>
        <p:txBody>
          <a:bodyPr lIns="0" rIns="0" rtlCol="0" anchor="ctr"/>
          <a:lstStyle/>
          <a:p>
            <a:pPr algn="ctr" defTabSz="1219140"/>
            <a:r>
              <a:rPr lang="en-US" sz="1100" kern="0">
                <a:solidFill>
                  <a:schemeClr val="tx1"/>
                </a:solidFill>
                <a:latin typeface="Adani Regular"/>
                <a:ea typeface="Calibri" panose="020F0502020204030204" pitchFamily="34" charset="0"/>
                <a:cs typeface="Calibri" panose="020F0502020204030204" pitchFamily="34" charset="0"/>
              </a:rPr>
              <a:t>Finance – LC/BG/WC Decisions</a:t>
            </a:r>
          </a:p>
        </p:txBody>
      </p: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9A3C73B3-55E1-47B6-0384-4B9B64A60E32}"/>
              </a:ext>
            </a:extLst>
          </p:cNvPr>
          <p:cNvCxnSpPr>
            <a:cxnSpLocks/>
          </p:cNvCxnSpPr>
          <p:nvPr/>
        </p:nvCxnSpPr>
        <p:spPr>
          <a:xfrm>
            <a:off x="7981730" y="1630718"/>
            <a:ext cx="68086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AC0EA08B-7552-F58B-18EA-4A9C4DC78F62}"/>
              </a:ext>
            </a:extLst>
          </p:cNvPr>
          <p:cNvSpPr txBox="1"/>
          <p:nvPr/>
        </p:nvSpPr>
        <p:spPr>
          <a:xfrm>
            <a:off x="6709900" y="1787170"/>
            <a:ext cx="5889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Notify</a:t>
            </a:r>
          </a:p>
        </p:txBody>
      </p:sp>
      <p:sp>
        <p:nvSpPr>
          <p:cNvPr id="246" name="Rectangle: Rounded Corners 10">
            <a:extLst>
              <a:ext uri="{FF2B5EF4-FFF2-40B4-BE49-F238E27FC236}">
                <a16:creationId xmlns:a16="http://schemas.microsoft.com/office/drawing/2014/main" id="{BD06B3BE-4DBE-902D-F7C1-43F2D0642E16}"/>
              </a:ext>
            </a:extLst>
          </p:cNvPr>
          <p:cNvSpPr/>
          <p:nvPr/>
        </p:nvSpPr>
        <p:spPr>
          <a:xfrm>
            <a:off x="5454650" y="5527075"/>
            <a:ext cx="1644323" cy="306467"/>
          </a:xfrm>
          <a:prstGeom prst="round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t"/>
            <a:r>
              <a:rPr lang="en-SG" sz="900" kern="0">
                <a:latin typeface="Adani Regular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Module Movement &amp; Tracking</a:t>
            </a:r>
          </a:p>
        </p:txBody>
      </p:sp>
      <p:cxnSp>
        <p:nvCxnSpPr>
          <p:cNvPr id="248" name="Connector: Elbow 247">
            <a:extLst>
              <a:ext uri="{FF2B5EF4-FFF2-40B4-BE49-F238E27FC236}">
                <a16:creationId xmlns:a16="http://schemas.microsoft.com/office/drawing/2014/main" id="{8F61C7AA-4B46-B81C-0D76-142095E785FF}"/>
              </a:ext>
            </a:extLst>
          </p:cNvPr>
          <p:cNvCxnSpPr>
            <a:cxnSpLocks/>
            <a:stCxn id="142" idx="1"/>
          </p:cNvCxnSpPr>
          <p:nvPr/>
        </p:nvCxnSpPr>
        <p:spPr>
          <a:xfrm rot="10800000" flipH="1" flipV="1">
            <a:off x="5332378" y="1823514"/>
            <a:ext cx="40061" cy="3396345"/>
          </a:xfrm>
          <a:prstGeom prst="curvedConnector4">
            <a:avLst>
              <a:gd name="adj1" fmla="val -2187414"/>
              <a:gd name="adj2" fmla="val 99692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2F7FC48-9E95-AD0E-1B50-A2A78576335F}"/>
              </a:ext>
            </a:extLst>
          </p:cNvPr>
          <p:cNvCxnSpPr>
            <a:stCxn id="142" idx="2"/>
            <a:endCxn id="34" idx="0"/>
          </p:cNvCxnSpPr>
          <p:nvPr/>
        </p:nvCxnSpPr>
        <p:spPr>
          <a:xfrm>
            <a:off x="5997342" y="2087439"/>
            <a:ext cx="0" cy="226631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76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0BEE-5550-AD81-E812-545C71A3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183934B-C91E-7078-3B75-6AA1BEEFE8CD}"/>
              </a:ext>
            </a:extLst>
          </p:cNvPr>
          <p:cNvSpPr/>
          <p:nvPr/>
        </p:nvSpPr>
        <p:spPr>
          <a:xfrm>
            <a:off x="1987282" y="980081"/>
            <a:ext cx="7874057" cy="8739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1541ED0-2A48-ED9D-76D2-8F6FB3473767}"/>
              </a:ext>
            </a:extLst>
          </p:cNvPr>
          <p:cNvSpPr txBox="1">
            <a:spLocks noChangeArrowheads="1"/>
          </p:cNvSpPr>
          <p:nvPr/>
        </p:nvSpPr>
        <p:spPr>
          <a:xfrm>
            <a:off x="450062" y="141425"/>
            <a:ext cx="8262140" cy="8047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dani Regular" pitchFamily="2" charset="0"/>
              <a:ea typeface="+mj-ea"/>
              <a:cs typeface="+mj-cs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A8B8C1DC-F80F-3B50-5E9A-7293C5A6D432}"/>
              </a:ext>
            </a:extLst>
          </p:cNvPr>
          <p:cNvSpPr txBox="1"/>
          <p:nvPr/>
        </p:nvSpPr>
        <p:spPr>
          <a:xfrm>
            <a:off x="12192001" y="613807"/>
            <a:ext cx="1451348" cy="3611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D2562-90C6-A645-7EB0-3D02DAC6E5B1}"/>
              </a:ext>
            </a:extLst>
          </p:cNvPr>
          <p:cNvSpPr txBox="1"/>
          <p:nvPr/>
        </p:nvSpPr>
        <p:spPr>
          <a:xfrm>
            <a:off x="320513" y="249049"/>
            <a:ext cx="1035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Final Plan – Drop </a:t>
            </a:r>
            <a:r>
              <a:rPr lang="en-US" sz="2400" b="1" dirty="0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rPr>
              <a:t>1 (12 weeks)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1FB433-2B99-EA1B-9677-4FE30EF400FA}"/>
              </a:ext>
            </a:extLst>
          </p:cNvPr>
          <p:cNvSpPr/>
          <p:nvPr/>
        </p:nvSpPr>
        <p:spPr>
          <a:xfrm>
            <a:off x="2876347" y="3845566"/>
            <a:ext cx="6108452" cy="10564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300354-A41C-024A-80FB-3F0377E14BB9}"/>
              </a:ext>
            </a:extLst>
          </p:cNvPr>
          <p:cNvSpPr/>
          <p:nvPr/>
        </p:nvSpPr>
        <p:spPr>
          <a:xfrm>
            <a:off x="3930374" y="4247428"/>
            <a:ext cx="875475" cy="57976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SAP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(Cost)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BE2DF8-4380-3204-6BE2-0C4D4E83770C}"/>
              </a:ext>
            </a:extLst>
          </p:cNvPr>
          <p:cNvSpPr/>
          <p:nvPr/>
        </p:nvSpPr>
        <p:spPr>
          <a:xfrm>
            <a:off x="6578951" y="4243073"/>
            <a:ext cx="1171856" cy="5841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P6</a:t>
            </a:r>
          </a:p>
          <a:p>
            <a:pPr algn="ctr"/>
            <a:r>
              <a:rPr lang="en-IN" sz="900" b="1" i="1" dirty="0">
                <a:solidFill>
                  <a:schemeClr val="tx1"/>
                </a:solidFill>
              </a:rPr>
              <a:t>(Schedule)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0B8B21-B8CC-EF87-0C9E-B9C18FC9EA53}"/>
              </a:ext>
            </a:extLst>
          </p:cNvPr>
          <p:cNvSpPr/>
          <p:nvPr/>
        </p:nvSpPr>
        <p:spPr>
          <a:xfrm>
            <a:off x="5124156" y="4251801"/>
            <a:ext cx="1171856" cy="58698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DPR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(Progress Report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2B030C-AF00-E2AD-CE63-EC8DC81F4A15}"/>
              </a:ext>
            </a:extLst>
          </p:cNvPr>
          <p:cNvSpPr/>
          <p:nvPr/>
        </p:nvSpPr>
        <p:spPr>
          <a:xfrm>
            <a:off x="2019580" y="2870023"/>
            <a:ext cx="7841759" cy="873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DA852A5-E75A-B1B3-4C88-F249138AD3E8}"/>
              </a:ext>
            </a:extLst>
          </p:cNvPr>
          <p:cNvSpPr/>
          <p:nvPr/>
        </p:nvSpPr>
        <p:spPr>
          <a:xfrm>
            <a:off x="5147812" y="3171309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Connectivity</a:t>
            </a:r>
          </a:p>
          <a:p>
            <a:pPr algn="ctr"/>
            <a:r>
              <a:rPr lang="en-IN" sz="1200" i="1">
                <a:solidFill>
                  <a:schemeClr val="tx1"/>
                </a:solidFill>
              </a:rPr>
              <a:t>(Transmission Connectivity)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4416691-AEB2-28B2-9DF9-6B1EC0552E3A}"/>
              </a:ext>
            </a:extLst>
          </p:cNvPr>
          <p:cNvSpPr/>
          <p:nvPr/>
        </p:nvSpPr>
        <p:spPr>
          <a:xfrm>
            <a:off x="6988880" y="3141995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Module Tracker</a:t>
            </a:r>
            <a:br>
              <a:rPr lang="en-IN" sz="1200" b="1" dirty="0">
                <a:solidFill>
                  <a:schemeClr val="tx1"/>
                </a:solidFill>
              </a:rPr>
            </a:br>
            <a:r>
              <a:rPr lang="en-IN" sz="1200" i="1" dirty="0">
                <a:solidFill>
                  <a:schemeClr val="tx1"/>
                </a:solidFill>
              </a:rPr>
              <a:t>(Module Logistics)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A7C7D40-20CF-BD3B-2D02-3B0673447D55}"/>
              </a:ext>
            </a:extLst>
          </p:cNvPr>
          <p:cNvSpPr/>
          <p:nvPr/>
        </p:nvSpPr>
        <p:spPr>
          <a:xfrm>
            <a:off x="2025862" y="1868440"/>
            <a:ext cx="7841759" cy="87391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6D8B348-60DB-1384-9415-4B85A3CB869F}"/>
              </a:ext>
            </a:extLst>
          </p:cNvPr>
          <p:cNvSpPr/>
          <p:nvPr/>
        </p:nvSpPr>
        <p:spPr>
          <a:xfrm>
            <a:off x="3538064" y="2149499"/>
            <a:ext cx="4463270" cy="4933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Cross Functional Intelligence</a:t>
            </a:r>
          </a:p>
          <a:p>
            <a:pPr algn="ctr"/>
            <a:r>
              <a:rPr lang="en-IN" sz="1200" i="1">
                <a:solidFill>
                  <a:schemeClr val="tx1"/>
                </a:solidFill>
              </a:rPr>
              <a:t>(Single source of truth for cross functional Intelligence)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1FFC887-15AE-7AD4-98D2-0C670650C567}"/>
              </a:ext>
            </a:extLst>
          </p:cNvPr>
          <p:cNvSpPr/>
          <p:nvPr/>
        </p:nvSpPr>
        <p:spPr>
          <a:xfrm>
            <a:off x="3712999" y="1143412"/>
            <a:ext cx="4467483" cy="53537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Notifications </a:t>
            </a:r>
          </a:p>
          <a:p>
            <a:pPr algn="ctr"/>
            <a:r>
              <a:rPr lang="en-IN" sz="1200" i="1" dirty="0">
                <a:solidFill>
                  <a:schemeClr val="tx1"/>
                </a:solidFill>
              </a:rPr>
              <a:t>(Enabling Human-in-the loop Approval Mechanism)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73983DF-7831-41E0-3403-701634A635D1}"/>
              </a:ext>
            </a:extLst>
          </p:cNvPr>
          <p:cNvSpPr/>
          <p:nvPr/>
        </p:nvSpPr>
        <p:spPr>
          <a:xfrm>
            <a:off x="2110191" y="5039035"/>
            <a:ext cx="7605486" cy="78409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03965B8-62A9-7FF4-C92F-7132C9FF8A60}"/>
              </a:ext>
            </a:extLst>
          </p:cNvPr>
          <p:cNvSpPr/>
          <p:nvPr/>
        </p:nvSpPr>
        <p:spPr>
          <a:xfrm>
            <a:off x="2744420" y="5175005"/>
            <a:ext cx="3266407" cy="4803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Data Layer 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(Enterprise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 + AGEL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C4831EB-CB8F-DEDE-3435-1BC094AB5091}"/>
              </a:ext>
            </a:extLst>
          </p:cNvPr>
          <p:cNvSpPr/>
          <p:nvPr/>
        </p:nvSpPr>
        <p:spPr>
          <a:xfrm>
            <a:off x="6278328" y="5184724"/>
            <a:ext cx="2887747" cy="4803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Analytics Layer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</a:t>
            </a:r>
            <a:r>
              <a:rPr lang="en-IN" sz="1200" b="1" i="1" err="1">
                <a:solidFill>
                  <a:schemeClr val="tx1"/>
                </a:solidFill>
              </a:rPr>
              <a:t>DataBricks</a:t>
            </a:r>
            <a:r>
              <a:rPr lang="en-IN" sz="1200" b="1" i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2ACAE9-2A5B-938D-6360-80296589174D}"/>
              </a:ext>
            </a:extLst>
          </p:cNvPr>
          <p:cNvSpPr/>
          <p:nvPr/>
        </p:nvSpPr>
        <p:spPr>
          <a:xfrm>
            <a:off x="2942903" y="1866655"/>
            <a:ext cx="6160651" cy="23249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Intelligence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CE80CE-8937-D9BB-C12C-1723010F99EB}"/>
              </a:ext>
            </a:extLst>
          </p:cNvPr>
          <p:cNvSpPr/>
          <p:nvPr/>
        </p:nvSpPr>
        <p:spPr>
          <a:xfrm>
            <a:off x="3048979" y="2899819"/>
            <a:ext cx="5705295" cy="19493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Visualization Layer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2EDDCFA-3C82-67CD-9CA5-5D0FA20983CF}"/>
              </a:ext>
            </a:extLst>
          </p:cNvPr>
          <p:cNvSpPr/>
          <p:nvPr/>
        </p:nvSpPr>
        <p:spPr>
          <a:xfrm>
            <a:off x="3514141" y="3913213"/>
            <a:ext cx="4659778" cy="24689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Foundation Layer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1E63B1B-1E09-139D-0335-95D16FA67A21}"/>
              </a:ext>
            </a:extLst>
          </p:cNvPr>
          <p:cNvCxnSpPr>
            <a:cxnSpLocks/>
            <a:stCxn id="2" idx="1"/>
            <a:endCxn id="44" idx="1"/>
          </p:cNvCxnSpPr>
          <p:nvPr/>
        </p:nvCxnSpPr>
        <p:spPr>
          <a:xfrm rot="10800000">
            <a:off x="2025863" y="2305399"/>
            <a:ext cx="850485" cy="2068390"/>
          </a:xfrm>
          <a:prstGeom prst="bentConnector3">
            <a:avLst>
              <a:gd name="adj1" fmla="val 1558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24B4E2A-98D5-3C91-E877-C628A308770C}"/>
              </a:ext>
            </a:extLst>
          </p:cNvPr>
          <p:cNvSpPr/>
          <p:nvPr/>
        </p:nvSpPr>
        <p:spPr>
          <a:xfrm>
            <a:off x="10244591" y="3265617"/>
            <a:ext cx="1238633" cy="268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chemeClr val="tx1"/>
                </a:solidFill>
              </a:rPr>
              <a:t>Historical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E00B76-5916-7F2F-DC91-AF30548ADFE1}"/>
              </a:ext>
            </a:extLst>
          </p:cNvPr>
          <p:cNvSpPr/>
          <p:nvPr/>
        </p:nvSpPr>
        <p:spPr>
          <a:xfrm>
            <a:off x="1089592" y="3265617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Live Data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0345844-B37A-840A-F661-982E587652B5}"/>
              </a:ext>
            </a:extLst>
          </p:cNvPr>
          <p:cNvSpPr/>
          <p:nvPr/>
        </p:nvSpPr>
        <p:spPr>
          <a:xfrm>
            <a:off x="2110190" y="5890773"/>
            <a:ext cx="7605487" cy="87391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08D4765-21AF-5410-C188-725CFA0FD684}"/>
              </a:ext>
            </a:extLst>
          </p:cNvPr>
          <p:cNvSpPr/>
          <p:nvPr/>
        </p:nvSpPr>
        <p:spPr>
          <a:xfrm>
            <a:off x="2534726" y="6057076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People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4FE0245-B474-82AE-70EA-9EDC996E24E3}"/>
              </a:ext>
            </a:extLst>
          </p:cNvPr>
          <p:cNvSpPr/>
          <p:nvPr/>
        </p:nvSpPr>
        <p:spPr>
          <a:xfrm>
            <a:off x="4210256" y="6057075"/>
            <a:ext cx="825517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Camera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6EBBED3-64D3-1D0E-A7AF-205F4BE11DE2}"/>
              </a:ext>
            </a:extLst>
          </p:cNvPr>
          <p:cNvSpPr/>
          <p:nvPr/>
        </p:nvSpPr>
        <p:spPr>
          <a:xfrm>
            <a:off x="7518157" y="6057074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Web Scrapping (RPA)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3CD12FF-C48A-6A96-7D50-F824F1D4B64E}"/>
              </a:ext>
            </a:extLst>
          </p:cNvPr>
          <p:cNvSpPr/>
          <p:nvPr/>
        </p:nvSpPr>
        <p:spPr>
          <a:xfrm>
            <a:off x="5545007" y="6057074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API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E58FF1-3A6E-2A15-A08E-0EDEC8586596}"/>
              </a:ext>
            </a:extLst>
          </p:cNvPr>
          <p:cNvSpPr/>
          <p:nvPr/>
        </p:nvSpPr>
        <p:spPr>
          <a:xfrm>
            <a:off x="177405" y="6158944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1"/>
                </a:solidFill>
              </a:rPr>
              <a:t>Input Layer</a:t>
            </a:r>
          </a:p>
        </p:txBody>
      </p: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1A9E107F-9A27-A5CB-8482-3E6B67A614DB}"/>
              </a:ext>
            </a:extLst>
          </p:cNvPr>
          <p:cNvCxnSpPr>
            <a:stCxn id="52" idx="3"/>
            <a:endCxn id="25" idx="2"/>
          </p:cNvCxnSpPr>
          <p:nvPr/>
        </p:nvCxnSpPr>
        <p:spPr>
          <a:xfrm flipV="1">
            <a:off x="9715677" y="3533981"/>
            <a:ext cx="1148231" cy="189710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Connector: Elbow 1050">
            <a:extLst>
              <a:ext uri="{FF2B5EF4-FFF2-40B4-BE49-F238E27FC236}">
                <a16:creationId xmlns:a16="http://schemas.microsoft.com/office/drawing/2014/main" id="{9321D0C9-4489-80B8-7B4F-A2F7541D9045}"/>
              </a:ext>
            </a:extLst>
          </p:cNvPr>
          <p:cNvCxnSpPr>
            <a:stCxn id="25" idx="0"/>
            <a:endCxn id="44" idx="3"/>
          </p:cNvCxnSpPr>
          <p:nvPr/>
        </p:nvCxnSpPr>
        <p:spPr>
          <a:xfrm rot="16200000" flipV="1">
            <a:off x="9885656" y="2287364"/>
            <a:ext cx="960218" cy="9962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Rectangle: Rounded Corners 1055">
            <a:extLst>
              <a:ext uri="{FF2B5EF4-FFF2-40B4-BE49-F238E27FC236}">
                <a16:creationId xmlns:a16="http://schemas.microsoft.com/office/drawing/2014/main" id="{6B92D0E3-27F5-BC9F-D80D-641C860C73EC}"/>
              </a:ext>
            </a:extLst>
          </p:cNvPr>
          <p:cNvSpPr/>
          <p:nvPr/>
        </p:nvSpPr>
        <p:spPr>
          <a:xfrm>
            <a:off x="3297918" y="3182078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Power BI</a:t>
            </a:r>
            <a:br>
              <a:rPr lang="en-IN" sz="1200" b="1">
                <a:solidFill>
                  <a:schemeClr val="tx1"/>
                </a:solidFill>
              </a:rPr>
            </a:br>
            <a:r>
              <a:rPr lang="en-IN" sz="1200">
                <a:solidFill>
                  <a:schemeClr val="tx1"/>
                </a:solidFill>
              </a:rPr>
              <a:t>(</a:t>
            </a:r>
            <a:r>
              <a:rPr lang="en-IN" sz="1200" i="1">
                <a:solidFill>
                  <a:schemeClr val="tx1"/>
                </a:solidFill>
              </a:rPr>
              <a:t>Multiple Dashboards)</a:t>
            </a:r>
          </a:p>
        </p:txBody>
      </p:sp>
    </p:spTree>
    <p:extLst>
      <p:ext uri="{BB962C8B-B14F-4D97-AF65-F5344CB8AC3E}">
        <p14:creationId xmlns:p14="http://schemas.microsoft.com/office/powerpoint/2010/main" val="417239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3D2C5-B71D-AAF2-215C-0D64FE4F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EC5075C-CB13-4F40-24C9-1FBC3916FA14}"/>
              </a:ext>
            </a:extLst>
          </p:cNvPr>
          <p:cNvSpPr/>
          <p:nvPr/>
        </p:nvSpPr>
        <p:spPr>
          <a:xfrm>
            <a:off x="1449657" y="980081"/>
            <a:ext cx="8921760" cy="8739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D328D4-065C-95B0-CB1B-677017465E54}"/>
              </a:ext>
            </a:extLst>
          </p:cNvPr>
          <p:cNvSpPr txBox="1">
            <a:spLocks noChangeArrowheads="1"/>
          </p:cNvSpPr>
          <p:nvPr/>
        </p:nvSpPr>
        <p:spPr>
          <a:xfrm>
            <a:off x="450062" y="141425"/>
            <a:ext cx="8262140" cy="8047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dani Regular" pitchFamily="2" charset="0"/>
              <a:ea typeface="+mj-ea"/>
              <a:cs typeface="+mj-cs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333CD78-1D48-F0D7-2097-1520E39778ED}"/>
              </a:ext>
            </a:extLst>
          </p:cNvPr>
          <p:cNvSpPr txBox="1"/>
          <p:nvPr/>
        </p:nvSpPr>
        <p:spPr>
          <a:xfrm>
            <a:off x="12192001" y="613807"/>
            <a:ext cx="1451348" cy="3611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154CF-12AE-2D6B-4B11-B337F0F313F3}"/>
              </a:ext>
            </a:extLst>
          </p:cNvPr>
          <p:cNvSpPr txBox="1"/>
          <p:nvPr/>
        </p:nvSpPr>
        <p:spPr>
          <a:xfrm>
            <a:off x="320513" y="249049"/>
            <a:ext cx="1035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Final Plan – Drop 2</a:t>
            </a:r>
            <a:r>
              <a:rPr lang="en-US" sz="2400" b="1" dirty="0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rPr>
              <a:t>(Drop1 + 8 weeks)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gradFill>
                <a:gsLst>
                  <a:gs pos="9735">
                    <a:srgbClr val="44546A"/>
                  </a:gs>
                  <a:gs pos="63000">
                    <a:srgbClr val="8E278F"/>
                  </a:gs>
                  <a:gs pos="38000">
                    <a:srgbClr val="57499E"/>
                  </a:gs>
                </a:gsLst>
                <a:lin ang="0" scaled="0"/>
              </a:gra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E574FB-D676-546F-5AD2-C8B709222E95}"/>
              </a:ext>
            </a:extLst>
          </p:cNvPr>
          <p:cNvSpPr/>
          <p:nvPr/>
        </p:nvSpPr>
        <p:spPr>
          <a:xfrm>
            <a:off x="1447563" y="3710563"/>
            <a:ext cx="8921760" cy="11865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EAE518-1D2E-EB71-542F-8EBDD919FB58}"/>
              </a:ext>
            </a:extLst>
          </p:cNvPr>
          <p:cNvSpPr/>
          <p:nvPr/>
        </p:nvSpPr>
        <p:spPr>
          <a:xfrm>
            <a:off x="1449657" y="2741338"/>
            <a:ext cx="8919666" cy="873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E835F5A-3C29-DCB3-BF0A-70E3BE2F8B33}"/>
              </a:ext>
            </a:extLst>
          </p:cNvPr>
          <p:cNvSpPr/>
          <p:nvPr/>
        </p:nvSpPr>
        <p:spPr>
          <a:xfrm>
            <a:off x="2594943" y="3054109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Power BI</a:t>
            </a:r>
            <a:br>
              <a:rPr lang="en-IN" sz="1200" b="1">
                <a:solidFill>
                  <a:schemeClr val="tx1"/>
                </a:solidFill>
              </a:rPr>
            </a:br>
            <a:r>
              <a:rPr lang="en-IN" sz="1200">
                <a:solidFill>
                  <a:schemeClr val="tx1"/>
                </a:solidFill>
              </a:rPr>
              <a:t>(</a:t>
            </a:r>
            <a:r>
              <a:rPr lang="en-IN" sz="1200" i="1">
                <a:solidFill>
                  <a:schemeClr val="tx1"/>
                </a:solidFill>
              </a:rPr>
              <a:t>Multiple Dashboards)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2EF8047-A8A6-3F7F-C606-605E5C7344A1}"/>
              </a:ext>
            </a:extLst>
          </p:cNvPr>
          <p:cNvSpPr/>
          <p:nvPr/>
        </p:nvSpPr>
        <p:spPr>
          <a:xfrm>
            <a:off x="4244325" y="3040285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MIS</a:t>
            </a:r>
            <a:br>
              <a:rPr lang="en-IN" sz="1200" b="1">
                <a:solidFill>
                  <a:schemeClr val="tx1"/>
                </a:solidFill>
              </a:rPr>
            </a:br>
            <a:r>
              <a:rPr lang="en-IN" sz="1200" i="1">
                <a:solidFill>
                  <a:schemeClr val="tx1"/>
                </a:solidFill>
              </a:rPr>
              <a:t>(Management Reporting</a:t>
            </a:r>
            <a:r>
              <a:rPr lang="en-IN" sz="1200" b="1" i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F73B0E5-CC8B-B921-F8EE-5E72E3717807}"/>
              </a:ext>
            </a:extLst>
          </p:cNvPr>
          <p:cNvSpPr/>
          <p:nvPr/>
        </p:nvSpPr>
        <p:spPr>
          <a:xfrm>
            <a:off x="5944871" y="3039832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Connectivity</a:t>
            </a:r>
          </a:p>
          <a:p>
            <a:pPr algn="ctr"/>
            <a:r>
              <a:rPr lang="en-IN" sz="1200" i="1">
                <a:solidFill>
                  <a:schemeClr val="tx1"/>
                </a:solidFill>
              </a:rPr>
              <a:t>(Transmission Connectivity)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8103DD3-63F4-58A4-279D-828116D87E30}"/>
              </a:ext>
            </a:extLst>
          </p:cNvPr>
          <p:cNvSpPr/>
          <p:nvPr/>
        </p:nvSpPr>
        <p:spPr>
          <a:xfrm>
            <a:off x="7606553" y="3054109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Module Tracker</a:t>
            </a:r>
            <a:br>
              <a:rPr lang="en-IN" sz="1200" b="1" dirty="0">
                <a:solidFill>
                  <a:schemeClr val="tx1"/>
                </a:solidFill>
              </a:rPr>
            </a:br>
            <a:r>
              <a:rPr lang="en-IN" sz="1200" i="1" dirty="0">
                <a:solidFill>
                  <a:schemeClr val="tx1"/>
                </a:solidFill>
              </a:rPr>
              <a:t>(Module Logistics)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9A168A6-C4E6-7850-5AA5-F841A4F88E3E}"/>
              </a:ext>
            </a:extLst>
          </p:cNvPr>
          <p:cNvSpPr/>
          <p:nvPr/>
        </p:nvSpPr>
        <p:spPr>
          <a:xfrm>
            <a:off x="1449657" y="1868440"/>
            <a:ext cx="8921760" cy="87391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C9DAB01-3B3D-7655-574E-906FB8E96E6B}"/>
              </a:ext>
            </a:extLst>
          </p:cNvPr>
          <p:cNvSpPr/>
          <p:nvPr/>
        </p:nvSpPr>
        <p:spPr>
          <a:xfrm>
            <a:off x="3661313" y="2149388"/>
            <a:ext cx="4463270" cy="53537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Cross Functional Intelligence</a:t>
            </a:r>
          </a:p>
          <a:p>
            <a:pPr algn="ctr"/>
            <a:r>
              <a:rPr lang="en-IN" sz="1200" i="1" dirty="0">
                <a:solidFill>
                  <a:schemeClr val="tx1"/>
                </a:solidFill>
              </a:rPr>
              <a:t>(Single source of truth for cross functional Intelligence)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08517E9-273A-3EA3-B918-2272D9F9F2A5}"/>
              </a:ext>
            </a:extLst>
          </p:cNvPr>
          <p:cNvSpPr/>
          <p:nvPr/>
        </p:nvSpPr>
        <p:spPr>
          <a:xfrm>
            <a:off x="3712401" y="1211652"/>
            <a:ext cx="4467483" cy="53537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Notifications </a:t>
            </a:r>
          </a:p>
          <a:p>
            <a:pPr algn="ctr"/>
            <a:r>
              <a:rPr lang="en-IN" sz="1200" i="1" dirty="0">
                <a:solidFill>
                  <a:schemeClr val="tx1"/>
                </a:solidFill>
              </a:rPr>
              <a:t>(Enabling Human-in-the loop Approval Mechanism)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F56B66E-1560-F5EF-1AF0-5EB1438FBF87}"/>
              </a:ext>
            </a:extLst>
          </p:cNvPr>
          <p:cNvSpPr/>
          <p:nvPr/>
        </p:nvSpPr>
        <p:spPr>
          <a:xfrm>
            <a:off x="926847" y="5035915"/>
            <a:ext cx="9898871" cy="78409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843B8B2-A5F8-7771-FA6D-1614053AAB3C}"/>
              </a:ext>
            </a:extLst>
          </p:cNvPr>
          <p:cNvSpPr/>
          <p:nvPr/>
        </p:nvSpPr>
        <p:spPr>
          <a:xfrm>
            <a:off x="1179267" y="5174956"/>
            <a:ext cx="4467483" cy="4803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Data Layer 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(Enterprise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 + AGEL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D3968E4-5DE8-E9F7-B4D6-9DE5DA6A7D00}"/>
              </a:ext>
            </a:extLst>
          </p:cNvPr>
          <p:cNvSpPr/>
          <p:nvPr/>
        </p:nvSpPr>
        <p:spPr>
          <a:xfrm>
            <a:off x="6097052" y="5152705"/>
            <a:ext cx="4467483" cy="4803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Analytics Layer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</a:t>
            </a:r>
            <a:r>
              <a:rPr lang="en-IN" sz="1200" b="1" i="1" err="1">
                <a:solidFill>
                  <a:schemeClr val="tx1"/>
                </a:solidFill>
              </a:rPr>
              <a:t>DataBricks</a:t>
            </a:r>
            <a:r>
              <a:rPr lang="en-IN" sz="1200" b="1" i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AC3634-0409-3BA7-4452-7D86ECC1F754}"/>
              </a:ext>
            </a:extLst>
          </p:cNvPr>
          <p:cNvSpPr/>
          <p:nvPr/>
        </p:nvSpPr>
        <p:spPr>
          <a:xfrm>
            <a:off x="2138033" y="1896426"/>
            <a:ext cx="7501844" cy="19253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Intelligence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ED4141-4AD5-4FD7-D3D7-F65FAD4CB087}"/>
              </a:ext>
            </a:extLst>
          </p:cNvPr>
          <p:cNvSpPr/>
          <p:nvPr/>
        </p:nvSpPr>
        <p:spPr>
          <a:xfrm>
            <a:off x="2134894" y="2813902"/>
            <a:ext cx="7502890" cy="18824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Visualization Layer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76EE56D-0E39-6046-722D-ABF4F37E9FAF}"/>
              </a:ext>
            </a:extLst>
          </p:cNvPr>
          <p:cNvSpPr/>
          <p:nvPr/>
        </p:nvSpPr>
        <p:spPr>
          <a:xfrm>
            <a:off x="2134894" y="3754154"/>
            <a:ext cx="7502890" cy="24108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Foundation Layer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AE57F22-8E06-01C0-2B1F-802AD9D41A71}"/>
              </a:ext>
            </a:extLst>
          </p:cNvPr>
          <p:cNvCxnSpPr>
            <a:cxnSpLocks/>
            <a:stCxn id="2" idx="1"/>
            <a:endCxn id="44" idx="1"/>
          </p:cNvCxnSpPr>
          <p:nvPr/>
        </p:nvCxnSpPr>
        <p:spPr>
          <a:xfrm rot="10800000" flipH="1">
            <a:off x="1447563" y="2305399"/>
            <a:ext cx="2094" cy="1998424"/>
          </a:xfrm>
          <a:prstGeom prst="bentConnector3">
            <a:avLst>
              <a:gd name="adj1" fmla="val -337904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596A071-DC86-5060-66C1-0E82FD4D6354}"/>
              </a:ext>
            </a:extLst>
          </p:cNvPr>
          <p:cNvSpPr/>
          <p:nvPr/>
        </p:nvSpPr>
        <p:spPr>
          <a:xfrm>
            <a:off x="10742343" y="3321794"/>
            <a:ext cx="1238633" cy="268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tx1"/>
                </a:solidFill>
              </a:rPr>
              <a:t>Historical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72D271-0536-B32E-3859-04F0B75C7AC4}"/>
              </a:ext>
            </a:extLst>
          </p:cNvPr>
          <p:cNvSpPr/>
          <p:nvPr/>
        </p:nvSpPr>
        <p:spPr>
          <a:xfrm>
            <a:off x="230610" y="3039832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Live Data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6621789-38FC-F7BB-D347-086508CB01C3}"/>
              </a:ext>
            </a:extLst>
          </p:cNvPr>
          <p:cNvSpPr/>
          <p:nvPr/>
        </p:nvSpPr>
        <p:spPr>
          <a:xfrm>
            <a:off x="3549428" y="4160296"/>
            <a:ext cx="609271" cy="4997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STF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5BD168E-2E99-770F-D564-E993F0D21E71}"/>
              </a:ext>
            </a:extLst>
          </p:cNvPr>
          <p:cNvSpPr/>
          <p:nvPr/>
        </p:nvSpPr>
        <p:spPr>
          <a:xfrm>
            <a:off x="911165" y="5890773"/>
            <a:ext cx="9898871" cy="87391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FF2EBE2-4930-D5C6-71AB-29F7EDEC8EB1}"/>
              </a:ext>
            </a:extLst>
          </p:cNvPr>
          <p:cNvSpPr/>
          <p:nvPr/>
        </p:nvSpPr>
        <p:spPr>
          <a:xfrm>
            <a:off x="1128301" y="6060046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Camera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45E8C74-DE20-D5DB-BE3E-F55604CC31A0}"/>
              </a:ext>
            </a:extLst>
          </p:cNvPr>
          <p:cNvSpPr/>
          <p:nvPr/>
        </p:nvSpPr>
        <p:spPr>
          <a:xfrm>
            <a:off x="2665118" y="6073580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People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B404477-0AFF-0D9A-3F04-C674047AB405}"/>
              </a:ext>
            </a:extLst>
          </p:cNvPr>
          <p:cNvSpPr/>
          <p:nvPr/>
        </p:nvSpPr>
        <p:spPr>
          <a:xfrm>
            <a:off x="4177043" y="6060046"/>
            <a:ext cx="780234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IC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131F1FF-047D-EFC5-A8F3-68F8684ADD42}"/>
              </a:ext>
            </a:extLst>
          </p:cNvPr>
          <p:cNvSpPr/>
          <p:nvPr/>
        </p:nvSpPr>
        <p:spPr>
          <a:xfrm>
            <a:off x="5018513" y="6073580"/>
            <a:ext cx="825517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SCADA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72485C8-DB74-671D-53A8-CE93B706EAEE}"/>
              </a:ext>
            </a:extLst>
          </p:cNvPr>
          <p:cNvSpPr/>
          <p:nvPr/>
        </p:nvSpPr>
        <p:spPr>
          <a:xfrm>
            <a:off x="5912934" y="6060045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Sensors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2DB2A87-A44F-285F-CE93-54984ECEAE78}"/>
              </a:ext>
            </a:extLst>
          </p:cNvPr>
          <p:cNvSpPr/>
          <p:nvPr/>
        </p:nvSpPr>
        <p:spPr>
          <a:xfrm>
            <a:off x="9123381" y="6060045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ENOC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6F26160-0F61-978F-EFD0-066299B19526}"/>
              </a:ext>
            </a:extLst>
          </p:cNvPr>
          <p:cNvSpPr/>
          <p:nvPr/>
        </p:nvSpPr>
        <p:spPr>
          <a:xfrm>
            <a:off x="7518157" y="6060045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API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5F70E0E7-863A-9211-76C8-AEED1062E2F8}"/>
              </a:ext>
            </a:extLst>
          </p:cNvPr>
          <p:cNvSpPr/>
          <p:nvPr/>
        </p:nvSpPr>
        <p:spPr>
          <a:xfrm>
            <a:off x="2763382" y="4173505"/>
            <a:ext cx="609271" cy="45408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b="1" dirty="0">
                <a:solidFill>
                  <a:schemeClr val="tx1"/>
                </a:solidFill>
              </a:rPr>
              <a:t>IC</a:t>
            </a:r>
            <a:br>
              <a:rPr lang="en-IN" sz="900" b="1" dirty="0">
                <a:solidFill>
                  <a:schemeClr val="tx1"/>
                </a:solidFill>
              </a:rPr>
            </a:br>
            <a:endParaRPr lang="en-IN" sz="900" i="1" dirty="0">
              <a:solidFill>
                <a:schemeClr val="tx1"/>
              </a:solidFill>
            </a:endParaRPr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0DC629CE-C4A2-50EE-33E7-8276A27C1CC9}"/>
              </a:ext>
            </a:extLst>
          </p:cNvPr>
          <p:cNvSpPr/>
          <p:nvPr/>
        </p:nvSpPr>
        <p:spPr>
          <a:xfrm>
            <a:off x="6795332" y="4178242"/>
            <a:ext cx="872777" cy="4769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O&amp;M ADLS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028" name="Rectangle: Rounded Corners 1027">
            <a:extLst>
              <a:ext uri="{FF2B5EF4-FFF2-40B4-BE49-F238E27FC236}">
                <a16:creationId xmlns:a16="http://schemas.microsoft.com/office/drawing/2014/main" id="{06299F8F-4568-58A6-0823-CEEBAD46927C}"/>
              </a:ext>
            </a:extLst>
          </p:cNvPr>
          <p:cNvSpPr/>
          <p:nvPr/>
        </p:nvSpPr>
        <p:spPr>
          <a:xfrm>
            <a:off x="7826950" y="4188115"/>
            <a:ext cx="598308" cy="4670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ENOC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82E467E2-CAB6-6277-5D4F-65DE8804A9D3}"/>
              </a:ext>
            </a:extLst>
          </p:cNvPr>
          <p:cNvSpPr/>
          <p:nvPr/>
        </p:nvSpPr>
        <p:spPr>
          <a:xfrm>
            <a:off x="5532374" y="4183101"/>
            <a:ext cx="1068915" cy="47695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Resource Assessment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E0C8EDFB-62EE-10AC-143E-2102FF2D84DA}"/>
              </a:ext>
            </a:extLst>
          </p:cNvPr>
          <p:cNvSpPr/>
          <p:nvPr/>
        </p:nvSpPr>
        <p:spPr>
          <a:xfrm>
            <a:off x="8626777" y="4178242"/>
            <a:ext cx="533986" cy="44934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SFTP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27B1D3-D27F-0E10-F093-EA015E3A20B8}"/>
              </a:ext>
            </a:extLst>
          </p:cNvPr>
          <p:cNvSpPr/>
          <p:nvPr/>
        </p:nvSpPr>
        <p:spPr>
          <a:xfrm>
            <a:off x="4326359" y="4160321"/>
            <a:ext cx="1026256" cy="4851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SOP and Manuals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BC8A80-8163-01BB-10FC-76CC73FD4C6C}"/>
              </a:ext>
            </a:extLst>
          </p:cNvPr>
          <p:cNvSpPr/>
          <p:nvPr/>
        </p:nvSpPr>
        <p:spPr>
          <a:xfrm>
            <a:off x="177405" y="6158944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1"/>
                </a:solidFill>
              </a:rPr>
              <a:t>Input Layer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7721563-8198-B0DE-1CEB-4FCBA9D13306}"/>
              </a:ext>
            </a:extLst>
          </p:cNvPr>
          <p:cNvCxnSpPr/>
          <p:nvPr/>
        </p:nvCxnSpPr>
        <p:spPr>
          <a:xfrm rot="16200000" flipV="1">
            <a:off x="10371831" y="2332243"/>
            <a:ext cx="960218" cy="9962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: Elbow 1033">
            <a:extLst>
              <a:ext uri="{FF2B5EF4-FFF2-40B4-BE49-F238E27FC236}">
                <a16:creationId xmlns:a16="http://schemas.microsoft.com/office/drawing/2014/main" id="{A4492D48-D884-14EF-AD36-FC8927A9264A}"/>
              </a:ext>
            </a:extLst>
          </p:cNvPr>
          <p:cNvCxnSpPr>
            <a:stCxn id="52" idx="3"/>
            <a:endCxn id="25" idx="2"/>
          </p:cNvCxnSpPr>
          <p:nvPr/>
        </p:nvCxnSpPr>
        <p:spPr>
          <a:xfrm flipV="1">
            <a:off x="10825718" y="3590158"/>
            <a:ext cx="535942" cy="183780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68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3CAB-FE62-32B4-0047-FA302496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A3AB776-E543-67ED-7A0B-45FFBAC7EF13}"/>
              </a:ext>
            </a:extLst>
          </p:cNvPr>
          <p:cNvSpPr/>
          <p:nvPr/>
        </p:nvSpPr>
        <p:spPr>
          <a:xfrm>
            <a:off x="1770743" y="980081"/>
            <a:ext cx="8324919" cy="8739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13D3020-3645-A3C9-ECF0-551BE5E5D27F}"/>
              </a:ext>
            </a:extLst>
          </p:cNvPr>
          <p:cNvSpPr txBox="1">
            <a:spLocks noChangeArrowheads="1"/>
          </p:cNvSpPr>
          <p:nvPr/>
        </p:nvSpPr>
        <p:spPr>
          <a:xfrm>
            <a:off x="450062" y="141425"/>
            <a:ext cx="8262140" cy="8047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dani Regular" pitchFamily="2" charset="0"/>
              <a:ea typeface="+mj-ea"/>
              <a:cs typeface="+mj-cs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A708B5B0-6CC9-FE46-9895-E0A40869D7CA}"/>
              </a:ext>
            </a:extLst>
          </p:cNvPr>
          <p:cNvSpPr txBox="1"/>
          <p:nvPr/>
        </p:nvSpPr>
        <p:spPr>
          <a:xfrm>
            <a:off x="12192001" y="613807"/>
            <a:ext cx="1451348" cy="3611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2F9BD-4888-128B-5642-008EFB6075A4}"/>
              </a:ext>
            </a:extLst>
          </p:cNvPr>
          <p:cNvSpPr txBox="1"/>
          <p:nvPr/>
        </p:nvSpPr>
        <p:spPr>
          <a:xfrm>
            <a:off x="320513" y="249049"/>
            <a:ext cx="1035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Final Plan –  Drop </a:t>
            </a:r>
            <a:r>
              <a:rPr lang="en-US" sz="2400" b="1" dirty="0"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latin typeface="Adani Regular" panose="02000503000000020004" pitchFamily="2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 (Drop 2 + 10 weeks)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B636A2-2FC1-47F1-45A6-AEBCD3167E56}"/>
              </a:ext>
            </a:extLst>
          </p:cNvPr>
          <p:cNvSpPr/>
          <p:nvPr/>
        </p:nvSpPr>
        <p:spPr>
          <a:xfrm>
            <a:off x="1770743" y="3754693"/>
            <a:ext cx="8324919" cy="118651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DDAC9E-1585-8ABE-3114-DA1054723B90}"/>
              </a:ext>
            </a:extLst>
          </p:cNvPr>
          <p:cNvSpPr/>
          <p:nvPr/>
        </p:nvSpPr>
        <p:spPr>
          <a:xfrm>
            <a:off x="6228098" y="4045674"/>
            <a:ext cx="1068915" cy="42005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Ariba</a:t>
            </a:r>
          </a:p>
          <a:p>
            <a:pPr algn="ctr"/>
            <a:r>
              <a:rPr lang="en-IN" sz="900" i="1" dirty="0">
                <a:solidFill>
                  <a:schemeClr val="tx1"/>
                </a:solidFill>
              </a:rPr>
              <a:t>  (NFA ,Invoice)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BEC379-0418-B09A-ADA8-1E5DF89D63DC}"/>
              </a:ext>
            </a:extLst>
          </p:cNvPr>
          <p:cNvSpPr/>
          <p:nvPr/>
        </p:nvSpPr>
        <p:spPr>
          <a:xfrm>
            <a:off x="5506543" y="4534194"/>
            <a:ext cx="1296264" cy="3399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PULSE</a:t>
            </a:r>
          </a:p>
          <a:p>
            <a:pPr algn="ctr"/>
            <a:r>
              <a:rPr lang="en-IN" sz="900" i="1" dirty="0">
                <a:solidFill>
                  <a:schemeClr val="tx1"/>
                </a:solidFill>
              </a:rPr>
              <a:t>(HOTO &amp; Invoice)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909341-1522-827F-19FF-A99219746B59}"/>
              </a:ext>
            </a:extLst>
          </p:cNvPr>
          <p:cNvSpPr/>
          <p:nvPr/>
        </p:nvSpPr>
        <p:spPr>
          <a:xfrm>
            <a:off x="1796143" y="2783748"/>
            <a:ext cx="8299519" cy="8739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7A2352-2EA1-AFF5-532E-653D5E3F0D01}"/>
              </a:ext>
            </a:extLst>
          </p:cNvPr>
          <p:cNvSpPr/>
          <p:nvPr/>
        </p:nvSpPr>
        <p:spPr>
          <a:xfrm>
            <a:off x="2836926" y="3066115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Power BI</a:t>
            </a:r>
            <a:br>
              <a:rPr lang="en-IN" sz="1200" b="1">
                <a:solidFill>
                  <a:schemeClr val="tx1"/>
                </a:solidFill>
              </a:rPr>
            </a:br>
            <a:r>
              <a:rPr lang="en-IN" sz="1200">
                <a:solidFill>
                  <a:schemeClr val="tx1"/>
                </a:solidFill>
              </a:rPr>
              <a:t>(</a:t>
            </a:r>
            <a:r>
              <a:rPr lang="en-IN" sz="1200" i="1">
                <a:solidFill>
                  <a:schemeClr val="tx1"/>
                </a:solidFill>
              </a:rPr>
              <a:t>Multiple Dashboards)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E9097EF-EA4E-69AA-796E-A88CC6AA6714}"/>
              </a:ext>
            </a:extLst>
          </p:cNvPr>
          <p:cNvSpPr/>
          <p:nvPr/>
        </p:nvSpPr>
        <p:spPr>
          <a:xfrm>
            <a:off x="4419106" y="3054813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MIS</a:t>
            </a:r>
            <a:br>
              <a:rPr lang="en-IN" sz="1200" b="1">
                <a:solidFill>
                  <a:schemeClr val="tx1"/>
                </a:solidFill>
              </a:rPr>
            </a:br>
            <a:r>
              <a:rPr lang="en-IN" sz="1200" i="1">
                <a:solidFill>
                  <a:schemeClr val="tx1"/>
                </a:solidFill>
              </a:rPr>
              <a:t>(Management Reporting</a:t>
            </a:r>
            <a:r>
              <a:rPr lang="en-IN" sz="1200" b="1" i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85D4B66-C0B8-72FE-3426-A30412E617A7}"/>
              </a:ext>
            </a:extLst>
          </p:cNvPr>
          <p:cNvSpPr/>
          <p:nvPr/>
        </p:nvSpPr>
        <p:spPr>
          <a:xfrm>
            <a:off x="6015292" y="3040000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Connectivity</a:t>
            </a:r>
          </a:p>
          <a:p>
            <a:pPr algn="ctr"/>
            <a:r>
              <a:rPr lang="en-IN" sz="1200" i="1">
                <a:solidFill>
                  <a:schemeClr val="tx1"/>
                </a:solidFill>
              </a:rPr>
              <a:t>(Transmission Connectivity)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561726B-55BA-7BA7-BF56-6682C082140C}"/>
              </a:ext>
            </a:extLst>
          </p:cNvPr>
          <p:cNvSpPr/>
          <p:nvPr/>
        </p:nvSpPr>
        <p:spPr>
          <a:xfrm>
            <a:off x="7597472" y="3054814"/>
            <a:ext cx="1466642" cy="53537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Module Tracker</a:t>
            </a:r>
            <a:br>
              <a:rPr lang="en-IN" sz="1200" b="1" dirty="0">
                <a:solidFill>
                  <a:schemeClr val="tx1"/>
                </a:solidFill>
              </a:rPr>
            </a:br>
            <a:r>
              <a:rPr lang="en-IN" sz="1200" i="1" dirty="0">
                <a:solidFill>
                  <a:schemeClr val="tx1"/>
                </a:solidFill>
              </a:rPr>
              <a:t>(Module Logistics)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456E205-BFE1-E242-7E52-89D8F6A8CF60}"/>
              </a:ext>
            </a:extLst>
          </p:cNvPr>
          <p:cNvSpPr/>
          <p:nvPr/>
        </p:nvSpPr>
        <p:spPr>
          <a:xfrm>
            <a:off x="1770743" y="1868440"/>
            <a:ext cx="8324919" cy="87391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98BAEE1-B601-4BC2-4E55-12866B8C6183}"/>
              </a:ext>
            </a:extLst>
          </p:cNvPr>
          <p:cNvSpPr/>
          <p:nvPr/>
        </p:nvSpPr>
        <p:spPr>
          <a:xfrm>
            <a:off x="3676142" y="2135435"/>
            <a:ext cx="4463270" cy="53537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Cross Functional Intelligence</a:t>
            </a:r>
          </a:p>
          <a:p>
            <a:pPr algn="ctr"/>
            <a:r>
              <a:rPr lang="en-IN" sz="1200" i="1">
                <a:solidFill>
                  <a:schemeClr val="tx1"/>
                </a:solidFill>
              </a:rPr>
              <a:t>(Single source of truth for cross functional Intelligence)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CEB9CA4-6658-8E37-BD18-81CB052DDAED}"/>
              </a:ext>
            </a:extLst>
          </p:cNvPr>
          <p:cNvSpPr/>
          <p:nvPr/>
        </p:nvSpPr>
        <p:spPr>
          <a:xfrm>
            <a:off x="3683996" y="1195234"/>
            <a:ext cx="4467483" cy="53537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Notifications </a:t>
            </a:r>
          </a:p>
          <a:p>
            <a:pPr algn="ctr"/>
            <a:r>
              <a:rPr lang="en-IN" sz="1200" i="1" dirty="0">
                <a:solidFill>
                  <a:schemeClr val="tx1"/>
                </a:solidFill>
              </a:rPr>
              <a:t>(Enabling Human-in-the loop Approval Mechanism)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6649B4B-A1B8-92D4-FAAE-B2496BF2D947}"/>
              </a:ext>
            </a:extLst>
          </p:cNvPr>
          <p:cNvSpPr/>
          <p:nvPr/>
        </p:nvSpPr>
        <p:spPr>
          <a:xfrm>
            <a:off x="926847" y="5035915"/>
            <a:ext cx="9898871" cy="78409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1E3400E-F509-449A-91AA-EA192372D863}"/>
              </a:ext>
            </a:extLst>
          </p:cNvPr>
          <p:cNvSpPr/>
          <p:nvPr/>
        </p:nvSpPr>
        <p:spPr>
          <a:xfrm>
            <a:off x="1179267" y="5174956"/>
            <a:ext cx="4467483" cy="4803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Data Layer 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(Enterprise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 + AGEL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23F0794-455A-9B88-68B2-9CF47A299918}"/>
              </a:ext>
            </a:extLst>
          </p:cNvPr>
          <p:cNvSpPr/>
          <p:nvPr/>
        </p:nvSpPr>
        <p:spPr>
          <a:xfrm>
            <a:off x="6097052" y="5152705"/>
            <a:ext cx="4467483" cy="4803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Analytics Layer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</a:t>
            </a:r>
            <a:r>
              <a:rPr lang="en-IN" sz="1200" b="1" i="1" err="1">
                <a:solidFill>
                  <a:schemeClr val="tx1"/>
                </a:solidFill>
              </a:rPr>
              <a:t>DataBricks</a:t>
            </a:r>
            <a:r>
              <a:rPr lang="en-IN" sz="1200" b="1" i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4A2F89-CB5F-AA16-8CF4-2E3B23A56E91}"/>
              </a:ext>
            </a:extLst>
          </p:cNvPr>
          <p:cNvSpPr/>
          <p:nvPr/>
        </p:nvSpPr>
        <p:spPr>
          <a:xfrm>
            <a:off x="2594942" y="1881756"/>
            <a:ext cx="6642615" cy="2072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Intelligence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D39DF3-DED9-C615-188B-3BD5A1DD32E8}"/>
              </a:ext>
            </a:extLst>
          </p:cNvPr>
          <p:cNvSpPr/>
          <p:nvPr/>
        </p:nvSpPr>
        <p:spPr>
          <a:xfrm>
            <a:off x="2594942" y="2813903"/>
            <a:ext cx="6636334" cy="17014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Visualization Layer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61EB50-D429-EE2A-B311-AFE827C8E8D0}"/>
              </a:ext>
            </a:extLst>
          </p:cNvPr>
          <p:cNvSpPr/>
          <p:nvPr/>
        </p:nvSpPr>
        <p:spPr>
          <a:xfrm>
            <a:off x="2594943" y="3815233"/>
            <a:ext cx="6642615" cy="18850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Foundation Layer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DE9D923-9FFC-0480-C35B-3668B7DC29A9}"/>
              </a:ext>
            </a:extLst>
          </p:cNvPr>
          <p:cNvCxnSpPr>
            <a:cxnSpLocks/>
            <a:stCxn id="2" idx="1"/>
            <a:endCxn id="44" idx="1"/>
          </p:cNvCxnSpPr>
          <p:nvPr/>
        </p:nvCxnSpPr>
        <p:spPr>
          <a:xfrm rot="10800000">
            <a:off x="1770743" y="2305399"/>
            <a:ext cx="12700" cy="2042554"/>
          </a:xfrm>
          <a:prstGeom prst="bentConnector3">
            <a:avLst>
              <a:gd name="adj1" fmla="val 5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084EF5D-7FC6-F29B-0ECA-81A910C490DF}"/>
              </a:ext>
            </a:extLst>
          </p:cNvPr>
          <p:cNvSpPr/>
          <p:nvPr/>
        </p:nvSpPr>
        <p:spPr>
          <a:xfrm>
            <a:off x="10590387" y="3264293"/>
            <a:ext cx="1238633" cy="268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chemeClr val="tx1"/>
                </a:solidFill>
              </a:rPr>
              <a:t>Historical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C05F1F-21E8-08EB-B63F-E991AC6650B7}"/>
              </a:ext>
            </a:extLst>
          </p:cNvPr>
          <p:cNvSpPr/>
          <p:nvPr/>
        </p:nvSpPr>
        <p:spPr>
          <a:xfrm>
            <a:off x="676356" y="3199755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Live Data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AF14E03-F819-AF80-F3B4-0FB7A6382BE2}"/>
              </a:ext>
            </a:extLst>
          </p:cNvPr>
          <p:cNvSpPr/>
          <p:nvPr/>
        </p:nvSpPr>
        <p:spPr>
          <a:xfrm>
            <a:off x="911165" y="5890773"/>
            <a:ext cx="9898871" cy="87391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C26F05B-33F8-252A-1F8C-0186D41CE127}"/>
              </a:ext>
            </a:extLst>
          </p:cNvPr>
          <p:cNvSpPr/>
          <p:nvPr/>
        </p:nvSpPr>
        <p:spPr>
          <a:xfrm>
            <a:off x="1529159" y="6060045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Camera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F88279C-BF0E-97DB-C511-E82C5CF9DF63}"/>
              </a:ext>
            </a:extLst>
          </p:cNvPr>
          <p:cNvSpPr/>
          <p:nvPr/>
        </p:nvSpPr>
        <p:spPr>
          <a:xfrm>
            <a:off x="3218230" y="6078765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People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F75AD17-8CA4-A830-9E73-5F354118CFF9}"/>
              </a:ext>
            </a:extLst>
          </p:cNvPr>
          <p:cNvSpPr/>
          <p:nvPr/>
        </p:nvSpPr>
        <p:spPr>
          <a:xfrm>
            <a:off x="5056806" y="6073580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Sensors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32CD285-0947-A040-C52C-7104EEDFE3BC}"/>
              </a:ext>
            </a:extLst>
          </p:cNvPr>
          <p:cNvSpPr/>
          <p:nvPr/>
        </p:nvSpPr>
        <p:spPr>
          <a:xfrm>
            <a:off x="8900986" y="6060045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Web Scrapping (RPA)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FF5E41E-5E20-C00F-5582-AFDF40E6B6CD}"/>
              </a:ext>
            </a:extLst>
          </p:cNvPr>
          <p:cNvSpPr/>
          <p:nvPr/>
        </p:nvSpPr>
        <p:spPr>
          <a:xfrm>
            <a:off x="6991937" y="6073580"/>
            <a:ext cx="1466642" cy="53537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API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D13CF98-68F7-04A2-6A50-D51603E065FA}"/>
              </a:ext>
            </a:extLst>
          </p:cNvPr>
          <p:cNvSpPr/>
          <p:nvPr/>
        </p:nvSpPr>
        <p:spPr>
          <a:xfrm>
            <a:off x="5026308" y="4045674"/>
            <a:ext cx="1068915" cy="4497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Trade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b="1" dirty="0">
                <a:solidFill>
                  <a:schemeClr val="tx1"/>
                </a:solidFill>
              </a:rPr>
              <a:t>Finance Portal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A021F0-B2CF-9094-A7EE-2E9778BAA8C4}"/>
              </a:ext>
            </a:extLst>
          </p:cNvPr>
          <p:cNvSpPr/>
          <p:nvPr/>
        </p:nvSpPr>
        <p:spPr>
          <a:xfrm>
            <a:off x="177405" y="6158944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1"/>
                </a:solidFill>
              </a:rPr>
              <a:t>Input Layer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166936B-C62C-DEBB-0BA6-5F7320D84037}"/>
              </a:ext>
            </a:extLst>
          </p:cNvPr>
          <p:cNvCxnSpPr>
            <a:stCxn id="52" idx="3"/>
            <a:endCxn id="25" idx="2"/>
          </p:cNvCxnSpPr>
          <p:nvPr/>
        </p:nvCxnSpPr>
        <p:spPr>
          <a:xfrm flipV="1">
            <a:off x="10825718" y="3532657"/>
            <a:ext cx="383986" cy="189530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B0D01379-883E-FE66-3E78-B8151258E5FD}"/>
              </a:ext>
            </a:extLst>
          </p:cNvPr>
          <p:cNvCxnSpPr>
            <a:stCxn id="25" idx="0"/>
          </p:cNvCxnSpPr>
          <p:nvPr/>
        </p:nvCxnSpPr>
        <p:spPr>
          <a:xfrm rot="16200000" flipV="1">
            <a:off x="10173236" y="2227825"/>
            <a:ext cx="958894" cy="11140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8AC59E1-9A1F-ECB6-BE3D-05D95FA8E32E}"/>
              </a:ext>
            </a:extLst>
          </p:cNvPr>
          <p:cNvSpPr/>
          <p:nvPr/>
        </p:nvSpPr>
        <p:spPr>
          <a:xfrm>
            <a:off x="3225102" y="4528129"/>
            <a:ext cx="773897" cy="352046"/>
          </a:xfrm>
          <a:prstGeom prst="roundRect">
            <a:avLst>
              <a:gd name="adj" fmla="val 698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Oracle</a:t>
            </a:r>
          </a:p>
          <a:p>
            <a:pPr algn="ctr"/>
            <a:r>
              <a:rPr lang="en-IN" sz="900" i="1" dirty="0">
                <a:solidFill>
                  <a:schemeClr val="tx1"/>
                </a:solidFill>
              </a:rPr>
              <a:t>(HR)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1D86C04-9097-C0B7-67B1-4FB3918E8D49}"/>
              </a:ext>
            </a:extLst>
          </p:cNvPr>
          <p:cNvSpPr/>
          <p:nvPr/>
        </p:nvSpPr>
        <p:spPr>
          <a:xfrm>
            <a:off x="2868234" y="4035335"/>
            <a:ext cx="937125" cy="4497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Kronos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(Manpower)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7FC4140-A818-F639-D70E-FBBCB6752AE9}"/>
              </a:ext>
            </a:extLst>
          </p:cNvPr>
          <p:cNvSpPr/>
          <p:nvPr/>
        </p:nvSpPr>
        <p:spPr>
          <a:xfrm>
            <a:off x="7038138" y="4495379"/>
            <a:ext cx="1663759" cy="3645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DRS</a:t>
            </a:r>
          </a:p>
          <a:p>
            <a:pPr algn="ctr"/>
            <a:r>
              <a:rPr lang="en-IN" sz="900" i="1" dirty="0">
                <a:solidFill>
                  <a:schemeClr val="tx1"/>
                </a:solidFill>
              </a:rPr>
              <a:t>(Material Reconciliation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6751F04-BAF4-C5A7-C164-933C4F7C31F9}"/>
              </a:ext>
            </a:extLst>
          </p:cNvPr>
          <p:cNvSpPr/>
          <p:nvPr/>
        </p:nvSpPr>
        <p:spPr>
          <a:xfrm>
            <a:off x="4000489" y="4035335"/>
            <a:ext cx="877299" cy="4497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Genetec</a:t>
            </a:r>
          </a:p>
          <a:p>
            <a:pPr algn="ctr"/>
            <a:r>
              <a:rPr lang="en-IN" sz="900" i="1">
                <a:solidFill>
                  <a:schemeClr val="tx1"/>
                </a:solidFill>
              </a:rPr>
              <a:t>(Security)</a:t>
            </a:r>
          </a:p>
        </p:txBody>
      </p:sp>
      <p:sp>
        <p:nvSpPr>
          <p:cNvPr id="1026" name="Rectangle: Rounded Corners 1025">
            <a:extLst>
              <a:ext uri="{FF2B5EF4-FFF2-40B4-BE49-F238E27FC236}">
                <a16:creationId xmlns:a16="http://schemas.microsoft.com/office/drawing/2014/main" id="{7F98C893-56EC-07C0-FE56-1F72E0A8938A}"/>
              </a:ext>
            </a:extLst>
          </p:cNvPr>
          <p:cNvSpPr/>
          <p:nvPr/>
        </p:nvSpPr>
        <p:spPr>
          <a:xfrm>
            <a:off x="7408584" y="4045674"/>
            <a:ext cx="1439034" cy="3950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CRM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(Customer Relations)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1BD60FD0-15DE-69B0-8DE7-E66E5C146010}"/>
              </a:ext>
            </a:extLst>
          </p:cNvPr>
          <p:cNvSpPr/>
          <p:nvPr/>
        </p:nvSpPr>
        <p:spPr>
          <a:xfrm>
            <a:off x="4280649" y="4535150"/>
            <a:ext cx="808447" cy="3520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Autodesk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(Design)</a:t>
            </a:r>
          </a:p>
        </p:txBody>
      </p:sp>
    </p:spTree>
    <p:extLst>
      <p:ext uri="{BB962C8B-B14F-4D97-AF65-F5344CB8AC3E}">
        <p14:creationId xmlns:p14="http://schemas.microsoft.com/office/powerpoint/2010/main" val="2784416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88439-0552-BA7F-8791-E5BD23CC6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8B5E05A-B674-285E-5BBE-7EB0CB64531F}"/>
              </a:ext>
            </a:extLst>
          </p:cNvPr>
          <p:cNvSpPr/>
          <p:nvPr/>
        </p:nvSpPr>
        <p:spPr>
          <a:xfrm>
            <a:off x="926847" y="980081"/>
            <a:ext cx="9898871" cy="873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ED6144D-8D66-D2E2-F713-D58C2727CE77}"/>
              </a:ext>
            </a:extLst>
          </p:cNvPr>
          <p:cNvSpPr txBox="1">
            <a:spLocks noChangeArrowheads="1"/>
          </p:cNvSpPr>
          <p:nvPr/>
        </p:nvSpPr>
        <p:spPr>
          <a:xfrm>
            <a:off x="450062" y="141425"/>
            <a:ext cx="8262140" cy="804715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dani Regular" pitchFamily="2" charset="0"/>
              <a:ea typeface="+mj-ea"/>
              <a:cs typeface="+mj-cs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15C44AE5-DCFC-4905-6EEA-4EEACCEABCE0}"/>
              </a:ext>
            </a:extLst>
          </p:cNvPr>
          <p:cNvSpPr txBox="1"/>
          <p:nvPr/>
        </p:nvSpPr>
        <p:spPr>
          <a:xfrm>
            <a:off x="12192001" y="613807"/>
            <a:ext cx="1451348" cy="36112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67" b="1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dani Regular" panose="02000503000000020004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0BE72-B56F-953C-E957-03A3C871C763}"/>
              </a:ext>
            </a:extLst>
          </p:cNvPr>
          <p:cNvSpPr txBox="1"/>
          <p:nvPr/>
        </p:nvSpPr>
        <p:spPr>
          <a:xfrm>
            <a:off x="320513" y="249049"/>
            <a:ext cx="1035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Final Plan –  Drop 4 (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Drop 3 +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9735">
                      <a:srgbClr val="44546A"/>
                    </a:gs>
                    <a:gs pos="63000">
                      <a:srgbClr val="8E278F"/>
                    </a:gs>
                    <a:gs pos="38000">
                      <a:srgbClr val="57499E"/>
                    </a:gs>
                  </a:gsLst>
                  <a:lin ang="0" scaled="0"/>
                </a:gradFill>
                <a:effectLst/>
                <a:uLnTx/>
                <a:uFillTx/>
                <a:latin typeface="Adani Regular" panose="02000503000000020004" pitchFamily="2" charset="0"/>
                <a:ea typeface="+mn-ea"/>
                <a:cs typeface="+mn-cs"/>
              </a:rPr>
              <a:t>6 weeks)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8ABCD9-145C-7E2C-2E7B-0111B582B8B5}"/>
              </a:ext>
            </a:extLst>
          </p:cNvPr>
          <p:cNvSpPr/>
          <p:nvPr/>
        </p:nvSpPr>
        <p:spPr>
          <a:xfrm>
            <a:off x="944193" y="3754693"/>
            <a:ext cx="9898871" cy="118651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0DB304-10F7-D46C-AF49-90A9CBD87F14}"/>
              </a:ext>
            </a:extLst>
          </p:cNvPr>
          <p:cNvSpPr/>
          <p:nvPr/>
        </p:nvSpPr>
        <p:spPr>
          <a:xfrm>
            <a:off x="1244678" y="4021756"/>
            <a:ext cx="564536" cy="44970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SAP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(Cost)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964371-AF3C-026F-8CCE-FC7FBDD286B9}"/>
              </a:ext>
            </a:extLst>
          </p:cNvPr>
          <p:cNvSpPr/>
          <p:nvPr/>
        </p:nvSpPr>
        <p:spPr>
          <a:xfrm>
            <a:off x="2436696" y="4021756"/>
            <a:ext cx="837097" cy="449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P6</a:t>
            </a:r>
          </a:p>
          <a:p>
            <a:pPr algn="ctr"/>
            <a:r>
              <a:rPr lang="en-IN" sz="900" b="1" i="1">
                <a:solidFill>
                  <a:schemeClr val="tx1"/>
                </a:solidFill>
              </a:rPr>
              <a:t>(Schedule)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D3198B-ED53-6D00-6EC2-29DBAC6C772F}"/>
              </a:ext>
            </a:extLst>
          </p:cNvPr>
          <p:cNvSpPr/>
          <p:nvPr/>
        </p:nvSpPr>
        <p:spPr>
          <a:xfrm>
            <a:off x="1218647" y="4537715"/>
            <a:ext cx="1171856" cy="3520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DPR</a:t>
            </a:r>
            <a:br>
              <a:rPr lang="en-IN" sz="900" b="1">
                <a:solidFill>
                  <a:schemeClr val="tx1"/>
                </a:solidFill>
              </a:rPr>
            </a:br>
            <a:r>
              <a:rPr lang="en-IN" sz="900" i="1">
                <a:solidFill>
                  <a:schemeClr val="tx1"/>
                </a:solidFill>
              </a:rPr>
              <a:t>(Progress Report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95467F-44AE-E4DA-A326-6511E66DA24D}"/>
              </a:ext>
            </a:extLst>
          </p:cNvPr>
          <p:cNvSpPr/>
          <p:nvPr/>
        </p:nvSpPr>
        <p:spPr>
          <a:xfrm>
            <a:off x="3399922" y="4065458"/>
            <a:ext cx="773897" cy="44970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Oracle</a:t>
            </a:r>
          </a:p>
          <a:p>
            <a:pPr algn="ctr"/>
            <a:r>
              <a:rPr lang="en-IN" sz="900" i="1">
                <a:solidFill>
                  <a:schemeClr val="tx1"/>
                </a:solidFill>
              </a:rPr>
              <a:t>(HR)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C24659-E8DC-0091-C670-C2977134E3BE}"/>
              </a:ext>
            </a:extLst>
          </p:cNvPr>
          <p:cNvSpPr/>
          <p:nvPr/>
        </p:nvSpPr>
        <p:spPr>
          <a:xfrm>
            <a:off x="5218001" y="4035336"/>
            <a:ext cx="877299" cy="449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Genetec</a:t>
            </a:r>
          </a:p>
          <a:p>
            <a:pPr algn="ctr"/>
            <a:r>
              <a:rPr lang="en-IN" sz="900" i="1" dirty="0">
                <a:solidFill>
                  <a:schemeClr val="tx1"/>
                </a:solidFill>
              </a:rPr>
              <a:t>(Security)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9872A5-1738-974B-4BB9-31A2EB88A240}"/>
              </a:ext>
            </a:extLst>
          </p:cNvPr>
          <p:cNvSpPr/>
          <p:nvPr/>
        </p:nvSpPr>
        <p:spPr>
          <a:xfrm>
            <a:off x="7004135" y="4532942"/>
            <a:ext cx="1068915" cy="3520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Ariba</a:t>
            </a:r>
          </a:p>
          <a:p>
            <a:pPr algn="ctr"/>
            <a:r>
              <a:rPr lang="en-IN" sz="900" i="1" dirty="0">
                <a:solidFill>
                  <a:schemeClr val="tx1"/>
                </a:solidFill>
              </a:rPr>
              <a:t>  (NFA ,Invoice)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9034F9-E382-9917-58CB-CD7798F3BAC6}"/>
              </a:ext>
            </a:extLst>
          </p:cNvPr>
          <p:cNvSpPr/>
          <p:nvPr/>
        </p:nvSpPr>
        <p:spPr>
          <a:xfrm>
            <a:off x="4192619" y="4035336"/>
            <a:ext cx="937125" cy="449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Kronos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(Manpower)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8DF4BC-8BF8-EFDD-4C47-D2FCE63579DA}"/>
              </a:ext>
            </a:extLst>
          </p:cNvPr>
          <p:cNvSpPr/>
          <p:nvPr/>
        </p:nvSpPr>
        <p:spPr>
          <a:xfrm>
            <a:off x="6178658" y="4035335"/>
            <a:ext cx="1296264" cy="449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PULSE</a:t>
            </a:r>
          </a:p>
          <a:p>
            <a:pPr algn="ctr"/>
            <a:r>
              <a:rPr lang="en-IN" sz="900" i="1">
                <a:solidFill>
                  <a:schemeClr val="tx1"/>
                </a:solidFill>
              </a:rPr>
              <a:t>(HOTO &amp; Invoice)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6B9CC8-4C46-3B54-ACF6-2C6E736C1189}"/>
              </a:ext>
            </a:extLst>
          </p:cNvPr>
          <p:cNvSpPr/>
          <p:nvPr/>
        </p:nvSpPr>
        <p:spPr>
          <a:xfrm>
            <a:off x="8185257" y="4523099"/>
            <a:ext cx="1663759" cy="36455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DRS</a:t>
            </a:r>
          </a:p>
          <a:p>
            <a:pPr algn="ctr"/>
            <a:r>
              <a:rPr lang="en-IN" sz="900" i="1" dirty="0">
                <a:solidFill>
                  <a:schemeClr val="tx1"/>
                </a:solidFill>
              </a:rPr>
              <a:t>(Material Reconciliation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49BE51-FE0E-6B22-3E4F-88C32E4AAAD9}"/>
              </a:ext>
            </a:extLst>
          </p:cNvPr>
          <p:cNvSpPr/>
          <p:nvPr/>
        </p:nvSpPr>
        <p:spPr>
          <a:xfrm>
            <a:off x="966294" y="2783748"/>
            <a:ext cx="9898871" cy="8739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B05844D-003A-9B23-65A7-A975BB372D8E}"/>
              </a:ext>
            </a:extLst>
          </p:cNvPr>
          <p:cNvSpPr/>
          <p:nvPr/>
        </p:nvSpPr>
        <p:spPr>
          <a:xfrm>
            <a:off x="2134894" y="3054819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Power BI</a:t>
            </a:r>
            <a:br>
              <a:rPr lang="en-IN" sz="1200" b="1">
                <a:solidFill>
                  <a:schemeClr val="tx1"/>
                </a:solidFill>
              </a:rPr>
            </a:br>
            <a:r>
              <a:rPr lang="en-IN" sz="1200">
                <a:solidFill>
                  <a:schemeClr val="tx1"/>
                </a:solidFill>
              </a:rPr>
              <a:t>(</a:t>
            </a:r>
            <a:r>
              <a:rPr lang="en-IN" sz="1200" i="1">
                <a:solidFill>
                  <a:schemeClr val="tx1"/>
                </a:solidFill>
              </a:rPr>
              <a:t>Multiple Dashboards)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B96F087-55FC-0B15-F7C5-7BDC7AF0A66C}"/>
              </a:ext>
            </a:extLst>
          </p:cNvPr>
          <p:cNvSpPr/>
          <p:nvPr/>
        </p:nvSpPr>
        <p:spPr>
          <a:xfrm>
            <a:off x="3712401" y="3054817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MIS</a:t>
            </a:r>
            <a:br>
              <a:rPr lang="en-IN" sz="1200" b="1" dirty="0">
                <a:solidFill>
                  <a:schemeClr val="tx1"/>
                </a:solidFill>
              </a:rPr>
            </a:br>
            <a:r>
              <a:rPr lang="en-IN" sz="1200" i="1" dirty="0">
                <a:solidFill>
                  <a:schemeClr val="tx1"/>
                </a:solidFill>
              </a:rPr>
              <a:t>(Management Reporting</a:t>
            </a:r>
            <a:r>
              <a:rPr lang="en-IN" sz="1200" b="1" i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130E806-BE6F-49DC-EE59-2312E7A0FC7A}"/>
              </a:ext>
            </a:extLst>
          </p:cNvPr>
          <p:cNvSpPr/>
          <p:nvPr/>
        </p:nvSpPr>
        <p:spPr>
          <a:xfrm>
            <a:off x="5289908" y="3054817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Connectivity</a:t>
            </a:r>
          </a:p>
          <a:p>
            <a:pPr algn="ctr"/>
            <a:r>
              <a:rPr lang="en-IN" sz="1200" i="1">
                <a:solidFill>
                  <a:schemeClr val="tx1"/>
                </a:solidFill>
              </a:rPr>
              <a:t>(Transmission Connectivity)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CA4490E-7A8A-42ED-BA47-6056CAD4B2AC}"/>
              </a:ext>
            </a:extLst>
          </p:cNvPr>
          <p:cNvSpPr/>
          <p:nvPr/>
        </p:nvSpPr>
        <p:spPr>
          <a:xfrm>
            <a:off x="6867415" y="3054817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Module Tracker</a:t>
            </a:r>
            <a:br>
              <a:rPr lang="en-IN" sz="1200" b="1" dirty="0">
                <a:solidFill>
                  <a:schemeClr val="tx1"/>
                </a:solidFill>
              </a:rPr>
            </a:br>
            <a:r>
              <a:rPr lang="en-IN" sz="1200" i="1" dirty="0">
                <a:solidFill>
                  <a:schemeClr val="tx1"/>
                </a:solidFill>
              </a:rPr>
              <a:t>(Module Logistics)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DF7E1E0-473A-2EFC-9622-DDFC6E045E7B}"/>
              </a:ext>
            </a:extLst>
          </p:cNvPr>
          <p:cNvSpPr/>
          <p:nvPr/>
        </p:nvSpPr>
        <p:spPr>
          <a:xfrm>
            <a:off x="939520" y="1868440"/>
            <a:ext cx="9898871" cy="873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B0974CE-78A4-C55D-809C-4BBC37E38320}"/>
              </a:ext>
            </a:extLst>
          </p:cNvPr>
          <p:cNvSpPr/>
          <p:nvPr/>
        </p:nvSpPr>
        <p:spPr>
          <a:xfrm>
            <a:off x="1193052" y="2134821"/>
            <a:ext cx="4463270" cy="53537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Decision Making &amp; Alerts</a:t>
            </a:r>
            <a:br>
              <a:rPr lang="en-IN" sz="1200" b="1">
                <a:solidFill>
                  <a:schemeClr val="tx1"/>
                </a:solidFill>
              </a:rPr>
            </a:br>
            <a:r>
              <a:rPr lang="en-IN" sz="1200" i="1">
                <a:solidFill>
                  <a:schemeClr val="tx1"/>
                </a:solidFill>
              </a:rPr>
              <a:t>(Alerts based on Current status &amp; intelligent decision making)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943E3BC-F4A0-5DE6-7438-6FA08BB31B97}"/>
              </a:ext>
            </a:extLst>
          </p:cNvPr>
          <p:cNvSpPr/>
          <p:nvPr/>
        </p:nvSpPr>
        <p:spPr>
          <a:xfrm>
            <a:off x="6083959" y="2134820"/>
            <a:ext cx="4463270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Cross Functional Intelligence</a:t>
            </a:r>
          </a:p>
          <a:p>
            <a:pPr algn="ctr"/>
            <a:r>
              <a:rPr lang="en-IN" sz="1200" i="1" dirty="0">
                <a:solidFill>
                  <a:schemeClr val="tx1"/>
                </a:solidFill>
              </a:rPr>
              <a:t>(Single source of truth for cross functional Intelligence)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3B857FD-E3FE-415D-F82B-0E69D5148355}"/>
              </a:ext>
            </a:extLst>
          </p:cNvPr>
          <p:cNvSpPr/>
          <p:nvPr/>
        </p:nvSpPr>
        <p:spPr>
          <a:xfrm>
            <a:off x="1180380" y="1169170"/>
            <a:ext cx="4467483" cy="535371"/>
          </a:xfrm>
          <a:prstGeom prst="roundRect">
            <a:avLst/>
          </a:prstGeom>
          <a:solidFill>
            <a:srgbClr val="F89F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Notifications &amp; Approvals</a:t>
            </a:r>
          </a:p>
          <a:p>
            <a:pPr algn="ctr"/>
            <a:r>
              <a:rPr lang="en-IN" sz="1200" i="1">
                <a:solidFill>
                  <a:schemeClr val="tx1"/>
                </a:solidFill>
              </a:rPr>
              <a:t>(Enabling Human-in-the loop Approval Mechanism)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BF167F0-8DB4-3C7A-3378-EE2C969DE6C3}"/>
              </a:ext>
            </a:extLst>
          </p:cNvPr>
          <p:cNvSpPr/>
          <p:nvPr/>
        </p:nvSpPr>
        <p:spPr>
          <a:xfrm>
            <a:off x="6067074" y="1173563"/>
            <a:ext cx="4467483" cy="535371"/>
          </a:xfrm>
          <a:prstGeom prst="roundRect">
            <a:avLst/>
          </a:prstGeom>
          <a:solidFill>
            <a:srgbClr val="F89F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AI Agents</a:t>
            </a:r>
          </a:p>
          <a:p>
            <a:pPr algn="ctr"/>
            <a:r>
              <a:rPr lang="en-IN" sz="1200" i="1" dirty="0">
                <a:solidFill>
                  <a:schemeClr val="tx1"/>
                </a:solidFill>
              </a:rPr>
              <a:t>(Enabling Automated Cross-functional Workflows)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30CC220-81FF-D6EA-A659-A1A04FF92C4A}"/>
              </a:ext>
            </a:extLst>
          </p:cNvPr>
          <p:cNvSpPr/>
          <p:nvPr/>
        </p:nvSpPr>
        <p:spPr>
          <a:xfrm>
            <a:off x="926847" y="5035915"/>
            <a:ext cx="9898871" cy="7840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2630514-EEE6-4431-9F44-BA869DE47EBD}"/>
              </a:ext>
            </a:extLst>
          </p:cNvPr>
          <p:cNvSpPr/>
          <p:nvPr/>
        </p:nvSpPr>
        <p:spPr>
          <a:xfrm>
            <a:off x="1179267" y="5174956"/>
            <a:ext cx="4467483" cy="4803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Data Layer 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(Enterprise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 + AGEL </a:t>
            </a:r>
            <a:r>
              <a:rPr lang="en-IN" sz="1200" b="1" i="1" err="1">
                <a:solidFill>
                  <a:schemeClr val="tx1"/>
                </a:solidFill>
              </a:rPr>
              <a:t>DataLake</a:t>
            </a:r>
            <a:r>
              <a:rPr lang="en-IN" sz="1200" b="1" i="1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BA72127-6BF4-FE07-F53B-C0AC539262FD}"/>
              </a:ext>
            </a:extLst>
          </p:cNvPr>
          <p:cNvSpPr/>
          <p:nvPr/>
        </p:nvSpPr>
        <p:spPr>
          <a:xfrm>
            <a:off x="6097052" y="5152705"/>
            <a:ext cx="4467483" cy="4803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Analytics Layer</a:t>
            </a:r>
          </a:p>
          <a:p>
            <a:pPr algn="ctr"/>
            <a:r>
              <a:rPr lang="en-IN" sz="1200" b="1" i="1">
                <a:solidFill>
                  <a:schemeClr val="tx1"/>
                </a:solidFill>
              </a:rPr>
              <a:t>(</a:t>
            </a:r>
            <a:r>
              <a:rPr lang="en-IN" sz="1200" b="1" i="1" err="1">
                <a:solidFill>
                  <a:schemeClr val="tx1"/>
                </a:solidFill>
              </a:rPr>
              <a:t>DataBricks</a:t>
            </a:r>
            <a:r>
              <a:rPr lang="en-IN" sz="1200" b="1" i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89A8386-9807-7D89-CDE8-B1B7FE88ECCD}"/>
              </a:ext>
            </a:extLst>
          </p:cNvPr>
          <p:cNvSpPr/>
          <p:nvPr/>
        </p:nvSpPr>
        <p:spPr>
          <a:xfrm>
            <a:off x="1210358" y="1881757"/>
            <a:ext cx="9354177" cy="195518"/>
          </a:xfrm>
          <a:prstGeom prst="roundRect">
            <a:avLst/>
          </a:prstGeom>
          <a:solidFill>
            <a:srgbClr val="F89F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Intelligence Layer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BBCC15-76F6-94C9-A429-93861B397BD4}"/>
              </a:ext>
            </a:extLst>
          </p:cNvPr>
          <p:cNvSpPr/>
          <p:nvPr/>
        </p:nvSpPr>
        <p:spPr>
          <a:xfrm>
            <a:off x="1235543" y="2813903"/>
            <a:ext cx="9354177" cy="1955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Visualization Layer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2F87F52-0656-10A9-84C8-F61B9F09ADFF}"/>
              </a:ext>
            </a:extLst>
          </p:cNvPr>
          <p:cNvSpPr/>
          <p:nvPr/>
        </p:nvSpPr>
        <p:spPr>
          <a:xfrm>
            <a:off x="1253156" y="3797865"/>
            <a:ext cx="9354177" cy="19551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Foundation Layer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F5489C5-9656-9CAE-6A9B-52A716A2D816}"/>
              </a:ext>
            </a:extLst>
          </p:cNvPr>
          <p:cNvCxnSpPr>
            <a:cxnSpLocks/>
            <a:stCxn id="2" idx="1"/>
            <a:endCxn id="44" idx="1"/>
          </p:cNvCxnSpPr>
          <p:nvPr/>
        </p:nvCxnSpPr>
        <p:spPr>
          <a:xfrm rot="10800000">
            <a:off x="939521" y="2305399"/>
            <a:ext cx="4673" cy="2042554"/>
          </a:xfrm>
          <a:prstGeom prst="bentConnector3">
            <a:avLst>
              <a:gd name="adj1" fmla="val 49919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3DBFDC3-61CB-874F-5062-3D1FAF6993C8}"/>
              </a:ext>
            </a:extLst>
          </p:cNvPr>
          <p:cNvCxnSpPr>
            <a:cxnSpLocks/>
            <a:stCxn id="52" idx="3"/>
          </p:cNvCxnSpPr>
          <p:nvPr/>
        </p:nvCxnSpPr>
        <p:spPr>
          <a:xfrm flipH="1" flipV="1">
            <a:off x="10823624" y="2298351"/>
            <a:ext cx="2094" cy="3129610"/>
          </a:xfrm>
          <a:prstGeom prst="bentConnector4">
            <a:avLst>
              <a:gd name="adj1" fmla="val -26665903"/>
              <a:gd name="adj2" fmla="val 1003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A45DC3D-812C-910E-167D-A174FD48C76D}"/>
              </a:ext>
            </a:extLst>
          </p:cNvPr>
          <p:cNvSpPr/>
          <p:nvPr/>
        </p:nvSpPr>
        <p:spPr>
          <a:xfrm>
            <a:off x="10941256" y="3425522"/>
            <a:ext cx="1238633" cy="268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chemeClr val="tx1"/>
                </a:solidFill>
              </a:rPr>
              <a:t>Historical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3F0E4D-A7ED-2B93-38FA-4A9C7C16A05E}"/>
              </a:ext>
            </a:extLst>
          </p:cNvPr>
          <p:cNvSpPr/>
          <p:nvPr/>
        </p:nvSpPr>
        <p:spPr>
          <a:xfrm>
            <a:off x="54501" y="2983132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Live Data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369C2B-6D59-B678-195F-83EFA7A1A99A}"/>
              </a:ext>
            </a:extLst>
          </p:cNvPr>
          <p:cNvSpPr/>
          <p:nvPr/>
        </p:nvSpPr>
        <p:spPr>
          <a:xfrm>
            <a:off x="7542736" y="4043657"/>
            <a:ext cx="1440271" cy="449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 dirty="0">
                <a:solidFill>
                  <a:schemeClr val="tx1"/>
                </a:solidFill>
              </a:rPr>
              <a:t>CRM</a:t>
            </a:r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i="1" dirty="0">
                <a:solidFill>
                  <a:schemeClr val="tx1"/>
                </a:solidFill>
              </a:rPr>
              <a:t>(Customer Relations)</a:t>
            </a:r>
            <a:endParaRPr lang="en-IN" sz="9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340D76-740D-D45C-2EF8-2E9B25CB9436}"/>
              </a:ext>
            </a:extLst>
          </p:cNvPr>
          <p:cNvSpPr/>
          <p:nvPr/>
        </p:nvSpPr>
        <p:spPr>
          <a:xfrm>
            <a:off x="2436696" y="4550225"/>
            <a:ext cx="808447" cy="3520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Autodesk</a:t>
            </a:r>
            <a:br>
              <a:rPr lang="en-IN" sz="900" b="1">
                <a:solidFill>
                  <a:schemeClr val="tx1"/>
                </a:solidFill>
              </a:rPr>
            </a:br>
            <a:r>
              <a:rPr lang="en-IN" sz="900" i="1">
                <a:solidFill>
                  <a:schemeClr val="tx1"/>
                </a:solidFill>
              </a:rPr>
              <a:t>(Design)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6845BE5-8CF2-812D-1C1A-CDAB17628292}"/>
              </a:ext>
            </a:extLst>
          </p:cNvPr>
          <p:cNvSpPr/>
          <p:nvPr/>
        </p:nvSpPr>
        <p:spPr>
          <a:xfrm>
            <a:off x="3291336" y="4537715"/>
            <a:ext cx="492501" cy="3645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STF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0AC997-3B74-044D-5F76-4273684A281F}"/>
              </a:ext>
            </a:extLst>
          </p:cNvPr>
          <p:cNvSpPr/>
          <p:nvPr/>
        </p:nvSpPr>
        <p:spPr>
          <a:xfrm>
            <a:off x="911165" y="5890773"/>
            <a:ext cx="9898871" cy="87391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3112D01-C0D5-F963-0396-C427DE4CAF0C}"/>
              </a:ext>
            </a:extLst>
          </p:cNvPr>
          <p:cNvSpPr/>
          <p:nvPr/>
        </p:nvSpPr>
        <p:spPr>
          <a:xfrm>
            <a:off x="1128301" y="6060046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Camera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5F2324D-4561-D0D4-6ABB-BBD0F0C3282E}"/>
              </a:ext>
            </a:extLst>
          </p:cNvPr>
          <p:cNvSpPr/>
          <p:nvPr/>
        </p:nvSpPr>
        <p:spPr>
          <a:xfrm>
            <a:off x="2665118" y="6073580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People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06C3F06-BFF0-E4AC-596C-D215F3C9D37D}"/>
              </a:ext>
            </a:extLst>
          </p:cNvPr>
          <p:cNvSpPr/>
          <p:nvPr/>
        </p:nvSpPr>
        <p:spPr>
          <a:xfrm>
            <a:off x="4177043" y="6060046"/>
            <a:ext cx="780234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IC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DFB28AD-8098-CD09-FA72-5337D2420D0D}"/>
              </a:ext>
            </a:extLst>
          </p:cNvPr>
          <p:cNvSpPr/>
          <p:nvPr/>
        </p:nvSpPr>
        <p:spPr>
          <a:xfrm>
            <a:off x="5018513" y="6073580"/>
            <a:ext cx="825517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SCADA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36BF66E-FABE-6ED1-A242-5A14143C3125}"/>
              </a:ext>
            </a:extLst>
          </p:cNvPr>
          <p:cNvSpPr/>
          <p:nvPr/>
        </p:nvSpPr>
        <p:spPr>
          <a:xfrm>
            <a:off x="5912934" y="6060045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Sensors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88FB90A-1A38-B2D1-4B11-7F16C701F7EB}"/>
              </a:ext>
            </a:extLst>
          </p:cNvPr>
          <p:cNvSpPr/>
          <p:nvPr/>
        </p:nvSpPr>
        <p:spPr>
          <a:xfrm>
            <a:off x="9123381" y="6060045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Web Scrapping (RPA)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F1B51D8-45DF-BA4D-319C-60C479E8E938}"/>
              </a:ext>
            </a:extLst>
          </p:cNvPr>
          <p:cNvSpPr/>
          <p:nvPr/>
        </p:nvSpPr>
        <p:spPr>
          <a:xfrm>
            <a:off x="7518157" y="6060045"/>
            <a:ext cx="1466642" cy="53537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</a:rPr>
              <a:t>API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0E8F24F-8A31-60CD-FD4E-F79F5A929F0E}"/>
              </a:ext>
            </a:extLst>
          </p:cNvPr>
          <p:cNvSpPr/>
          <p:nvPr/>
        </p:nvSpPr>
        <p:spPr>
          <a:xfrm>
            <a:off x="4715223" y="4537715"/>
            <a:ext cx="1068915" cy="3520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Trade</a:t>
            </a:r>
            <a:br>
              <a:rPr lang="en-IN" sz="900" b="1">
                <a:solidFill>
                  <a:schemeClr val="tx1"/>
                </a:solidFill>
              </a:rPr>
            </a:br>
            <a:r>
              <a:rPr lang="en-IN" sz="900" b="1">
                <a:solidFill>
                  <a:schemeClr val="tx1"/>
                </a:solidFill>
              </a:rPr>
              <a:t>Finance Portal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7511212A-3962-F22D-4992-C87A23293132}"/>
              </a:ext>
            </a:extLst>
          </p:cNvPr>
          <p:cNvSpPr/>
          <p:nvPr/>
        </p:nvSpPr>
        <p:spPr>
          <a:xfrm>
            <a:off x="1852115" y="4038974"/>
            <a:ext cx="502604" cy="4284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900" b="1" dirty="0">
                <a:solidFill>
                  <a:schemeClr val="tx1"/>
                </a:solidFill>
              </a:rPr>
            </a:br>
            <a:r>
              <a:rPr lang="en-IN" sz="900" b="1" dirty="0">
                <a:solidFill>
                  <a:schemeClr val="tx1"/>
                </a:solidFill>
              </a:rPr>
              <a:t>IC</a:t>
            </a:r>
            <a:br>
              <a:rPr lang="en-IN" sz="900" b="1" dirty="0">
                <a:solidFill>
                  <a:schemeClr val="tx1"/>
                </a:solidFill>
              </a:rPr>
            </a:br>
            <a:endParaRPr lang="en-IN" sz="900" i="1" dirty="0">
              <a:solidFill>
                <a:schemeClr val="tx1"/>
              </a:solidFill>
            </a:endParaRPr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400B1FAF-9170-D9CA-82B5-C1300B5C13D5}"/>
              </a:ext>
            </a:extLst>
          </p:cNvPr>
          <p:cNvSpPr/>
          <p:nvPr/>
        </p:nvSpPr>
        <p:spPr>
          <a:xfrm>
            <a:off x="9050821" y="4025426"/>
            <a:ext cx="872777" cy="449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O&amp;M ADLS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1028" name="Rectangle: Rounded Corners 1027">
            <a:extLst>
              <a:ext uri="{FF2B5EF4-FFF2-40B4-BE49-F238E27FC236}">
                <a16:creationId xmlns:a16="http://schemas.microsoft.com/office/drawing/2014/main" id="{9D6527B9-43D6-7867-3295-A53CB4B8B8F4}"/>
              </a:ext>
            </a:extLst>
          </p:cNvPr>
          <p:cNvSpPr/>
          <p:nvPr/>
        </p:nvSpPr>
        <p:spPr>
          <a:xfrm>
            <a:off x="9991412" y="4025426"/>
            <a:ext cx="598308" cy="449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ENOC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1029" name="Rectangle: Rounded Corners 1028">
            <a:extLst>
              <a:ext uri="{FF2B5EF4-FFF2-40B4-BE49-F238E27FC236}">
                <a16:creationId xmlns:a16="http://schemas.microsoft.com/office/drawing/2014/main" id="{E9612F92-6A34-A5B7-DC2C-A64014F16472}"/>
              </a:ext>
            </a:extLst>
          </p:cNvPr>
          <p:cNvSpPr/>
          <p:nvPr/>
        </p:nvSpPr>
        <p:spPr>
          <a:xfrm>
            <a:off x="5873319" y="4540642"/>
            <a:ext cx="1068915" cy="3520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Resource Assessment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FBD48F09-08A0-1B35-663F-4E6EF1147D0C}"/>
              </a:ext>
            </a:extLst>
          </p:cNvPr>
          <p:cNvSpPr/>
          <p:nvPr/>
        </p:nvSpPr>
        <p:spPr>
          <a:xfrm>
            <a:off x="9933245" y="4511256"/>
            <a:ext cx="533986" cy="3712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SFTP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64263DC-D7D5-4385-365D-A4BA1A610DEB}"/>
              </a:ext>
            </a:extLst>
          </p:cNvPr>
          <p:cNvSpPr/>
          <p:nvPr/>
        </p:nvSpPr>
        <p:spPr>
          <a:xfrm>
            <a:off x="3833705" y="4537715"/>
            <a:ext cx="842071" cy="3645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chemeClr val="tx1"/>
                </a:solidFill>
              </a:rPr>
              <a:t>SOP and Manuals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BF074F-B829-32FC-6D7E-0623B3A817F7}"/>
              </a:ext>
            </a:extLst>
          </p:cNvPr>
          <p:cNvSpPr/>
          <p:nvPr/>
        </p:nvSpPr>
        <p:spPr>
          <a:xfrm>
            <a:off x="177405" y="6158944"/>
            <a:ext cx="897691" cy="205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chemeClr val="tx1"/>
                </a:solidFill>
              </a:rPr>
              <a:t>Input Layer</a:t>
            </a:r>
          </a:p>
        </p:txBody>
      </p:sp>
    </p:spTree>
    <p:extLst>
      <p:ext uri="{BB962C8B-B14F-4D97-AF65-F5344CB8AC3E}">
        <p14:creationId xmlns:p14="http://schemas.microsoft.com/office/powerpoint/2010/main" val="14138789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SPmnCF5e3YToVH06I2w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zbNU5UQYqX_ukejadiJ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ipro Standard PPT Theme">
  <a:themeElements>
    <a:clrScheme name="Wipro Brand Colors">
      <a:dk1>
        <a:srgbClr val="000000"/>
      </a:dk1>
      <a:lt1>
        <a:srgbClr val="FFFFFF"/>
      </a:lt1>
      <a:dk2>
        <a:srgbClr val="0E3570"/>
      </a:dk2>
      <a:lt2>
        <a:srgbClr val="6F2C91"/>
      </a:lt2>
      <a:accent1>
        <a:srgbClr val="0089CF"/>
      </a:accent1>
      <a:accent2>
        <a:srgbClr val="646363"/>
      </a:accent2>
      <a:accent3>
        <a:srgbClr val="A5CF4C"/>
      </a:accent3>
      <a:accent4>
        <a:srgbClr val="FDB913"/>
      </a:accent4>
      <a:accent5>
        <a:srgbClr val="ED1C24"/>
      </a:accent5>
      <a:accent6>
        <a:srgbClr val="00B49D"/>
      </a:accent6>
      <a:hlink>
        <a:srgbClr val="646363"/>
      </a:hlink>
      <a:folHlink>
        <a:srgbClr val="6463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 w="3175">
          <a:solidFill>
            <a:schemeClr val="accent2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100" dirty="0" err="1" smtClean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2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100" dirty="0" err="1" smtClean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ipro_Regular_Presentation" id="{7E59A15F-F5D2-4ADD-866C-44CB0E112A3E}" vid="{AC1E19DC-5C25-4260-80A9-429B2EAEB6F6}"/>
    </a:ext>
  </a:extLst>
</a:theme>
</file>

<file path=ppt/theme/theme2.xml><?xml version="1.0" encoding="utf-8"?>
<a:theme xmlns:a="http://schemas.openxmlformats.org/drawingml/2006/main" name="1_Office Theme">
  <a:themeElements>
    <a:clrScheme name="Adani -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58A"/>
      </a:accent1>
      <a:accent2>
        <a:srgbClr val="6AC6FF"/>
      </a:accent2>
      <a:accent3>
        <a:srgbClr val="7030A0"/>
      </a:accent3>
      <a:accent4>
        <a:srgbClr val="70AD47"/>
      </a:accent4>
      <a:accent5>
        <a:srgbClr val="F7941E"/>
      </a:accent5>
      <a:accent6>
        <a:srgbClr val="BD1E6D"/>
      </a:accent6>
      <a:hlink>
        <a:srgbClr val="0000FF"/>
      </a:hlink>
      <a:folHlink>
        <a:srgbClr val="80008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1038</Words>
  <Application>Microsoft Office PowerPoint</Application>
  <PresentationFormat>Widescreen</PresentationFormat>
  <Paragraphs>236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Adani Medium</vt:lpstr>
      <vt:lpstr>Adani Regular</vt:lpstr>
      <vt:lpstr>Aptos</vt:lpstr>
      <vt:lpstr>Arial</vt:lpstr>
      <vt:lpstr>Calibri</vt:lpstr>
      <vt:lpstr>1_Wipro Standard PPT Theme</vt:lpstr>
      <vt:lpstr>1_Office Theme</vt:lpstr>
      <vt:lpstr>think-cell Slide</vt:lpstr>
      <vt:lpstr>PowerPoint Presentation</vt:lpstr>
      <vt:lpstr>PowerPoint Presentation</vt:lpstr>
      <vt:lpstr>Transmission Connectivity Dashboard </vt:lpstr>
      <vt:lpstr>Digitalized DPR</vt:lpstr>
      <vt:lpstr>Module Tracker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Albin Sebastian</dc:creator>
  <cp:lastModifiedBy>Srashti Soni</cp:lastModifiedBy>
  <cp:revision>6</cp:revision>
  <cp:lastPrinted>2026-03-25T11:12:30Z</cp:lastPrinted>
  <dcterms:created xsi:type="dcterms:W3CDTF">2026-03-13T10:42:38Z</dcterms:created>
  <dcterms:modified xsi:type="dcterms:W3CDTF">2026-05-19T12:38:34Z</dcterms:modified>
</cp:coreProperties>
</file>